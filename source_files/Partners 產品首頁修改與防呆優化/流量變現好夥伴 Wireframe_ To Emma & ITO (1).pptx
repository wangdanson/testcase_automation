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embeddedFontLst>
    <p:embeddedFont>
      <p:font typeface="Microsoft JhengHei" panose="020B0604030504040204" pitchFamily="34" charset="-120"/>
      <p:regular r:id="rId13"/>
      <p:bold r:id="rId14"/>
    </p:embeddedFont>
    <p:embeddedFont>
      <p:font typeface="Play" panose="02020500000000000000"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49">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 roundtripDataSignature="AMtx7mhXyDozJ7Cbw13hslaISHHOklze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834" y="114"/>
      </p:cViewPr>
      <p:guideLst>
        <p:guide orient="horz" pos="324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zh-TW"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zh-TW"/>
              <a:t>競品參考- google：https://adsense.google.com/intl/zh-TW_tw/start/</a:t>
            </a:r>
            <a:endParaRPr/>
          </a:p>
          <a:p>
            <a:pPr marL="0" lvl="0" indent="0" algn="l" rtl="0">
              <a:spcBef>
                <a:spcPts val="0"/>
              </a:spcBef>
              <a:spcAft>
                <a:spcPts val="0"/>
              </a:spcAft>
              <a:buNone/>
            </a:pPr>
            <a:r>
              <a:rPr lang="zh-TW"/>
              <a:t>競品參考 – Taboola：https://www.taboola.com/zh-hant/marketing-hub/how-much-do-websites-make-from-ads/</a:t>
            </a: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zh-TW"/>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15"/>
        <p:cNvGrpSpPr/>
        <p:nvPr/>
      </p:nvGrpSpPr>
      <p:grpSpPr>
        <a:xfrm>
          <a:off x="0" y="0"/>
          <a:ext cx="0" cy="0"/>
          <a:chOff x="0" y="0"/>
          <a:chExt cx="0" cy="0"/>
        </a:xfrm>
      </p:grpSpPr>
      <p:sp>
        <p:nvSpPr>
          <p:cNvPr id="16" name="Google Shape;1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19"/>
        <p:cNvGrpSpPr/>
        <p:nvPr/>
      </p:nvGrpSpPr>
      <p:grpSpPr>
        <a:xfrm>
          <a:off x="0" y="0"/>
          <a:ext cx="0" cy="0"/>
          <a:chOff x="0" y="0"/>
          <a:chExt cx="0" cy="0"/>
        </a:xfrm>
      </p:grpSpPr>
      <p:sp>
        <p:nvSpPr>
          <p:cNvPr id="20" name="Google Shape;20;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標題及內容" type="obj">
  <p:cSld name="OBJECT">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章節標題" type="secHead">
  <p:cSld name="SECTION_HEADER">
    <p:spTree>
      <p:nvGrpSpPr>
        <p:cNvPr id="1" name="Shape 31"/>
        <p:cNvGrpSpPr/>
        <p:nvPr/>
      </p:nvGrpSpPr>
      <p:grpSpPr>
        <a:xfrm>
          <a:off x="0" y="0"/>
          <a:ext cx="0" cy="0"/>
          <a:chOff x="0" y="0"/>
          <a:chExt cx="0" cy="0"/>
        </a:xfrm>
      </p:grpSpPr>
      <p:sp>
        <p:nvSpPr>
          <p:cNvPr id="32" name="Google Shape;32;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4" name="Google Shape;3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兩個內容" type="twoObj">
  <p:cSld name="TWO_OBJECTS">
    <p:spTree>
      <p:nvGrpSpPr>
        <p:cNvPr id="1" name="Shape 37"/>
        <p:cNvGrpSpPr/>
        <p:nvPr/>
      </p:nvGrpSpPr>
      <p:grpSpPr>
        <a:xfrm>
          <a:off x="0" y="0"/>
          <a:ext cx="0" cy="0"/>
          <a:chOff x="0" y="0"/>
          <a:chExt cx="0" cy="0"/>
        </a:xfrm>
      </p:grpSpPr>
      <p:sp>
        <p:nvSpPr>
          <p:cNvPr id="38" name="Google Shape;3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4"/>
        <p:cNvGrpSpPr/>
        <p:nvPr/>
      </p:nvGrpSpPr>
      <p:grpSpPr>
        <a:xfrm>
          <a:off x="0" y="0"/>
          <a:ext cx="0" cy="0"/>
          <a:chOff x="0" y="0"/>
          <a:chExt cx="0" cy="0"/>
        </a:xfrm>
      </p:grpSpPr>
      <p:sp>
        <p:nvSpPr>
          <p:cNvPr id="45" name="Google Shape;45;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只有標題" type="titleOnly">
  <p:cSld name="TITLE_ONLY">
    <p:spTree>
      <p:nvGrpSpPr>
        <p:cNvPr id="1" name="Shape 53"/>
        <p:cNvGrpSpPr/>
        <p:nvPr/>
      </p:nvGrpSpPr>
      <p:grpSpPr>
        <a:xfrm>
          <a:off x="0" y="0"/>
          <a:ext cx="0" cy="0"/>
          <a:chOff x="0" y="0"/>
          <a:chExt cx="0" cy="0"/>
        </a:xfrm>
      </p:grpSpPr>
      <p:sp>
        <p:nvSpPr>
          <p:cNvPr id="54" name="Google Shape;5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含輔助字幕的內容"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含輔助字幕的圖片"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0"/>
          <p:cNvSpPr>
            <a:spLocks noGrp="1"/>
          </p:cNvSpPr>
          <p:nvPr>
            <p:ph type="pic" idx="2"/>
          </p:nvPr>
        </p:nvSpPr>
        <p:spPr>
          <a:xfrm>
            <a:off x="5183188" y="987425"/>
            <a:ext cx="6172200" cy="4873625"/>
          </a:xfrm>
          <a:prstGeom prst="rect">
            <a:avLst/>
          </a:prstGeom>
          <a:noFill/>
          <a:ln>
            <a:noFill/>
          </a:ln>
        </p:spPr>
      </p:sp>
      <p:sp>
        <p:nvSpPr>
          <p:cNvPr id="68" name="Google Shape;68;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標題及直排文字" type="vertTx">
  <p:cSld name="VERTICAL_TEXT">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直排標題及文字" type="vertTitleAndTx">
  <p:cSld name="VERTICAL_TITLE_AND_VERTICAL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partners.onead.com.tw/sign-up"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hyperlink" Target="https://www.youtube.com/" TargetMode="External"/><Relationship Id="rId3" Type="http://schemas.openxmlformats.org/officeDocument/2006/relationships/image" Target="../media/image3.png"/><Relationship Id="rId7" Type="http://schemas.openxmlformats.org/officeDocument/2006/relationships/hyperlink" Target="https://www.threads.ne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instagram.com/" TargetMode="External"/><Relationship Id="rId5" Type="http://schemas.openxmlformats.org/officeDocument/2006/relationships/hyperlink" Target="https://www.facebook.com/" TargetMode="External"/><Relationship Id="rId10" Type="http://schemas.openxmlformats.org/officeDocument/2006/relationships/hyperlink" Target="https://www.tiktok.com/" TargetMode="External"/><Relationship Id="rId4" Type="http://schemas.openxmlformats.org/officeDocument/2006/relationships/image" Target="../media/image4.png"/><Relationship Id="rId9" Type="http://schemas.openxmlformats.org/officeDocument/2006/relationships/hyperlink" Target="https://discord.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p:nvPr/>
        </p:nvSpPr>
        <p:spPr>
          <a:xfrm>
            <a:off x="6271491" y="129309"/>
            <a:ext cx="5412509" cy="6604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0" name="Google Shape;90;p1"/>
          <p:cNvSpPr/>
          <p:nvPr/>
        </p:nvSpPr>
        <p:spPr>
          <a:xfrm>
            <a:off x="6271491" y="129309"/>
            <a:ext cx="5412509" cy="277091"/>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600" b="0" i="0" u="none" strike="noStrike" cap="none">
                <a:solidFill>
                  <a:schemeClr val="dk1"/>
                </a:solidFill>
                <a:latin typeface="Arial"/>
                <a:ea typeface="Arial"/>
                <a:cs typeface="Arial"/>
                <a:sym typeface="Arial"/>
              </a:rPr>
              <a:t>Header</a:t>
            </a:r>
            <a:endParaRPr sz="1600" b="0" i="0" u="none" strike="noStrike" cap="none">
              <a:solidFill>
                <a:schemeClr val="dk1"/>
              </a:solidFill>
              <a:latin typeface="Arial"/>
              <a:ea typeface="Arial"/>
              <a:cs typeface="Arial"/>
              <a:sym typeface="Arial"/>
            </a:endParaRPr>
          </a:p>
        </p:txBody>
      </p:sp>
      <p:sp>
        <p:nvSpPr>
          <p:cNvPr id="91" name="Google Shape;91;p1"/>
          <p:cNvSpPr/>
          <p:nvPr/>
        </p:nvSpPr>
        <p:spPr>
          <a:xfrm>
            <a:off x="6271491" y="6446982"/>
            <a:ext cx="5412509" cy="277091"/>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600" b="0" i="0" u="none" strike="noStrike" cap="none">
                <a:solidFill>
                  <a:schemeClr val="dk1"/>
                </a:solidFill>
                <a:latin typeface="Arial"/>
                <a:ea typeface="Arial"/>
                <a:cs typeface="Arial"/>
                <a:sym typeface="Arial"/>
              </a:rPr>
              <a:t>Footer</a:t>
            </a:r>
            <a:endParaRPr sz="1600" b="0" i="0" u="none" strike="noStrike" cap="none">
              <a:solidFill>
                <a:schemeClr val="dk1"/>
              </a:solidFill>
              <a:latin typeface="Arial"/>
              <a:ea typeface="Arial"/>
              <a:cs typeface="Arial"/>
              <a:sym typeface="Arial"/>
            </a:endParaRPr>
          </a:p>
        </p:txBody>
      </p:sp>
      <p:sp>
        <p:nvSpPr>
          <p:cNvPr id="92" name="Google Shape;92;p1"/>
          <p:cNvSpPr/>
          <p:nvPr/>
        </p:nvSpPr>
        <p:spPr>
          <a:xfrm>
            <a:off x="6271490" y="406400"/>
            <a:ext cx="5412509" cy="1376218"/>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b="0" i="0" u="none" strike="noStrike" cap="none">
              <a:solidFill>
                <a:schemeClr val="dk1"/>
              </a:solidFill>
              <a:latin typeface="Arial"/>
              <a:ea typeface="Arial"/>
              <a:cs typeface="Arial"/>
              <a:sym typeface="Arial"/>
            </a:endParaRPr>
          </a:p>
        </p:txBody>
      </p:sp>
      <p:sp>
        <p:nvSpPr>
          <p:cNvPr id="93" name="Google Shape;93;p1"/>
          <p:cNvSpPr txBox="1"/>
          <p:nvPr/>
        </p:nvSpPr>
        <p:spPr>
          <a:xfrm>
            <a:off x="7987729" y="711203"/>
            <a:ext cx="1980029"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2000" b="0" i="0" u="none" strike="noStrike" cap="none">
                <a:solidFill>
                  <a:schemeClr val="dk1"/>
                </a:solidFill>
                <a:latin typeface="Microsoft JhengHei"/>
                <a:ea typeface="Microsoft JhengHei"/>
                <a:cs typeface="Microsoft JhengHei"/>
                <a:sym typeface="Microsoft JhengHei"/>
              </a:rPr>
              <a:t>流量變現好夥伴</a:t>
            </a:r>
            <a:endParaRPr/>
          </a:p>
        </p:txBody>
      </p:sp>
      <p:sp>
        <p:nvSpPr>
          <p:cNvPr id="94" name="Google Shape;94;p1"/>
          <p:cNvSpPr txBox="1"/>
          <p:nvPr/>
        </p:nvSpPr>
        <p:spPr>
          <a:xfrm>
            <a:off x="7038750" y="1043711"/>
            <a:ext cx="4185761"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只要您有網站流量，即可輕鬆、穩定的賺取額外廣告營收！</a:t>
            </a:r>
            <a:endParaRPr/>
          </a:p>
        </p:txBody>
      </p:sp>
      <p:grpSp>
        <p:nvGrpSpPr>
          <p:cNvPr id="95" name="Google Shape;95;p1"/>
          <p:cNvGrpSpPr/>
          <p:nvPr/>
        </p:nvGrpSpPr>
        <p:grpSpPr>
          <a:xfrm>
            <a:off x="8566727" y="1339183"/>
            <a:ext cx="965200" cy="286327"/>
            <a:chOff x="8539018" y="1385455"/>
            <a:chExt cx="965200" cy="286327"/>
          </a:xfrm>
        </p:grpSpPr>
        <p:sp>
          <p:nvSpPr>
            <p:cNvPr id="96" name="Google Shape;96;p1"/>
            <p:cNvSpPr/>
            <p:nvPr/>
          </p:nvSpPr>
          <p:spPr>
            <a:xfrm>
              <a:off x="8539018" y="1385455"/>
              <a:ext cx="965200" cy="286327"/>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97" name="Google Shape;97;p1"/>
            <p:cNvSpPr txBox="1"/>
            <p:nvPr/>
          </p:nvSpPr>
          <p:spPr>
            <a:xfrm>
              <a:off x="8672804" y="1425561"/>
              <a:ext cx="697627"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立即加入</a:t>
              </a:r>
              <a:endParaRPr/>
            </a:p>
          </p:txBody>
        </p:sp>
      </p:grpSp>
      <p:sp>
        <p:nvSpPr>
          <p:cNvPr id="98" name="Google Shape;98;p1"/>
          <p:cNvSpPr txBox="1"/>
          <p:nvPr/>
        </p:nvSpPr>
        <p:spPr>
          <a:xfrm>
            <a:off x="8412969" y="1958021"/>
            <a:ext cx="110799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三大核心優勢</a:t>
            </a:r>
            <a:endParaRPr/>
          </a:p>
        </p:txBody>
      </p:sp>
      <p:grpSp>
        <p:nvGrpSpPr>
          <p:cNvPr id="99" name="Google Shape;99;p1"/>
          <p:cNvGrpSpPr/>
          <p:nvPr/>
        </p:nvGrpSpPr>
        <p:grpSpPr>
          <a:xfrm>
            <a:off x="6903096" y="2424368"/>
            <a:ext cx="1084633" cy="983674"/>
            <a:chOff x="6903096" y="2512269"/>
            <a:chExt cx="1084633" cy="983674"/>
          </a:xfrm>
        </p:grpSpPr>
        <p:sp>
          <p:nvSpPr>
            <p:cNvPr id="100" name="Google Shape;100;p1"/>
            <p:cNvSpPr/>
            <p:nvPr/>
          </p:nvSpPr>
          <p:spPr>
            <a:xfrm>
              <a:off x="6903096" y="2512269"/>
              <a:ext cx="1084633" cy="983674"/>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01" name="Google Shape;101;p1"/>
            <p:cNvSpPr txBox="1"/>
            <p:nvPr/>
          </p:nvSpPr>
          <p:spPr>
            <a:xfrm>
              <a:off x="7276135" y="2879418"/>
              <a:ext cx="33855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圖</a:t>
              </a:r>
              <a:endParaRPr/>
            </a:p>
          </p:txBody>
        </p:sp>
      </p:grpSp>
      <p:grpSp>
        <p:nvGrpSpPr>
          <p:cNvPr id="102" name="Google Shape;102;p1"/>
          <p:cNvGrpSpPr/>
          <p:nvPr/>
        </p:nvGrpSpPr>
        <p:grpSpPr>
          <a:xfrm>
            <a:off x="8507009" y="2410423"/>
            <a:ext cx="1084633" cy="983674"/>
            <a:chOff x="6903096" y="2512269"/>
            <a:chExt cx="1084633" cy="983674"/>
          </a:xfrm>
        </p:grpSpPr>
        <p:sp>
          <p:nvSpPr>
            <p:cNvPr id="103" name="Google Shape;103;p1"/>
            <p:cNvSpPr/>
            <p:nvPr/>
          </p:nvSpPr>
          <p:spPr>
            <a:xfrm>
              <a:off x="6903096" y="2512269"/>
              <a:ext cx="1084633" cy="983674"/>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04" name="Google Shape;104;p1"/>
            <p:cNvSpPr txBox="1"/>
            <p:nvPr/>
          </p:nvSpPr>
          <p:spPr>
            <a:xfrm>
              <a:off x="7276135" y="2879418"/>
              <a:ext cx="33855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圖</a:t>
              </a:r>
              <a:endParaRPr/>
            </a:p>
          </p:txBody>
        </p:sp>
      </p:grpSp>
      <p:grpSp>
        <p:nvGrpSpPr>
          <p:cNvPr id="105" name="Google Shape;105;p1"/>
          <p:cNvGrpSpPr/>
          <p:nvPr/>
        </p:nvGrpSpPr>
        <p:grpSpPr>
          <a:xfrm>
            <a:off x="10070583" y="2408156"/>
            <a:ext cx="1084633" cy="983674"/>
            <a:chOff x="6903096" y="2512269"/>
            <a:chExt cx="1084633" cy="983674"/>
          </a:xfrm>
        </p:grpSpPr>
        <p:sp>
          <p:nvSpPr>
            <p:cNvPr id="106" name="Google Shape;106;p1"/>
            <p:cNvSpPr/>
            <p:nvPr/>
          </p:nvSpPr>
          <p:spPr>
            <a:xfrm>
              <a:off x="6903096" y="2512269"/>
              <a:ext cx="1084633" cy="983674"/>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07" name="Google Shape;107;p1"/>
            <p:cNvSpPr txBox="1"/>
            <p:nvPr/>
          </p:nvSpPr>
          <p:spPr>
            <a:xfrm>
              <a:off x="7276135" y="2879418"/>
              <a:ext cx="33855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圖</a:t>
              </a:r>
              <a:endParaRPr/>
            </a:p>
          </p:txBody>
        </p:sp>
      </p:grpSp>
      <p:sp>
        <p:nvSpPr>
          <p:cNvPr id="108" name="Google Shape;108;p1"/>
          <p:cNvSpPr txBox="1"/>
          <p:nvPr/>
        </p:nvSpPr>
        <p:spPr>
          <a:xfrm>
            <a:off x="6840118" y="3412467"/>
            <a:ext cx="121058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800">
                <a:solidFill>
                  <a:schemeClr val="dk1"/>
                </a:solidFill>
                <a:latin typeface="Microsoft JhengHei"/>
                <a:ea typeface="Microsoft JhengHei"/>
                <a:cs typeface="Microsoft JhengHei"/>
                <a:sym typeface="Microsoft JhengHei"/>
              </a:rPr>
              <a:t>敘述文字敘述文字敘述</a:t>
            </a:r>
            <a:endParaRPr sz="800">
              <a:solidFill>
                <a:schemeClr val="dk1"/>
              </a:solidFill>
              <a:latin typeface="Microsoft JhengHei"/>
              <a:ea typeface="Microsoft JhengHei"/>
              <a:cs typeface="Microsoft JhengHei"/>
              <a:sym typeface="Microsoft JhengHei"/>
            </a:endParaRPr>
          </a:p>
          <a:p>
            <a:pPr marL="0" marR="0" lvl="0" indent="0" algn="l" rtl="0">
              <a:spcBef>
                <a:spcPts val="0"/>
              </a:spcBef>
              <a:spcAft>
                <a:spcPts val="0"/>
              </a:spcAft>
              <a:buNone/>
            </a:pPr>
            <a:r>
              <a:rPr lang="zh-TW" sz="800">
                <a:solidFill>
                  <a:schemeClr val="dk1"/>
                </a:solidFill>
                <a:latin typeface="Microsoft JhengHei"/>
                <a:ea typeface="Microsoft JhengHei"/>
                <a:cs typeface="Microsoft JhengHei"/>
                <a:sym typeface="Microsoft JhengHei"/>
              </a:rPr>
              <a:t>文字敘述文字敘述文字</a:t>
            </a:r>
            <a:endParaRPr/>
          </a:p>
        </p:txBody>
      </p:sp>
      <p:sp>
        <p:nvSpPr>
          <p:cNvPr id="109" name="Google Shape;109;p1"/>
          <p:cNvSpPr txBox="1"/>
          <p:nvPr/>
        </p:nvSpPr>
        <p:spPr>
          <a:xfrm>
            <a:off x="8444031" y="3408042"/>
            <a:ext cx="121058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800">
                <a:solidFill>
                  <a:schemeClr val="dk1"/>
                </a:solidFill>
                <a:latin typeface="Microsoft JhengHei"/>
                <a:ea typeface="Microsoft JhengHei"/>
                <a:cs typeface="Microsoft JhengHei"/>
                <a:sym typeface="Microsoft JhengHei"/>
              </a:rPr>
              <a:t>敘述文字敘述文字敘述</a:t>
            </a:r>
            <a:endParaRPr sz="800">
              <a:solidFill>
                <a:schemeClr val="dk1"/>
              </a:solidFill>
              <a:latin typeface="Microsoft JhengHei"/>
              <a:ea typeface="Microsoft JhengHei"/>
              <a:cs typeface="Microsoft JhengHei"/>
              <a:sym typeface="Microsoft JhengHei"/>
            </a:endParaRPr>
          </a:p>
          <a:p>
            <a:pPr marL="0" marR="0" lvl="0" indent="0" algn="l" rtl="0">
              <a:spcBef>
                <a:spcPts val="0"/>
              </a:spcBef>
              <a:spcAft>
                <a:spcPts val="0"/>
              </a:spcAft>
              <a:buNone/>
            </a:pPr>
            <a:r>
              <a:rPr lang="zh-TW" sz="800">
                <a:solidFill>
                  <a:schemeClr val="dk1"/>
                </a:solidFill>
                <a:latin typeface="Microsoft JhengHei"/>
                <a:ea typeface="Microsoft JhengHei"/>
                <a:cs typeface="Microsoft JhengHei"/>
                <a:sym typeface="Microsoft JhengHei"/>
              </a:rPr>
              <a:t>文字敘述文字敘述文字</a:t>
            </a:r>
            <a:endParaRPr/>
          </a:p>
        </p:txBody>
      </p:sp>
      <p:sp>
        <p:nvSpPr>
          <p:cNvPr id="110" name="Google Shape;110;p1"/>
          <p:cNvSpPr txBox="1"/>
          <p:nvPr/>
        </p:nvSpPr>
        <p:spPr>
          <a:xfrm>
            <a:off x="10007605" y="3401931"/>
            <a:ext cx="121058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800">
                <a:solidFill>
                  <a:schemeClr val="dk1"/>
                </a:solidFill>
                <a:latin typeface="Microsoft JhengHei"/>
                <a:ea typeface="Microsoft JhengHei"/>
                <a:cs typeface="Microsoft JhengHei"/>
                <a:sym typeface="Microsoft JhengHei"/>
              </a:rPr>
              <a:t>敘述文字敘述文字敘述</a:t>
            </a:r>
            <a:endParaRPr sz="800">
              <a:solidFill>
                <a:schemeClr val="dk1"/>
              </a:solidFill>
              <a:latin typeface="Microsoft JhengHei"/>
              <a:ea typeface="Microsoft JhengHei"/>
              <a:cs typeface="Microsoft JhengHei"/>
              <a:sym typeface="Microsoft JhengHei"/>
            </a:endParaRPr>
          </a:p>
          <a:p>
            <a:pPr marL="0" marR="0" lvl="0" indent="0" algn="l" rtl="0">
              <a:spcBef>
                <a:spcPts val="0"/>
              </a:spcBef>
              <a:spcAft>
                <a:spcPts val="0"/>
              </a:spcAft>
              <a:buNone/>
            </a:pPr>
            <a:r>
              <a:rPr lang="zh-TW" sz="800">
                <a:solidFill>
                  <a:schemeClr val="dk1"/>
                </a:solidFill>
                <a:latin typeface="Microsoft JhengHei"/>
                <a:ea typeface="Microsoft JhengHei"/>
                <a:cs typeface="Microsoft JhengHei"/>
                <a:sym typeface="Microsoft JhengHei"/>
              </a:rPr>
              <a:t>文字敘述文字敘述文字</a:t>
            </a:r>
            <a:endParaRPr/>
          </a:p>
        </p:txBody>
      </p:sp>
      <p:grpSp>
        <p:nvGrpSpPr>
          <p:cNvPr id="111" name="Google Shape;111;p1"/>
          <p:cNvGrpSpPr/>
          <p:nvPr/>
        </p:nvGrpSpPr>
        <p:grpSpPr>
          <a:xfrm>
            <a:off x="6750728" y="3738839"/>
            <a:ext cx="1390124" cy="369332"/>
            <a:chOff x="8326934" y="1340559"/>
            <a:chExt cx="1390124" cy="369332"/>
          </a:xfrm>
        </p:grpSpPr>
        <p:sp>
          <p:nvSpPr>
            <p:cNvPr id="112" name="Google Shape;112;p1"/>
            <p:cNvSpPr/>
            <p:nvPr/>
          </p:nvSpPr>
          <p:spPr>
            <a:xfrm>
              <a:off x="8539018" y="1385455"/>
              <a:ext cx="965200" cy="286327"/>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13" name="Google Shape;113;p1"/>
            <p:cNvSpPr txBox="1"/>
            <p:nvPr/>
          </p:nvSpPr>
          <p:spPr>
            <a:xfrm>
              <a:off x="8326934" y="1340559"/>
              <a:ext cx="139012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900">
                  <a:solidFill>
                    <a:schemeClr val="dk1"/>
                  </a:solidFill>
                  <a:latin typeface="Microsoft JhengHei"/>
                  <a:ea typeface="Microsoft JhengHei"/>
                  <a:cs typeface="Microsoft JhengHei"/>
                  <a:sym typeface="Microsoft JhengHei"/>
                </a:rPr>
                <a:t>如何成為</a:t>
              </a:r>
              <a:endParaRPr sz="900">
                <a:solidFill>
                  <a:schemeClr val="dk1"/>
                </a:solidFill>
                <a:latin typeface="Microsoft JhengHei"/>
                <a:ea typeface="Microsoft JhengHei"/>
                <a:cs typeface="Microsoft JhengHei"/>
                <a:sym typeface="Microsoft JhengHei"/>
              </a:endParaRPr>
            </a:p>
            <a:p>
              <a:pPr marL="0" marR="0" lvl="0" indent="0" algn="ctr" rtl="0">
                <a:spcBef>
                  <a:spcPts val="0"/>
                </a:spcBef>
                <a:spcAft>
                  <a:spcPts val="0"/>
                </a:spcAft>
                <a:buNone/>
              </a:pPr>
              <a:r>
                <a:rPr lang="zh-TW" sz="900">
                  <a:solidFill>
                    <a:schemeClr val="dk1"/>
                  </a:solidFill>
                  <a:latin typeface="Microsoft JhengHei"/>
                  <a:ea typeface="Microsoft JhengHei"/>
                  <a:cs typeface="Microsoft JhengHei"/>
                  <a:sym typeface="Microsoft JhengHei"/>
                </a:rPr>
                <a:t>OneAD流量變現好夥伴</a:t>
              </a:r>
              <a:endParaRPr/>
            </a:p>
          </p:txBody>
        </p:sp>
      </p:grpSp>
      <p:grpSp>
        <p:nvGrpSpPr>
          <p:cNvPr id="114" name="Google Shape;114;p1"/>
          <p:cNvGrpSpPr/>
          <p:nvPr/>
        </p:nvGrpSpPr>
        <p:grpSpPr>
          <a:xfrm>
            <a:off x="8547935" y="3777540"/>
            <a:ext cx="1107996" cy="286327"/>
            <a:chOff x="8467620" y="1385455"/>
            <a:chExt cx="1107996" cy="286327"/>
          </a:xfrm>
        </p:grpSpPr>
        <p:sp>
          <p:nvSpPr>
            <p:cNvPr id="115" name="Google Shape;115;p1"/>
            <p:cNvSpPr/>
            <p:nvPr/>
          </p:nvSpPr>
          <p:spPr>
            <a:xfrm>
              <a:off x="8539018" y="1385455"/>
              <a:ext cx="965200" cy="286327"/>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16" name="Google Shape;116;p1"/>
            <p:cNvSpPr txBox="1"/>
            <p:nvPr/>
          </p:nvSpPr>
          <p:spPr>
            <a:xfrm>
              <a:off x="8467620" y="1415306"/>
              <a:ext cx="1107996" cy="2308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900">
                  <a:solidFill>
                    <a:schemeClr val="dk1"/>
                  </a:solidFill>
                  <a:latin typeface="Microsoft JhengHei"/>
                  <a:ea typeface="Microsoft JhengHei"/>
                  <a:cs typeface="Microsoft JhengHei"/>
                  <a:sym typeface="Microsoft JhengHei"/>
                </a:rPr>
                <a:t>如何獲取廣告收益</a:t>
              </a:r>
              <a:endParaRPr/>
            </a:p>
          </p:txBody>
        </p:sp>
      </p:grpSp>
      <p:grpSp>
        <p:nvGrpSpPr>
          <p:cNvPr id="117" name="Google Shape;117;p1"/>
          <p:cNvGrpSpPr/>
          <p:nvPr/>
        </p:nvGrpSpPr>
        <p:grpSpPr>
          <a:xfrm>
            <a:off x="10151666" y="3740143"/>
            <a:ext cx="965200" cy="369332"/>
            <a:chOff x="8539018" y="1348058"/>
            <a:chExt cx="965200" cy="369332"/>
          </a:xfrm>
        </p:grpSpPr>
        <p:sp>
          <p:nvSpPr>
            <p:cNvPr id="118" name="Google Shape;118;p1"/>
            <p:cNvSpPr/>
            <p:nvPr/>
          </p:nvSpPr>
          <p:spPr>
            <a:xfrm>
              <a:off x="8539018" y="1385455"/>
              <a:ext cx="965200" cy="286327"/>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19" name="Google Shape;119;p1"/>
            <p:cNvSpPr txBox="1"/>
            <p:nvPr/>
          </p:nvSpPr>
          <p:spPr>
            <a:xfrm>
              <a:off x="8652898" y="1348058"/>
              <a:ext cx="761747"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900">
                  <a:solidFill>
                    <a:schemeClr val="dk1"/>
                  </a:solidFill>
                  <a:latin typeface="Microsoft JhengHei"/>
                  <a:ea typeface="Microsoft JhengHei"/>
                  <a:cs typeface="Microsoft JhengHei"/>
                  <a:sym typeface="Microsoft JhengHei"/>
                </a:rPr>
                <a:t>如何安裝</a:t>
              </a:r>
              <a:endParaRPr sz="900">
                <a:solidFill>
                  <a:schemeClr val="dk1"/>
                </a:solidFill>
                <a:latin typeface="Microsoft JhengHei"/>
                <a:ea typeface="Microsoft JhengHei"/>
                <a:cs typeface="Microsoft JhengHei"/>
                <a:sym typeface="Microsoft JhengHei"/>
              </a:endParaRPr>
            </a:p>
            <a:p>
              <a:pPr marL="0" marR="0" lvl="0" indent="0" algn="ctr" rtl="0">
                <a:spcBef>
                  <a:spcPts val="0"/>
                </a:spcBef>
                <a:spcAft>
                  <a:spcPts val="0"/>
                </a:spcAft>
                <a:buNone/>
              </a:pPr>
              <a:r>
                <a:rPr lang="zh-TW" sz="900">
                  <a:solidFill>
                    <a:schemeClr val="dk1"/>
                  </a:solidFill>
                  <a:latin typeface="Microsoft JhengHei"/>
                  <a:ea typeface="Microsoft JhengHei"/>
                  <a:cs typeface="Microsoft JhengHei"/>
                  <a:sym typeface="Microsoft JhengHei"/>
                </a:rPr>
                <a:t>廣告程式碼</a:t>
              </a:r>
              <a:endParaRPr/>
            </a:p>
          </p:txBody>
        </p:sp>
      </p:grpSp>
      <p:sp>
        <p:nvSpPr>
          <p:cNvPr id="120" name="Google Shape;120;p1"/>
          <p:cNvSpPr/>
          <p:nvPr/>
        </p:nvSpPr>
        <p:spPr>
          <a:xfrm>
            <a:off x="7687455" y="5827049"/>
            <a:ext cx="2828933" cy="532824"/>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21" name="Google Shape;121;p1"/>
          <p:cNvSpPr txBox="1"/>
          <p:nvPr/>
        </p:nvSpPr>
        <p:spPr>
          <a:xfrm>
            <a:off x="8620701" y="5843656"/>
            <a:ext cx="110799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發布商政策</a:t>
            </a:r>
            <a:endParaRPr/>
          </a:p>
        </p:txBody>
      </p:sp>
      <p:sp>
        <p:nvSpPr>
          <p:cNvPr id="122" name="Google Shape;122;p1"/>
          <p:cNvSpPr txBox="1"/>
          <p:nvPr/>
        </p:nvSpPr>
        <p:spPr>
          <a:xfrm>
            <a:off x="7760220" y="6026869"/>
            <a:ext cx="268340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800">
                <a:solidFill>
                  <a:schemeClr val="dk1"/>
                </a:solidFill>
                <a:latin typeface="Microsoft JhengHei"/>
                <a:ea typeface="Microsoft JhengHei"/>
                <a:cs typeface="Microsoft JhengHei"/>
                <a:sym typeface="Microsoft JhengHei"/>
              </a:rPr>
              <a:t>敘述文字敘述文字敘述文字敘述文字敘述文字敘述文字敘述文字敘述文字敘述文字敘述文字敘述文字敘述文字</a:t>
            </a:r>
            <a:endParaRPr/>
          </a:p>
        </p:txBody>
      </p:sp>
      <p:grpSp>
        <p:nvGrpSpPr>
          <p:cNvPr id="123" name="Google Shape;123;p1"/>
          <p:cNvGrpSpPr/>
          <p:nvPr/>
        </p:nvGrpSpPr>
        <p:grpSpPr>
          <a:xfrm>
            <a:off x="6973326" y="5307661"/>
            <a:ext cx="1426427" cy="323285"/>
            <a:chOff x="6840118" y="6022616"/>
            <a:chExt cx="1426427" cy="323285"/>
          </a:xfrm>
        </p:grpSpPr>
        <p:sp>
          <p:nvSpPr>
            <p:cNvPr id="124" name="Google Shape;124;p1"/>
            <p:cNvSpPr/>
            <p:nvPr/>
          </p:nvSpPr>
          <p:spPr>
            <a:xfrm>
              <a:off x="6840118" y="6022616"/>
              <a:ext cx="1426427" cy="323285"/>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25" name="Google Shape;125;p1"/>
            <p:cNvSpPr txBox="1"/>
            <p:nvPr/>
          </p:nvSpPr>
          <p:spPr>
            <a:xfrm>
              <a:off x="7171894" y="6068902"/>
              <a:ext cx="80021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立即申請</a:t>
              </a:r>
              <a:endParaRPr/>
            </a:p>
          </p:txBody>
        </p:sp>
      </p:grpSp>
      <p:grpSp>
        <p:nvGrpSpPr>
          <p:cNvPr id="126" name="Google Shape;126;p1"/>
          <p:cNvGrpSpPr/>
          <p:nvPr/>
        </p:nvGrpSpPr>
        <p:grpSpPr>
          <a:xfrm>
            <a:off x="9733155" y="5307661"/>
            <a:ext cx="1426427" cy="323285"/>
            <a:chOff x="6840118" y="6022616"/>
            <a:chExt cx="1426427" cy="323285"/>
          </a:xfrm>
        </p:grpSpPr>
        <p:sp>
          <p:nvSpPr>
            <p:cNvPr id="127" name="Google Shape;127;p1"/>
            <p:cNvSpPr/>
            <p:nvPr/>
          </p:nvSpPr>
          <p:spPr>
            <a:xfrm>
              <a:off x="6840118" y="6022616"/>
              <a:ext cx="1426427" cy="323285"/>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28" name="Google Shape;128;p1"/>
            <p:cNvSpPr txBox="1"/>
            <p:nvPr/>
          </p:nvSpPr>
          <p:spPr>
            <a:xfrm>
              <a:off x="7171894" y="6068902"/>
              <a:ext cx="80021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登入管理</a:t>
              </a:r>
              <a:endParaRPr/>
            </a:p>
          </p:txBody>
        </p:sp>
      </p:grpSp>
      <p:sp>
        <p:nvSpPr>
          <p:cNvPr id="129" name="Google Shape;129;p1"/>
          <p:cNvSpPr/>
          <p:nvPr/>
        </p:nvSpPr>
        <p:spPr>
          <a:xfrm>
            <a:off x="9218602" y="4263687"/>
            <a:ext cx="2454619" cy="888248"/>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30" name="Google Shape;130;p1"/>
          <p:cNvSpPr txBox="1"/>
          <p:nvPr/>
        </p:nvSpPr>
        <p:spPr>
          <a:xfrm>
            <a:off x="10201579" y="4580958"/>
            <a:ext cx="338554"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圖</a:t>
            </a:r>
            <a:endParaRPr/>
          </a:p>
        </p:txBody>
      </p:sp>
      <p:sp>
        <p:nvSpPr>
          <p:cNvPr id="131" name="Google Shape;131;p1"/>
          <p:cNvSpPr txBox="1"/>
          <p:nvPr/>
        </p:nvSpPr>
        <p:spPr>
          <a:xfrm>
            <a:off x="6903096" y="4534696"/>
            <a:ext cx="182183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800">
                <a:solidFill>
                  <a:schemeClr val="dk1"/>
                </a:solidFill>
                <a:latin typeface="Microsoft JhengHei"/>
                <a:ea typeface="Microsoft JhengHei"/>
                <a:cs typeface="Microsoft JhengHei"/>
                <a:sym typeface="Microsoft JhengHei"/>
              </a:rPr>
              <a:t>敘述文字敘述文字敘述文字敘述文字敘述文字敘述文字敘述文字敘述文字敘述文字</a:t>
            </a:r>
            <a:endParaRPr/>
          </a:p>
        </p:txBody>
      </p:sp>
      <p:sp>
        <p:nvSpPr>
          <p:cNvPr id="132" name="Google Shape;132;p1"/>
          <p:cNvSpPr txBox="1"/>
          <p:nvPr/>
        </p:nvSpPr>
        <p:spPr>
          <a:xfrm>
            <a:off x="411480" y="341871"/>
            <a:ext cx="387798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3200" b="1">
                <a:solidFill>
                  <a:schemeClr val="dk1"/>
                </a:solidFill>
                <a:latin typeface="Microsoft JhengHei"/>
                <a:ea typeface="Microsoft JhengHei"/>
                <a:cs typeface="Microsoft JhengHei"/>
                <a:sym typeface="Microsoft JhengHei"/>
              </a:rPr>
              <a:t>流量變現好夥伴首頁</a:t>
            </a:r>
            <a:endParaRPr/>
          </a:p>
        </p:txBody>
      </p:sp>
      <p:sp>
        <p:nvSpPr>
          <p:cNvPr id="133" name="Google Shape;133;p1"/>
          <p:cNvSpPr/>
          <p:nvPr/>
        </p:nvSpPr>
        <p:spPr>
          <a:xfrm>
            <a:off x="6829424" y="713183"/>
            <a:ext cx="4541167" cy="595056"/>
          </a:xfrm>
          <a:prstGeom prst="rect">
            <a:avLst/>
          </a:prstGeom>
          <a:noFill/>
          <a:ln w="1905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4" name="Google Shape;134;p1"/>
          <p:cNvSpPr/>
          <p:nvPr/>
        </p:nvSpPr>
        <p:spPr>
          <a:xfrm flipH="1">
            <a:off x="6096000" y="3865049"/>
            <a:ext cx="461173" cy="163804"/>
          </a:xfrm>
          <a:prstGeom prst="rightArrow">
            <a:avLst>
              <a:gd name="adj1" fmla="val 50000"/>
              <a:gd name="adj2" fmla="val 50000"/>
            </a:avLst>
          </a:prstGeom>
          <a:solidFill>
            <a:srgbClr val="C00000"/>
          </a:solidFill>
          <a:ln w="1905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1"/>
          <p:cNvSpPr txBox="1"/>
          <p:nvPr/>
        </p:nvSpPr>
        <p:spPr>
          <a:xfrm>
            <a:off x="3679979" y="3713810"/>
            <a:ext cx="219656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button點擊後跳到流程頁</a:t>
            </a:r>
            <a:endParaRPr sz="1400">
              <a:solidFill>
                <a:schemeClr val="dk1"/>
              </a:solidFill>
              <a:latin typeface="Microsoft JhengHei"/>
              <a:ea typeface="Microsoft JhengHei"/>
              <a:cs typeface="Microsoft JhengHei"/>
              <a:sym typeface="Microsoft JhengHei"/>
            </a:endParaRPr>
          </a:p>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指定區塊</a:t>
            </a:r>
            <a:endParaRPr sz="1400">
              <a:solidFill>
                <a:schemeClr val="dk1"/>
              </a:solidFill>
              <a:latin typeface="Microsoft JhengHei"/>
              <a:ea typeface="Microsoft JhengHei"/>
              <a:cs typeface="Microsoft JhengHei"/>
              <a:sym typeface="Microsoft JhengHei"/>
            </a:endParaRPr>
          </a:p>
        </p:txBody>
      </p:sp>
      <p:sp>
        <p:nvSpPr>
          <p:cNvPr id="136" name="Google Shape;136;p1"/>
          <p:cNvSpPr/>
          <p:nvPr/>
        </p:nvSpPr>
        <p:spPr>
          <a:xfrm>
            <a:off x="6677026" y="4198249"/>
            <a:ext cx="5006974" cy="1047701"/>
          </a:xfrm>
          <a:prstGeom prst="rect">
            <a:avLst/>
          </a:prstGeom>
          <a:noFill/>
          <a:ln w="1905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7" name="Google Shape;137;p1"/>
          <p:cNvSpPr/>
          <p:nvPr/>
        </p:nvSpPr>
        <p:spPr>
          <a:xfrm flipH="1">
            <a:off x="6152166" y="4716099"/>
            <a:ext cx="461173" cy="163804"/>
          </a:xfrm>
          <a:prstGeom prst="rightArrow">
            <a:avLst>
              <a:gd name="adj1" fmla="val 50000"/>
              <a:gd name="adj2" fmla="val 50000"/>
            </a:avLst>
          </a:prstGeom>
          <a:solidFill>
            <a:srgbClr val="C00000"/>
          </a:solidFill>
          <a:ln w="1905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1"/>
          <p:cNvSpPr txBox="1"/>
          <p:nvPr/>
        </p:nvSpPr>
        <p:spPr>
          <a:xfrm>
            <a:off x="2935288" y="4471659"/>
            <a:ext cx="1980029"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以下是要放的文字內容</a:t>
            </a:r>
            <a:endParaRPr sz="1400">
              <a:solidFill>
                <a:schemeClr val="dk1"/>
              </a:solidFill>
              <a:latin typeface="Microsoft JhengHei"/>
              <a:ea typeface="Microsoft JhengHei"/>
              <a:cs typeface="Microsoft JhengHei"/>
              <a:sym typeface="Microsoft JhengHei"/>
            </a:endParaRPr>
          </a:p>
        </p:txBody>
      </p:sp>
      <p:sp>
        <p:nvSpPr>
          <p:cNvPr id="139" name="Google Shape;139;p1"/>
          <p:cNvSpPr txBox="1"/>
          <p:nvPr/>
        </p:nvSpPr>
        <p:spPr>
          <a:xfrm>
            <a:off x="1703729" y="4727223"/>
            <a:ext cx="4416594"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100">
                <a:solidFill>
                  <a:schemeClr val="dk1"/>
                </a:solidFill>
                <a:latin typeface="Arial"/>
                <a:ea typeface="Arial"/>
                <a:cs typeface="Arial"/>
                <a:sym typeface="Arial"/>
              </a:rPr>
              <a:t>讓網站不再只靠內容賺錢，進站的每分流量點擊都轉換為額外收入，</a:t>
            </a:r>
            <a:endParaRPr sz="1100">
              <a:solidFill>
                <a:schemeClr val="dk1"/>
              </a:solidFill>
              <a:latin typeface="Arial"/>
              <a:ea typeface="Arial"/>
              <a:cs typeface="Arial"/>
              <a:sym typeface="Arial"/>
            </a:endParaRPr>
          </a:p>
          <a:p>
            <a:pPr marL="0" marR="0" lvl="0" indent="0" algn="ctr" rtl="0">
              <a:spcBef>
                <a:spcPts val="0"/>
              </a:spcBef>
              <a:spcAft>
                <a:spcPts val="0"/>
              </a:spcAft>
              <a:buNone/>
            </a:pPr>
            <a:r>
              <a:rPr lang="zh-TW" sz="1100">
                <a:solidFill>
                  <a:schemeClr val="dk1"/>
                </a:solidFill>
                <a:latin typeface="Arial"/>
                <a:ea typeface="Arial"/>
                <a:cs typeface="Arial"/>
                <a:sym typeface="Arial"/>
              </a:rPr>
              <a:t>立即開啟流量變現之路，實現收入倍增夢想。</a:t>
            </a:r>
            <a:endParaRPr sz="1100">
              <a:solidFill>
                <a:schemeClr val="dk1"/>
              </a:solidFill>
              <a:latin typeface="Microsoft JhengHei"/>
              <a:ea typeface="Microsoft JhengHei"/>
              <a:cs typeface="Microsoft JhengHei"/>
              <a:sym typeface="Microsoft JhengHei"/>
            </a:endParaRPr>
          </a:p>
        </p:txBody>
      </p:sp>
      <p:sp>
        <p:nvSpPr>
          <p:cNvPr id="140" name="Google Shape;140;p1"/>
          <p:cNvSpPr txBox="1"/>
          <p:nvPr/>
        </p:nvSpPr>
        <p:spPr>
          <a:xfrm>
            <a:off x="411480" y="905211"/>
            <a:ext cx="395492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accent2"/>
                </a:solidFill>
                <a:latin typeface="Microsoft JhengHei"/>
                <a:ea typeface="Microsoft JhengHei"/>
                <a:cs typeface="Microsoft JhengHei"/>
                <a:sym typeface="Microsoft JhengHei"/>
              </a:rPr>
              <a:t>紅框處為本次新增的按鈕與內容區塊 ， 橘框為文字調整</a:t>
            </a:r>
            <a:endParaRPr sz="1200">
              <a:solidFill>
                <a:schemeClr val="accent2"/>
              </a:solidFill>
              <a:latin typeface="Microsoft JhengHei"/>
              <a:ea typeface="Microsoft JhengHei"/>
              <a:cs typeface="Microsoft JhengHei"/>
              <a:sym typeface="Microsoft JhengHei"/>
            </a:endParaRPr>
          </a:p>
        </p:txBody>
      </p:sp>
      <p:sp>
        <p:nvSpPr>
          <p:cNvPr id="141" name="Google Shape;141;p1"/>
          <p:cNvSpPr/>
          <p:nvPr/>
        </p:nvSpPr>
        <p:spPr>
          <a:xfrm>
            <a:off x="6724458" y="3717932"/>
            <a:ext cx="4541167" cy="393208"/>
          </a:xfrm>
          <a:prstGeom prst="rect">
            <a:avLst/>
          </a:prstGeom>
          <a:noFill/>
          <a:ln w="1905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1"/>
          <p:cNvSpPr/>
          <p:nvPr/>
        </p:nvSpPr>
        <p:spPr>
          <a:xfrm>
            <a:off x="6696383" y="2322129"/>
            <a:ext cx="4541167" cy="1370862"/>
          </a:xfrm>
          <a:prstGeom prst="rect">
            <a:avLst/>
          </a:prstGeom>
          <a:noFill/>
          <a:ln w="1905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p1"/>
          <p:cNvSpPr/>
          <p:nvPr/>
        </p:nvSpPr>
        <p:spPr>
          <a:xfrm flipH="1">
            <a:off x="4250230" y="3118167"/>
            <a:ext cx="2196564" cy="190436"/>
          </a:xfrm>
          <a:prstGeom prst="rightArrow">
            <a:avLst>
              <a:gd name="adj1" fmla="val 50000"/>
              <a:gd name="adj2" fmla="val 50000"/>
            </a:avLst>
          </a:prstGeom>
          <a:solidFill>
            <a:srgbClr val="C00000"/>
          </a:solidFill>
          <a:ln w="1905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1"/>
          <p:cNvSpPr txBox="1"/>
          <p:nvPr/>
        </p:nvSpPr>
        <p:spPr>
          <a:xfrm>
            <a:off x="683065" y="3099498"/>
            <a:ext cx="3390672"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圖片順序&amp;文字有調整，詳細請見下一頁</a:t>
            </a:r>
            <a:endParaRPr sz="1400">
              <a:solidFill>
                <a:schemeClr val="dk1"/>
              </a:solidFill>
              <a:latin typeface="Microsoft JhengHei"/>
              <a:ea typeface="Microsoft JhengHei"/>
              <a:cs typeface="Microsoft JhengHei"/>
              <a:sym typeface="Microsoft JhengHe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2"/>
          <p:cNvPicPr preferRelativeResize="0"/>
          <p:nvPr/>
        </p:nvPicPr>
        <p:blipFill rotWithShape="1">
          <a:blip r:embed="rId3">
            <a:alphaModFix/>
          </a:blip>
          <a:srcRect l="33922" r="33238"/>
          <a:stretch/>
        </p:blipFill>
        <p:spPr>
          <a:xfrm>
            <a:off x="586500" y="899397"/>
            <a:ext cx="3604499" cy="4449379"/>
          </a:xfrm>
          <a:prstGeom prst="rect">
            <a:avLst/>
          </a:prstGeom>
          <a:noFill/>
          <a:ln>
            <a:noFill/>
          </a:ln>
        </p:spPr>
      </p:pic>
      <p:sp>
        <p:nvSpPr>
          <p:cNvPr id="150" name="Google Shape;150;p2"/>
          <p:cNvSpPr txBox="1"/>
          <p:nvPr/>
        </p:nvSpPr>
        <p:spPr>
          <a:xfrm>
            <a:off x="994778" y="4850011"/>
            <a:ext cx="2787943" cy="307777"/>
          </a:xfrm>
          <a:prstGeom prst="rect">
            <a:avLst/>
          </a:prstGeom>
          <a:solidFill>
            <a:schemeClr val="lt1"/>
          </a:solidFill>
          <a:ln w="9525" cap="flat" cmpd="sng">
            <a:solidFill>
              <a:srgbClr val="A5A5A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zh-TW" sz="1400">
                <a:solidFill>
                  <a:srgbClr val="747474"/>
                </a:solidFill>
                <a:latin typeface="Arial"/>
                <a:ea typeface="Arial"/>
                <a:cs typeface="Arial"/>
                <a:sym typeface="Arial"/>
              </a:rPr>
              <a:t>如何成為 OneAD 流量變現好夥伴</a:t>
            </a:r>
            <a:endParaRPr/>
          </a:p>
        </p:txBody>
      </p:sp>
      <p:grpSp>
        <p:nvGrpSpPr>
          <p:cNvPr id="151" name="Google Shape;151;p2"/>
          <p:cNvGrpSpPr/>
          <p:nvPr/>
        </p:nvGrpSpPr>
        <p:grpSpPr>
          <a:xfrm>
            <a:off x="4496865" y="899397"/>
            <a:ext cx="3980023" cy="4449379"/>
            <a:chOff x="7934885" y="899397"/>
            <a:chExt cx="3980023" cy="4449379"/>
          </a:xfrm>
        </p:grpSpPr>
        <p:pic>
          <p:nvPicPr>
            <p:cNvPr id="152" name="Google Shape;152;p2"/>
            <p:cNvPicPr preferRelativeResize="0"/>
            <p:nvPr/>
          </p:nvPicPr>
          <p:blipFill rotWithShape="1">
            <a:blip r:embed="rId3">
              <a:alphaModFix/>
            </a:blip>
            <a:srcRect l="68431"/>
            <a:stretch/>
          </p:blipFill>
          <p:spPr>
            <a:xfrm>
              <a:off x="7934885" y="899397"/>
              <a:ext cx="3465112" cy="4449379"/>
            </a:xfrm>
            <a:prstGeom prst="rect">
              <a:avLst/>
            </a:prstGeom>
            <a:noFill/>
            <a:ln>
              <a:noFill/>
            </a:ln>
          </p:spPr>
        </p:pic>
        <p:sp>
          <p:nvSpPr>
            <p:cNvPr id="153" name="Google Shape;153;p2"/>
            <p:cNvSpPr txBox="1"/>
            <p:nvPr/>
          </p:nvSpPr>
          <p:spPr>
            <a:xfrm>
              <a:off x="8804755" y="4850010"/>
              <a:ext cx="1800493" cy="307777"/>
            </a:xfrm>
            <a:prstGeom prst="rect">
              <a:avLst/>
            </a:prstGeom>
            <a:solidFill>
              <a:schemeClr val="lt1"/>
            </a:solidFill>
            <a:ln w="9525" cap="flat" cmpd="sng">
              <a:solidFill>
                <a:srgbClr val="A5A5A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zh-TW" sz="1400">
                  <a:solidFill>
                    <a:srgbClr val="747474"/>
                  </a:solidFill>
                  <a:latin typeface="Arial"/>
                  <a:ea typeface="Arial"/>
                  <a:cs typeface="Arial"/>
                  <a:sym typeface="Arial"/>
                </a:rPr>
                <a:t>如何安裝廣告程式碼</a:t>
              </a:r>
              <a:endParaRPr/>
            </a:p>
          </p:txBody>
        </p:sp>
        <p:sp>
          <p:nvSpPr>
            <p:cNvPr id="154" name="Google Shape;154;p2"/>
            <p:cNvSpPr txBox="1"/>
            <p:nvPr/>
          </p:nvSpPr>
          <p:spPr>
            <a:xfrm>
              <a:off x="9311492" y="4247628"/>
              <a:ext cx="2603416"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100">
                  <a:solidFill>
                    <a:schemeClr val="dk1"/>
                  </a:solidFill>
                  <a:highlight>
                    <a:srgbClr val="FFFF00"/>
                  </a:highlight>
                  <a:latin typeface="Arial"/>
                  <a:ea typeface="Arial"/>
                  <a:cs typeface="Arial"/>
                  <a:sym typeface="Arial"/>
                </a:rPr>
                <a:t>只要4 個步驟，將您的網站或</a:t>
              </a:r>
              <a:endParaRPr/>
            </a:p>
          </p:txBody>
        </p:sp>
        <p:sp>
          <p:nvSpPr>
            <p:cNvPr id="155" name="Google Shape;155;p2"/>
            <p:cNvSpPr txBox="1"/>
            <p:nvPr/>
          </p:nvSpPr>
          <p:spPr>
            <a:xfrm>
              <a:off x="8054659" y="4480679"/>
              <a:ext cx="3225563" cy="4154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050" dirty="0">
                  <a:solidFill>
                    <a:schemeClr val="dk1"/>
                  </a:solidFill>
                  <a:highlight>
                    <a:srgbClr val="FFFF00"/>
                  </a:highlight>
                  <a:latin typeface="Arial"/>
                  <a:ea typeface="Arial"/>
                  <a:cs typeface="Arial"/>
                  <a:sym typeface="Arial"/>
                </a:rPr>
                <a:t>APP(WebView) 加入廣告程式碼，即可成為我們的夥伴，輕鬆實現流量變現！</a:t>
              </a:r>
              <a:endParaRPr dirty="0"/>
            </a:p>
          </p:txBody>
        </p:sp>
      </p:grpSp>
      <p:grpSp>
        <p:nvGrpSpPr>
          <p:cNvPr id="156" name="Google Shape;156;p2"/>
          <p:cNvGrpSpPr/>
          <p:nvPr/>
        </p:nvGrpSpPr>
        <p:grpSpPr>
          <a:xfrm>
            <a:off x="8081751" y="899397"/>
            <a:ext cx="3604499" cy="4449379"/>
            <a:chOff x="4190999" y="899398"/>
            <a:chExt cx="3604499" cy="4449379"/>
          </a:xfrm>
        </p:grpSpPr>
        <p:pic>
          <p:nvPicPr>
            <p:cNvPr id="157" name="Google Shape;157;p2"/>
            <p:cNvPicPr preferRelativeResize="0"/>
            <p:nvPr/>
          </p:nvPicPr>
          <p:blipFill rotWithShape="1">
            <a:blip r:embed="rId3">
              <a:alphaModFix/>
            </a:blip>
            <a:srcRect r="67161"/>
            <a:stretch/>
          </p:blipFill>
          <p:spPr>
            <a:xfrm>
              <a:off x="4190999" y="899398"/>
              <a:ext cx="3604499" cy="4449379"/>
            </a:xfrm>
            <a:prstGeom prst="rect">
              <a:avLst/>
            </a:prstGeom>
            <a:noFill/>
            <a:ln>
              <a:noFill/>
            </a:ln>
          </p:spPr>
        </p:pic>
        <p:sp>
          <p:nvSpPr>
            <p:cNvPr id="158" name="Google Shape;158;p2"/>
            <p:cNvSpPr txBox="1"/>
            <p:nvPr/>
          </p:nvSpPr>
          <p:spPr>
            <a:xfrm>
              <a:off x="5182770" y="4850011"/>
              <a:ext cx="1620957" cy="307777"/>
            </a:xfrm>
            <a:prstGeom prst="rect">
              <a:avLst/>
            </a:prstGeom>
            <a:solidFill>
              <a:schemeClr val="lt1"/>
            </a:solidFill>
            <a:ln w="9525" cap="flat" cmpd="sng">
              <a:solidFill>
                <a:srgbClr val="A5A5A5"/>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zh-TW" sz="1400">
                  <a:solidFill>
                    <a:srgbClr val="747474"/>
                  </a:solidFill>
                  <a:latin typeface="Arial"/>
                  <a:ea typeface="Arial"/>
                  <a:cs typeface="Arial"/>
                  <a:sym typeface="Arial"/>
                </a:rPr>
                <a:t>如何獲取廣告收益</a:t>
              </a:r>
              <a:endParaRPr/>
            </a:p>
          </p:txBody>
        </p:sp>
        <p:sp>
          <p:nvSpPr>
            <p:cNvPr id="159" name="Google Shape;159;p2"/>
            <p:cNvSpPr txBox="1"/>
            <p:nvPr/>
          </p:nvSpPr>
          <p:spPr>
            <a:xfrm>
              <a:off x="6450717" y="4265959"/>
              <a:ext cx="1270883"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100">
                  <a:solidFill>
                    <a:schemeClr val="dk1"/>
                  </a:solidFill>
                  <a:highlight>
                    <a:srgbClr val="FFFF00"/>
                  </a:highlight>
                  <a:latin typeface="Arial"/>
                  <a:ea typeface="Arial"/>
                  <a:cs typeface="Arial"/>
                  <a:sym typeface="Arial"/>
                </a:rPr>
                <a:t>吸引 OneAD眾多</a:t>
              </a:r>
              <a:endParaRPr/>
            </a:p>
          </p:txBody>
        </p:sp>
        <p:sp>
          <p:nvSpPr>
            <p:cNvPr id="160" name="Google Shape;160;p2"/>
            <p:cNvSpPr txBox="1"/>
            <p:nvPr/>
          </p:nvSpPr>
          <p:spPr>
            <a:xfrm>
              <a:off x="4340254" y="4480679"/>
              <a:ext cx="1755746"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000">
                  <a:solidFill>
                    <a:schemeClr val="dk1"/>
                  </a:solidFill>
                  <a:highlight>
                    <a:srgbClr val="FFFF00"/>
                  </a:highlight>
                  <a:latin typeface="Arial"/>
                  <a:ea typeface="Arial"/>
                  <a:cs typeface="Arial"/>
                  <a:sym typeface="Arial"/>
                </a:rPr>
                <a:t>廣告主爭取您的廣告空間，</a:t>
              </a:r>
              <a:endParaRPr/>
            </a:p>
          </p:txBody>
        </p:sp>
      </p:grpSp>
      <p:sp>
        <p:nvSpPr>
          <p:cNvPr id="161" name="Google Shape;161;p2"/>
          <p:cNvSpPr txBox="1"/>
          <p:nvPr/>
        </p:nvSpPr>
        <p:spPr>
          <a:xfrm>
            <a:off x="1300644" y="4482572"/>
            <a:ext cx="2750968"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000">
                <a:solidFill>
                  <a:schemeClr val="dk1"/>
                </a:solidFill>
                <a:highlight>
                  <a:srgbClr val="FFFF00"/>
                </a:highlight>
                <a:latin typeface="Arial"/>
                <a:ea typeface="Arial"/>
                <a:cs typeface="Arial"/>
                <a:sym typeface="Arial"/>
              </a:rPr>
              <a:t>網站頁面的任何位置都能找到適合的合作版位。</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
          <p:cNvSpPr/>
          <p:nvPr/>
        </p:nvSpPr>
        <p:spPr>
          <a:xfrm>
            <a:off x="6271491" y="129309"/>
            <a:ext cx="5412509" cy="66040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3"/>
          <p:cNvSpPr/>
          <p:nvPr/>
        </p:nvSpPr>
        <p:spPr>
          <a:xfrm>
            <a:off x="6271491" y="129309"/>
            <a:ext cx="5412509" cy="277091"/>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600">
                <a:solidFill>
                  <a:schemeClr val="dk1"/>
                </a:solidFill>
                <a:latin typeface="Arial"/>
                <a:ea typeface="Arial"/>
                <a:cs typeface="Arial"/>
                <a:sym typeface="Arial"/>
              </a:rPr>
              <a:t>Header</a:t>
            </a:r>
            <a:endParaRPr sz="1600">
              <a:solidFill>
                <a:schemeClr val="dk1"/>
              </a:solidFill>
              <a:latin typeface="Arial"/>
              <a:ea typeface="Arial"/>
              <a:cs typeface="Arial"/>
              <a:sym typeface="Arial"/>
            </a:endParaRPr>
          </a:p>
        </p:txBody>
      </p:sp>
      <p:sp>
        <p:nvSpPr>
          <p:cNvPr id="168" name="Google Shape;168;p3"/>
          <p:cNvSpPr/>
          <p:nvPr/>
        </p:nvSpPr>
        <p:spPr>
          <a:xfrm>
            <a:off x="6271491" y="6446982"/>
            <a:ext cx="5412509" cy="277091"/>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600">
                <a:solidFill>
                  <a:schemeClr val="dk1"/>
                </a:solidFill>
                <a:latin typeface="Arial"/>
                <a:ea typeface="Arial"/>
                <a:cs typeface="Arial"/>
                <a:sym typeface="Arial"/>
              </a:rPr>
              <a:t>Footer</a:t>
            </a:r>
            <a:endParaRPr sz="1600">
              <a:solidFill>
                <a:schemeClr val="dk1"/>
              </a:solidFill>
              <a:latin typeface="Arial"/>
              <a:ea typeface="Arial"/>
              <a:cs typeface="Arial"/>
              <a:sym typeface="Arial"/>
            </a:endParaRPr>
          </a:p>
        </p:txBody>
      </p:sp>
      <p:sp>
        <p:nvSpPr>
          <p:cNvPr id="169" name="Google Shape;169;p3"/>
          <p:cNvSpPr/>
          <p:nvPr/>
        </p:nvSpPr>
        <p:spPr>
          <a:xfrm>
            <a:off x="6271490" y="406399"/>
            <a:ext cx="5412509" cy="2058269"/>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0" name="Google Shape;170;p3"/>
          <p:cNvSpPr/>
          <p:nvPr/>
        </p:nvSpPr>
        <p:spPr>
          <a:xfrm>
            <a:off x="6279089" y="2454134"/>
            <a:ext cx="5412509" cy="2068899"/>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71" name="Google Shape;171;p3"/>
          <p:cNvSpPr txBox="1"/>
          <p:nvPr/>
        </p:nvSpPr>
        <p:spPr>
          <a:xfrm>
            <a:off x="7620183" y="591170"/>
            <a:ext cx="248177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如何成為 OneAD 流量變現好夥伴</a:t>
            </a:r>
            <a:endParaRPr/>
          </a:p>
        </p:txBody>
      </p:sp>
      <p:pic>
        <p:nvPicPr>
          <p:cNvPr id="172" name="Google Shape;172;p3"/>
          <p:cNvPicPr preferRelativeResize="0"/>
          <p:nvPr/>
        </p:nvPicPr>
        <p:blipFill rotWithShape="1">
          <a:blip r:embed="rId3">
            <a:alphaModFix/>
          </a:blip>
          <a:srcRect/>
          <a:stretch/>
        </p:blipFill>
        <p:spPr>
          <a:xfrm>
            <a:off x="7719963" y="943883"/>
            <a:ext cx="2481770" cy="1434537"/>
          </a:xfrm>
          <a:prstGeom prst="rect">
            <a:avLst/>
          </a:prstGeom>
          <a:noFill/>
          <a:ln>
            <a:noFill/>
          </a:ln>
        </p:spPr>
      </p:pic>
      <p:sp>
        <p:nvSpPr>
          <p:cNvPr id="173" name="Google Shape;173;p3"/>
          <p:cNvSpPr txBox="1"/>
          <p:nvPr/>
        </p:nvSpPr>
        <p:spPr>
          <a:xfrm>
            <a:off x="2664794" y="3321514"/>
            <a:ext cx="2238113"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此流程圖</a:t>
            </a:r>
            <a:endParaRPr sz="1400">
              <a:solidFill>
                <a:schemeClr val="dk1"/>
              </a:solidFill>
              <a:latin typeface="Microsoft JhengHei"/>
              <a:ea typeface="Microsoft JhengHei"/>
              <a:cs typeface="Microsoft JhengHei"/>
              <a:sym typeface="Microsoft JhengHei"/>
            </a:endParaRPr>
          </a:p>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僅為示意Reference</a:t>
            </a:r>
            <a:endParaRPr/>
          </a:p>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各流程詳細說明請見 P4-6</a:t>
            </a:r>
            <a:endParaRPr/>
          </a:p>
        </p:txBody>
      </p:sp>
      <p:sp>
        <p:nvSpPr>
          <p:cNvPr id="174" name="Google Shape;174;p3"/>
          <p:cNvSpPr txBox="1"/>
          <p:nvPr/>
        </p:nvSpPr>
        <p:spPr>
          <a:xfrm>
            <a:off x="8154330" y="2577948"/>
            <a:ext cx="1415772"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如何獲取廣告收益</a:t>
            </a:r>
            <a:endParaRPr/>
          </a:p>
        </p:txBody>
      </p:sp>
      <p:pic>
        <p:nvPicPr>
          <p:cNvPr id="175" name="Google Shape;175;p3"/>
          <p:cNvPicPr preferRelativeResize="0"/>
          <p:nvPr/>
        </p:nvPicPr>
        <p:blipFill rotWithShape="1">
          <a:blip r:embed="rId3">
            <a:alphaModFix/>
          </a:blip>
          <a:srcRect/>
          <a:stretch/>
        </p:blipFill>
        <p:spPr>
          <a:xfrm>
            <a:off x="7867664" y="4885384"/>
            <a:ext cx="2090852" cy="1208575"/>
          </a:xfrm>
          <a:prstGeom prst="rect">
            <a:avLst/>
          </a:prstGeom>
          <a:noFill/>
          <a:ln>
            <a:noFill/>
          </a:ln>
        </p:spPr>
      </p:pic>
      <p:sp>
        <p:nvSpPr>
          <p:cNvPr id="176" name="Google Shape;176;p3"/>
          <p:cNvSpPr txBox="1"/>
          <p:nvPr/>
        </p:nvSpPr>
        <p:spPr>
          <a:xfrm>
            <a:off x="8128260" y="4608385"/>
            <a:ext cx="1569660"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如何安裝廣告程式碼</a:t>
            </a:r>
            <a:endParaRPr/>
          </a:p>
        </p:txBody>
      </p:sp>
      <p:pic>
        <p:nvPicPr>
          <p:cNvPr id="177" name="Google Shape;177;p3"/>
          <p:cNvPicPr preferRelativeResize="0"/>
          <p:nvPr/>
        </p:nvPicPr>
        <p:blipFill rotWithShape="1">
          <a:blip r:embed="rId3">
            <a:alphaModFix/>
          </a:blip>
          <a:srcRect/>
          <a:stretch/>
        </p:blipFill>
        <p:spPr>
          <a:xfrm>
            <a:off x="7581599" y="2915903"/>
            <a:ext cx="2681331" cy="1549889"/>
          </a:xfrm>
          <a:prstGeom prst="rect">
            <a:avLst/>
          </a:prstGeom>
          <a:noFill/>
          <a:ln>
            <a:noFill/>
          </a:ln>
        </p:spPr>
      </p:pic>
      <p:grpSp>
        <p:nvGrpSpPr>
          <p:cNvPr id="178" name="Google Shape;178;p3"/>
          <p:cNvGrpSpPr/>
          <p:nvPr/>
        </p:nvGrpSpPr>
        <p:grpSpPr>
          <a:xfrm>
            <a:off x="8272129" y="6066456"/>
            <a:ext cx="1426427" cy="323285"/>
            <a:chOff x="6840118" y="6022616"/>
            <a:chExt cx="1426427" cy="323285"/>
          </a:xfrm>
        </p:grpSpPr>
        <p:sp>
          <p:nvSpPr>
            <p:cNvPr id="179" name="Google Shape;179;p3"/>
            <p:cNvSpPr/>
            <p:nvPr/>
          </p:nvSpPr>
          <p:spPr>
            <a:xfrm>
              <a:off x="6840118" y="6022616"/>
              <a:ext cx="1426427" cy="323285"/>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180" name="Google Shape;180;p3"/>
            <p:cNvSpPr txBox="1"/>
            <p:nvPr/>
          </p:nvSpPr>
          <p:spPr>
            <a:xfrm>
              <a:off x="7171894" y="6068902"/>
              <a:ext cx="80021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dk1"/>
                  </a:solidFill>
                  <a:latin typeface="Microsoft JhengHei"/>
                  <a:ea typeface="Microsoft JhengHei"/>
                  <a:cs typeface="Microsoft JhengHei"/>
                  <a:sym typeface="Microsoft JhengHei"/>
                </a:rPr>
                <a:t>立即申請</a:t>
              </a:r>
              <a:endParaRPr/>
            </a:p>
          </p:txBody>
        </p:sp>
      </p:grpSp>
      <p:sp>
        <p:nvSpPr>
          <p:cNvPr id="181" name="Google Shape;181;p3"/>
          <p:cNvSpPr txBox="1"/>
          <p:nvPr/>
        </p:nvSpPr>
        <p:spPr>
          <a:xfrm>
            <a:off x="411480" y="341871"/>
            <a:ext cx="223651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3200" b="1">
                <a:solidFill>
                  <a:schemeClr val="dk1"/>
                </a:solidFill>
                <a:latin typeface="Microsoft JhengHei"/>
                <a:ea typeface="Microsoft JhengHei"/>
                <a:cs typeface="Microsoft JhengHei"/>
                <a:sym typeface="Microsoft JhengHei"/>
              </a:rPr>
              <a:t>流程說明頁</a:t>
            </a:r>
            <a:endParaRPr/>
          </a:p>
        </p:txBody>
      </p:sp>
      <p:sp>
        <p:nvSpPr>
          <p:cNvPr id="182" name="Google Shape;182;p3"/>
          <p:cNvSpPr/>
          <p:nvPr/>
        </p:nvSpPr>
        <p:spPr>
          <a:xfrm>
            <a:off x="4906414" y="1533888"/>
            <a:ext cx="2176129" cy="4313917"/>
          </a:xfrm>
          <a:prstGeom prst="leftBrace">
            <a:avLst>
              <a:gd name="adj1" fmla="val 8333"/>
              <a:gd name="adj2" fmla="val 50000"/>
            </a:avLst>
          </a:prstGeom>
          <a:noFill/>
          <a:ln w="1905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83" name="Google Shape;183;p3"/>
          <p:cNvSpPr txBox="1"/>
          <p:nvPr/>
        </p:nvSpPr>
        <p:spPr>
          <a:xfrm>
            <a:off x="887572" y="868169"/>
            <a:ext cx="1284326"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chemeClr val="accent2"/>
                </a:solidFill>
                <a:latin typeface="Microsoft JhengHei"/>
                <a:ea typeface="Microsoft JhengHei"/>
                <a:cs typeface="Microsoft JhengHei"/>
                <a:sym typeface="Microsoft JhengHei"/>
              </a:rPr>
              <a:t>( 本次新增頁面 )</a:t>
            </a:r>
            <a:endParaRPr sz="1200">
              <a:solidFill>
                <a:schemeClr val="accent2"/>
              </a:solidFill>
              <a:latin typeface="Microsoft JhengHei"/>
              <a:ea typeface="Microsoft JhengHei"/>
              <a:cs typeface="Microsoft JhengHei"/>
              <a:sym typeface="Microsoft JhengHe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
          <p:cNvSpPr txBox="1"/>
          <p:nvPr/>
        </p:nvSpPr>
        <p:spPr>
          <a:xfrm>
            <a:off x="3500765" y="849787"/>
            <a:ext cx="478047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2400">
                <a:solidFill>
                  <a:schemeClr val="dk1"/>
                </a:solidFill>
                <a:latin typeface="Microsoft JhengHei"/>
                <a:ea typeface="Microsoft JhengHei"/>
                <a:cs typeface="Microsoft JhengHei"/>
                <a:sym typeface="Microsoft JhengHei"/>
              </a:rPr>
              <a:t>如何成為 OneAD 流量變現好夥伴</a:t>
            </a:r>
            <a:endParaRPr/>
          </a:p>
        </p:txBody>
      </p:sp>
      <p:sp>
        <p:nvSpPr>
          <p:cNvPr id="189" name="Google Shape;189;p4"/>
          <p:cNvSpPr/>
          <p:nvPr/>
        </p:nvSpPr>
        <p:spPr>
          <a:xfrm>
            <a:off x="517238" y="2519219"/>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190" name="Google Shape;190;p4"/>
          <p:cNvSpPr txBox="1"/>
          <p:nvPr/>
        </p:nvSpPr>
        <p:spPr>
          <a:xfrm>
            <a:off x="343560" y="4434714"/>
            <a:ext cx="2037609"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檢查網站是否支援</a:t>
            </a:r>
            <a:endParaRPr sz="1400">
              <a:solidFill>
                <a:schemeClr val="dk1"/>
              </a:solidFill>
              <a:latin typeface="Microsoft JhengHei"/>
              <a:ea typeface="Microsoft JhengHei"/>
              <a:cs typeface="Microsoft JhengHei"/>
              <a:sym typeface="Microsoft JhengHei"/>
            </a:endParaRPr>
          </a:p>
          <a:p>
            <a:pPr marL="0" marR="0" lvl="0" indent="0" algn="ctr" rtl="0">
              <a:spcBef>
                <a:spcPts val="0"/>
              </a:spcBef>
              <a:spcAft>
                <a:spcPts val="0"/>
              </a:spcAft>
              <a:buNone/>
            </a:pPr>
            <a:r>
              <a:rPr lang="zh-TW" sz="1400">
                <a:solidFill>
                  <a:schemeClr val="dk1"/>
                </a:solidFill>
                <a:latin typeface="Arial"/>
                <a:ea typeface="Arial"/>
                <a:cs typeface="Arial"/>
                <a:sym typeface="Arial"/>
              </a:rPr>
              <a:t>Javascript廣告代碼嵌入</a:t>
            </a:r>
            <a:endParaRPr sz="1400">
              <a:solidFill>
                <a:schemeClr val="dk1"/>
              </a:solidFill>
              <a:latin typeface="Microsoft JhengHei"/>
              <a:ea typeface="Microsoft JhengHei"/>
              <a:cs typeface="Microsoft JhengHei"/>
              <a:sym typeface="Microsoft JhengHei"/>
            </a:endParaRPr>
          </a:p>
        </p:txBody>
      </p:sp>
      <p:sp>
        <p:nvSpPr>
          <p:cNvPr id="191" name="Google Shape;191;p4"/>
          <p:cNvSpPr/>
          <p:nvPr/>
        </p:nvSpPr>
        <p:spPr>
          <a:xfrm>
            <a:off x="2576945" y="3297382"/>
            <a:ext cx="581891" cy="350982"/>
          </a:xfrm>
          <a:prstGeom prst="right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2" name="Google Shape;192;p4"/>
          <p:cNvSpPr/>
          <p:nvPr/>
        </p:nvSpPr>
        <p:spPr>
          <a:xfrm>
            <a:off x="3676073" y="2519219"/>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193" name="Google Shape;193;p4"/>
          <p:cNvSpPr txBox="1"/>
          <p:nvPr/>
        </p:nvSpPr>
        <p:spPr>
          <a:xfrm>
            <a:off x="4069794" y="4542435"/>
            <a:ext cx="902811"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註冊申請</a:t>
            </a:r>
            <a:endParaRPr sz="1400">
              <a:solidFill>
                <a:schemeClr val="dk1"/>
              </a:solidFill>
              <a:latin typeface="Microsoft JhengHei"/>
              <a:ea typeface="Microsoft JhengHei"/>
              <a:cs typeface="Microsoft JhengHei"/>
              <a:sym typeface="Microsoft JhengHei"/>
            </a:endParaRPr>
          </a:p>
        </p:txBody>
      </p:sp>
      <p:sp>
        <p:nvSpPr>
          <p:cNvPr id="194" name="Google Shape;194;p4"/>
          <p:cNvSpPr txBox="1"/>
          <p:nvPr/>
        </p:nvSpPr>
        <p:spPr>
          <a:xfrm>
            <a:off x="4069793" y="5118142"/>
            <a:ext cx="902811" cy="307777"/>
          </a:xfrm>
          <a:prstGeom prst="rect">
            <a:avLst/>
          </a:prstGeom>
          <a:solidFill>
            <a:schemeClr val="accent2"/>
          </a:solidFill>
          <a:ln w="9525" cap="flat" cmpd="sng">
            <a:solidFill>
              <a:srgbClr val="A5A5A5"/>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Arial"/>
                <a:ea typeface="Arial"/>
                <a:cs typeface="Arial"/>
                <a:sym typeface="Arial"/>
              </a:rPr>
              <a:t>立即註冊</a:t>
            </a:r>
            <a:endParaRPr/>
          </a:p>
        </p:txBody>
      </p:sp>
      <p:sp>
        <p:nvSpPr>
          <p:cNvPr id="195" name="Google Shape;195;p4"/>
          <p:cNvSpPr/>
          <p:nvPr/>
        </p:nvSpPr>
        <p:spPr>
          <a:xfrm>
            <a:off x="5758873" y="3216564"/>
            <a:ext cx="581891" cy="350982"/>
          </a:xfrm>
          <a:prstGeom prst="right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6" name="Google Shape;196;p4"/>
          <p:cNvSpPr/>
          <p:nvPr/>
        </p:nvSpPr>
        <p:spPr>
          <a:xfrm>
            <a:off x="6777184" y="2519219"/>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197" name="Google Shape;197;p4"/>
          <p:cNvSpPr txBox="1"/>
          <p:nvPr/>
        </p:nvSpPr>
        <p:spPr>
          <a:xfrm>
            <a:off x="6919636" y="4546685"/>
            <a:ext cx="1502334"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專人審核</a:t>
            </a:r>
            <a:endParaRPr sz="1400">
              <a:solidFill>
                <a:schemeClr val="dk1"/>
              </a:solidFill>
              <a:latin typeface="Microsoft JhengHei"/>
              <a:ea typeface="Microsoft JhengHei"/>
              <a:cs typeface="Microsoft JhengHei"/>
              <a:sym typeface="Microsoft JhengHei"/>
            </a:endParaRPr>
          </a:p>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(需 3 – 5 工作天)</a:t>
            </a:r>
            <a:endParaRPr/>
          </a:p>
        </p:txBody>
      </p:sp>
      <p:sp>
        <p:nvSpPr>
          <p:cNvPr id="198" name="Google Shape;198;p4"/>
          <p:cNvSpPr/>
          <p:nvPr/>
        </p:nvSpPr>
        <p:spPr>
          <a:xfrm>
            <a:off x="8903858" y="3216564"/>
            <a:ext cx="581891" cy="350982"/>
          </a:xfrm>
          <a:prstGeom prst="right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9" name="Google Shape;199;p4"/>
          <p:cNvSpPr/>
          <p:nvPr/>
        </p:nvSpPr>
        <p:spPr>
          <a:xfrm>
            <a:off x="9996056" y="2519219"/>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200" name="Google Shape;200;p4"/>
          <p:cNvSpPr txBox="1"/>
          <p:nvPr/>
        </p:nvSpPr>
        <p:spPr>
          <a:xfrm>
            <a:off x="9485749" y="4584766"/>
            <a:ext cx="2462534"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成為OneAD 流量變現好夥伴</a:t>
            </a:r>
            <a:endParaRPr sz="1400">
              <a:solidFill>
                <a:schemeClr val="dk1"/>
              </a:solidFill>
              <a:latin typeface="Microsoft JhengHei"/>
              <a:ea typeface="Microsoft JhengHei"/>
              <a:cs typeface="Microsoft JhengHei"/>
              <a:sym typeface="Microsoft JhengHei"/>
            </a:endParaRPr>
          </a:p>
        </p:txBody>
      </p:sp>
      <p:sp>
        <p:nvSpPr>
          <p:cNvPr id="201" name="Google Shape;201;p4"/>
          <p:cNvSpPr/>
          <p:nvPr/>
        </p:nvSpPr>
        <p:spPr>
          <a:xfrm rot="5400000" flipH="1">
            <a:off x="4290611" y="5695724"/>
            <a:ext cx="461173" cy="163804"/>
          </a:xfrm>
          <a:prstGeom prst="rightArrow">
            <a:avLst>
              <a:gd name="adj1" fmla="val 50000"/>
              <a:gd name="adj2" fmla="val 50000"/>
            </a:avLst>
          </a:prstGeom>
          <a:solidFill>
            <a:srgbClr val="C00000"/>
          </a:solidFill>
          <a:ln w="1905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2" name="Google Shape;202;p4"/>
          <p:cNvSpPr txBox="1"/>
          <p:nvPr/>
        </p:nvSpPr>
        <p:spPr>
          <a:xfrm>
            <a:off x="3710718" y="6129333"/>
            <a:ext cx="162095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點擊後跳到註冊頁</a:t>
            </a:r>
            <a:endParaRPr sz="1400">
              <a:solidFill>
                <a:schemeClr val="dk1"/>
              </a:solidFill>
              <a:latin typeface="Microsoft JhengHei"/>
              <a:ea typeface="Microsoft JhengHei"/>
              <a:cs typeface="Microsoft JhengHei"/>
              <a:sym typeface="Microsoft JhengHe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5"/>
          <p:cNvSpPr txBox="1"/>
          <p:nvPr/>
        </p:nvSpPr>
        <p:spPr>
          <a:xfrm>
            <a:off x="4332038" y="674295"/>
            <a:ext cx="295465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2400">
                <a:solidFill>
                  <a:schemeClr val="dk1"/>
                </a:solidFill>
                <a:latin typeface="Microsoft JhengHei"/>
                <a:ea typeface="Microsoft JhengHei"/>
                <a:cs typeface="Microsoft JhengHei"/>
                <a:sym typeface="Microsoft JhengHei"/>
              </a:rPr>
              <a:t>如何安裝廣告程式碼</a:t>
            </a:r>
            <a:endParaRPr/>
          </a:p>
        </p:txBody>
      </p:sp>
      <p:sp>
        <p:nvSpPr>
          <p:cNvPr id="208" name="Google Shape;208;p5"/>
          <p:cNvSpPr/>
          <p:nvPr/>
        </p:nvSpPr>
        <p:spPr>
          <a:xfrm>
            <a:off x="517238" y="2519219"/>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209" name="Google Shape;209;p5"/>
          <p:cNvSpPr txBox="1"/>
          <p:nvPr/>
        </p:nvSpPr>
        <p:spPr>
          <a:xfrm>
            <a:off x="372355" y="4434714"/>
            <a:ext cx="1980030"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登入帳號後</a:t>
            </a:r>
            <a:endParaRPr sz="1400">
              <a:solidFill>
                <a:schemeClr val="dk1"/>
              </a:solidFill>
              <a:latin typeface="Microsoft JhengHei"/>
              <a:ea typeface="Microsoft JhengHei"/>
              <a:cs typeface="Microsoft JhengHei"/>
              <a:sym typeface="Microsoft JhengHei"/>
            </a:endParaRPr>
          </a:p>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選擇想申請的廣告格式</a:t>
            </a:r>
            <a:endParaRPr sz="1400">
              <a:solidFill>
                <a:schemeClr val="dk1"/>
              </a:solidFill>
              <a:latin typeface="Microsoft JhengHei"/>
              <a:ea typeface="Microsoft JhengHei"/>
              <a:cs typeface="Microsoft JhengHei"/>
              <a:sym typeface="Microsoft JhengHei"/>
            </a:endParaRPr>
          </a:p>
        </p:txBody>
      </p:sp>
      <p:sp>
        <p:nvSpPr>
          <p:cNvPr id="210" name="Google Shape;210;p5"/>
          <p:cNvSpPr/>
          <p:nvPr/>
        </p:nvSpPr>
        <p:spPr>
          <a:xfrm>
            <a:off x="2576945" y="3297382"/>
            <a:ext cx="581891" cy="350982"/>
          </a:xfrm>
          <a:prstGeom prst="right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1" name="Google Shape;211;p5"/>
          <p:cNvSpPr/>
          <p:nvPr/>
        </p:nvSpPr>
        <p:spPr>
          <a:xfrm>
            <a:off x="3676073" y="2519219"/>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212" name="Google Shape;212;p5"/>
          <p:cNvSpPr txBox="1"/>
          <p:nvPr/>
        </p:nvSpPr>
        <p:spPr>
          <a:xfrm>
            <a:off x="3710723" y="4542435"/>
            <a:ext cx="16209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dirty="0">
                <a:solidFill>
                  <a:schemeClr val="dk1"/>
                </a:solidFill>
                <a:latin typeface="Microsoft JhengHei"/>
                <a:ea typeface="Microsoft JhengHei"/>
                <a:cs typeface="Microsoft JhengHei"/>
                <a:sym typeface="Microsoft JhengHei"/>
              </a:rPr>
              <a:t>填寫廣告</a:t>
            </a:r>
            <a:r>
              <a:rPr lang="zh-TW" dirty="0">
                <a:solidFill>
                  <a:schemeClr val="tx1"/>
                </a:solidFill>
                <a:latin typeface="Microsoft JhengHei"/>
                <a:ea typeface="Microsoft JhengHei"/>
                <a:cs typeface="Microsoft JhengHei"/>
                <a:sym typeface="Microsoft JhengHei"/>
              </a:rPr>
              <a:t>設定</a:t>
            </a:r>
            <a:r>
              <a:rPr lang="zh-TW" sz="1400" dirty="0">
                <a:solidFill>
                  <a:schemeClr val="dk1"/>
                </a:solidFill>
                <a:latin typeface="Microsoft JhengHei"/>
                <a:ea typeface="Microsoft JhengHei"/>
                <a:cs typeface="Microsoft JhengHei"/>
                <a:sym typeface="Microsoft JhengHei"/>
              </a:rPr>
              <a:t>資訊</a:t>
            </a:r>
            <a:endParaRPr sz="1400" dirty="0">
              <a:solidFill>
                <a:schemeClr val="dk1"/>
              </a:solidFill>
              <a:latin typeface="Microsoft JhengHei"/>
              <a:ea typeface="Microsoft JhengHei"/>
              <a:cs typeface="Microsoft JhengHei"/>
              <a:sym typeface="Microsoft JhengHei"/>
            </a:endParaRPr>
          </a:p>
        </p:txBody>
      </p:sp>
      <p:sp>
        <p:nvSpPr>
          <p:cNvPr id="213" name="Google Shape;213;p5"/>
          <p:cNvSpPr/>
          <p:nvPr/>
        </p:nvSpPr>
        <p:spPr>
          <a:xfrm>
            <a:off x="5758873" y="3216564"/>
            <a:ext cx="581891" cy="350982"/>
          </a:xfrm>
          <a:prstGeom prst="right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5"/>
          <p:cNvSpPr/>
          <p:nvPr/>
        </p:nvSpPr>
        <p:spPr>
          <a:xfrm>
            <a:off x="6777184" y="2519219"/>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215" name="Google Shape;215;p5"/>
          <p:cNvSpPr txBox="1"/>
          <p:nvPr/>
        </p:nvSpPr>
        <p:spPr>
          <a:xfrm>
            <a:off x="6950094" y="4546685"/>
            <a:ext cx="1441420"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取得廣告程式碼</a:t>
            </a:r>
            <a:endParaRPr sz="1400">
              <a:solidFill>
                <a:schemeClr val="dk1"/>
              </a:solidFill>
              <a:latin typeface="Microsoft JhengHei"/>
              <a:ea typeface="Microsoft JhengHei"/>
              <a:cs typeface="Microsoft JhengHei"/>
              <a:sym typeface="Microsoft JhengHei"/>
            </a:endParaRPr>
          </a:p>
        </p:txBody>
      </p:sp>
      <p:sp>
        <p:nvSpPr>
          <p:cNvPr id="216" name="Google Shape;216;p5"/>
          <p:cNvSpPr/>
          <p:nvPr/>
        </p:nvSpPr>
        <p:spPr>
          <a:xfrm>
            <a:off x="8903858" y="3216564"/>
            <a:ext cx="581891" cy="350982"/>
          </a:xfrm>
          <a:prstGeom prst="right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7" name="Google Shape;217;p5"/>
          <p:cNvSpPr/>
          <p:nvPr/>
        </p:nvSpPr>
        <p:spPr>
          <a:xfrm>
            <a:off x="9996056" y="2519219"/>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218" name="Google Shape;218;p5"/>
          <p:cNvSpPr txBox="1"/>
          <p:nvPr/>
        </p:nvSpPr>
        <p:spPr>
          <a:xfrm>
            <a:off x="9547470" y="4584766"/>
            <a:ext cx="2339103"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將程式碼貼到網頁指定位置</a:t>
            </a:r>
            <a:endParaRPr sz="1400">
              <a:solidFill>
                <a:schemeClr val="dk1"/>
              </a:solidFill>
              <a:latin typeface="Microsoft JhengHei"/>
              <a:ea typeface="Microsoft JhengHei"/>
              <a:cs typeface="Microsoft JhengHei"/>
              <a:sym typeface="Microsoft JhengHei"/>
            </a:endParaRPr>
          </a:p>
        </p:txBody>
      </p:sp>
      <p:sp>
        <p:nvSpPr>
          <p:cNvPr id="219" name="Google Shape;219;p5"/>
          <p:cNvSpPr txBox="1"/>
          <p:nvPr/>
        </p:nvSpPr>
        <p:spPr>
          <a:xfrm>
            <a:off x="280611" y="5492687"/>
            <a:ext cx="1212030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2400">
                <a:solidFill>
                  <a:schemeClr val="dk1"/>
                </a:solidFill>
                <a:latin typeface="Microsoft JhengHei"/>
                <a:ea typeface="Microsoft JhengHei"/>
                <a:cs typeface="Microsoft JhengHei"/>
                <a:sym typeface="Microsoft JhengHei"/>
              </a:rPr>
              <a:t>設定完成後，審核需 5-7 個工作天，通過後廣告即可在您的網站曝光，為您創造收益。</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6"/>
          <p:cNvSpPr txBox="1"/>
          <p:nvPr/>
        </p:nvSpPr>
        <p:spPr>
          <a:xfrm>
            <a:off x="4516765" y="711241"/>
            <a:ext cx="26468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2400">
                <a:solidFill>
                  <a:schemeClr val="dk1"/>
                </a:solidFill>
                <a:latin typeface="Microsoft JhengHei"/>
                <a:ea typeface="Microsoft JhengHei"/>
                <a:cs typeface="Microsoft JhengHei"/>
                <a:sym typeface="Microsoft JhengHei"/>
              </a:rPr>
              <a:t>如何獲取廣告收益</a:t>
            </a:r>
            <a:endParaRPr/>
          </a:p>
        </p:txBody>
      </p:sp>
      <p:sp>
        <p:nvSpPr>
          <p:cNvPr id="225" name="Google Shape;225;p6"/>
          <p:cNvSpPr/>
          <p:nvPr/>
        </p:nvSpPr>
        <p:spPr>
          <a:xfrm>
            <a:off x="4941563" y="1944631"/>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226" name="Google Shape;226;p6"/>
          <p:cNvSpPr/>
          <p:nvPr/>
        </p:nvSpPr>
        <p:spPr>
          <a:xfrm>
            <a:off x="7001270" y="2722794"/>
            <a:ext cx="581891" cy="350982"/>
          </a:xfrm>
          <a:prstGeom prst="right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6"/>
          <p:cNvSpPr/>
          <p:nvPr/>
        </p:nvSpPr>
        <p:spPr>
          <a:xfrm>
            <a:off x="8100398" y="1944631"/>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228" name="Google Shape;228;p6"/>
          <p:cNvSpPr txBox="1"/>
          <p:nvPr/>
        </p:nvSpPr>
        <p:spPr>
          <a:xfrm>
            <a:off x="8576018" y="4453593"/>
            <a:ext cx="902811" cy="307777"/>
          </a:xfrm>
          <a:prstGeom prst="rect">
            <a:avLst/>
          </a:prstGeom>
          <a:solidFill>
            <a:schemeClr val="accent2"/>
          </a:solidFill>
          <a:ln w="9525" cap="flat" cmpd="sng">
            <a:solidFill>
              <a:srgbClr val="A5A5A5"/>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Arial"/>
                <a:ea typeface="Arial"/>
                <a:cs typeface="Arial"/>
                <a:sym typeface="Arial"/>
              </a:rPr>
              <a:t>注意事項</a:t>
            </a:r>
            <a:endParaRPr/>
          </a:p>
        </p:txBody>
      </p:sp>
      <p:sp>
        <p:nvSpPr>
          <p:cNvPr id="229" name="Google Shape;229;p6"/>
          <p:cNvSpPr/>
          <p:nvPr/>
        </p:nvSpPr>
        <p:spPr>
          <a:xfrm rot="5400000" flipH="1">
            <a:off x="8836761" y="5115619"/>
            <a:ext cx="461173" cy="163804"/>
          </a:xfrm>
          <a:prstGeom prst="rightArrow">
            <a:avLst>
              <a:gd name="adj1" fmla="val 50000"/>
              <a:gd name="adj2" fmla="val 50000"/>
            </a:avLst>
          </a:prstGeom>
          <a:solidFill>
            <a:srgbClr val="C00000"/>
          </a:solidFill>
          <a:ln w="1905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6"/>
          <p:cNvSpPr txBox="1"/>
          <p:nvPr/>
        </p:nvSpPr>
        <p:spPr>
          <a:xfrm>
            <a:off x="7929857" y="5524659"/>
            <a:ext cx="2274983"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點擊後跳出彈跳視窗</a:t>
            </a:r>
            <a:endParaRPr sz="1400">
              <a:solidFill>
                <a:schemeClr val="dk1"/>
              </a:solidFill>
              <a:latin typeface="Microsoft JhengHei"/>
              <a:ea typeface="Microsoft JhengHei"/>
              <a:cs typeface="Microsoft JhengHei"/>
              <a:sym typeface="Microsoft JhengHei"/>
            </a:endParaRPr>
          </a:p>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(視窗頁面內容請見下一頁)</a:t>
            </a:r>
            <a:endParaRPr/>
          </a:p>
        </p:txBody>
      </p:sp>
      <p:sp>
        <p:nvSpPr>
          <p:cNvPr id="231" name="Google Shape;231;p6"/>
          <p:cNvSpPr/>
          <p:nvPr/>
        </p:nvSpPr>
        <p:spPr>
          <a:xfrm>
            <a:off x="1930512" y="1944631"/>
            <a:ext cx="1690254" cy="1745672"/>
          </a:xfrm>
          <a:prstGeom prst="ellipse">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800">
                <a:solidFill>
                  <a:schemeClr val="lt1"/>
                </a:solidFill>
                <a:latin typeface="Arial"/>
                <a:ea typeface="Arial"/>
                <a:cs typeface="Arial"/>
                <a:sym typeface="Arial"/>
              </a:rPr>
              <a:t>圖</a:t>
            </a:r>
            <a:endParaRPr/>
          </a:p>
        </p:txBody>
      </p:sp>
      <p:sp>
        <p:nvSpPr>
          <p:cNvPr id="232" name="Google Shape;232;p6"/>
          <p:cNvSpPr/>
          <p:nvPr/>
        </p:nvSpPr>
        <p:spPr>
          <a:xfrm>
            <a:off x="3990219" y="2722794"/>
            <a:ext cx="581891" cy="350982"/>
          </a:xfrm>
          <a:prstGeom prst="rightArrow">
            <a:avLst>
              <a:gd name="adj1" fmla="val 50000"/>
              <a:gd name="adj2" fmla="val 50000"/>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3" name="Google Shape;233;p6"/>
          <p:cNvSpPr txBox="1"/>
          <p:nvPr/>
        </p:nvSpPr>
        <p:spPr>
          <a:xfrm>
            <a:off x="1510398" y="3947012"/>
            <a:ext cx="2339102"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廣告於您的網站上開始曝光</a:t>
            </a:r>
            <a:endParaRPr sz="1400">
              <a:solidFill>
                <a:schemeClr val="dk1"/>
              </a:solidFill>
              <a:latin typeface="Microsoft JhengHei"/>
              <a:ea typeface="Microsoft JhengHei"/>
              <a:cs typeface="Microsoft JhengHei"/>
              <a:sym typeface="Microsoft JhengHei"/>
            </a:endParaRPr>
          </a:p>
        </p:txBody>
      </p:sp>
      <p:sp>
        <p:nvSpPr>
          <p:cNvPr id="234" name="Google Shape;234;p6"/>
          <p:cNvSpPr txBox="1"/>
          <p:nvPr/>
        </p:nvSpPr>
        <p:spPr>
          <a:xfrm>
            <a:off x="4706907" y="3947012"/>
            <a:ext cx="2159566"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網友點擊您網站上的廣告</a:t>
            </a:r>
            <a:endParaRPr sz="1400">
              <a:solidFill>
                <a:schemeClr val="dk1"/>
              </a:solidFill>
              <a:latin typeface="Microsoft JhengHei"/>
              <a:ea typeface="Microsoft JhengHei"/>
              <a:cs typeface="Microsoft JhengHei"/>
              <a:sym typeface="Microsoft JhengHei"/>
            </a:endParaRPr>
          </a:p>
        </p:txBody>
      </p:sp>
      <p:sp>
        <p:nvSpPr>
          <p:cNvPr id="235" name="Google Shape;235;p6"/>
          <p:cNvSpPr txBox="1"/>
          <p:nvPr/>
        </p:nvSpPr>
        <p:spPr>
          <a:xfrm>
            <a:off x="7686201" y="3940251"/>
            <a:ext cx="2518639"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400">
                <a:solidFill>
                  <a:schemeClr val="dk1"/>
                </a:solidFill>
                <a:latin typeface="Microsoft JhengHei"/>
                <a:ea typeface="Microsoft JhengHei"/>
                <a:cs typeface="Microsoft JhengHei"/>
                <a:sym typeface="Microsoft JhengHei"/>
              </a:rPr>
              <a:t>登入帳戶，申請您的廣告收益</a:t>
            </a:r>
            <a:endParaRPr sz="1400">
              <a:solidFill>
                <a:schemeClr val="dk1"/>
              </a:solidFill>
              <a:latin typeface="Microsoft JhengHei"/>
              <a:ea typeface="Microsoft JhengHei"/>
              <a:cs typeface="Microsoft JhengHei"/>
              <a:sym typeface="Microsoft JhengHe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7"/>
          <p:cNvSpPr txBox="1"/>
          <p:nvPr/>
        </p:nvSpPr>
        <p:spPr>
          <a:xfrm>
            <a:off x="411480" y="341871"/>
            <a:ext cx="264687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3200" b="1">
                <a:solidFill>
                  <a:schemeClr val="dk1"/>
                </a:solidFill>
                <a:latin typeface="Microsoft JhengHei"/>
                <a:ea typeface="Microsoft JhengHei"/>
                <a:cs typeface="Microsoft JhengHei"/>
                <a:sym typeface="Microsoft JhengHei"/>
              </a:rPr>
              <a:t>彈跳視窗內容</a:t>
            </a:r>
            <a:endParaRPr/>
          </a:p>
        </p:txBody>
      </p:sp>
      <p:sp>
        <p:nvSpPr>
          <p:cNvPr id="241" name="Google Shape;241;p7"/>
          <p:cNvSpPr/>
          <p:nvPr/>
        </p:nvSpPr>
        <p:spPr>
          <a:xfrm>
            <a:off x="3058358" y="1809882"/>
            <a:ext cx="6500312" cy="3687136"/>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242" name="Google Shape;242;p7"/>
          <p:cNvSpPr txBox="1"/>
          <p:nvPr/>
        </p:nvSpPr>
        <p:spPr>
          <a:xfrm>
            <a:off x="5336818" y="1947372"/>
            <a:ext cx="1518364" cy="4924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2600" b="1">
                <a:solidFill>
                  <a:schemeClr val="dk1"/>
                </a:solidFill>
                <a:latin typeface="Microsoft JhengHei"/>
                <a:ea typeface="Microsoft JhengHei"/>
                <a:cs typeface="Microsoft JhengHei"/>
                <a:sym typeface="Microsoft JhengHei"/>
              </a:rPr>
              <a:t>注意事項</a:t>
            </a:r>
            <a:endParaRPr/>
          </a:p>
        </p:txBody>
      </p:sp>
      <p:sp>
        <p:nvSpPr>
          <p:cNvPr id="243" name="Google Shape;243;p7"/>
          <p:cNvSpPr txBox="1"/>
          <p:nvPr/>
        </p:nvSpPr>
        <p:spPr>
          <a:xfrm>
            <a:off x="3164479" y="2560283"/>
            <a:ext cx="6245400" cy="138495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400"/>
              <a:buFont typeface="Arial"/>
              <a:buChar char="•"/>
            </a:pPr>
            <a:r>
              <a:rPr lang="zh-TW" sz="1400" dirty="0">
                <a:solidFill>
                  <a:schemeClr val="dk1"/>
                </a:solidFill>
                <a:latin typeface="Microsoft JhengHei"/>
                <a:ea typeface="Microsoft JhengHei"/>
                <a:cs typeface="Microsoft JhengHei"/>
                <a:sym typeface="Microsoft JhengHei"/>
              </a:rPr>
              <a:t>您可以於平台中</a:t>
            </a:r>
            <a:r>
              <a:rPr lang="zh-TW" altLang="en-US" sz="1400" dirty="0">
                <a:solidFill>
                  <a:schemeClr val="dk1"/>
                </a:solidFill>
                <a:latin typeface="Microsoft JhengHei"/>
                <a:ea typeface="Microsoft JhengHei"/>
                <a:cs typeface="Microsoft JhengHei"/>
                <a:sym typeface="Microsoft JhengHei"/>
              </a:rPr>
              <a:t>的</a:t>
            </a:r>
            <a:r>
              <a:rPr lang="zh-TW" sz="1400" dirty="0">
                <a:solidFill>
                  <a:schemeClr val="dk1"/>
                </a:solidFill>
                <a:latin typeface="Microsoft JhengHei"/>
                <a:ea typeface="Microsoft JhengHei"/>
                <a:cs typeface="Microsoft JhengHei"/>
                <a:sym typeface="Microsoft JhengHei"/>
              </a:rPr>
              <a:t>「收益報表」查看即時廣告收益數據。</a:t>
            </a:r>
            <a:endParaRPr sz="1400" dirty="0">
              <a:solidFill>
                <a:schemeClr val="dk1"/>
              </a:solidFill>
              <a:latin typeface="Microsoft JhengHei"/>
              <a:ea typeface="Microsoft JhengHei"/>
              <a:cs typeface="Microsoft JhengHei"/>
              <a:sym typeface="Microsoft JhengHei"/>
            </a:endParaRPr>
          </a:p>
          <a:p>
            <a:pPr marL="285750" marR="0" lvl="0" indent="-285750" algn="l" rtl="0">
              <a:spcBef>
                <a:spcPts val="0"/>
              </a:spcBef>
              <a:spcAft>
                <a:spcPts val="0"/>
              </a:spcAft>
              <a:buClr>
                <a:schemeClr val="dk1"/>
              </a:buClr>
              <a:buSzPts val="1400"/>
              <a:buFont typeface="Arial"/>
              <a:buChar char="•"/>
            </a:pPr>
            <a:r>
              <a:rPr lang="zh-TW" sz="1400" dirty="0">
                <a:solidFill>
                  <a:schemeClr val="dk1"/>
                </a:solidFill>
                <a:latin typeface="Microsoft JhengHei"/>
                <a:ea typeface="Microsoft JhengHei"/>
                <a:cs typeface="Microsoft JhengHei"/>
                <a:sym typeface="Microsoft JhengHei"/>
              </a:rPr>
              <a:t>您可以以完整月份為最小單位，申請網站累積的廣告收益，且累積收益須達新台幣 1,000元 (未稅)，方可提出請款申請。</a:t>
            </a:r>
            <a:endParaRPr sz="1400" dirty="0">
              <a:solidFill>
                <a:schemeClr val="dk1"/>
              </a:solidFill>
              <a:latin typeface="Microsoft JhengHei"/>
              <a:ea typeface="Microsoft JhengHei"/>
              <a:cs typeface="Microsoft JhengHei"/>
              <a:sym typeface="Microsoft JhengHei"/>
            </a:endParaRPr>
          </a:p>
          <a:p>
            <a:pPr marL="285750" marR="0" lvl="0" indent="-285750" algn="l" rtl="0">
              <a:spcBef>
                <a:spcPts val="0"/>
              </a:spcBef>
              <a:spcAft>
                <a:spcPts val="0"/>
              </a:spcAft>
              <a:buClr>
                <a:schemeClr val="dk1"/>
              </a:buClr>
              <a:buSzPts val="1400"/>
              <a:buFont typeface="Arial"/>
              <a:buChar char="•"/>
            </a:pPr>
            <a:r>
              <a:rPr lang="zh-TW" sz="1400" dirty="0">
                <a:solidFill>
                  <a:schemeClr val="dk1"/>
                </a:solidFill>
                <a:latin typeface="Microsoft JhengHei"/>
                <a:ea typeface="Microsoft JhengHei"/>
                <a:cs typeface="Microsoft JhengHei"/>
                <a:sym typeface="Microsoft JhengHei"/>
              </a:rPr>
              <a:t>您可於</a:t>
            </a:r>
            <a:r>
              <a:rPr lang="zh-TW" altLang="en-US" dirty="0">
                <a:solidFill>
                  <a:schemeClr val="dk1"/>
                </a:solidFill>
                <a:latin typeface="Microsoft JhengHei"/>
                <a:ea typeface="Microsoft JhengHei"/>
                <a:cs typeface="Microsoft JhengHei"/>
                <a:sym typeface="Microsoft JhengHei"/>
              </a:rPr>
              <a:t>流量變現好夥伴平台中</a:t>
            </a:r>
            <a:r>
              <a:rPr lang="zh-TW" sz="1400" dirty="0">
                <a:solidFill>
                  <a:schemeClr val="dk1"/>
                </a:solidFill>
                <a:latin typeface="Microsoft JhengHei"/>
                <a:ea typeface="Microsoft JhengHei"/>
                <a:cs typeface="Microsoft JhengHei"/>
                <a:sym typeface="Microsoft JhengHei"/>
              </a:rPr>
              <a:t>申請請款，並附上</a:t>
            </a:r>
            <a:r>
              <a:rPr lang="zh-TW" dirty="0">
                <a:solidFill>
                  <a:schemeClr val="dk1"/>
                </a:solidFill>
                <a:latin typeface="Microsoft JhengHei"/>
                <a:ea typeface="Microsoft JhengHei"/>
                <a:cs typeface="Microsoft JhengHei"/>
                <a:sym typeface="Microsoft JhengHei"/>
              </a:rPr>
              <a:t>指定</a:t>
            </a:r>
            <a:r>
              <a:rPr lang="zh-TW" sz="1400" dirty="0">
                <a:solidFill>
                  <a:schemeClr val="dk1"/>
                </a:solidFill>
                <a:latin typeface="Microsoft JhengHei"/>
                <a:ea typeface="Microsoft JhengHei"/>
                <a:cs typeface="Microsoft JhengHei"/>
                <a:sym typeface="Microsoft JhengHei"/>
              </a:rPr>
              <a:t>資料，將會有專人為您審核請款資格。</a:t>
            </a:r>
            <a:endParaRPr sz="1400" dirty="0">
              <a:solidFill>
                <a:schemeClr val="dk1"/>
              </a:solidFill>
              <a:latin typeface="Microsoft JhengHei"/>
              <a:ea typeface="Microsoft JhengHei"/>
              <a:cs typeface="Microsoft JhengHei"/>
              <a:sym typeface="Microsoft JhengHei"/>
            </a:endParaRPr>
          </a:p>
          <a:p>
            <a:pPr marL="285750" marR="0" lvl="0" indent="-285750" algn="l" rtl="0">
              <a:spcBef>
                <a:spcPts val="0"/>
              </a:spcBef>
              <a:spcAft>
                <a:spcPts val="0"/>
              </a:spcAft>
              <a:buClr>
                <a:schemeClr val="dk1"/>
              </a:buClr>
              <a:buSzPts val="1400"/>
              <a:buFont typeface="Arial"/>
              <a:buChar char="•"/>
            </a:pPr>
            <a:r>
              <a:rPr lang="zh-TW" sz="1400" dirty="0">
                <a:solidFill>
                  <a:schemeClr val="dk1"/>
                </a:solidFill>
                <a:latin typeface="Microsoft JhengHei"/>
                <a:ea typeface="Microsoft JhengHei"/>
                <a:cs typeface="Microsoft JhengHei"/>
                <a:sym typeface="Microsoft JhengHei"/>
              </a:rPr>
              <a:t>請款審核通過後，您的款項將於請款月份的下個月1日</a:t>
            </a:r>
            <a:r>
              <a:rPr lang="zh-TW" dirty="0">
                <a:solidFill>
                  <a:schemeClr val="dk1"/>
                </a:solidFill>
                <a:latin typeface="Microsoft JhengHei"/>
                <a:ea typeface="Microsoft JhengHei"/>
                <a:cs typeface="Microsoft JhengHei"/>
                <a:sym typeface="Microsoft JhengHei"/>
              </a:rPr>
              <a:t>後</a:t>
            </a:r>
            <a:r>
              <a:rPr lang="zh-TW" sz="1400" dirty="0">
                <a:solidFill>
                  <a:schemeClr val="dk1"/>
                </a:solidFill>
                <a:latin typeface="Microsoft JhengHei"/>
                <a:ea typeface="Microsoft JhengHei"/>
                <a:cs typeface="Microsoft JhengHei"/>
                <a:sym typeface="Microsoft JhengHei"/>
              </a:rPr>
              <a:t>60天收到款項。</a:t>
            </a:r>
            <a:endParaRPr sz="1400" dirty="0">
              <a:solidFill>
                <a:schemeClr val="dk1"/>
              </a:solidFill>
              <a:latin typeface="Microsoft JhengHei"/>
              <a:ea typeface="Microsoft JhengHei"/>
              <a:cs typeface="Microsoft JhengHei"/>
              <a:sym typeface="Microsoft JhengHei"/>
            </a:endParaRPr>
          </a:p>
        </p:txBody>
      </p:sp>
      <p:sp>
        <p:nvSpPr>
          <p:cNvPr id="244" name="Google Shape;244;p7"/>
          <p:cNvSpPr txBox="1"/>
          <p:nvPr/>
        </p:nvSpPr>
        <p:spPr>
          <a:xfrm>
            <a:off x="3164479" y="3927246"/>
            <a:ext cx="6139009" cy="2769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a:solidFill>
                  <a:srgbClr val="7F7F7F"/>
                </a:solidFill>
                <a:latin typeface="Microsoft JhengHei"/>
                <a:ea typeface="Microsoft JhengHei"/>
                <a:cs typeface="Microsoft JhengHei"/>
                <a:sym typeface="Microsoft JhengHei"/>
              </a:rPr>
              <a:t>例如：您於 3月10日通過請款申請，該筆款項將於 4月1日起算60天後，撥款至您的帳戶。</a:t>
            </a:r>
            <a:endParaRPr sz="1200">
              <a:solidFill>
                <a:srgbClr val="7F7F7F"/>
              </a:solidFill>
              <a:latin typeface="Microsoft JhengHei"/>
              <a:ea typeface="Microsoft JhengHei"/>
              <a:cs typeface="Microsoft JhengHei"/>
              <a:sym typeface="Microsoft JhengHei"/>
            </a:endParaRPr>
          </a:p>
        </p:txBody>
      </p:sp>
      <p:sp>
        <p:nvSpPr>
          <p:cNvPr id="245" name="Google Shape;245;p7"/>
          <p:cNvSpPr txBox="1"/>
          <p:nvPr/>
        </p:nvSpPr>
        <p:spPr>
          <a:xfrm>
            <a:off x="3270805" y="4875831"/>
            <a:ext cx="6139009"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sz="1200">
                <a:solidFill>
                  <a:srgbClr val="FF0000"/>
                </a:solidFill>
                <a:latin typeface="Microsoft JhengHei"/>
                <a:ea typeface="Microsoft JhengHei"/>
                <a:cs typeface="Microsoft JhengHei"/>
                <a:sym typeface="Microsoft JhengHei"/>
              </a:rPr>
              <a:t>請仔細閱讀「</a:t>
            </a:r>
            <a:r>
              <a:rPr lang="zh-TW" sz="1200" u="sng">
                <a:solidFill>
                  <a:srgbClr val="FF0000"/>
                </a:solidFill>
                <a:latin typeface="Microsoft JhengHei"/>
                <a:ea typeface="Microsoft JhengHei"/>
                <a:cs typeface="Microsoft JhengHei"/>
                <a:sym typeface="Microsoft JhengHei"/>
                <a:hlinkClick r:id="rId3">
                  <a:extLst>
                    <a:ext uri="{A12FA001-AC4F-418D-AE19-62706E023703}">
                      <ahyp:hlinkClr xmlns:ahyp="http://schemas.microsoft.com/office/drawing/2018/hyperlinkcolor" val="tx"/>
                    </a:ext>
                  </a:extLst>
                </a:hlinkClick>
              </a:rPr>
              <a:t>廣告服務平台約定條款</a:t>
            </a:r>
            <a:r>
              <a:rPr lang="zh-TW" sz="1200">
                <a:solidFill>
                  <a:srgbClr val="FF0000"/>
                </a:solidFill>
                <a:latin typeface="Microsoft JhengHei"/>
                <a:ea typeface="Microsoft JhengHei"/>
                <a:cs typeface="Microsoft JhengHei"/>
                <a:sym typeface="Microsoft JhengHei"/>
              </a:rPr>
              <a:t>」，若發現廣告點選來源或網站內容違反合作契約，本公司保留隨時終止雙方合作之權利。</a:t>
            </a:r>
            <a:endParaRPr sz="1200">
              <a:solidFill>
                <a:srgbClr val="FF0000"/>
              </a:solidFill>
              <a:latin typeface="Microsoft JhengHei"/>
              <a:ea typeface="Microsoft JhengHei"/>
              <a:cs typeface="Microsoft JhengHei"/>
              <a:sym typeface="Microsoft JhengHei"/>
            </a:endParaRPr>
          </a:p>
        </p:txBody>
      </p:sp>
      <p:sp>
        <p:nvSpPr>
          <p:cNvPr id="246" name="Google Shape;246;p7"/>
          <p:cNvSpPr txBox="1"/>
          <p:nvPr/>
        </p:nvSpPr>
        <p:spPr>
          <a:xfrm>
            <a:off x="5641513" y="4370642"/>
            <a:ext cx="1184940" cy="4924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2600" b="1">
                <a:solidFill>
                  <a:schemeClr val="dk1"/>
                </a:solidFill>
                <a:latin typeface="Microsoft JhengHei"/>
                <a:ea typeface="Microsoft JhengHei"/>
                <a:cs typeface="Microsoft JhengHei"/>
                <a:sym typeface="Microsoft JhengHei"/>
              </a:rPr>
              <a:t>提醒您</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8"/>
          <p:cNvSpPr/>
          <p:nvPr/>
        </p:nvSpPr>
        <p:spPr>
          <a:xfrm>
            <a:off x="0" y="1913860"/>
            <a:ext cx="12192000" cy="2275368"/>
          </a:xfrm>
          <a:prstGeom prst="rect">
            <a:avLst/>
          </a:prstGeom>
          <a:solidFill>
            <a:schemeClr val="accent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6600" b="1">
                <a:solidFill>
                  <a:schemeClr val="lt1"/>
                </a:solidFill>
                <a:latin typeface="Microsoft JhengHei"/>
                <a:ea typeface="Microsoft JhengHei"/>
                <a:cs typeface="Microsoft JhengHei"/>
                <a:sym typeface="Microsoft JhengHei"/>
              </a:rPr>
              <a:t>ITO 直接調整部分</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p9"/>
          <p:cNvSpPr/>
          <p:nvPr/>
        </p:nvSpPr>
        <p:spPr>
          <a:xfrm>
            <a:off x="1524" y="59325"/>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257" name="Google Shape;257;p9" descr="一張含有 文字, 螢幕擷取畫面, 字型, 數字 的圖片&#10;&#10;AI 產生的內容可能不正確。"/>
          <p:cNvPicPr preferRelativeResize="0"/>
          <p:nvPr/>
        </p:nvPicPr>
        <p:blipFill rotWithShape="1">
          <a:blip r:embed="rId3">
            <a:alphaModFix/>
          </a:blip>
          <a:srcRect/>
          <a:stretch/>
        </p:blipFill>
        <p:spPr>
          <a:xfrm>
            <a:off x="186392" y="116958"/>
            <a:ext cx="5364487" cy="6183848"/>
          </a:xfrm>
          <a:prstGeom prst="rect">
            <a:avLst/>
          </a:prstGeom>
          <a:noFill/>
          <a:ln>
            <a:noFill/>
          </a:ln>
        </p:spPr>
      </p:pic>
      <p:grpSp>
        <p:nvGrpSpPr>
          <p:cNvPr id="258" name="Google Shape;258;p9"/>
          <p:cNvGrpSpPr/>
          <p:nvPr/>
        </p:nvGrpSpPr>
        <p:grpSpPr>
          <a:xfrm>
            <a:off x="1871636" y="2392325"/>
            <a:ext cx="2466447" cy="1846102"/>
            <a:chOff x="1861004" y="1988288"/>
            <a:chExt cx="3035438" cy="2282037"/>
          </a:xfrm>
        </p:grpSpPr>
        <p:pic>
          <p:nvPicPr>
            <p:cNvPr id="259" name="Google Shape;259;p9" descr="一張含有 文字, 字型 的圖片&#10;&#10;AI 產生的內容可能不正確。"/>
            <p:cNvPicPr preferRelativeResize="0"/>
            <p:nvPr/>
          </p:nvPicPr>
          <p:blipFill rotWithShape="1">
            <a:blip r:embed="rId4">
              <a:alphaModFix/>
            </a:blip>
            <a:srcRect/>
            <a:stretch/>
          </p:blipFill>
          <p:spPr>
            <a:xfrm>
              <a:off x="1861004" y="1988288"/>
              <a:ext cx="3035438" cy="2282037"/>
            </a:xfrm>
            <a:prstGeom prst="rect">
              <a:avLst/>
            </a:prstGeom>
            <a:noFill/>
            <a:ln>
              <a:noFill/>
            </a:ln>
          </p:spPr>
        </p:pic>
        <p:sp>
          <p:nvSpPr>
            <p:cNvPr id="260" name="Google Shape;260;p9"/>
            <p:cNvSpPr/>
            <p:nvPr/>
          </p:nvSpPr>
          <p:spPr>
            <a:xfrm>
              <a:off x="2169042" y="4040372"/>
              <a:ext cx="893135" cy="212651"/>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61" name="Google Shape;261;p9"/>
          <p:cNvSpPr txBox="1"/>
          <p:nvPr/>
        </p:nvSpPr>
        <p:spPr>
          <a:xfrm>
            <a:off x="2231012" y="4176961"/>
            <a:ext cx="8316485" cy="680127"/>
          </a:xfrm>
          <a:prstGeom prst="rect">
            <a:avLst/>
          </a:prstGeom>
          <a:noFill/>
          <a:ln>
            <a:noFill/>
          </a:ln>
        </p:spPr>
        <p:txBody>
          <a:bodyPr spcFirstLastPara="1" wrap="square" lIns="91425" tIns="45700" rIns="91425" bIns="45700" anchor="ctr" anchorCtr="0">
            <a:normAutofit/>
          </a:bodyPr>
          <a:lstStyle/>
          <a:p>
            <a:pPr marL="342900" marR="0" lvl="0" indent="-342900" algn="l" rtl="0">
              <a:lnSpc>
                <a:spcPct val="90000"/>
              </a:lnSpc>
              <a:spcBef>
                <a:spcPts val="0"/>
              </a:spcBef>
              <a:spcAft>
                <a:spcPts val="0"/>
              </a:spcAft>
              <a:buClr>
                <a:schemeClr val="dk1"/>
              </a:buClr>
              <a:buSzPts val="1800"/>
              <a:buFont typeface="Play"/>
              <a:buAutoNum type="arabicPeriod"/>
            </a:pPr>
            <a:r>
              <a:rPr lang="zh-TW" sz="1800">
                <a:solidFill>
                  <a:schemeClr val="dk1"/>
                </a:solidFill>
                <a:highlight>
                  <a:srgbClr val="00FF00"/>
                </a:highlight>
                <a:latin typeface="Play"/>
                <a:ea typeface="Play"/>
                <a:cs typeface="Play"/>
                <a:sym typeface="Play"/>
              </a:rPr>
              <a:t>網站網址旁增加提醒</a:t>
            </a:r>
            <a:endParaRPr sz="1800">
              <a:solidFill>
                <a:schemeClr val="dk1"/>
              </a:solidFill>
              <a:highlight>
                <a:srgbClr val="00FF00"/>
              </a:highlight>
              <a:latin typeface="Play"/>
              <a:ea typeface="Play"/>
              <a:cs typeface="Play"/>
              <a:sym typeface="Play"/>
            </a:endParaRPr>
          </a:p>
          <a:p>
            <a:pPr marL="342900" marR="0" lvl="0" indent="-342900" algn="l" rtl="0">
              <a:lnSpc>
                <a:spcPct val="90000"/>
              </a:lnSpc>
              <a:spcBef>
                <a:spcPts val="600"/>
              </a:spcBef>
              <a:spcAft>
                <a:spcPts val="0"/>
              </a:spcAft>
              <a:buClr>
                <a:schemeClr val="dk1"/>
              </a:buClr>
              <a:buSzPts val="1800"/>
              <a:buFont typeface="Play"/>
              <a:buAutoNum type="arabicPeriod"/>
            </a:pPr>
            <a:r>
              <a:rPr lang="zh-TW" sz="1800">
                <a:solidFill>
                  <a:schemeClr val="dk1"/>
                </a:solidFill>
                <a:highlight>
                  <a:srgbClr val="00FF00"/>
                </a:highlight>
                <a:latin typeface="Play"/>
                <a:ea typeface="Play"/>
                <a:cs typeface="Play"/>
                <a:sym typeface="Play"/>
              </a:rPr>
              <a:t>表單送出時增加判定，以下網域申請時跳出通知 (表單不送出)</a:t>
            </a:r>
            <a:endParaRPr sz="1800">
              <a:solidFill>
                <a:schemeClr val="dk1"/>
              </a:solidFill>
              <a:highlight>
                <a:srgbClr val="00FF00"/>
              </a:highlight>
              <a:latin typeface="Play"/>
              <a:ea typeface="Play"/>
              <a:cs typeface="Play"/>
              <a:sym typeface="Play"/>
            </a:endParaRPr>
          </a:p>
        </p:txBody>
      </p:sp>
      <p:sp>
        <p:nvSpPr>
          <p:cNvPr id="262" name="Google Shape;262;p9"/>
          <p:cNvSpPr txBox="1"/>
          <p:nvPr/>
        </p:nvSpPr>
        <p:spPr>
          <a:xfrm>
            <a:off x="4809101" y="4832197"/>
            <a:ext cx="6097800" cy="138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200" u="sng">
                <a:solidFill>
                  <a:schemeClr val="dk1"/>
                </a:solidFill>
                <a:latin typeface="Arial"/>
                <a:ea typeface="Arial"/>
                <a:cs typeface="Arial"/>
                <a:sym typeface="Arial"/>
                <a:hlinkClick r:id="rId5">
                  <a:extLst>
                    <a:ext uri="{A12FA001-AC4F-418D-AE19-62706E023703}">
                      <ahyp:hlinkClr xmlns:ahyp="http://schemas.microsoft.com/office/drawing/2018/hyperlinkcolor" val="tx"/>
                    </a:ext>
                  </a:extLst>
                </a:hlinkClick>
              </a:rPr>
              <a:t>https://www.facebook.com/</a:t>
            </a:r>
            <a:endParaRPr sz="1200">
              <a:solidFill>
                <a:schemeClr val="dk1"/>
              </a:solidFill>
              <a:latin typeface="Arial"/>
              <a:ea typeface="Arial"/>
              <a:cs typeface="Arial"/>
              <a:sym typeface="Arial"/>
            </a:endParaRPr>
          </a:p>
          <a:p>
            <a:pPr marL="0" marR="0" lvl="0" indent="0" algn="l" rtl="0">
              <a:spcBef>
                <a:spcPts val="0"/>
              </a:spcBef>
              <a:spcAft>
                <a:spcPts val="0"/>
              </a:spcAft>
              <a:buNone/>
            </a:pPr>
            <a:r>
              <a:rPr lang="zh-TW" sz="1200" u="sng">
                <a:solidFill>
                  <a:schemeClr val="dk1"/>
                </a:solidFill>
                <a:latin typeface="Arial"/>
                <a:ea typeface="Arial"/>
                <a:cs typeface="Arial"/>
                <a:sym typeface="Arial"/>
                <a:hlinkClick r:id="rId6">
                  <a:extLst>
                    <a:ext uri="{A12FA001-AC4F-418D-AE19-62706E023703}">
                      <ahyp:hlinkClr xmlns:ahyp="http://schemas.microsoft.com/office/drawing/2018/hyperlinkcolor" val="tx"/>
                    </a:ext>
                  </a:extLst>
                </a:hlinkClick>
              </a:rPr>
              <a:t>https://www.instagram.com/</a:t>
            </a:r>
            <a:endParaRPr sz="1200">
              <a:solidFill>
                <a:schemeClr val="dk1"/>
              </a:solidFill>
              <a:latin typeface="Arial"/>
              <a:ea typeface="Arial"/>
              <a:cs typeface="Arial"/>
              <a:sym typeface="Arial"/>
            </a:endParaRPr>
          </a:p>
          <a:p>
            <a:pPr marL="0" marR="0" lvl="0" indent="0" algn="l" rtl="0">
              <a:spcBef>
                <a:spcPts val="0"/>
              </a:spcBef>
              <a:spcAft>
                <a:spcPts val="0"/>
              </a:spcAft>
              <a:buNone/>
            </a:pPr>
            <a:r>
              <a:rPr lang="zh-TW" sz="1200" u="sng">
                <a:solidFill>
                  <a:schemeClr val="dk1"/>
                </a:solidFill>
                <a:latin typeface="Arial"/>
                <a:ea typeface="Arial"/>
                <a:cs typeface="Arial"/>
                <a:sym typeface="Arial"/>
                <a:hlinkClick r:id="rId7">
                  <a:extLst>
                    <a:ext uri="{A12FA001-AC4F-418D-AE19-62706E023703}">
                      <ahyp:hlinkClr xmlns:ahyp="http://schemas.microsoft.com/office/drawing/2018/hyperlinkcolor" val="tx"/>
                    </a:ext>
                  </a:extLst>
                </a:hlinkClick>
              </a:rPr>
              <a:t>https://www.threads.net/</a:t>
            </a:r>
            <a:endParaRPr sz="1200">
              <a:solidFill>
                <a:schemeClr val="dk1"/>
              </a:solidFill>
              <a:latin typeface="Arial"/>
              <a:ea typeface="Arial"/>
              <a:cs typeface="Arial"/>
              <a:sym typeface="Arial"/>
            </a:endParaRPr>
          </a:p>
          <a:p>
            <a:pPr marL="0" marR="0" lvl="0" indent="0" algn="l" rtl="0">
              <a:spcBef>
                <a:spcPts val="0"/>
              </a:spcBef>
              <a:spcAft>
                <a:spcPts val="0"/>
              </a:spcAft>
              <a:buNone/>
            </a:pPr>
            <a:r>
              <a:rPr lang="zh-TW" sz="1200" u="sng">
                <a:solidFill>
                  <a:schemeClr val="dk1"/>
                </a:solidFill>
                <a:latin typeface="Arial"/>
                <a:ea typeface="Arial"/>
                <a:cs typeface="Arial"/>
                <a:sym typeface="Arial"/>
                <a:hlinkClick r:id="rId8">
                  <a:extLst>
                    <a:ext uri="{A12FA001-AC4F-418D-AE19-62706E023703}">
                      <ahyp:hlinkClr xmlns:ahyp="http://schemas.microsoft.com/office/drawing/2018/hyperlinkcolor" val="tx"/>
                    </a:ext>
                  </a:extLst>
                </a:hlinkClick>
              </a:rPr>
              <a:t>https://www.youtube.com/</a:t>
            </a:r>
            <a:endParaRPr sz="1200">
              <a:solidFill>
                <a:schemeClr val="dk1"/>
              </a:solidFill>
              <a:latin typeface="Arial"/>
              <a:ea typeface="Arial"/>
              <a:cs typeface="Arial"/>
              <a:sym typeface="Arial"/>
            </a:endParaRPr>
          </a:p>
          <a:p>
            <a:pPr marL="0" marR="0" lvl="0" indent="0" algn="l" rtl="0">
              <a:spcBef>
                <a:spcPts val="0"/>
              </a:spcBef>
              <a:spcAft>
                <a:spcPts val="0"/>
              </a:spcAft>
              <a:buNone/>
            </a:pPr>
            <a:r>
              <a:rPr lang="zh-TW" sz="1200" u="sng">
                <a:solidFill>
                  <a:schemeClr val="dk1"/>
                </a:solidFill>
                <a:latin typeface="Arial"/>
                <a:ea typeface="Arial"/>
                <a:cs typeface="Arial"/>
                <a:sym typeface="Arial"/>
                <a:hlinkClick r:id="rId9">
                  <a:extLst>
                    <a:ext uri="{A12FA001-AC4F-418D-AE19-62706E023703}">
                      <ahyp:hlinkClr xmlns:ahyp="http://schemas.microsoft.com/office/drawing/2018/hyperlinkcolor" val="tx"/>
                    </a:ext>
                  </a:extLst>
                </a:hlinkClick>
              </a:rPr>
              <a:t>https://discord.com/</a:t>
            </a:r>
            <a:endParaRPr sz="1200">
              <a:solidFill>
                <a:schemeClr val="dk1"/>
              </a:solidFill>
              <a:latin typeface="Arial"/>
              <a:ea typeface="Arial"/>
              <a:cs typeface="Arial"/>
              <a:sym typeface="Arial"/>
            </a:endParaRPr>
          </a:p>
          <a:p>
            <a:pPr marL="0" marR="0" lvl="0" indent="0" algn="l" rtl="0">
              <a:spcBef>
                <a:spcPts val="0"/>
              </a:spcBef>
              <a:spcAft>
                <a:spcPts val="0"/>
              </a:spcAft>
              <a:buNone/>
            </a:pPr>
            <a:r>
              <a:rPr lang="zh-TW" sz="1200" u="sng">
                <a:solidFill>
                  <a:schemeClr val="dk1"/>
                </a:solidFill>
                <a:latin typeface="Arial"/>
                <a:ea typeface="Arial"/>
                <a:cs typeface="Arial"/>
                <a:sym typeface="Arial"/>
                <a:hlinkClick r:id="rId10">
                  <a:extLst>
                    <a:ext uri="{A12FA001-AC4F-418D-AE19-62706E023703}">
                      <ahyp:hlinkClr xmlns:ahyp="http://schemas.microsoft.com/office/drawing/2018/hyperlinkcolor" val="tx"/>
                    </a:ext>
                  </a:extLst>
                </a:hlinkClick>
              </a:rPr>
              <a:t>https://www.tiktok.com/</a:t>
            </a:r>
            <a:endParaRPr sz="1200">
              <a:solidFill>
                <a:schemeClr val="dk1"/>
              </a:solidFill>
              <a:latin typeface="Arial"/>
              <a:ea typeface="Arial"/>
              <a:cs typeface="Arial"/>
              <a:sym typeface="Arial"/>
            </a:endParaRPr>
          </a:p>
          <a:p>
            <a:pPr marL="0" marR="0" lvl="0" indent="0" algn="l" rtl="0">
              <a:spcBef>
                <a:spcPts val="0"/>
              </a:spcBef>
              <a:spcAft>
                <a:spcPts val="0"/>
              </a:spcAft>
              <a:buNone/>
            </a:pPr>
            <a:r>
              <a:rPr lang="zh-TW" sz="1200">
                <a:solidFill>
                  <a:schemeClr val="dk1"/>
                </a:solidFill>
              </a:rPr>
              <a:t>https://www.twitch.tv/</a:t>
            </a:r>
            <a:endParaRPr sz="1200">
              <a:solidFill>
                <a:schemeClr val="dk1"/>
              </a:solidFill>
              <a:latin typeface="Arial"/>
              <a:ea typeface="Arial"/>
              <a:cs typeface="Arial"/>
              <a:sym typeface="Arial"/>
            </a:endParaRPr>
          </a:p>
        </p:txBody>
      </p:sp>
      <p:sp>
        <p:nvSpPr>
          <p:cNvPr id="263" name="Google Shape;263;p9"/>
          <p:cNvSpPr/>
          <p:nvPr/>
        </p:nvSpPr>
        <p:spPr>
          <a:xfrm rot="7444531" flipH="1">
            <a:off x="6848472" y="4056513"/>
            <a:ext cx="461173" cy="163804"/>
          </a:xfrm>
          <a:prstGeom prst="rightArrow">
            <a:avLst>
              <a:gd name="adj1" fmla="val 50000"/>
              <a:gd name="adj2" fmla="val 50000"/>
            </a:avLst>
          </a:prstGeom>
          <a:solidFill>
            <a:srgbClr val="C00000"/>
          </a:solidFill>
          <a:ln w="19050" cap="flat" cmpd="sng">
            <a:solidFill>
              <a:srgbClr val="C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4" name="Google Shape;264;p9"/>
          <p:cNvSpPr/>
          <p:nvPr/>
        </p:nvSpPr>
        <p:spPr>
          <a:xfrm>
            <a:off x="6492267" y="2541427"/>
            <a:ext cx="3679241" cy="1195589"/>
          </a:xfrm>
          <a:prstGeom prst="rect">
            <a:avLst/>
          </a:prstGeom>
          <a:noFill/>
          <a:ln w="9525"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600">
              <a:solidFill>
                <a:schemeClr val="dk1"/>
              </a:solidFill>
              <a:latin typeface="Arial"/>
              <a:ea typeface="Arial"/>
              <a:cs typeface="Arial"/>
              <a:sym typeface="Arial"/>
            </a:endParaRPr>
          </a:p>
        </p:txBody>
      </p:sp>
      <p:sp>
        <p:nvSpPr>
          <p:cNvPr id="265" name="Google Shape;265;p9"/>
          <p:cNvSpPr txBox="1"/>
          <p:nvPr/>
        </p:nvSpPr>
        <p:spPr>
          <a:xfrm>
            <a:off x="6543508" y="3065402"/>
            <a:ext cx="360480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zh-TW" altLang="en-US" sz="1200" dirty="0">
                <a:solidFill>
                  <a:schemeClr val="dk1"/>
                </a:solidFill>
                <a:latin typeface="Microsoft JhengHei"/>
                <a:ea typeface="Microsoft JhengHei"/>
                <a:cs typeface="Microsoft JhengHei"/>
                <a:sym typeface="Microsoft JhengHei"/>
              </a:rPr>
              <a:t>由於您申請的</a:t>
            </a:r>
            <a:r>
              <a:rPr lang="zh-TW" sz="1200" dirty="0">
                <a:solidFill>
                  <a:schemeClr val="dk1"/>
                </a:solidFill>
                <a:latin typeface="Microsoft JhengHei"/>
                <a:ea typeface="Microsoft JhengHei"/>
                <a:cs typeface="Microsoft JhengHei"/>
                <a:sym typeface="Microsoft JhengHei"/>
              </a:rPr>
              <a:t>平台不支援 Javascript 崁入，故無法接受您的申請。</a:t>
            </a:r>
            <a:endParaRPr sz="1200" dirty="0">
              <a:solidFill>
                <a:schemeClr val="dk1"/>
              </a:solidFill>
              <a:latin typeface="Microsoft JhengHei"/>
              <a:ea typeface="Microsoft JhengHei"/>
              <a:cs typeface="Microsoft JhengHei"/>
              <a:sym typeface="Microsoft JhengHei"/>
            </a:endParaRPr>
          </a:p>
        </p:txBody>
      </p:sp>
      <p:sp>
        <p:nvSpPr>
          <p:cNvPr id="266" name="Google Shape;266;p9"/>
          <p:cNvSpPr txBox="1"/>
          <p:nvPr/>
        </p:nvSpPr>
        <p:spPr>
          <a:xfrm>
            <a:off x="7487643" y="2570635"/>
            <a:ext cx="1518364" cy="4924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2600" b="1">
                <a:solidFill>
                  <a:schemeClr val="dk1"/>
                </a:solidFill>
                <a:latin typeface="Microsoft JhengHei"/>
                <a:ea typeface="Microsoft JhengHei"/>
                <a:cs typeface="Microsoft JhengHei"/>
                <a:sym typeface="Microsoft JhengHei"/>
              </a:rPr>
              <a:t>非常抱歉</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10"/>
          <p:cNvPicPr preferRelativeResize="0"/>
          <p:nvPr/>
        </p:nvPicPr>
        <p:blipFill rotWithShape="1">
          <a:blip r:embed="rId3">
            <a:alphaModFix/>
          </a:blip>
          <a:srcRect/>
          <a:stretch/>
        </p:blipFill>
        <p:spPr>
          <a:xfrm>
            <a:off x="1819709" y="588369"/>
            <a:ext cx="3639058" cy="2486372"/>
          </a:xfrm>
          <a:prstGeom prst="rect">
            <a:avLst/>
          </a:prstGeom>
          <a:noFill/>
          <a:ln>
            <a:noFill/>
          </a:ln>
        </p:spPr>
      </p:pic>
      <p:sp>
        <p:nvSpPr>
          <p:cNvPr id="272" name="Google Shape;272;p10"/>
          <p:cNvSpPr txBox="1"/>
          <p:nvPr/>
        </p:nvSpPr>
        <p:spPr>
          <a:xfrm>
            <a:off x="6314770" y="1072030"/>
            <a:ext cx="405752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800">
                <a:solidFill>
                  <a:schemeClr val="dk1"/>
                </a:solidFill>
                <a:highlight>
                  <a:srgbClr val="00FF00"/>
                </a:highlight>
                <a:latin typeface="Arial"/>
                <a:ea typeface="Arial"/>
                <a:cs typeface="Arial"/>
                <a:sym typeface="Arial"/>
              </a:rPr>
              <a:t>TD跟FD頁面也要放，之前只有放在ND</a:t>
            </a:r>
            <a:endParaRPr sz="1800">
              <a:solidFill>
                <a:schemeClr val="dk1"/>
              </a:solidFill>
              <a:highlight>
                <a:srgbClr val="00FF00"/>
              </a:highlight>
              <a:latin typeface="Arial"/>
              <a:ea typeface="Arial"/>
              <a:cs typeface="Arial"/>
              <a:sym typeface="Arial"/>
            </a:endParaRPr>
          </a:p>
        </p:txBody>
      </p:sp>
      <p:pic>
        <p:nvPicPr>
          <p:cNvPr id="273" name="Google Shape;273;p10"/>
          <p:cNvPicPr preferRelativeResize="0"/>
          <p:nvPr/>
        </p:nvPicPr>
        <p:blipFill rotWithShape="1">
          <a:blip r:embed="rId4">
            <a:alphaModFix/>
          </a:blip>
          <a:srcRect/>
          <a:stretch/>
        </p:blipFill>
        <p:spPr>
          <a:xfrm>
            <a:off x="1819709" y="3958050"/>
            <a:ext cx="4115374" cy="2600688"/>
          </a:xfrm>
          <a:prstGeom prst="rect">
            <a:avLst/>
          </a:prstGeom>
          <a:noFill/>
          <a:ln>
            <a:noFill/>
          </a:ln>
        </p:spPr>
      </p:pic>
      <p:sp>
        <p:nvSpPr>
          <p:cNvPr id="274" name="Google Shape;274;p10"/>
          <p:cNvSpPr/>
          <p:nvPr/>
        </p:nvSpPr>
        <p:spPr>
          <a:xfrm>
            <a:off x="3384857" y="3783260"/>
            <a:ext cx="3811836" cy="756200"/>
          </a:xfrm>
          <a:prstGeom prst="rect">
            <a:avLst/>
          </a:prstGeom>
          <a:solidFill>
            <a:schemeClr val="dk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zh-TW" sz="1600">
                <a:solidFill>
                  <a:schemeClr val="lt1"/>
                </a:solidFill>
                <a:latin typeface="Arial"/>
                <a:ea typeface="Arial"/>
                <a:cs typeface="Arial"/>
                <a:sym typeface="Arial"/>
              </a:rPr>
              <a:t>建議您可以設定方便辨識的命名，例如”NativeDrive原生廣告-文中”</a:t>
            </a:r>
            <a:endParaRPr sz="1600">
              <a:solidFill>
                <a:schemeClr val="lt1"/>
              </a:solidFill>
              <a:latin typeface="Arial"/>
              <a:ea typeface="Arial"/>
              <a:cs typeface="Arial"/>
              <a:sym typeface="Arial"/>
            </a:endParaRPr>
          </a:p>
        </p:txBody>
      </p:sp>
      <p:cxnSp>
        <p:nvCxnSpPr>
          <p:cNvPr id="275" name="Google Shape;275;p10"/>
          <p:cNvCxnSpPr>
            <a:endCxn id="272" idx="1"/>
          </p:cNvCxnSpPr>
          <p:nvPr/>
        </p:nvCxnSpPr>
        <p:spPr>
          <a:xfrm rot="10800000" flipH="1">
            <a:off x="5144770" y="1256696"/>
            <a:ext cx="1170000" cy="11700"/>
          </a:xfrm>
          <a:prstGeom prst="bentConnector3">
            <a:avLst>
              <a:gd name="adj1" fmla="val 50000"/>
            </a:avLst>
          </a:prstGeom>
          <a:noFill/>
          <a:ln w="19050" cap="flat" cmpd="sng">
            <a:solidFill>
              <a:schemeClr val="accent1"/>
            </a:solidFill>
            <a:prstDash val="solid"/>
            <a:miter lim="800000"/>
            <a:headEnd type="none" w="sm" len="sm"/>
            <a:tailEnd type="none" w="sm" len="sm"/>
          </a:ln>
        </p:spPr>
      </p:cxnSp>
      <p:sp>
        <p:nvSpPr>
          <p:cNvPr id="276" name="Google Shape;276;p10"/>
          <p:cNvSpPr txBox="1"/>
          <p:nvPr/>
        </p:nvSpPr>
        <p:spPr>
          <a:xfrm flipH="1">
            <a:off x="5935083" y="1954791"/>
            <a:ext cx="515424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800" b="0" i="0">
                <a:solidFill>
                  <a:schemeClr val="dk1"/>
                </a:solidFill>
                <a:latin typeface="Arial"/>
                <a:ea typeface="Arial"/>
                <a:cs typeface="Arial"/>
                <a:sym typeface="Arial"/>
              </a:rPr>
              <a:t>提醒您：請提供您</a:t>
            </a:r>
            <a:r>
              <a:rPr lang="zh-TW" sz="1800" b="0" i="0">
                <a:solidFill>
                  <a:srgbClr val="FF0000"/>
                </a:solidFill>
                <a:latin typeface="Arial"/>
                <a:ea typeface="Arial"/>
                <a:cs typeface="Arial"/>
                <a:sym typeface="Arial"/>
              </a:rPr>
              <a:t>預期</a:t>
            </a:r>
            <a:r>
              <a:rPr lang="zh-TW" sz="1800" b="0" i="0">
                <a:solidFill>
                  <a:schemeClr val="dk1"/>
                </a:solidFill>
                <a:latin typeface="Arial"/>
                <a:ea typeface="Arial"/>
                <a:cs typeface="Arial"/>
                <a:sym typeface="Arial"/>
              </a:rPr>
              <a:t>置放程式碼的網頁連結​，以加快廣告審核速度。</a:t>
            </a:r>
            <a:endParaRPr sz="1800">
              <a:solidFill>
                <a:schemeClr val="dk1"/>
              </a:solidFill>
              <a:latin typeface="Arial"/>
              <a:ea typeface="Arial"/>
              <a:cs typeface="Arial"/>
              <a:sym typeface="Arial"/>
            </a:endParaRPr>
          </a:p>
        </p:txBody>
      </p:sp>
      <p:cxnSp>
        <p:nvCxnSpPr>
          <p:cNvPr id="277" name="Google Shape;277;p10"/>
          <p:cNvCxnSpPr/>
          <p:nvPr/>
        </p:nvCxnSpPr>
        <p:spPr>
          <a:xfrm>
            <a:off x="495759" y="3429000"/>
            <a:ext cx="11402458" cy="0"/>
          </a:xfrm>
          <a:prstGeom prst="straightConnector1">
            <a:avLst/>
          </a:prstGeom>
          <a:noFill/>
          <a:ln w="19050" cap="flat" cmpd="sng">
            <a:solidFill>
              <a:schemeClr val="accent1"/>
            </a:solidFill>
            <a:prstDash val="solid"/>
            <a:miter lim="800000"/>
            <a:headEnd type="none" w="sm" len="sm"/>
            <a:tailEnd type="none" w="sm" len="sm"/>
          </a:ln>
        </p:spPr>
      </p:cxnSp>
      <p:sp>
        <p:nvSpPr>
          <p:cNvPr id="278" name="Google Shape;278;p10"/>
          <p:cNvSpPr txBox="1"/>
          <p:nvPr/>
        </p:nvSpPr>
        <p:spPr>
          <a:xfrm flipH="1">
            <a:off x="5959046" y="1622577"/>
            <a:ext cx="171147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800" dirty="0">
                <a:solidFill>
                  <a:schemeClr val="dk1"/>
                </a:solidFill>
                <a:highlight>
                  <a:srgbClr val="00FF00"/>
                </a:highlight>
                <a:latin typeface="Arial"/>
                <a:ea typeface="Arial"/>
                <a:cs typeface="Arial"/>
                <a:sym typeface="Arial"/>
              </a:rPr>
              <a:t>增加2個字</a:t>
            </a:r>
            <a:endParaRPr dirty="0"/>
          </a:p>
        </p:txBody>
      </p:sp>
      <p:sp>
        <p:nvSpPr>
          <p:cNvPr id="279" name="Google Shape;279;p10"/>
          <p:cNvSpPr txBox="1"/>
          <p:nvPr/>
        </p:nvSpPr>
        <p:spPr>
          <a:xfrm flipH="1">
            <a:off x="268758" y="3838194"/>
            <a:ext cx="171147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800">
                <a:solidFill>
                  <a:schemeClr val="dk1"/>
                </a:solidFill>
                <a:highlight>
                  <a:srgbClr val="00FF00"/>
                </a:highlight>
                <a:latin typeface="Arial"/>
                <a:ea typeface="Arial"/>
                <a:cs typeface="Arial"/>
                <a:sym typeface="Arial"/>
              </a:rPr>
              <a:t>廣告單元名稱旁增加提醒</a:t>
            </a:r>
            <a:endParaRPr/>
          </a:p>
        </p:txBody>
      </p:sp>
      <p:sp>
        <p:nvSpPr>
          <p:cNvPr id="280" name="Google Shape;280;p10"/>
          <p:cNvSpPr txBox="1"/>
          <p:nvPr/>
        </p:nvSpPr>
        <p:spPr>
          <a:xfrm>
            <a:off x="0" y="91154"/>
            <a:ext cx="32191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zh-TW" sz="1800">
                <a:solidFill>
                  <a:schemeClr val="dk1"/>
                </a:solidFill>
                <a:latin typeface="Arial"/>
                <a:ea typeface="Arial"/>
                <a:cs typeface="Arial"/>
                <a:sym typeface="Arial"/>
              </a:rPr>
              <a:t>廣告設定&gt;</a:t>
            </a:r>
            <a:r>
              <a:rPr lang="zh-TW" sz="1800" b="0" i="0">
                <a:solidFill>
                  <a:schemeClr val="dk1"/>
                </a:solidFill>
                <a:latin typeface="Arial"/>
                <a:ea typeface="Arial"/>
                <a:cs typeface="Arial"/>
                <a:sym typeface="Arial"/>
              </a:rPr>
              <a:t>新增廣告單元(格式)</a:t>
            </a:r>
            <a:endParaRPr sz="18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1041</Words>
  <Application>Microsoft Office PowerPoint</Application>
  <PresentationFormat>寬螢幕</PresentationFormat>
  <Paragraphs>117</Paragraphs>
  <Slides>10</Slides>
  <Notes>10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10</vt:i4>
      </vt:variant>
    </vt:vector>
  </HeadingPairs>
  <TitlesOfParts>
    <vt:vector size="14" baseType="lpstr">
      <vt:lpstr>Play</vt:lpstr>
      <vt:lpstr>Microsoft JhengHei</vt:lpstr>
      <vt:lpstr>Arial</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Molly Yang</dc:creator>
  <cp:lastModifiedBy>Molly Yang</cp:lastModifiedBy>
  <cp:revision>2</cp:revision>
  <dcterms:created xsi:type="dcterms:W3CDTF">2025-02-25T02:10:56Z</dcterms:created>
  <dcterms:modified xsi:type="dcterms:W3CDTF">2025-03-07T07:11:48Z</dcterms:modified>
</cp:coreProperties>
</file>