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58"/>
  </p:notesMasterIdLst>
  <p:sldIdLst>
    <p:sldId id="256" r:id="rId2"/>
    <p:sldId id="259" r:id="rId3"/>
    <p:sldId id="260" r:id="rId4"/>
    <p:sldId id="258" r:id="rId5"/>
    <p:sldId id="262" r:id="rId6"/>
    <p:sldId id="261" r:id="rId7"/>
    <p:sldId id="312" r:id="rId8"/>
    <p:sldId id="341" r:id="rId9"/>
    <p:sldId id="342" r:id="rId10"/>
    <p:sldId id="265" r:id="rId11"/>
    <p:sldId id="269" r:id="rId12"/>
    <p:sldId id="274" r:id="rId13"/>
    <p:sldId id="275" r:id="rId14"/>
    <p:sldId id="271" r:id="rId15"/>
    <p:sldId id="307" r:id="rId16"/>
    <p:sldId id="280" r:id="rId17"/>
    <p:sldId id="279" r:id="rId18"/>
    <p:sldId id="281" r:id="rId19"/>
    <p:sldId id="284" r:id="rId20"/>
    <p:sldId id="294" r:id="rId21"/>
    <p:sldId id="305" r:id="rId22"/>
    <p:sldId id="286" r:id="rId23"/>
    <p:sldId id="292" r:id="rId24"/>
    <p:sldId id="318" r:id="rId25"/>
    <p:sldId id="344" r:id="rId26"/>
    <p:sldId id="315" r:id="rId27"/>
    <p:sldId id="345" r:id="rId28"/>
    <p:sldId id="346" r:id="rId29"/>
    <p:sldId id="313" r:id="rId30"/>
    <p:sldId id="347" r:id="rId31"/>
    <p:sldId id="296" r:id="rId32"/>
    <p:sldId id="349" r:id="rId33"/>
    <p:sldId id="306" r:id="rId34"/>
    <p:sldId id="290" r:id="rId35"/>
    <p:sldId id="316" r:id="rId36"/>
    <p:sldId id="291" r:id="rId37"/>
    <p:sldId id="323" r:id="rId38"/>
    <p:sldId id="335" r:id="rId39"/>
    <p:sldId id="311" r:id="rId40"/>
    <p:sldId id="283" r:id="rId41"/>
    <p:sldId id="308" r:id="rId42"/>
    <p:sldId id="309" r:id="rId43"/>
    <p:sldId id="297" r:id="rId44"/>
    <p:sldId id="300" r:id="rId45"/>
    <p:sldId id="330" r:id="rId46"/>
    <p:sldId id="331" r:id="rId47"/>
    <p:sldId id="277" r:id="rId48"/>
    <p:sldId id="336" r:id="rId49"/>
    <p:sldId id="276" r:id="rId50"/>
    <p:sldId id="302" r:id="rId51"/>
    <p:sldId id="303" r:id="rId52"/>
    <p:sldId id="289" r:id="rId53"/>
    <p:sldId id="343" r:id="rId54"/>
    <p:sldId id="348" r:id="rId55"/>
    <p:sldId id="304" r:id="rId56"/>
    <p:sldId id="340" r:id="rId57"/>
  </p:sldIdLst>
  <p:sldSz cx="12192000" cy="6858000"/>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19" userDrawn="1">
          <p15:clr>
            <a:srgbClr val="A4A3A4"/>
          </p15:clr>
        </p15:guide>
        <p15:guide id="2" pos="3659"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BFF"/>
    <a:srgbClr val="FBE5D8"/>
    <a:srgbClr val="E1E3E8"/>
    <a:srgbClr val="F5F8FE"/>
    <a:srgbClr val="2993FF"/>
    <a:srgbClr val="EAF2FE"/>
    <a:srgbClr val="202022"/>
    <a:srgbClr val="1C1E20"/>
    <a:srgbClr val="FBE4D7"/>
    <a:srgbClr val="E4E8EE"/>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等深淺樣式 2 - 輔色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無樣式、無格線">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無樣式、表格格線">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6758"/>
    <p:restoredTop sz="95921"/>
  </p:normalViewPr>
  <p:slideViewPr>
    <p:cSldViewPr snapToGrid="0">
      <p:cViewPr varScale="1">
        <p:scale>
          <a:sx n="110" d="100"/>
          <a:sy n="110" d="100"/>
        </p:scale>
        <p:origin x="568" y="184"/>
      </p:cViewPr>
      <p:guideLst>
        <p:guide orient="horz" pos="119"/>
        <p:guide pos="3659"/>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notesMaster" Target="notesMasters/notesMaster1.xml"/><Relationship Id="rId5" Type="http://schemas.openxmlformats.org/officeDocument/2006/relationships/slide" Target="slides/slide4.xml"/><Relationship Id="rId61" Type="http://schemas.openxmlformats.org/officeDocument/2006/relationships/theme" Target="theme/theme1.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zh-TW" altLang="en-US"/>
          </a:p>
        </p:txBody>
      </p:sp>
      <p:sp>
        <p:nvSpPr>
          <p:cNvPr id="3" name="日期版面配置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CF22546-0D27-0644-9DFD-E9D1A51B16BF}" type="datetimeFigureOut">
              <a:rPr kumimoji="1" lang="zh-TW" altLang="en-US" smtClean="0"/>
              <a:t>2025/11/4</a:t>
            </a:fld>
            <a:endParaRPr kumimoji="1" lang="zh-TW" altLang="en-US"/>
          </a:p>
        </p:txBody>
      </p:sp>
      <p:sp>
        <p:nvSpPr>
          <p:cNvPr id="4" name="投影片影像版面配置區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TW" altLang="en-US"/>
          </a:p>
        </p:txBody>
      </p:sp>
      <p:sp>
        <p:nvSpPr>
          <p:cNvPr id="5" name="備忘稿版面配置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zh-TW" altLang="en-US"/>
              <a:t>按一下以編輯母片文字樣式</a:t>
            </a:r>
          </a:p>
          <a:p>
            <a:pPr lvl="1"/>
            <a:r>
              <a:rPr kumimoji="1" lang="zh-TW" altLang="en-US"/>
              <a:t>第二層</a:t>
            </a:r>
          </a:p>
          <a:p>
            <a:pPr lvl="2"/>
            <a:r>
              <a:rPr kumimoji="1" lang="zh-TW" altLang="en-US"/>
              <a:t>第三層</a:t>
            </a:r>
          </a:p>
          <a:p>
            <a:pPr lvl="3"/>
            <a:r>
              <a:rPr kumimoji="1" lang="zh-TW" altLang="en-US"/>
              <a:t>第四層</a:t>
            </a:r>
          </a:p>
          <a:p>
            <a:pPr lvl="4"/>
            <a:r>
              <a:rPr kumimoji="1" lang="zh-TW" altLang="en-US"/>
              <a:t>第五層</a:t>
            </a:r>
          </a:p>
        </p:txBody>
      </p:sp>
      <p:sp>
        <p:nvSpPr>
          <p:cNvPr id="6" name="頁尾版面配置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zh-TW" altLang="en-US"/>
          </a:p>
        </p:txBody>
      </p:sp>
      <p:sp>
        <p:nvSpPr>
          <p:cNvPr id="7" name="投影片編號版面配置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C733928-FA10-854A-A22D-E3601F57F914}" type="slidenum">
              <a:rPr kumimoji="1" lang="zh-TW" altLang="en-US" smtClean="0"/>
              <a:t>‹#›</a:t>
            </a:fld>
            <a:endParaRPr kumimoji="1" lang="zh-TW" altLang="en-US"/>
          </a:p>
        </p:txBody>
      </p:sp>
    </p:spTree>
    <p:extLst>
      <p:ext uri="{BB962C8B-B14F-4D97-AF65-F5344CB8AC3E}">
        <p14:creationId xmlns:p14="http://schemas.microsoft.com/office/powerpoint/2010/main" val="239256927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zh-TW" dirty="0">
                <a:solidFill>
                  <a:schemeClr val="accent2"/>
                </a:solidFill>
              </a:rPr>
              <a:t>(TBD)Data team</a:t>
            </a:r>
            <a:r>
              <a:rPr kumimoji="1" lang="zh-TW" altLang="en-US" dirty="0">
                <a:solidFill>
                  <a:schemeClr val="accent2"/>
                </a:solidFill>
              </a:rPr>
              <a:t>如何撈取</a:t>
            </a:r>
            <a:r>
              <a:rPr kumimoji="1" lang="en-US" altLang="zh-TW" dirty="0" err="1">
                <a:solidFill>
                  <a:schemeClr val="accent2"/>
                </a:solidFill>
              </a:rPr>
              <a:t>SuperDSP</a:t>
            </a:r>
            <a:r>
              <a:rPr kumimoji="1" lang="zh-TW" altLang="en-US" dirty="0">
                <a:solidFill>
                  <a:schemeClr val="accent2"/>
                </a:solidFill>
              </a:rPr>
              <a:t>帳戶與廣告主</a:t>
            </a:r>
            <a:r>
              <a:rPr kumimoji="1" lang="en-US" altLang="zh-TW" dirty="0">
                <a:solidFill>
                  <a:schemeClr val="accent2"/>
                </a:solidFill>
              </a:rPr>
              <a:t>? </a:t>
            </a:r>
            <a:r>
              <a:rPr kumimoji="1" lang="zh-TW" altLang="en-US" dirty="0">
                <a:solidFill>
                  <a:schemeClr val="accent2"/>
                </a:solidFill>
              </a:rPr>
              <a:t>目前</a:t>
            </a:r>
            <a:r>
              <a:rPr kumimoji="1" lang="en-US" altLang="zh-TW" dirty="0">
                <a:solidFill>
                  <a:schemeClr val="accent2"/>
                </a:solidFill>
              </a:rPr>
              <a:t>ERP</a:t>
            </a:r>
            <a:r>
              <a:rPr kumimoji="1" lang="zh-TW" altLang="en-US" dirty="0">
                <a:solidFill>
                  <a:schemeClr val="accent2"/>
                </a:solidFill>
              </a:rPr>
              <a:t>只有帳戶資料</a:t>
            </a:r>
            <a:r>
              <a:rPr kumimoji="1" lang="en-US" altLang="zh-TW" dirty="0">
                <a:solidFill>
                  <a:schemeClr val="accent2"/>
                </a:solidFill>
              </a:rPr>
              <a:t>, </a:t>
            </a:r>
            <a:r>
              <a:rPr kumimoji="1" lang="zh-TW" altLang="en-US" dirty="0">
                <a:solidFill>
                  <a:schemeClr val="accent2"/>
                </a:solidFill>
              </a:rPr>
              <a:t>廣告主資料應該在</a:t>
            </a:r>
            <a:r>
              <a:rPr kumimoji="1" lang="en-US" altLang="zh-TW" dirty="0" err="1">
                <a:solidFill>
                  <a:schemeClr val="accent2"/>
                </a:solidFill>
              </a:rPr>
              <a:t>SuperDSP</a:t>
            </a:r>
            <a:r>
              <a:rPr kumimoji="1" lang="zh-TW" altLang="en-US" dirty="0">
                <a:solidFill>
                  <a:schemeClr val="accent2"/>
                </a:solidFill>
              </a:rPr>
              <a:t>的</a:t>
            </a:r>
            <a:r>
              <a:rPr kumimoji="1" lang="en-US" altLang="zh-TW" dirty="0" err="1">
                <a:solidFill>
                  <a:schemeClr val="accent2"/>
                </a:solidFill>
              </a:rPr>
              <a:t>db</a:t>
            </a:r>
            <a:r>
              <a:rPr kumimoji="1" lang="zh-TW" altLang="en-US" dirty="0">
                <a:solidFill>
                  <a:schemeClr val="accent2"/>
                </a:solidFill>
              </a:rPr>
              <a:t>裡</a:t>
            </a:r>
            <a:r>
              <a:rPr kumimoji="1" lang="en-US" altLang="zh-TW" dirty="0">
                <a:solidFill>
                  <a:schemeClr val="accent2"/>
                </a:solidFill>
              </a:rPr>
              <a:t>?</a:t>
            </a:r>
            <a:endParaRPr kumimoji="1" lang="zh-TW" altLang="en-US" dirty="0">
              <a:solidFill>
                <a:schemeClr val="accent2"/>
              </a:solidFill>
            </a:endParaRPr>
          </a:p>
          <a:p>
            <a:endParaRPr kumimoji="1" lang="zh-TW" altLang="en-US" dirty="0"/>
          </a:p>
        </p:txBody>
      </p:sp>
      <p:sp>
        <p:nvSpPr>
          <p:cNvPr id="4" name="投影片編號版面配置區 3"/>
          <p:cNvSpPr>
            <a:spLocks noGrp="1"/>
          </p:cNvSpPr>
          <p:nvPr>
            <p:ph type="sldNum" sz="quarter" idx="5"/>
          </p:nvPr>
        </p:nvSpPr>
        <p:spPr/>
        <p:txBody>
          <a:bodyPr/>
          <a:lstStyle/>
          <a:p>
            <a:fld id="{8C733928-FA10-854A-A22D-E3601F57F914}" type="slidenum">
              <a:rPr kumimoji="1" lang="zh-TW" altLang="en-US" smtClean="0"/>
              <a:t>6</a:t>
            </a:fld>
            <a:endParaRPr kumimoji="1" lang="zh-TW" altLang="en-US"/>
          </a:p>
        </p:txBody>
      </p:sp>
    </p:spTree>
    <p:extLst>
      <p:ext uri="{BB962C8B-B14F-4D97-AF65-F5344CB8AC3E}">
        <p14:creationId xmlns:p14="http://schemas.microsoft.com/office/powerpoint/2010/main" val="116666175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kumimoji="1" lang="zh-TW" altLang="en-US" dirty="0">
                <a:solidFill>
                  <a:schemeClr val="accent2"/>
                </a:solidFill>
              </a:rPr>
              <a:t>複製功能是複製後可以改設定再提交嗎</a:t>
            </a:r>
            <a:r>
              <a:rPr kumimoji="1" lang="en-US" altLang="zh-TW" dirty="0">
                <a:solidFill>
                  <a:schemeClr val="accent2"/>
                </a:solidFill>
              </a:rPr>
              <a:t>? Yes</a:t>
            </a:r>
            <a:endParaRPr kumimoji="1" lang="zh-TW" altLang="en-US" dirty="0">
              <a:solidFill>
                <a:schemeClr val="accent2"/>
              </a:solidFill>
            </a:endParaRPr>
          </a:p>
          <a:p>
            <a:endParaRPr kumimoji="1" lang="zh-TW" altLang="en-US" dirty="0"/>
          </a:p>
        </p:txBody>
      </p:sp>
      <p:sp>
        <p:nvSpPr>
          <p:cNvPr id="4" name="投影片編號版面配置區 3"/>
          <p:cNvSpPr>
            <a:spLocks noGrp="1"/>
          </p:cNvSpPr>
          <p:nvPr>
            <p:ph type="sldNum" sz="quarter" idx="5"/>
          </p:nvPr>
        </p:nvSpPr>
        <p:spPr/>
        <p:txBody>
          <a:bodyPr/>
          <a:lstStyle/>
          <a:p>
            <a:fld id="{8C733928-FA10-854A-A22D-E3601F57F914}" type="slidenum">
              <a:rPr kumimoji="1" lang="zh-TW" altLang="en-US" smtClean="0"/>
              <a:t>10</a:t>
            </a:fld>
            <a:endParaRPr kumimoji="1" lang="zh-TW" altLang="en-US"/>
          </a:p>
        </p:txBody>
      </p:sp>
    </p:spTree>
    <p:extLst>
      <p:ext uri="{BB962C8B-B14F-4D97-AF65-F5344CB8AC3E}">
        <p14:creationId xmlns:p14="http://schemas.microsoft.com/office/powerpoint/2010/main" val="119338329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sz="1200" b="0" i="0" kern="1200" dirty="0">
                <a:solidFill>
                  <a:schemeClr val="tx1"/>
                </a:solidFill>
                <a:effectLst/>
                <a:latin typeface="+mn-lt"/>
                <a:ea typeface="+mn-ea"/>
                <a:cs typeface="+mn-cs"/>
              </a:rPr>
              <a:t>該受眾包發生錯誤，請聯絡您的 </a:t>
            </a:r>
            <a:r>
              <a:rPr lang="en" altLang="zh-TW" sz="1200" b="0" i="0" kern="1200" dirty="0" err="1">
                <a:solidFill>
                  <a:schemeClr val="tx1"/>
                </a:solidFill>
                <a:effectLst/>
                <a:latin typeface="+mn-lt"/>
                <a:ea typeface="+mn-ea"/>
                <a:cs typeface="+mn-cs"/>
              </a:rPr>
              <a:t>OneAD</a:t>
            </a:r>
            <a:r>
              <a:rPr lang="en" altLang="zh-TW" sz="1200" b="0" i="0" kern="1200" dirty="0">
                <a:solidFill>
                  <a:schemeClr val="tx1"/>
                </a:solidFill>
                <a:effectLst/>
                <a:latin typeface="+mn-lt"/>
                <a:ea typeface="+mn-ea"/>
                <a:cs typeface="+mn-cs"/>
              </a:rPr>
              <a:t> </a:t>
            </a:r>
            <a:r>
              <a:rPr lang="zh-TW" altLang="en-US" sz="1200" b="0" i="0" kern="1200" dirty="0">
                <a:solidFill>
                  <a:schemeClr val="tx1"/>
                </a:solidFill>
                <a:effectLst/>
                <a:latin typeface="+mn-lt"/>
                <a:ea typeface="+mn-ea"/>
                <a:cs typeface="+mn-cs"/>
              </a:rPr>
              <a:t>客戶經理協助處理。</a:t>
            </a:r>
            <a:endParaRPr lang="en-US" altLang="zh-TW" sz="1200" b="0" i="0" kern="1200" dirty="0">
              <a:solidFill>
                <a:schemeClr val="tx1"/>
              </a:solidFill>
              <a:effectLst/>
              <a:latin typeface="+mn-lt"/>
              <a:ea typeface="+mn-ea"/>
              <a:cs typeface="+mn-cs"/>
            </a:endParaRPr>
          </a:p>
          <a:p>
            <a:r>
              <a:rPr lang="en" altLang="zh-TW" sz="1200" b="0" i="0" kern="1200" dirty="0">
                <a:solidFill>
                  <a:schemeClr val="tx1"/>
                </a:solidFill>
                <a:effectLst/>
                <a:latin typeface="+mn-lt"/>
                <a:ea typeface="+mn-ea"/>
                <a:cs typeface="+mn-cs"/>
              </a:rPr>
              <a:t>There is an error with this audience pack. Please contact your </a:t>
            </a:r>
            <a:r>
              <a:rPr lang="en" altLang="zh-TW" sz="1200" b="0" i="0" kern="1200" dirty="0" err="1">
                <a:solidFill>
                  <a:schemeClr val="tx1"/>
                </a:solidFill>
                <a:effectLst/>
                <a:latin typeface="+mn-lt"/>
                <a:ea typeface="+mn-ea"/>
                <a:cs typeface="+mn-cs"/>
              </a:rPr>
              <a:t>OneAD</a:t>
            </a:r>
            <a:r>
              <a:rPr lang="en" altLang="zh-TW" sz="1200" b="0" i="0" kern="1200" dirty="0">
                <a:solidFill>
                  <a:schemeClr val="tx1"/>
                </a:solidFill>
                <a:effectLst/>
                <a:latin typeface="+mn-lt"/>
                <a:ea typeface="+mn-ea"/>
                <a:cs typeface="+mn-cs"/>
              </a:rPr>
              <a:t> account manager for assistance.﻿</a:t>
            </a:r>
            <a:endParaRPr kumimoji="1" lang="zh-TW" altLang="en-US" dirty="0"/>
          </a:p>
        </p:txBody>
      </p:sp>
      <p:sp>
        <p:nvSpPr>
          <p:cNvPr id="4" name="投影片編號版面配置區 3"/>
          <p:cNvSpPr>
            <a:spLocks noGrp="1"/>
          </p:cNvSpPr>
          <p:nvPr>
            <p:ph type="sldNum" sz="quarter" idx="5"/>
          </p:nvPr>
        </p:nvSpPr>
        <p:spPr/>
        <p:txBody>
          <a:bodyPr/>
          <a:lstStyle/>
          <a:p>
            <a:fld id="{8C733928-FA10-854A-A22D-E3601F57F914}" type="slidenum">
              <a:rPr kumimoji="1" lang="zh-TW" altLang="en-US" smtClean="0"/>
              <a:t>13</a:t>
            </a:fld>
            <a:endParaRPr kumimoji="1" lang="zh-TW" altLang="en-US"/>
          </a:p>
        </p:txBody>
      </p:sp>
    </p:spTree>
    <p:extLst>
      <p:ext uri="{BB962C8B-B14F-4D97-AF65-F5344CB8AC3E}">
        <p14:creationId xmlns:p14="http://schemas.microsoft.com/office/powerpoint/2010/main" val="399967711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kumimoji="1" lang="en-US" altLang="zh-TW" dirty="0"/>
              <a:t>Google Ads &lt; 1000 too small to serve</a:t>
            </a:r>
            <a:endParaRPr kumimoji="1" lang="zh-TW" altLang="en-US" dirty="0"/>
          </a:p>
        </p:txBody>
      </p:sp>
      <p:sp>
        <p:nvSpPr>
          <p:cNvPr id="4" name="投影片編號版面配置區 3"/>
          <p:cNvSpPr>
            <a:spLocks noGrp="1"/>
          </p:cNvSpPr>
          <p:nvPr>
            <p:ph type="sldNum" sz="quarter" idx="5"/>
          </p:nvPr>
        </p:nvSpPr>
        <p:spPr/>
        <p:txBody>
          <a:bodyPr/>
          <a:lstStyle/>
          <a:p>
            <a:fld id="{8C733928-FA10-854A-A22D-E3601F57F914}" type="slidenum">
              <a:rPr kumimoji="1" lang="zh-TW" altLang="en-US" smtClean="0"/>
              <a:t>14</a:t>
            </a:fld>
            <a:endParaRPr kumimoji="1" lang="zh-TW" altLang="en-US"/>
          </a:p>
        </p:txBody>
      </p:sp>
    </p:spTree>
    <p:extLst>
      <p:ext uri="{BB962C8B-B14F-4D97-AF65-F5344CB8AC3E}">
        <p14:creationId xmlns:p14="http://schemas.microsoft.com/office/powerpoint/2010/main" val="361790347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kumimoji="1" lang="zh-TW" altLang="en-US" dirty="0">
                <a:solidFill>
                  <a:schemeClr val="accent2"/>
                </a:solidFill>
              </a:rPr>
              <a:t>目前只要</a:t>
            </a:r>
            <a:r>
              <a:rPr kumimoji="1" lang="en-US" altLang="zh-TW" dirty="0">
                <a:solidFill>
                  <a:schemeClr val="accent2"/>
                </a:solidFill>
              </a:rPr>
              <a:t>ad group</a:t>
            </a:r>
            <a:r>
              <a:rPr kumimoji="1" lang="zh-TW" altLang="en-US" dirty="0">
                <a:solidFill>
                  <a:schemeClr val="accent2"/>
                </a:solidFill>
              </a:rPr>
              <a:t>有綁定</a:t>
            </a:r>
            <a:r>
              <a:rPr kumimoji="1" lang="en-US" altLang="zh-TW" dirty="0">
                <a:solidFill>
                  <a:schemeClr val="accent2"/>
                </a:solidFill>
              </a:rPr>
              <a:t>, </a:t>
            </a:r>
            <a:r>
              <a:rPr kumimoji="1" lang="zh-TW" altLang="en-US" dirty="0">
                <a:solidFill>
                  <a:schemeClr val="accent2"/>
                </a:solidFill>
              </a:rPr>
              <a:t>不管</a:t>
            </a:r>
            <a:r>
              <a:rPr kumimoji="1" lang="en-US" altLang="zh-TW" dirty="0">
                <a:solidFill>
                  <a:schemeClr val="accent2"/>
                </a:solidFill>
              </a:rPr>
              <a:t>ad group status</a:t>
            </a:r>
            <a:r>
              <a:rPr kumimoji="1" lang="zh-TW" altLang="en-US" dirty="0">
                <a:solidFill>
                  <a:schemeClr val="accent2"/>
                </a:solidFill>
              </a:rPr>
              <a:t>是什麼都會顯示</a:t>
            </a:r>
            <a:r>
              <a:rPr kumimoji="1" lang="en-US" altLang="zh-TW" dirty="0">
                <a:solidFill>
                  <a:schemeClr val="accent2"/>
                </a:solidFill>
              </a:rPr>
              <a:t>?</a:t>
            </a:r>
            <a:r>
              <a:rPr kumimoji="1" lang="zh-TW" altLang="en-US" dirty="0">
                <a:solidFill>
                  <a:schemeClr val="accent2"/>
                </a:solidFill>
              </a:rPr>
              <a:t> </a:t>
            </a:r>
            <a:r>
              <a:rPr kumimoji="1" lang="en-US" altLang="zh-TW" dirty="0">
                <a:solidFill>
                  <a:schemeClr val="accent2"/>
                </a:solidFill>
              </a:rPr>
              <a:t>Yes</a:t>
            </a:r>
            <a:endParaRPr kumimoji="1" lang="zh-TW" altLang="en-US" dirty="0"/>
          </a:p>
        </p:txBody>
      </p:sp>
      <p:sp>
        <p:nvSpPr>
          <p:cNvPr id="4" name="投影片編號版面配置區 3"/>
          <p:cNvSpPr>
            <a:spLocks noGrp="1"/>
          </p:cNvSpPr>
          <p:nvPr>
            <p:ph type="sldNum" sz="quarter" idx="5"/>
          </p:nvPr>
        </p:nvSpPr>
        <p:spPr/>
        <p:txBody>
          <a:bodyPr/>
          <a:lstStyle/>
          <a:p>
            <a:fld id="{8C733928-FA10-854A-A22D-E3601F57F914}" type="slidenum">
              <a:rPr kumimoji="1" lang="zh-TW" altLang="en-US" smtClean="0"/>
              <a:t>15</a:t>
            </a:fld>
            <a:endParaRPr kumimoji="1" lang="zh-TW" altLang="en-US"/>
          </a:p>
        </p:txBody>
      </p:sp>
    </p:spTree>
    <p:extLst>
      <p:ext uri="{BB962C8B-B14F-4D97-AF65-F5344CB8AC3E}">
        <p14:creationId xmlns:p14="http://schemas.microsoft.com/office/powerpoint/2010/main" val="363485740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 altLang="zh-TW" dirty="0">
                <a:effectLst/>
              </a:rPr>
              <a:t>Meta</a:t>
            </a:r>
            <a:r>
              <a:rPr lang="zh-TW" altLang="en-US" dirty="0">
                <a:effectLst/>
              </a:rPr>
              <a:t>的自訂受眾狀態有就緒</a:t>
            </a:r>
            <a:r>
              <a:rPr lang="en-US" altLang="zh-TW" dirty="0">
                <a:effectLst/>
              </a:rPr>
              <a:t>, </a:t>
            </a:r>
            <a:r>
              <a:rPr lang="zh-TW" altLang="en-US" dirty="0">
                <a:effectLst/>
              </a:rPr>
              <a:t>尚未就緒</a:t>
            </a:r>
            <a:r>
              <a:rPr lang="en-US" altLang="zh-TW" dirty="0">
                <a:effectLst/>
              </a:rPr>
              <a:t>, </a:t>
            </a:r>
            <a:r>
              <a:rPr lang="zh-TW" altLang="en-US" dirty="0">
                <a:effectLst/>
              </a:rPr>
              <a:t>錯誤</a:t>
            </a:r>
            <a:r>
              <a:rPr lang="en-US" altLang="zh-TW" dirty="0">
                <a:effectLst/>
              </a:rPr>
              <a:t>3</a:t>
            </a:r>
            <a:r>
              <a:rPr lang="zh-TW" altLang="en-US" dirty="0">
                <a:effectLst/>
              </a:rPr>
              <a:t>種狀態</a:t>
            </a:r>
            <a:r>
              <a:rPr lang="en-US" altLang="zh-TW" dirty="0">
                <a:effectLst/>
              </a:rPr>
              <a:t>, </a:t>
            </a:r>
            <a:r>
              <a:rPr lang="zh-TW" altLang="en-US" dirty="0">
                <a:effectLst/>
              </a:rPr>
              <a:t>不是就緒狀態的不會是出現在清單</a:t>
            </a:r>
            <a:endParaRPr lang="en-US" altLang="zh-TW" dirty="0">
              <a:effectLst/>
            </a:endParaRPr>
          </a:p>
          <a:p>
            <a:r>
              <a:rPr kumimoji="1" lang="en-US" altLang="zh-TW" dirty="0"/>
              <a:t>Google Ads</a:t>
            </a:r>
            <a:r>
              <a:rPr kumimoji="1" lang="zh-TW" altLang="en-US" dirty="0"/>
              <a:t>自訂受眾無受眾本身狀態資訊</a:t>
            </a:r>
          </a:p>
        </p:txBody>
      </p:sp>
      <p:sp>
        <p:nvSpPr>
          <p:cNvPr id="4" name="投影片編號版面配置區 3"/>
          <p:cNvSpPr>
            <a:spLocks noGrp="1"/>
          </p:cNvSpPr>
          <p:nvPr>
            <p:ph type="sldNum" sz="quarter" idx="5"/>
          </p:nvPr>
        </p:nvSpPr>
        <p:spPr/>
        <p:txBody>
          <a:bodyPr/>
          <a:lstStyle/>
          <a:p>
            <a:fld id="{8C733928-FA10-854A-A22D-E3601F57F914}" type="slidenum">
              <a:rPr kumimoji="1" lang="zh-TW" altLang="en-US" smtClean="0"/>
              <a:t>19</a:t>
            </a:fld>
            <a:endParaRPr kumimoji="1" lang="zh-TW" altLang="en-US"/>
          </a:p>
        </p:txBody>
      </p:sp>
    </p:spTree>
    <p:extLst>
      <p:ext uri="{BB962C8B-B14F-4D97-AF65-F5344CB8AC3E}">
        <p14:creationId xmlns:p14="http://schemas.microsoft.com/office/powerpoint/2010/main" val="420384373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 altLang="zh-TW" sz="1200" b="0" i="0" kern="1200" dirty="0">
                <a:solidFill>
                  <a:schemeClr val="tx1"/>
                </a:solidFill>
                <a:effectLst/>
                <a:latin typeface="+mn-lt"/>
                <a:ea typeface="+mn-ea"/>
                <a:cs typeface="+mn-cs"/>
              </a:rPr>
              <a:t>The selected audience pack list contains expired audience pack(s). Please update the audience pack settings, or click OK to save and the system will automatically remove expired audience pack(s).﻿</a:t>
            </a:r>
            <a:endParaRPr kumimoji="1" lang="zh-TW" altLang="en-US" dirty="0"/>
          </a:p>
        </p:txBody>
      </p:sp>
      <p:sp>
        <p:nvSpPr>
          <p:cNvPr id="4" name="投影片編號版面配置區 3"/>
          <p:cNvSpPr>
            <a:spLocks noGrp="1"/>
          </p:cNvSpPr>
          <p:nvPr>
            <p:ph type="sldNum" sz="quarter" idx="5"/>
          </p:nvPr>
        </p:nvSpPr>
        <p:spPr/>
        <p:txBody>
          <a:bodyPr/>
          <a:lstStyle/>
          <a:p>
            <a:fld id="{8C733928-FA10-854A-A22D-E3601F57F914}" type="slidenum">
              <a:rPr kumimoji="1" lang="zh-TW" altLang="en-US" smtClean="0"/>
              <a:t>30</a:t>
            </a:fld>
            <a:endParaRPr kumimoji="1" lang="zh-TW" altLang="en-US"/>
          </a:p>
        </p:txBody>
      </p:sp>
    </p:spTree>
    <p:extLst>
      <p:ext uri="{BB962C8B-B14F-4D97-AF65-F5344CB8AC3E}">
        <p14:creationId xmlns:p14="http://schemas.microsoft.com/office/powerpoint/2010/main" val="350858189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sz="1200" b="0" i="0" kern="1200">
                <a:solidFill>
                  <a:schemeClr val="tx1"/>
                </a:solidFill>
                <a:effectLst/>
                <a:latin typeface="+mn-lt"/>
                <a:ea typeface="+mn-ea"/>
                <a:cs typeface="+mn-cs"/>
              </a:rPr>
              <a:t>此廣告組合包含已過期的受眾包。你可以更新受眾包設定，或者在儲存廣告組合時，系統會自動將已過期的受眾包從廣告組合中刪除。</a:t>
            </a:r>
            <a:endParaRPr lang="en-US" altLang="zh-TW" sz="1200" b="0" i="0" kern="1200">
              <a:solidFill>
                <a:schemeClr val="tx1"/>
              </a:solidFill>
              <a:effectLst/>
              <a:latin typeface="+mn-lt"/>
              <a:ea typeface="+mn-ea"/>
              <a:cs typeface="+mn-cs"/>
            </a:endParaRPr>
          </a:p>
          <a:p>
            <a:r>
              <a:rPr lang="en" altLang="zh-TW" sz="1200" b="0" i="0" kern="1200">
                <a:solidFill>
                  <a:schemeClr val="tx1"/>
                </a:solidFill>
                <a:effectLst/>
                <a:latin typeface="+mn-lt"/>
                <a:ea typeface="+mn-ea"/>
                <a:cs typeface="+mn-cs"/>
              </a:rPr>
              <a:t>This ad group contains expired audience pack(s). You may update the audience pack settings, or the system will automatically remove expired audience pack(s) from the ad group when saving.</a:t>
            </a:r>
            <a:endParaRPr kumimoji="1" lang="zh-TW" altLang="en-US"/>
          </a:p>
        </p:txBody>
      </p:sp>
      <p:sp>
        <p:nvSpPr>
          <p:cNvPr id="4" name="投影片編號版面配置區 3"/>
          <p:cNvSpPr>
            <a:spLocks noGrp="1"/>
          </p:cNvSpPr>
          <p:nvPr>
            <p:ph type="sldNum" sz="quarter" idx="5"/>
          </p:nvPr>
        </p:nvSpPr>
        <p:spPr/>
        <p:txBody>
          <a:bodyPr/>
          <a:lstStyle/>
          <a:p>
            <a:fld id="{8C733928-FA10-854A-A22D-E3601F57F914}" type="slidenum">
              <a:rPr kumimoji="1" lang="zh-TW" altLang="en-US" smtClean="0"/>
              <a:t>34</a:t>
            </a:fld>
            <a:endParaRPr kumimoji="1" lang="zh-TW" altLang="en-US"/>
          </a:p>
        </p:txBody>
      </p:sp>
    </p:spTree>
    <p:extLst>
      <p:ext uri="{BB962C8B-B14F-4D97-AF65-F5344CB8AC3E}">
        <p14:creationId xmlns:p14="http://schemas.microsoft.com/office/powerpoint/2010/main" val="12128569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kumimoji="1" lang="zh-TW" altLang="en-US"/>
          </a:p>
        </p:txBody>
      </p:sp>
      <p:sp>
        <p:nvSpPr>
          <p:cNvPr id="4" name="投影片編號版面配置區 3"/>
          <p:cNvSpPr>
            <a:spLocks noGrp="1"/>
          </p:cNvSpPr>
          <p:nvPr>
            <p:ph type="sldNum" sz="quarter" idx="5"/>
          </p:nvPr>
        </p:nvSpPr>
        <p:spPr/>
        <p:txBody>
          <a:bodyPr/>
          <a:lstStyle/>
          <a:p>
            <a:fld id="{8C733928-FA10-854A-A22D-E3601F57F914}" type="slidenum">
              <a:rPr kumimoji="1" lang="zh-TW" altLang="en-US" smtClean="0"/>
              <a:t>36</a:t>
            </a:fld>
            <a:endParaRPr kumimoji="1" lang="zh-TW" altLang="en-US"/>
          </a:p>
        </p:txBody>
      </p:sp>
    </p:spTree>
    <p:extLst>
      <p:ext uri="{BB962C8B-B14F-4D97-AF65-F5344CB8AC3E}">
        <p14:creationId xmlns:p14="http://schemas.microsoft.com/office/powerpoint/2010/main" val="41547052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sz="1200" b="0" i="0" kern="1200" dirty="0">
                <a:solidFill>
                  <a:schemeClr val="tx1"/>
                </a:solidFill>
                <a:effectLst/>
                <a:latin typeface="+mn-lt"/>
                <a:ea typeface="+mn-ea"/>
                <a:cs typeface="+mn-cs"/>
              </a:rPr>
              <a:t>此廣告組合選取的受眾皆已過期，廣告已暫停投放，請編輯受眾鎖定設定。</a:t>
            </a:r>
            <a:endParaRPr lang="en-US" altLang="zh-TW" sz="1200" b="0" i="0" kern="1200" dirty="0">
              <a:solidFill>
                <a:schemeClr val="tx1"/>
              </a:solidFill>
              <a:effectLst/>
              <a:latin typeface="+mn-lt"/>
              <a:ea typeface="+mn-ea"/>
              <a:cs typeface="+mn-cs"/>
            </a:endParaRPr>
          </a:p>
          <a:p>
            <a:r>
              <a:rPr lang="en" altLang="zh-TW" sz="1200" b="0" i="0" kern="1200" dirty="0">
                <a:solidFill>
                  <a:schemeClr val="tx1"/>
                </a:solidFill>
                <a:effectLst/>
                <a:latin typeface="+mn-lt"/>
                <a:ea typeface="+mn-ea"/>
                <a:cs typeface="+mn-cs"/>
              </a:rPr>
              <a:t>The audience packs selected for this ad group have all expired. The ad delivery has been paused. Please edit the audience targeting settings.﻿</a:t>
            </a:r>
          </a:p>
          <a:p>
            <a:endParaRPr kumimoji="1" lang="zh-TW" altLang="en-US" dirty="0"/>
          </a:p>
        </p:txBody>
      </p:sp>
      <p:sp>
        <p:nvSpPr>
          <p:cNvPr id="4" name="投影片編號版面配置區 3"/>
          <p:cNvSpPr>
            <a:spLocks noGrp="1"/>
          </p:cNvSpPr>
          <p:nvPr>
            <p:ph type="sldNum" sz="quarter" idx="5"/>
          </p:nvPr>
        </p:nvSpPr>
        <p:spPr/>
        <p:txBody>
          <a:bodyPr/>
          <a:lstStyle/>
          <a:p>
            <a:fld id="{8C733928-FA10-854A-A22D-E3601F57F914}" type="slidenum">
              <a:rPr kumimoji="1" lang="zh-TW" altLang="en-US" smtClean="0"/>
              <a:t>38</a:t>
            </a:fld>
            <a:endParaRPr kumimoji="1" lang="zh-TW" altLang="en-US"/>
          </a:p>
        </p:txBody>
      </p:sp>
    </p:spTree>
    <p:extLst>
      <p:ext uri="{BB962C8B-B14F-4D97-AF65-F5344CB8AC3E}">
        <p14:creationId xmlns:p14="http://schemas.microsoft.com/office/powerpoint/2010/main" val="115630831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F0EF4B29-9879-1FBC-9130-453EC73FA00A}"/>
              </a:ext>
            </a:extLst>
          </p:cNvPr>
          <p:cNvSpPr>
            <a:spLocks noGrp="1"/>
          </p:cNvSpPr>
          <p:nvPr>
            <p:ph type="ctrTitle"/>
          </p:nvPr>
        </p:nvSpPr>
        <p:spPr>
          <a:xfrm>
            <a:off x="1524000" y="1122363"/>
            <a:ext cx="9144000" cy="2387600"/>
          </a:xfrm>
        </p:spPr>
        <p:txBody>
          <a:bodyPr anchor="b"/>
          <a:lstStyle>
            <a:lvl1pPr algn="ctr">
              <a:defRPr sz="6000"/>
            </a:lvl1pPr>
          </a:lstStyle>
          <a:p>
            <a:r>
              <a:rPr kumimoji="1" lang="zh-TW" altLang="en-US"/>
              <a:t>按一下以編輯母片標題樣式</a:t>
            </a:r>
          </a:p>
        </p:txBody>
      </p:sp>
      <p:sp>
        <p:nvSpPr>
          <p:cNvPr id="3" name="副標題 2">
            <a:extLst>
              <a:ext uri="{FF2B5EF4-FFF2-40B4-BE49-F238E27FC236}">
                <a16:creationId xmlns:a16="http://schemas.microsoft.com/office/drawing/2014/main" id="{D9AC0489-6AA8-65C7-414D-89AB93AC638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zh-TW" altLang="en-US"/>
              <a:t>按一下以編輯母片子標題樣式</a:t>
            </a:r>
          </a:p>
        </p:txBody>
      </p:sp>
      <p:sp>
        <p:nvSpPr>
          <p:cNvPr id="4" name="日期版面配置區 3">
            <a:extLst>
              <a:ext uri="{FF2B5EF4-FFF2-40B4-BE49-F238E27FC236}">
                <a16:creationId xmlns:a16="http://schemas.microsoft.com/office/drawing/2014/main" id="{06FBBF18-69C8-78CB-3A0C-6B45A6188EAD}"/>
              </a:ext>
            </a:extLst>
          </p:cNvPr>
          <p:cNvSpPr>
            <a:spLocks noGrp="1"/>
          </p:cNvSpPr>
          <p:nvPr>
            <p:ph type="dt" sz="half" idx="10"/>
          </p:nvPr>
        </p:nvSpPr>
        <p:spPr/>
        <p:txBody>
          <a:bodyPr/>
          <a:lstStyle/>
          <a:p>
            <a:fld id="{54C3933F-2E28-9043-B3D6-B4A6A2F2501C}" type="datetimeFigureOut">
              <a:rPr kumimoji="1" lang="zh-TW" altLang="en-US" smtClean="0"/>
              <a:t>2025/11/4</a:t>
            </a:fld>
            <a:endParaRPr kumimoji="1" lang="zh-TW" altLang="en-US"/>
          </a:p>
        </p:txBody>
      </p:sp>
      <p:sp>
        <p:nvSpPr>
          <p:cNvPr id="5" name="頁尾版面配置區 4">
            <a:extLst>
              <a:ext uri="{FF2B5EF4-FFF2-40B4-BE49-F238E27FC236}">
                <a16:creationId xmlns:a16="http://schemas.microsoft.com/office/drawing/2014/main" id="{555D0240-D095-32B6-366B-A06368412021}"/>
              </a:ext>
            </a:extLst>
          </p:cNvPr>
          <p:cNvSpPr>
            <a:spLocks noGrp="1"/>
          </p:cNvSpPr>
          <p:nvPr>
            <p:ph type="ftr" sz="quarter" idx="11"/>
          </p:nvPr>
        </p:nvSpPr>
        <p:spPr/>
        <p:txBody>
          <a:bodyPr/>
          <a:lstStyle/>
          <a:p>
            <a:endParaRPr kumimoji="1" lang="zh-TW" altLang="en-US"/>
          </a:p>
        </p:txBody>
      </p:sp>
      <p:sp>
        <p:nvSpPr>
          <p:cNvPr id="6" name="投影片編號版面配置區 5">
            <a:extLst>
              <a:ext uri="{FF2B5EF4-FFF2-40B4-BE49-F238E27FC236}">
                <a16:creationId xmlns:a16="http://schemas.microsoft.com/office/drawing/2014/main" id="{CC73EB58-A96E-9E02-E9CE-14B723A4EC09}"/>
              </a:ext>
            </a:extLst>
          </p:cNvPr>
          <p:cNvSpPr>
            <a:spLocks noGrp="1"/>
          </p:cNvSpPr>
          <p:nvPr>
            <p:ph type="sldNum" sz="quarter" idx="12"/>
          </p:nvPr>
        </p:nvSpPr>
        <p:spPr/>
        <p:txBody>
          <a:bodyPr/>
          <a:lstStyle/>
          <a:p>
            <a:fld id="{28FD00D4-F5DF-B54F-AFA8-F906B23A8122}" type="slidenum">
              <a:rPr kumimoji="1" lang="zh-TW" altLang="en-US" smtClean="0"/>
              <a:t>‹#›</a:t>
            </a:fld>
            <a:endParaRPr kumimoji="1" lang="zh-TW" altLang="en-US"/>
          </a:p>
        </p:txBody>
      </p:sp>
    </p:spTree>
    <p:extLst>
      <p:ext uri="{BB962C8B-B14F-4D97-AF65-F5344CB8AC3E}">
        <p14:creationId xmlns:p14="http://schemas.microsoft.com/office/powerpoint/2010/main" val="400073370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CF32E914-646B-2060-77A3-EBF37552411F}"/>
              </a:ext>
            </a:extLst>
          </p:cNvPr>
          <p:cNvSpPr>
            <a:spLocks noGrp="1"/>
          </p:cNvSpPr>
          <p:nvPr>
            <p:ph type="title"/>
          </p:nvPr>
        </p:nvSpPr>
        <p:spPr/>
        <p:txBody>
          <a:bodyPr/>
          <a:lstStyle/>
          <a:p>
            <a:r>
              <a:rPr kumimoji="1" lang="zh-TW" altLang="en-US"/>
              <a:t>按一下以編輯母片標題樣式</a:t>
            </a:r>
          </a:p>
        </p:txBody>
      </p:sp>
      <p:sp>
        <p:nvSpPr>
          <p:cNvPr id="3" name="內容版面配置區 2">
            <a:extLst>
              <a:ext uri="{FF2B5EF4-FFF2-40B4-BE49-F238E27FC236}">
                <a16:creationId xmlns:a16="http://schemas.microsoft.com/office/drawing/2014/main" id="{612B29E4-648B-7018-8BF1-4D82E5F468D4}"/>
              </a:ext>
            </a:extLst>
          </p:cNvPr>
          <p:cNvSpPr>
            <a:spLocks noGrp="1"/>
          </p:cNvSpPr>
          <p:nvPr>
            <p:ph idx="1"/>
          </p:nvPr>
        </p:nvSpPr>
        <p:spPr/>
        <p:txBody>
          <a:bodyPr/>
          <a:lstStyle/>
          <a:p>
            <a:pPr lvl="0"/>
            <a:r>
              <a:rPr kumimoji="1" lang="zh-TW" altLang="en-US"/>
              <a:t>按一下以編輯母片文字樣式</a:t>
            </a:r>
          </a:p>
          <a:p>
            <a:pPr lvl="1"/>
            <a:r>
              <a:rPr kumimoji="1" lang="zh-TW" altLang="en-US"/>
              <a:t>第二層</a:t>
            </a:r>
          </a:p>
          <a:p>
            <a:pPr lvl="2"/>
            <a:r>
              <a:rPr kumimoji="1" lang="zh-TW" altLang="en-US"/>
              <a:t>第三層</a:t>
            </a:r>
          </a:p>
          <a:p>
            <a:pPr lvl="3"/>
            <a:r>
              <a:rPr kumimoji="1" lang="zh-TW" altLang="en-US"/>
              <a:t>第四層</a:t>
            </a:r>
          </a:p>
          <a:p>
            <a:pPr lvl="4"/>
            <a:r>
              <a:rPr kumimoji="1" lang="zh-TW" altLang="en-US"/>
              <a:t>第五層</a:t>
            </a:r>
          </a:p>
        </p:txBody>
      </p:sp>
      <p:sp>
        <p:nvSpPr>
          <p:cNvPr id="4" name="日期版面配置區 3">
            <a:extLst>
              <a:ext uri="{FF2B5EF4-FFF2-40B4-BE49-F238E27FC236}">
                <a16:creationId xmlns:a16="http://schemas.microsoft.com/office/drawing/2014/main" id="{9A97CC2F-8B73-83C0-4551-DE6B314A19EA}"/>
              </a:ext>
            </a:extLst>
          </p:cNvPr>
          <p:cNvSpPr>
            <a:spLocks noGrp="1"/>
          </p:cNvSpPr>
          <p:nvPr>
            <p:ph type="dt" sz="half" idx="10"/>
          </p:nvPr>
        </p:nvSpPr>
        <p:spPr/>
        <p:txBody>
          <a:bodyPr/>
          <a:lstStyle/>
          <a:p>
            <a:fld id="{54C3933F-2E28-9043-B3D6-B4A6A2F2501C}" type="datetimeFigureOut">
              <a:rPr kumimoji="1" lang="zh-TW" altLang="en-US" smtClean="0"/>
              <a:t>2025/11/4</a:t>
            </a:fld>
            <a:endParaRPr kumimoji="1" lang="zh-TW" altLang="en-US"/>
          </a:p>
        </p:txBody>
      </p:sp>
      <p:sp>
        <p:nvSpPr>
          <p:cNvPr id="5" name="頁尾版面配置區 4">
            <a:extLst>
              <a:ext uri="{FF2B5EF4-FFF2-40B4-BE49-F238E27FC236}">
                <a16:creationId xmlns:a16="http://schemas.microsoft.com/office/drawing/2014/main" id="{DA6764D9-D75E-D11A-1319-611A8CAED546}"/>
              </a:ext>
            </a:extLst>
          </p:cNvPr>
          <p:cNvSpPr>
            <a:spLocks noGrp="1"/>
          </p:cNvSpPr>
          <p:nvPr>
            <p:ph type="ftr" sz="quarter" idx="11"/>
          </p:nvPr>
        </p:nvSpPr>
        <p:spPr/>
        <p:txBody>
          <a:bodyPr/>
          <a:lstStyle/>
          <a:p>
            <a:endParaRPr kumimoji="1" lang="zh-TW" altLang="en-US"/>
          </a:p>
        </p:txBody>
      </p:sp>
      <p:sp>
        <p:nvSpPr>
          <p:cNvPr id="6" name="投影片編號版面配置區 5">
            <a:extLst>
              <a:ext uri="{FF2B5EF4-FFF2-40B4-BE49-F238E27FC236}">
                <a16:creationId xmlns:a16="http://schemas.microsoft.com/office/drawing/2014/main" id="{3303B851-F251-7DB6-B2D8-4A1C56D8BC18}"/>
              </a:ext>
            </a:extLst>
          </p:cNvPr>
          <p:cNvSpPr>
            <a:spLocks noGrp="1"/>
          </p:cNvSpPr>
          <p:nvPr>
            <p:ph type="sldNum" sz="quarter" idx="12"/>
          </p:nvPr>
        </p:nvSpPr>
        <p:spPr/>
        <p:txBody>
          <a:bodyPr/>
          <a:lstStyle/>
          <a:p>
            <a:fld id="{28FD00D4-F5DF-B54F-AFA8-F906B23A8122}" type="slidenum">
              <a:rPr kumimoji="1" lang="zh-TW" altLang="en-US" smtClean="0"/>
              <a:t>‹#›</a:t>
            </a:fld>
            <a:endParaRPr kumimoji="1" lang="zh-TW" altLang="en-US"/>
          </a:p>
        </p:txBody>
      </p:sp>
    </p:spTree>
    <p:extLst>
      <p:ext uri="{BB962C8B-B14F-4D97-AF65-F5344CB8AC3E}">
        <p14:creationId xmlns:p14="http://schemas.microsoft.com/office/powerpoint/2010/main" val="184940312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章節標題">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AE81F257-127E-958E-59BD-4519127FD056}"/>
              </a:ext>
            </a:extLst>
          </p:cNvPr>
          <p:cNvSpPr>
            <a:spLocks noGrp="1"/>
          </p:cNvSpPr>
          <p:nvPr>
            <p:ph type="title"/>
          </p:nvPr>
        </p:nvSpPr>
        <p:spPr>
          <a:xfrm>
            <a:off x="831850" y="1709738"/>
            <a:ext cx="10515600" cy="2852737"/>
          </a:xfrm>
        </p:spPr>
        <p:txBody>
          <a:bodyPr anchor="b"/>
          <a:lstStyle>
            <a:lvl1pPr>
              <a:defRPr sz="6000"/>
            </a:lvl1pPr>
          </a:lstStyle>
          <a:p>
            <a:r>
              <a:rPr kumimoji="1" lang="zh-TW" altLang="en-US"/>
              <a:t>按一下以編輯母片標題樣式</a:t>
            </a:r>
          </a:p>
        </p:txBody>
      </p:sp>
      <p:sp>
        <p:nvSpPr>
          <p:cNvPr id="3" name="文字版面配置區 2">
            <a:extLst>
              <a:ext uri="{FF2B5EF4-FFF2-40B4-BE49-F238E27FC236}">
                <a16:creationId xmlns:a16="http://schemas.microsoft.com/office/drawing/2014/main" id="{C96F6662-2205-3EF8-AB0D-49E14830E0A0}"/>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kumimoji="1" lang="zh-TW" altLang="en-US"/>
              <a:t>按一下以編輯母片文字樣式</a:t>
            </a:r>
          </a:p>
        </p:txBody>
      </p:sp>
      <p:sp>
        <p:nvSpPr>
          <p:cNvPr id="4" name="日期版面配置區 3">
            <a:extLst>
              <a:ext uri="{FF2B5EF4-FFF2-40B4-BE49-F238E27FC236}">
                <a16:creationId xmlns:a16="http://schemas.microsoft.com/office/drawing/2014/main" id="{82B143FA-40A1-1183-16AF-855E29A9A17D}"/>
              </a:ext>
            </a:extLst>
          </p:cNvPr>
          <p:cNvSpPr>
            <a:spLocks noGrp="1"/>
          </p:cNvSpPr>
          <p:nvPr>
            <p:ph type="dt" sz="half" idx="10"/>
          </p:nvPr>
        </p:nvSpPr>
        <p:spPr/>
        <p:txBody>
          <a:bodyPr/>
          <a:lstStyle/>
          <a:p>
            <a:fld id="{54C3933F-2E28-9043-B3D6-B4A6A2F2501C}" type="datetimeFigureOut">
              <a:rPr kumimoji="1" lang="zh-TW" altLang="en-US" smtClean="0"/>
              <a:t>2025/11/4</a:t>
            </a:fld>
            <a:endParaRPr kumimoji="1" lang="zh-TW" altLang="en-US"/>
          </a:p>
        </p:txBody>
      </p:sp>
      <p:sp>
        <p:nvSpPr>
          <p:cNvPr id="5" name="頁尾版面配置區 4">
            <a:extLst>
              <a:ext uri="{FF2B5EF4-FFF2-40B4-BE49-F238E27FC236}">
                <a16:creationId xmlns:a16="http://schemas.microsoft.com/office/drawing/2014/main" id="{53234A95-3727-3E9B-3675-B721C1F5532D}"/>
              </a:ext>
            </a:extLst>
          </p:cNvPr>
          <p:cNvSpPr>
            <a:spLocks noGrp="1"/>
          </p:cNvSpPr>
          <p:nvPr>
            <p:ph type="ftr" sz="quarter" idx="11"/>
          </p:nvPr>
        </p:nvSpPr>
        <p:spPr/>
        <p:txBody>
          <a:bodyPr/>
          <a:lstStyle/>
          <a:p>
            <a:endParaRPr kumimoji="1" lang="zh-TW" altLang="en-US"/>
          </a:p>
        </p:txBody>
      </p:sp>
      <p:sp>
        <p:nvSpPr>
          <p:cNvPr id="6" name="投影片編號版面配置區 5">
            <a:extLst>
              <a:ext uri="{FF2B5EF4-FFF2-40B4-BE49-F238E27FC236}">
                <a16:creationId xmlns:a16="http://schemas.microsoft.com/office/drawing/2014/main" id="{6F090482-D7F6-A9E9-9191-E2979F1B806E}"/>
              </a:ext>
            </a:extLst>
          </p:cNvPr>
          <p:cNvSpPr>
            <a:spLocks noGrp="1"/>
          </p:cNvSpPr>
          <p:nvPr>
            <p:ph type="sldNum" sz="quarter" idx="12"/>
          </p:nvPr>
        </p:nvSpPr>
        <p:spPr/>
        <p:txBody>
          <a:bodyPr/>
          <a:lstStyle/>
          <a:p>
            <a:fld id="{28FD00D4-F5DF-B54F-AFA8-F906B23A8122}" type="slidenum">
              <a:rPr kumimoji="1" lang="zh-TW" altLang="en-US" smtClean="0"/>
              <a:t>‹#›</a:t>
            </a:fld>
            <a:endParaRPr kumimoji="1" lang="zh-TW" altLang="en-US"/>
          </a:p>
        </p:txBody>
      </p:sp>
    </p:spTree>
    <p:extLst>
      <p:ext uri="{BB962C8B-B14F-4D97-AF65-F5344CB8AC3E}">
        <p14:creationId xmlns:p14="http://schemas.microsoft.com/office/powerpoint/2010/main" val="127434282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個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C9AD6E14-92AD-E5BF-401E-EDFDA74F9024}"/>
              </a:ext>
            </a:extLst>
          </p:cNvPr>
          <p:cNvSpPr>
            <a:spLocks noGrp="1"/>
          </p:cNvSpPr>
          <p:nvPr>
            <p:ph type="title"/>
          </p:nvPr>
        </p:nvSpPr>
        <p:spPr/>
        <p:txBody>
          <a:bodyPr/>
          <a:lstStyle/>
          <a:p>
            <a:r>
              <a:rPr kumimoji="1" lang="zh-TW" altLang="en-US"/>
              <a:t>按一下以編輯母片標題樣式</a:t>
            </a:r>
          </a:p>
        </p:txBody>
      </p:sp>
      <p:sp>
        <p:nvSpPr>
          <p:cNvPr id="3" name="內容版面配置區 2">
            <a:extLst>
              <a:ext uri="{FF2B5EF4-FFF2-40B4-BE49-F238E27FC236}">
                <a16:creationId xmlns:a16="http://schemas.microsoft.com/office/drawing/2014/main" id="{5463B6BB-437F-A94B-86F2-98EFB323180F}"/>
              </a:ext>
            </a:extLst>
          </p:cNvPr>
          <p:cNvSpPr>
            <a:spLocks noGrp="1"/>
          </p:cNvSpPr>
          <p:nvPr>
            <p:ph sz="half" idx="1"/>
          </p:nvPr>
        </p:nvSpPr>
        <p:spPr>
          <a:xfrm>
            <a:off x="838200" y="1825625"/>
            <a:ext cx="5181600" cy="4351338"/>
          </a:xfrm>
        </p:spPr>
        <p:txBody>
          <a:bodyPr/>
          <a:lstStyle/>
          <a:p>
            <a:pPr lvl="0"/>
            <a:r>
              <a:rPr kumimoji="1" lang="zh-TW" altLang="en-US"/>
              <a:t>按一下以編輯母片文字樣式</a:t>
            </a:r>
          </a:p>
          <a:p>
            <a:pPr lvl="1"/>
            <a:r>
              <a:rPr kumimoji="1" lang="zh-TW" altLang="en-US"/>
              <a:t>第二層</a:t>
            </a:r>
          </a:p>
          <a:p>
            <a:pPr lvl="2"/>
            <a:r>
              <a:rPr kumimoji="1" lang="zh-TW" altLang="en-US"/>
              <a:t>第三層</a:t>
            </a:r>
          </a:p>
          <a:p>
            <a:pPr lvl="3"/>
            <a:r>
              <a:rPr kumimoji="1" lang="zh-TW" altLang="en-US"/>
              <a:t>第四層</a:t>
            </a:r>
          </a:p>
          <a:p>
            <a:pPr lvl="4"/>
            <a:r>
              <a:rPr kumimoji="1" lang="zh-TW" altLang="en-US"/>
              <a:t>第五層</a:t>
            </a:r>
          </a:p>
        </p:txBody>
      </p:sp>
      <p:sp>
        <p:nvSpPr>
          <p:cNvPr id="4" name="內容版面配置區 3">
            <a:extLst>
              <a:ext uri="{FF2B5EF4-FFF2-40B4-BE49-F238E27FC236}">
                <a16:creationId xmlns:a16="http://schemas.microsoft.com/office/drawing/2014/main" id="{F06BCD68-BD55-2E5A-9A4A-DFF11C9F1896}"/>
              </a:ext>
            </a:extLst>
          </p:cNvPr>
          <p:cNvSpPr>
            <a:spLocks noGrp="1"/>
          </p:cNvSpPr>
          <p:nvPr>
            <p:ph sz="half" idx="2"/>
          </p:nvPr>
        </p:nvSpPr>
        <p:spPr>
          <a:xfrm>
            <a:off x="6172200" y="1825625"/>
            <a:ext cx="5181600" cy="4351338"/>
          </a:xfrm>
        </p:spPr>
        <p:txBody>
          <a:bodyPr/>
          <a:lstStyle/>
          <a:p>
            <a:pPr lvl="0"/>
            <a:r>
              <a:rPr kumimoji="1" lang="zh-TW" altLang="en-US"/>
              <a:t>按一下以編輯母片文字樣式</a:t>
            </a:r>
          </a:p>
          <a:p>
            <a:pPr lvl="1"/>
            <a:r>
              <a:rPr kumimoji="1" lang="zh-TW" altLang="en-US"/>
              <a:t>第二層</a:t>
            </a:r>
          </a:p>
          <a:p>
            <a:pPr lvl="2"/>
            <a:r>
              <a:rPr kumimoji="1" lang="zh-TW" altLang="en-US"/>
              <a:t>第三層</a:t>
            </a:r>
          </a:p>
          <a:p>
            <a:pPr lvl="3"/>
            <a:r>
              <a:rPr kumimoji="1" lang="zh-TW" altLang="en-US"/>
              <a:t>第四層</a:t>
            </a:r>
          </a:p>
          <a:p>
            <a:pPr lvl="4"/>
            <a:r>
              <a:rPr kumimoji="1" lang="zh-TW" altLang="en-US"/>
              <a:t>第五層</a:t>
            </a:r>
          </a:p>
        </p:txBody>
      </p:sp>
      <p:sp>
        <p:nvSpPr>
          <p:cNvPr id="5" name="日期版面配置區 4">
            <a:extLst>
              <a:ext uri="{FF2B5EF4-FFF2-40B4-BE49-F238E27FC236}">
                <a16:creationId xmlns:a16="http://schemas.microsoft.com/office/drawing/2014/main" id="{BD153442-34E0-0A80-1660-C7799658FAD7}"/>
              </a:ext>
            </a:extLst>
          </p:cNvPr>
          <p:cNvSpPr>
            <a:spLocks noGrp="1"/>
          </p:cNvSpPr>
          <p:nvPr>
            <p:ph type="dt" sz="half" idx="10"/>
          </p:nvPr>
        </p:nvSpPr>
        <p:spPr/>
        <p:txBody>
          <a:bodyPr/>
          <a:lstStyle/>
          <a:p>
            <a:fld id="{54C3933F-2E28-9043-B3D6-B4A6A2F2501C}" type="datetimeFigureOut">
              <a:rPr kumimoji="1" lang="zh-TW" altLang="en-US" smtClean="0"/>
              <a:t>2025/11/4</a:t>
            </a:fld>
            <a:endParaRPr kumimoji="1" lang="zh-TW" altLang="en-US"/>
          </a:p>
        </p:txBody>
      </p:sp>
      <p:sp>
        <p:nvSpPr>
          <p:cNvPr id="6" name="頁尾版面配置區 5">
            <a:extLst>
              <a:ext uri="{FF2B5EF4-FFF2-40B4-BE49-F238E27FC236}">
                <a16:creationId xmlns:a16="http://schemas.microsoft.com/office/drawing/2014/main" id="{5A5F6C60-EFAB-F482-8D4A-2491C984E70E}"/>
              </a:ext>
            </a:extLst>
          </p:cNvPr>
          <p:cNvSpPr>
            <a:spLocks noGrp="1"/>
          </p:cNvSpPr>
          <p:nvPr>
            <p:ph type="ftr" sz="quarter" idx="11"/>
          </p:nvPr>
        </p:nvSpPr>
        <p:spPr/>
        <p:txBody>
          <a:bodyPr/>
          <a:lstStyle/>
          <a:p>
            <a:endParaRPr kumimoji="1" lang="zh-TW" altLang="en-US"/>
          </a:p>
        </p:txBody>
      </p:sp>
      <p:sp>
        <p:nvSpPr>
          <p:cNvPr id="7" name="投影片編號版面配置區 6">
            <a:extLst>
              <a:ext uri="{FF2B5EF4-FFF2-40B4-BE49-F238E27FC236}">
                <a16:creationId xmlns:a16="http://schemas.microsoft.com/office/drawing/2014/main" id="{B12BC81F-93CF-E0B5-BD1A-3C8AA09917ED}"/>
              </a:ext>
            </a:extLst>
          </p:cNvPr>
          <p:cNvSpPr>
            <a:spLocks noGrp="1"/>
          </p:cNvSpPr>
          <p:nvPr>
            <p:ph type="sldNum" sz="quarter" idx="12"/>
          </p:nvPr>
        </p:nvSpPr>
        <p:spPr/>
        <p:txBody>
          <a:bodyPr/>
          <a:lstStyle/>
          <a:p>
            <a:fld id="{28FD00D4-F5DF-B54F-AFA8-F906B23A8122}" type="slidenum">
              <a:rPr kumimoji="1" lang="zh-TW" altLang="en-US" smtClean="0"/>
              <a:t>‹#›</a:t>
            </a:fld>
            <a:endParaRPr kumimoji="1" lang="zh-TW" altLang="en-US"/>
          </a:p>
        </p:txBody>
      </p:sp>
    </p:spTree>
    <p:extLst>
      <p:ext uri="{BB962C8B-B14F-4D97-AF65-F5344CB8AC3E}">
        <p14:creationId xmlns:p14="http://schemas.microsoft.com/office/powerpoint/2010/main" val="37167815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B0366BD-BEA8-F8D3-D366-EC11918C2964}"/>
              </a:ext>
            </a:extLst>
          </p:cNvPr>
          <p:cNvSpPr>
            <a:spLocks noGrp="1"/>
          </p:cNvSpPr>
          <p:nvPr>
            <p:ph type="title"/>
          </p:nvPr>
        </p:nvSpPr>
        <p:spPr>
          <a:xfrm>
            <a:off x="839788" y="365125"/>
            <a:ext cx="10515600" cy="1325563"/>
          </a:xfrm>
        </p:spPr>
        <p:txBody>
          <a:bodyPr/>
          <a:lstStyle/>
          <a:p>
            <a:r>
              <a:rPr kumimoji="1" lang="zh-TW" altLang="en-US"/>
              <a:t>按一下以編輯母片標題樣式</a:t>
            </a:r>
          </a:p>
        </p:txBody>
      </p:sp>
      <p:sp>
        <p:nvSpPr>
          <p:cNvPr id="3" name="文字版面配置區 2">
            <a:extLst>
              <a:ext uri="{FF2B5EF4-FFF2-40B4-BE49-F238E27FC236}">
                <a16:creationId xmlns:a16="http://schemas.microsoft.com/office/drawing/2014/main" id="{D5ABC706-FB31-1BF7-2FCD-FA5C6AF6108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zh-TW" altLang="en-US"/>
              <a:t>按一下以編輯母片文字樣式</a:t>
            </a:r>
          </a:p>
        </p:txBody>
      </p:sp>
      <p:sp>
        <p:nvSpPr>
          <p:cNvPr id="4" name="內容版面配置區 3">
            <a:extLst>
              <a:ext uri="{FF2B5EF4-FFF2-40B4-BE49-F238E27FC236}">
                <a16:creationId xmlns:a16="http://schemas.microsoft.com/office/drawing/2014/main" id="{4D34D43B-9E9B-D137-5525-1030DC04E21D}"/>
              </a:ext>
            </a:extLst>
          </p:cNvPr>
          <p:cNvSpPr>
            <a:spLocks noGrp="1"/>
          </p:cNvSpPr>
          <p:nvPr>
            <p:ph sz="half" idx="2"/>
          </p:nvPr>
        </p:nvSpPr>
        <p:spPr>
          <a:xfrm>
            <a:off x="839788" y="2505075"/>
            <a:ext cx="5157787" cy="3684588"/>
          </a:xfrm>
        </p:spPr>
        <p:txBody>
          <a:bodyPr/>
          <a:lstStyle/>
          <a:p>
            <a:pPr lvl="0"/>
            <a:r>
              <a:rPr kumimoji="1" lang="zh-TW" altLang="en-US"/>
              <a:t>按一下以編輯母片文字樣式</a:t>
            </a:r>
          </a:p>
          <a:p>
            <a:pPr lvl="1"/>
            <a:r>
              <a:rPr kumimoji="1" lang="zh-TW" altLang="en-US"/>
              <a:t>第二層</a:t>
            </a:r>
          </a:p>
          <a:p>
            <a:pPr lvl="2"/>
            <a:r>
              <a:rPr kumimoji="1" lang="zh-TW" altLang="en-US"/>
              <a:t>第三層</a:t>
            </a:r>
          </a:p>
          <a:p>
            <a:pPr lvl="3"/>
            <a:r>
              <a:rPr kumimoji="1" lang="zh-TW" altLang="en-US"/>
              <a:t>第四層</a:t>
            </a:r>
          </a:p>
          <a:p>
            <a:pPr lvl="4"/>
            <a:r>
              <a:rPr kumimoji="1" lang="zh-TW" altLang="en-US"/>
              <a:t>第五層</a:t>
            </a:r>
          </a:p>
        </p:txBody>
      </p:sp>
      <p:sp>
        <p:nvSpPr>
          <p:cNvPr id="5" name="文字版面配置區 4">
            <a:extLst>
              <a:ext uri="{FF2B5EF4-FFF2-40B4-BE49-F238E27FC236}">
                <a16:creationId xmlns:a16="http://schemas.microsoft.com/office/drawing/2014/main" id="{5ECBBF00-BC2D-77DB-D4A2-5380A2F74E6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zh-TW" altLang="en-US"/>
              <a:t>按一下以編輯母片文字樣式</a:t>
            </a:r>
          </a:p>
        </p:txBody>
      </p:sp>
      <p:sp>
        <p:nvSpPr>
          <p:cNvPr id="6" name="內容版面配置區 5">
            <a:extLst>
              <a:ext uri="{FF2B5EF4-FFF2-40B4-BE49-F238E27FC236}">
                <a16:creationId xmlns:a16="http://schemas.microsoft.com/office/drawing/2014/main" id="{9325A857-4362-FD25-AE30-3852417ECB5B}"/>
              </a:ext>
            </a:extLst>
          </p:cNvPr>
          <p:cNvSpPr>
            <a:spLocks noGrp="1"/>
          </p:cNvSpPr>
          <p:nvPr>
            <p:ph sz="quarter" idx="4"/>
          </p:nvPr>
        </p:nvSpPr>
        <p:spPr>
          <a:xfrm>
            <a:off x="6172200" y="2505075"/>
            <a:ext cx="5183188" cy="3684588"/>
          </a:xfrm>
        </p:spPr>
        <p:txBody>
          <a:bodyPr/>
          <a:lstStyle/>
          <a:p>
            <a:pPr lvl="0"/>
            <a:r>
              <a:rPr kumimoji="1" lang="zh-TW" altLang="en-US"/>
              <a:t>按一下以編輯母片文字樣式</a:t>
            </a:r>
          </a:p>
          <a:p>
            <a:pPr lvl="1"/>
            <a:r>
              <a:rPr kumimoji="1" lang="zh-TW" altLang="en-US"/>
              <a:t>第二層</a:t>
            </a:r>
          </a:p>
          <a:p>
            <a:pPr lvl="2"/>
            <a:r>
              <a:rPr kumimoji="1" lang="zh-TW" altLang="en-US"/>
              <a:t>第三層</a:t>
            </a:r>
          </a:p>
          <a:p>
            <a:pPr lvl="3"/>
            <a:r>
              <a:rPr kumimoji="1" lang="zh-TW" altLang="en-US"/>
              <a:t>第四層</a:t>
            </a:r>
          </a:p>
          <a:p>
            <a:pPr lvl="4"/>
            <a:r>
              <a:rPr kumimoji="1" lang="zh-TW" altLang="en-US"/>
              <a:t>第五層</a:t>
            </a:r>
          </a:p>
        </p:txBody>
      </p:sp>
      <p:sp>
        <p:nvSpPr>
          <p:cNvPr id="7" name="日期版面配置區 6">
            <a:extLst>
              <a:ext uri="{FF2B5EF4-FFF2-40B4-BE49-F238E27FC236}">
                <a16:creationId xmlns:a16="http://schemas.microsoft.com/office/drawing/2014/main" id="{4EABD70C-EC0C-1781-AE2E-5F7BF7A3846D}"/>
              </a:ext>
            </a:extLst>
          </p:cNvPr>
          <p:cNvSpPr>
            <a:spLocks noGrp="1"/>
          </p:cNvSpPr>
          <p:nvPr>
            <p:ph type="dt" sz="half" idx="10"/>
          </p:nvPr>
        </p:nvSpPr>
        <p:spPr/>
        <p:txBody>
          <a:bodyPr/>
          <a:lstStyle/>
          <a:p>
            <a:fld id="{54C3933F-2E28-9043-B3D6-B4A6A2F2501C}" type="datetimeFigureOut">
              <a:rPr kumimoji="1" lang="zh-TW" altLang="en-US" smtClean="0"/>
              <a:t>2025/11/4</a:t>
            </a:fld>
            <a:endParaRPr kumimoji="1" lang="zh-TW" altLang="en-US"/>
          </a:p>
        </p:txBody>
      </p:sp>
      <p:sp>
        <p:nvSpPr>
          <p:cNvPr id="8" name="頁尾版面配置區 7">
            <a:extLst>
              <a:ext uri="{FF2B5EF4-FFF2-40B4-BE49-F238E27FC236}">
                <a16:creationId xmlns:a16="http://schemas.microsoft.com/office/drawing/2014/main" id="{B6D52653-9D43-7F5A-00CC-EB68302C485F}"/>
              </a:ext>
            </a:extLst>
          </p:cNvPr>
          <p:cNvSpPr>
            <a:spLocks noGrp="1"/>
          </p:cNvSpPr>
          <p:nvPr>
            <p:ph type="ftr" sz="quarter" idx="11"/>
          </p:nvPr>
        </p:nvSpPr>
        <p:spPr/>
        <p:txBody>
          <a:bodyPr/>
          <a:lstStyle/>
          <a:p>
            <a:endParaRPr kumimoji="1" lang="zh-TW" altLang="en-US"/>
          </a:p>
        </p:txBody>
      </p:sp>
      <p:sp>
        <p:nvSpPr>
          <p:cNvPr id="9" name="投影片編號版面配置區 8">
            <a:extLst>
              <a:ext uri="{FF2B5EF4-FFF2-40B4-BE49-F238E27FC236}">
                <a16:creationId xmlns:a16="http://schemas.microsoft.com/office/drawing/2014/main" id="{E649CF5A-40C8-C478-2F6F-BEEBE34DD2F3}"/>
              </a:ext>
            </a:extLst>
          </p:cNvPr>
          <p:cNvSpPr>
            <a:spLocks noGrp="1"/>
          </p:cNvSpPr>
          <p:nvPr>
            <p:ph type="sldNum" sz="quarter" idx="12"/>
          </p:nvPr>
        </p:nvSpPr>
        <p:spPr/>
        <p:txBody>
          <a:bodyPr/>
          <a:lstStyle/>
          <a:p>
            <a:fld id="{28FD00D4-F5DF-B54F-AFA8-F906B23A8122}" type="slidenum">
              <a:rPr kumimoji="1" lang="zh-TW" altLang="en-US" smtClean="0"/>
              <a:t>‹#›</a:t>
            </a:fld>
            <a:endParaRPr kumimoji="1" lang="zh-TW" altLang="en-US"/>
          </a:p>
        </p:txBody>
      </p:sp>
    </p:spTree>
    <p:extLst>
      <p:ext uri="{BB962C8B-B14F-4D97-AF65-F5344CB8AC3E}">
        <p14:creationId xmlns:p14="http://schemas.microsoft.com/office/powerpoint/2010/main" val="420172892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3229DB1A-0685-67D0-0168-EEF16572BE92}"/>
              </a:ext>
            </a:extLst>
          </p:cNvPr>
          <p:cNvSpPr>
            <a:spLocks noGrp="1"/>
          </p:cNvSpPr>
          <p:nvPr>
            <p:ph type="title"/>
          </p:nvPr>
        </p:nvSpPr>
        <p:spPr/>
        <p:txBody>
          <a:bodyPr/>
          <a:lstStyle/>
          <a:p>
            <a:r>
              <a:rPr kumimoji="1" lang="zh-TW" altLang="en-US"/>
              <a:t>按一下以編輯母片標題樣式</a:t>
            </a:r>
          </a:p>
        </p:txBody>
      </p:sp>
      <p:sp>
        <p:nvSpPr>
          <p:cNvPr id="3" name="日期版面配置區 2">
            <a:extLst>
              <a:ext uri="{FF2B5EF4-FFF2-40B4-BE49-F238E27FC236}">
                <a16:creationId xmlns:a16="http://schemas.microsoft.com/office/drawing/2014/main" id="{6F49175F-F491-0B27-1842-987D9698801B}"/>
              </a:ext>
            </a:extLst>
          </p:cNvPr>
          <p:cNvSpPr>
            <a:spLocks noGrp="1"/>
          </p:cNvSpPr>
          <p:nvPr>
            <p:ph type="dt" sz="half" idx="10"/>
          </p:nvPr>
        </p:nvSpPr>
        <p:spPr/>
        <p:txBody>
          <a:bodyPr/>
          <a:lstStyle/>
          <a:p>
            <a:fld id="{54C3933F-2E28-9043-B3D6-B4A6A2F2501C}" type="datetimeFigureOut">
              <a:rPr kumimoji="1" lang="zh-TW" altLang="en-US" smtClean="0"/>
              <a:t>2025/11/4</a:t>
            </a:fld>
            <a:endParaRPr kumimoji="1" lang="zh-TW" altLang="en-US"/>
          </a:p>
        </p:txBody>
      </p:sp>
      <p:sp>
        <p:nvSpPr>
          <p:cNvPr id="4" name="頁尾版面配置區 3">
            <a:extLst>
              <a:ext uri="{FF2B5EF4-FFF2-40B4-BE49-F238E27FC236}">
                <a16:creationId xmlns:a16="http://schemas.microsoft.com/office/drawing/2014/main" id="{38260C36-CAB0-4D93-5491-9FEB92BFA126}"/>
              </a:ext>
            </a:extLst>
          </p:cNvPr>
          <p:cNvSpPr>
            <a:spLocks noGrp="1"/>
          </p:cNvSpPr>
          <p:nvPr>
            <p:ph type="ftr" sz="quarter" idx="11"/>
          </p:nvPr>
        </p:nvSpPr>
        <p:spPr/>
        <p:txBody>
          <a:bodyPr/>
          <a:lstStyle/>
          <a:p>
            <a:endParaRPr kumimoji="1" lang="zh-TW" altLang="en-US"/>
          </a:p>
        </p:txBody>
      </p:sp>
      <p:sp>
        <p:nvSpPr>
          <p:cNvPr id="5" name="投影片編號版面配置區 4">
            <a:extLst>
              <a:ext uri="{FF2B5EF4-FFF2-40B4-BE49-F238E27FC236}">
                <a16:creationId xmlns:a16="http://schemas.microsoft.com/office/drawing/2014/main" id="{5A7FFC16-636E-591F-DDBD-89B732A208FA}"/>
              </a:ext>
            </a:extLst>
          </p:cNvPr>
          <p:cNvSpPr>
            <a:spLocks noGrp="1"/>
          </p:cNvSpPr>
          <p:nvPr>
            <p:ph type="sldNum" sz="quarter" idx="12"/>
          </p:nvPr>
        </p:nvSpPr>
        <p:spPr/>
        <p:txBody>
          <a:bodyPr/>
          <a:lstStyle/>
          <a:p>
            <a:fld id="{28FD00D4-F5DF-B54F-AFA8-F906B23A8122}" type="slidenum">
              <a:rPr kumimoji="1" lang="zh-TW" altLang="en-US" smtClean="0"/>
              <a:t>‹#›</a:t>
            </a:fld>
            <a:endParaRPr kumimoji="1" lang="zh-TW" altLang="en-US"/>
          </a:p>
        </p:txBody>
      </p:sp>
    </p:spTree>
    <p:extLst>
      <p:ext uri="{BB962C8B-B14F-4D97-AF65-F5344CB8AC3E}">
        <p14:creationId xmlns:p14="http://schemas.microsoft.com/office/powerpoint/2010/main" val="188769882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版面配置區 1">
            <a:extLst>
              <a:ext uri="{FF2B5EF4-FFF2-40B4-BE49-F238E27FC236}">
                <a16:creationId xmlns:a16="http://schemas.microsoft.com/office/drawing/2014/main" id="{C36867AD-EF4B-7B90-2BA9-CA0C123C6C31}"/>
              </a:ext>
            </a:extLst>
          </p:cNvPr>
          <p:cNvSpPr>
            <a:spLocks noGrp="1"/>
          </p:cNvSpPr>
          <p:nvPr>
            <p:ph type="dt" sz="half" idx="10"/>
          </p:nvPr>
        </p:nvSpPr>
        <p:spPr/>
        <p:txBody>
          <a:bodyPr/>
          <a:lstStyle/>
          <a:p>
            <a:fld id="{54C3933F-2E28-9043-B3D6-B4A6A2F2501C}" type="datetimeFigureOut">
              <a:rPr kumimoji="1" lang="zh-TW" altLang="en-US" smtClean="0"/>
              <a:t>2025/11/4</a:t>
            </a:fld>
            <a:endParaRPr kumimoji="1" lang="zh-TW" altLang="en-US"/>
          </a:p>
        </p:txBody>
      </p:sp>
      <p:sp>
        <p:nvSpPr>
          <p:cNvPr id="3" name="頁尾版面配置區 2">
            <a:extLst>
              <a:ext uri="{FF2B5EF4-FFF2-40B4-BE49-F238E27FC236}">
                <a16:creationId xmlns:a16="http://schemas.microsoft.com/office/drawing/2014/main" id="{D84878BC-F7A6-80DD-1768-46F14808C4B0}"/>
              </a:ext>
            </a:extLst>
          </p:cNvPr>
          <p:cNvSpPr>
            <a:spLocks noGrp="1"/>
          </p:cNvSpPr>
          <p:nvPr>
            <p:ph type="ftr" sz="quarter" idx="11"/>
          </p:nvPr>
        </p:nvSpPr>
        <p:spPr/>
        <p:txBody>
          <a:bodyPr/>
          <a:lstStyle/>
          <a:p>
            <a:endParaRPr kumimoji="1" lang="zh-TW" altLang="en-US"/>
          </a:p>
        </p:txBody>
      </p:sp>
      <p:sp>
        <p:nvSpPr>
          <p:cNvPr id="4" name="投影片編號版面配置區 3">
            <a:extLst>
              <a:ext uri="{FF2B5EF4-FFF2-40B4-BE49-F238E27FC236}">
                <a16:creationId xmlns:a16="http://schemas.microsoft.com/office/drawing/2014/main" id="{018073D0-1ECE-1EB0-586C-7EF3B980BE18}"/>
              </a:ext>
            </a:extLst>
          </p:cNvPr>
          <p:cNvSpPr>
            <a:spLocks noGrp="1"/>
          </p:cNvSpPr>
          <p:nvPr>
            <p:ph type="sldNum" sz="quarter" idx="12"/>
          </p:nvPr>
        </p:nvSpPr>
        <p:spPr/>
        <p:txBody>
          <a:bodyPr/>
          <a:lstStyle/>
          <a:p>
            <a:fld id="{28FD00D4-F5DF-B54F-AFA8-F906B23A8122}" type="slidenum">
              <a:rPr kumimoji="1" lang="zh-TW" altLang="en-US" smtClean="0"/>
              <a:t>‹#›</a:t>
            </a:fld>
            <a:endParaRPr kumimoji="1" lang="zh-TW" altLang="en-US"/>
          </a:p>
        </p:txBody>
      </p:sp>
    </p:spTree>
    <p:extLst>
      <p:ext uri="{BB962C8B-B14F-4D97-AF65-F5344CB8AC3E}">
        <p14:creationId xmlns:p14="http://schemas.microsoft.com/office/powerpoint/2010/main" val="396276225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輔助字幕的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AECF35C6-E413-1DA4-4380-1B5E5CBE470C}"/>
              </a:ext>
            </a:extLst>
          </p:cNvPr>
          <p:cNvSpPr>
            <a:spLocks noGrp="1"/>
          </p:cNvSpPr>
          <p:nvPr>
            <p:ph type="title"/>
          </p:nvPr>
        </p:nvSpPr>
        <p:spPr>
          <a:xfrm>
            <a:off x="839788" y="457200"/>
            <a:ext cx="3932237" cy="1600200"/>
          </a:xfrm>
        </p:spPr>
        <p:txBody>
          <a:bodyPr anchor="b"/>
          <a:lstStyle>
            <a:lvl1pPr>
              <a:defRPr sz="3200"/>
            </a:lvl1pPr>
          </a:lstStyle>
          <a:p>
            <a:r>
              <a:rPr kumimoji="1" lang="zh-TW" altLang="en-US"/>
              <a:t>按一下以編輯母片標題樣式</a:t>
            </a:r>
          </a:p>
        </p:txBody>
      </p:sp>
      <p:sp>
        <p:nvSpPr>
          <p:cNvPr id="3" name="內容版面配置區 2">
            <a:extLst>
              <a:ext uri="{FF2B5EF4-FFF2-40B4-BE49-F238E27FC236}">
                <a16:creationId xmlns:a16="http://schemas.microsoft.com/office/drawing/2014/main" id="{270AE159-A10E-94BC-C3B2-B784AA0D41F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zh-TW" altLang="en-US"/>
              <a:t>按一下以編輯母片文字樣式</a:t>
            </a:r>
          </a:p>
          <a:p>
            <a:pPr lvl="1"/>
            <a:r>
              <a:rPr kumimoji="1" lang="zh-TW" altLang="en-US"/>
              <a:t>第二層</a:t>
            </a:r>
          </a:p>
          <a:p>
            <a:pPr lvl="2"/>
            <a:r>
              <a:rPr kumimoji="1" lang="zh-TW" altLang="en-US"/>
              <a:t>第三層</a:t>
            </a:r>
          </a:p>
          <a:p>
            <a:pPr lvl="3"/>
            <a:r>
              <a:rPr kumimoji="1" lang="zh-TW" altLang="en-US"/>
              <a:t>第四層</a:t>
            </a:r>
          </a:p>
          <a:p>
            <a:pPr lvl="4"/>
            <a:r>
              <a:rPr kumimoji="1" lang="zh-TW" altLang="en-US"/>
              <a:t>第五層</a:t>
            </a:r>
          </a:p>
        </p:txBody>
      </p:sp>
      <p:sp>
        <p:nvSpPr>
          <p:cNvPr id="4" name="文字版面配置區 3">
            <a:extLst>
              <a:ext uri="{FF2B5EF4-FFF2-40B4-BE49-F238E27FC236}">
                <a16:creationId xmlns:a16="http://schemas.microsoft.com/office/drawing/2014/main" id="{953C178B-11F3-5A20-065D-95696FFAC46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zh-TW" altLang="en-US"/>
              <a:t>按一下以編輯母片文字樣式</a:t>
            </a:r>
          </a:p>
        </p:txBody>
      </p:sp>
      <p:sp>
        <p:nvSpPr>
          <p:cNvPr id="5" name="日期版面配置區 4">
            <a:extLst>
              <a:ext uri="{FF2B5EF4-FFF2-40B4-BE49-F238E27FC236}">
                <a16:creationId xmlns:a16="http://schemas.microsoft.com/office/drawing/2014/main" id="{114DF6F6-634E-5876-15A6-B722D0FCD2D1}"/>
              </a:ext>
            </a:extLst>
          </p:cNvPr>
          <p:cNvSpPr>
            <a:spLocks noGrp="1"/>
          </p:cNvSpPr>
          <p:nvPr>
            <p:ph type="dt" sz="half" idx="10"/>
          </p:nvPr>
        </p:nvSpPr>
        <p:spPr/>
        <p:txBody>
          <a:bodyPr/>
          <a:lstStyle/>
          <a:p>
            <a:fld id="{54C3933F-2E28-9043-B3D6-B4A6A2F2501C}" type="datetimeFigureOut">
              <a:rPr kumimoji="1" lang="zh-TW" altLang="en-US" smtClean="0"/>
              <a:t>2025/11/4</a:t>
            </a:fld>
            <a:endParaRPr kumimoji="1" lang="zh-TW" altLang="en-US"/>
          </a:p>
        </p:txBody>
      </p:sp>
      <p:sp>
        <p:nvSpPr>
          <p:cNvPr id="6" name="頁尾版面配置區 5">
            <a:extLst>
              <a:ext uri="{FF2B5EF4-FFF2-40B4-BE49-F238E27FC236}">
                <a16:creationId xmlns:a16="http://schemas.microsoft.com/office/drawing/2014/main" id="{F088FB1A-8ED4-7A45-852B-3C3233D08B5D}"/>
              </a:ext>
            </a:extLst>
          </p:cNvPr>
          <p:cNvSpPr>
            <a:spLocks noGrp="1"/>
          </p:cNvSpPr>
          <p:nvPr>
            <p:ph type="ftr" sz="quarter" idx="11"/>
          </p:nvPr>
        </p:nvSpPr>
        <p:spPr/>
        <p:txBody>
          <a:bodyPr/>
          <a:lstStyle/>
          <a:p>
            <a:endParaRPr kumimoji="1" lang="zh-TW" altLang="en-US"/>
          </a:p>
        </p:txBody>
      </p:sp>
      <p:sp>
        <p:nvSpPr>
          <p:cNvPr id="7" name="投影片編號版面配置區 6">
            <a:extLst>
              <a:ext uri="{FF2B5EF4-FFF2-40B4-BE49-F238E27FC236}">
                <a16:creationId xmlns:a16="http://schemas.microsoft.com/office/drawing/2014/main" id="{802BE37D-D72D-E34B-4CF1-914A86D852A6}"/>
              </a:ext>
            </a:extLst>
          </p:cNvPr>
          <p:cNvSpPr>
            <a:spLocks noGrp="1"/>
          </p:cNvSpPr>
          <p:nvPr>
            <p:ph type="sldNum" sz="quarter" idx="12"/>
          </p:nvPr>
        </p:nvSpPr>
        <p:spPr/>
        <p:txBody>
          <a:bodyPr/>
          <a:lstStyle/>
          <a:p>
            <a:fld id="{28FD00D4-F5DF-B54F-AFA8-F906B23A8122}" type="slidenum">
              <a:rPr kumimoji="1" lang="zh-TW" altLang="en-US" smtClean="0"/>
              <a:t>‹#›</a:t>
            </a:fld>
            <a:endParaRPr kumimoji="1" lang="zh-TW" altLang="en-US"/>
          </a:p>
        </p:txBody>
      </p:sp>
    </p:spTree>
    <p:extLst>
      <p:ext uri="{BB962C8B-B14F-4D97-AF65-F5344CB8AC3E}">
        <p14:creationId xmlns:p14="http://schemas.microsoft.com/office/powerpoint/2010/main" val="395959187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輔助字幕的圖片">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D28AA0B5-22DD-9416-59CE-A81A174EFA42}"/>
              </a:ext>
            </a:extLst>
          </p:cNvPr>
          <p:cNvSpPr>
            <a:spLocks noGrp="1"/>
          </p:cNvSpPr>
          <p:nvPr>
            <p:ph type="title"/>
          </p:nvPr>
        </p:nvSpPr>
        <p:spPr>
          <a:xfrm>
            <a:off x="839788" y="457200"/>
            <a:ext cx="3932237" cy="1600200"/>
          </a:xfrm>
        </p:spPr>
        <p:txBody>
          <a:bodyPr anchor="b"/>
          <a:lstStyle>
            <a:lvl1pPr>
              <a:defRPr sz="3200"/>
            </a:lvl1pPr>
          </a:lstStyle>
          <a:p>
            <a:r>
              <a:rPr kumimoji="1" lang="zh-TW" altLang="en-US"/>
              <a:t>按一下以編輯母片標題樣式</a:t>
            </a:r>
          </a:p>
        </p:txBody>
      </p:sp>
      <p:sp>
        <p:nvSpPr>
          <p:cNvPr id="3" name="圖片版面配置區 2">
            <a:extLst>
              <a:ext uri="{FF2B5EF4-FFF2-40B4-BE49-F238E27FC236}">
                <a16:creationId xmlns:a16="http://schemas.microsoft.com/office/drawing/2014/main" id="{9305B0C5-660D-AC3A-994A-92BF83A5882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zh-TW" altLang="en-US"/>
          </a:p>
        </p:txBody>
      </p:sp>
      <p:sp>
        <p:nvSpPr>
          <p:cNvPr id="4" name="文字版面配置區 3">
            <a:extLst>
              <a:ext uri="{FF2B5EF4-FFF2-40B4-BE49-F238E27FC236}">
                <a16:creationId xmlns:a16="http://schemas.microsoft.com/office/drawing/2014/main" id="{2483AE6A-C914-ADE9-8E55-3F52B474914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zh-TW" altLang="en-US"/>
              <a:t>按一下以編輯母片文字樣式</a:t>
            </a:r>
          </a:p>
        </p:txBody>
      </p:sp>
      <p:sp>
        <p:nvSpPr>
          <p:cNvPr id="5" name="日期版面配置區 4">
            <a:extLst>
              <a:ext uri="{FF2B5EF4-FFF2-40B4-BE49-F238E27FC236}">
                <a16:creationId xmlns:a16="http://schemas.microsoft.com/office/drawing/2014/main" id="{41002665-9254-474E-3CCB-DE471E71EF24}"/>
              </a:ext>
            </a:extLst>
          </p:cNvPr>
          <p:cNvSpPr>
            <a:spLocks noGrp="1"/>
          </p:cNvSpPr>
          <p:nvPr>
            <p:ph type="dt" sz="half" idx="10"/>
          </p:nvPr>
        </p:nvSpPr>
        <p:spPr/>
        <p:txBody>
          <a:bodyPr/>
          <a:lstStyle/>
          <a:p>
            <a:fld id="{54C3933F-2E28-9043-B3D6-B4A6A2F2501C}" type="datetimeFigureOut">
              <a:rPr kumimoji="1" lang="zh-TW" altLang="en-US" smtClean="0"/>
              <a:t>2025/11/4</a:t>
            </a:fld>
            <a:endParaRPr kumimoji="1" lang="zh-TW" altLang="en-US"/>
          </a:p>
        </p:txBody>
      </p:sp>
      <p:sp>
        <p:nvSpPr>
          <p:cNvPr id="6" name="頁尾版面配置區 5">
            <a:extLst>
              <a:ext uri="{FF2B5EF4-FFF2-40B4-BE49-F238E27FC236}">
                <a16:creationId xmlns:a16="http://schemas.microsoft.com/office/drawing/2014/main" id="{271E4801-F1AF-9A5B-9156-43F6E7C38601}"/>
              </a:ext>
            </a:extLst>
          </p:cNvPr>
          <p:cNvSpPr>
            <a:spLocks noGrp="1"/>
          </p:cNvSpPr>
          <p:nvPr>
            <p:ph type="ftr" sz="quarter" idx="11"/>
          </p:nvPr>
        </p:nvSpPr>
        <p:spPr/>
        <p:txBody>
          <a:bodyPr/>
          <a:lstStyle/>
          <a:p>
            <a:endParaRPr kumimoji="1" lang="zh-TW" altLang="en-US"/>
          </a:p>
        </p:txBody>
      </p:sp>
      <p:sp>
        <p:nvSpPr>
          <p:cNvPr id="7" name="投影片編號版面配置區 6">
            <a:extLst>
              <a:ext uri="{FF2B5EF4-FFF2-40B4-BE49-F238E27FC236}">
                <a16:creationId xmlns:a16="http://schemas.microsoft.com/office/drawing/2014/main" id="{48AB5EDC-81B7-C702-CA48-8D576D1A8297}"/>
              </a:ext>
            </a:extLst>
          </p:cNvPr>
          <p:cNvSpPr>
            <a:spLocks noGrp="1"/>
          </p:cNvSpPr>
          <p:nvPr>
            <p:ph type="sldNum" sz="quarter" idx="12"/>
          </p:nvPr>
        </p:nvSpPr>
        <p:spPr/>
        <p:txBody>
          <a:bodyPr/>
          <a:lstStyle/>
          <a:p>
            <a:fld id="{28FD00D4-F5DF-B54F-AFA8-F906B23A8122}" type="slidenum">
              <a:rPr kumimoji="1" lang="zh-TW" altLang="en-US" smtClean="0"/>
              <a:t>‹#›</a:t>
            </a:fld>
            <a:endParaRPr kumimoji="1" lang="zh-TW" altLang="en-US"/>
          </a:p>
        </p:txBody>
      </p:sp>
    </p:spTree>
    <p:extLst>
      <p:ext uri="{BB962C8B-B14F-4D97-AF65-F5344CB8AC3E}">
        <p14:creationId xmlns:p14="http://schemas.microsoft.com/office/powerpoint/2010/main" val="222783643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388C69D8-C678-DF1D-FAC7-543798E5EA9C}"/>
              </a:ext>
            </a:extLst>
          </p:cNvPr>
          <p:cNvSpPr>
            <a:spLocks noGrp="1"/>
          </p:cNvSpPr>
          <p:nvPr>
            <p:ph type="title"/>
          </p:nvPr>
        </p:nvSpPr>
        <p:spPr/>
        <p:txBody>
          <a:bodyPr/>
          <a:lstStyle/>
          <a:p>
            <a:r>
              <a:rPr kumimoji="1" lang="zh-TW" altLang="en-US"/>
              <a:t>按一下以編輯母片標題樣式</a:t>
            </a:r>
          </a:p>
        </p:txBody>
      </p:sp>
      <p:sp>
        <p:nvSpPr>
          <p:cNvPr id="3" name="直排文字版面配置區 2">
            <a:extLst>
              <a:ext uri="{FF2B5EF4-FFF2-40B4-BE49-F238E27FC236}">
                <a16:creationId xmlns:a16="http://schemas.microsoft.com/office/drawing/2014/main" id="{AAF2C029-32E8-0FE7-EC16-5781AF18855D}"/>
              </a:ext>
            </a:extLst>
          </p:cNvPr>
          <p:cNvSpPr>
            <a:spLocks noGrp="1"/>
          </p:cNvSpPr>
          <p:nvPr>
            <p:ph type="body" orient="vert" idx="1"/>
          </p:nvPr>
        </p:nvSpPr>
        <p:spPr/>
        <p:txBody>
          <a:bodyPr vert="eaVert"/>
          <a:lstStyle/>
          <a:p>
            <a:pPr lvl="0"/>
            <a:r>
              <a:rPr kumimoji="1" lang="zh-TW" altLang="en-US"/>
              <a:t>按一下以編輯母片文字樣式</a:t>
            </a:r>
          </a:p>
          <a:p>
            <a:pPr lvl="1"/>
            <a:r>
              <a:rPr kumimoji="1" lang="zh-TW" altLang="en-US"/>
              <a:t>第二層</a:t>
            </a:r>
          </a:p>
          <a:p>
            <a:pPr lvl="2"/>
            <a:r>
              <a:rPr kumimoji="1" lang="zh-TW" altLang="en-US"/>
              <a:t>第三層</a:t>
            </a:r>
          </a:p>
          <a:p>
            <a:pPr lvl="3"/>
            <a:r>
              <a:rPr kumimoji="1" lang="zh-TW" altLang="en-US"/>
              <a:t>第四層</a:t>
            </a:r>
          </a:p>
          <a:p>
            <a:pPr lvl="4"/>
            <a:r>
              <a:rPr kumimoji="1" lang="zh-TW" altLang="en-US"/>
              <a:t>第五層</a:t>
            </a:r>
          </a:p>
        </p:txBody>
      </p:sp>
      <p:sp>
        <p:nvSpPr>
          <p:cNvPr id="4" name="日期版面配置區 3">
            <a:extLst>
              <a:ext uri="{FF2B5EF4-FFF2-40B4-BE49-F238E27FC236}">
                <a16:creationId xmlns:a16="http://schemas.microsoft.com/office/drawing/2014/main" id="{0FB1A7FE-F18F-F4A3-78EC-2A534FBFA61C}"/>
              </a:ext>
            </a:extLst>
          </p:cNvPr>
          <p:cNvSpPr>
            <a:spLocks noGrp="1"/>
          </p:cNvSpPr>
          <p:nvPr>
            <p:ph type="dt" sz="half" idx="10"/>
          </p:nvPr>
        </p:nvSpPr>
        <p:spPr/>
        <p:txBody>
          <a:bodyPr/>
          <a:lstStyle/>
          <a:p>
            <a:fld id="{54C3933F-2E28-9043-B3D6-B4A6A2F2501C}" type="datetimeFigureOut">
              <a:rPr kumimoji="1" lang="zh-TW" altLang="en-US" smtClean="0"/>
              <a:t>2025/11/4</a:t>
            </a:fld>
            <a:endParaRPr kumimoji="1" lang="zh-TW" altLang="en-US"/>
          </a:p>
        </p:txBody>
      </p:sp>
      <p:sp>
        <p:nvSpPr>
          <p:cNvPr id="5" name="頁尾版面配置區 4">
            <a:extLst>
              <a:ext uri="{FF2B5EF4-FFF2-40B4-BE49-F238E27FC236}">
                <a16:creationId xmlns:a16="http://schemas.microsoft.com/office/drawing/2014/main" id="{1D93EBD0-835F-F252-9441-E2039D891F46}"/>
              </a:ext>
            </a:extLst>
          </p:cNvPr>
          <p:cNvSpPr>
            <a:spLocks noGrp="1"/>
          </p:cNvSpPr>
          <p:nvPr>
            <p:ph type="ftr" sz="quarter" idx="11"/>
          </p:nvPr>
        </p:nvSpPr>
        <p:spPr/>
        <p:txBody>
          <a:bodyPr/>
          <a:lstStyle/>
          <a:p>
            <a:endParaRPr kumimoji="1" lang="zh-TW" altLang="en-US"/>
          </a:p>
        </p:txBody>
      </p:sp>
      <p:sp>
        <p:nvSpPr>
          <p:cNvPr id="6" name="投影片編號版面配置區 5">
            <a:extLst>
              <a:ext uri="{FF2B5EF4-FFF2-40B4-BE49-F238E27FC236}">
                <a16:creationId xmlns:a16="http://schemas.microsoft.com/office/drawing/2014/main" id="{5C0FB3F9-BD47-7049-52AC-EDDE40CCFE8C}"/>
              </a:ext>
            </a:extLst>
          </p:cNvPr>
          <p:cNvSpPr>
            <a:spLocks noGrp="1"/>
          </p:cNvSpPr>
          <p:nvPr>
            <p:ph type="sldNum" sz="quarter" idx="12"/>
          </p:nvPr>
        </p:nvSpPr>
        <p:spPr/>
        <p:txBody>
          <a:bodyPr/>
          <a:lstStyle/>
          <a:p>
            <a:fld id="{28FD00D4-F5DF-B54F-AFA8-F906B23A8122}" type="slidenum">
              <a:rPr kumimoji="1" lang="zh-TW" altLang="en-US" smtClean="0"/>
              <a:t>‹#›</a:t>
            </a:fld>
            <a:endParaRPr kumimoji="1" lang="zh-TW" altLang="en-US"/>
          </a:p>
        </p:txBody>
      </p:sp>
    </p:spTree>
    <p:extLst>
      <p:ext uri="{BB962C8B-B14F-4D97-AF65-F5344CB8AC3E}">
        <p14:creationId xmlns:p14="http://schemas.microsoft.com/office/powerpoint/2010/main" val="3086231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a:extLst>
              <a:ext uri="{FF2B5EF4-FFF2-40B4-BE49-F238E27FC236}">
                <a16:creationId xmlns:a16="http://schemas.microsoft.com/office/drawing/2014/main" id="{0B21AB79-288B-D3DD-211E-098BD2434C16}"/>
              </a:ext>
            </a:extLst>
          </p:cNvPr>
          <p:cNvSpPr>
            <a:spLocks noGrp="1"/>
          </p:cNvSpPr>
          <p:nvPr>
            <p:ph type="title" orient="vert"/>
          </p:nvPr>
        </p:nvSpPr>
        <p:spPr>
          <a:xfrm>
            <a:off x="8724900" y="365125"/>
            <a:ext cx="2628900" cy="5811838"/>
          </a:xfrm>
        </p:spPr>
        <p:txBody>
          <a:bodyPr vert="eaVert"/>
          <a:lstStyle/>
          <a:p>
            <a:r>
              <a:rPr kumimoji="1" lang="zh-TW" altLang="en-US"/>
              <a:t>按一下以編輯母片標題樣式</a:t>
            </a:r>
          </a:p>
        </p:txBody>
      </p:sp>
      <p:sp>
        <p:nvSpPr>
          <p:cNvPr id="3" name="直排文字版面配置區 2">
            <a:extLst>
              <a:ext uri="{FF2B5EF4-FFF2-40B4-BE49-F238E27FC236}">
                <a16:creationId xmlns:a16="http://schemas.microsoft.com/office/drawing/2014/main" id="{3092B94B-3A1E-1FEF-8B97-0DE45FC23AEC}"/>
              </a:ext>
            </a:extLst>
          </p:cNvPr>
          <p:cNvSpPr>
            <a:spLocks noGrp="1"/>
          </p:cNvSpPr>
          <p:nvPr>
            <p:ph type="body" orient="vert" idx="1"/>
          </p:nvPr>
        </p:nvSpPr>
        <p:spPr>
          <a:xfrm>
            <a:off x="838200" y="365125"/>
            <a:ext cx="7734300" cy="5811838"/>
          </a:xfrm>
        </p:spPr>
        <p:txBody>
          <a:bodyPr vert="eaVert"/>
          <a:lstStyle/>
          <a:p>
            <a:pPr lvl="0"/>
            <a:r>
              <a:rPr kumimoji="1" lang="zh-TW" altLang="en-US"/>
              <a:t>按一下以編輯母片文字樣式</a:t>
            </a:r>
          </a:p>
          <a:p>
            <a:pPr lvl="1"/>
            <a:r>
              <a:rPr kumimoji="1" lang="zh-TW" altLang="en-US"/>
              <a:t>第二層</a:t>
            </a:r>
          </a:p>
          <a:p>
            <a:pPr lvl="2"/>
            <a:r>
              <a:rPr kumimoji="1" lang="zh-TW" altLang="en-US"/>
              <a:t>第三層</a:t>
            </a:r>
          </a:p>
          <a:p>
            <a:pPr lvl="3"/>
            <a:r>
              <a:rPr kumimoji="1" lang="zh-TW" altLang="en-US"/>
              <a:t>第四層</a:t>
            </a:r>
          </a:p>
          <a:p>
            <a:pPr lvl="4"/>
            <a:r>
              <a:rPr kumimoji="1" lang="zh-TW" altLang="en-US"/>
              <a:t>第五層</a:t>
            </a:r>
          </a:p>
        </p:txBody>
      </p:sp>
      <p:sp>
        <p:nvSpPr>
          <p:cNvPr id="4" name="日期版面配置區 3">
            <a:extLst>
              <a:ext uri="{FF2B5EF4-FFF2-40B4-BE49-F238E27FC236}">
                <a16:creationId xmlns:a16="http://schemas.microsoft.com/office/drawing/2014/main" id="{B1EDBBE7-1992-45FB-F18D-01E63C947B67}"/>
              </a:ext>
            </a:extLst>
          </p:cNvPr>
          <p:cNvSpPr>
            <a:spLocks noGrp="1"/>
          </p:cNvSpPr>
          <p:nvPr>
            <p:ph type="dt" sz="half" idx="10"/>
          </p:nvPr>
        </p:nvSpPr>
        <p:spPr/>
        <p:txBody>
          <a:bodyPr/>
          <a:lstStyle/>
          <a:p>
            <a:fld id="{54C3933F-2E28-9043-B3D6-B4A6A2F2501C}" type="datetimeFigureOut">
              <a:rPr kumimoji="1" lang="zh-TW" altLang="en-US" smtClean="0"/>
              <a:t>2025/11/4</a:t>
            </a:fld>
            <a:endParaRPr kumimoji="1" lang="zh-TW" altLang="en-US"/>
          </a:p>
        </p:txBody>
      </p:sp>
      <p:sp>
        <p:nvSpPr>
          <p:cNvPr id="5" name="頁尾版面配置區 4">
            <a:extLst>
              <a:ext uri="{FF2B5EF4-FFF2-40B4-BE49-F238E27FC236}">
                <a16:creationId xmlns:a16="http://schemas.microsoft.com/office/drawing/2014/main" id="{6BC3652A-9D15-8CA4-2702-DA18318DA798}"/>
              </a:ext>
            </a:extLst>
          </p:cNvPr>
          <p:cNvSpPr>
            <a:spLocks noGrp="1"/>
          </p:cNvSpPr>
          <p:nvPr>
            <p:ph type="ftr" sz="quarter" idx="11"/>
          </p:nvPr>
        </p:nvSpPr>
        <p:spPr/>
        <p:txBody>
          <a:bodyPr/>
          <a:lstStyle/>
          <a:p>
            <a:endParaRPr kumimoji="1" lang="zh-TW" altLang="en-US"/>
          </a:p>
        </p:txBody>
      </p:sp>
      <p:sp>
        <p:nvSpPr>
          <p:cNvPr id="6" name="投影片編號版面配置區 5">
            <a:extLst>
              <a:ext uri="{FF2B5EF4-FFF2-40B4-BE49-F238E27FC236}">
                <a16:creationId xmlns:a16="http://schemas.microsoft.com/office/drawing/2014/main" id="{F6C3FB03-03F8-0EE5-7A72-3CFFF7469F0F}"/>
              </a:ext>
            </a:extLst>
          </p:cNvPr>
          <p:cNvSpPr>
            <a:spLocks noGrp="1"/>
          </p:cNvSpPr>
          <p:nvPr>
            <p:ph type="sldNum" sz="quarter" idx="12"/>
          </p:nvPr>
        </p:nvSpPr>
        <p:spPr/>
        <p:txBody>
          <a:bodyPr/>
          <a:lstStyle/>
          <a:p>
            <a:fld id="{28FD00D4-F5DF-B54F-AFA8-F906B23A8122}" type="slidenum">
              <a:rPr kumimoji="1" lang="zh-TW" altLang="en-US" smtClean="0"/>
              <a:t>‹#›</a:t>
            </a:fld>
            <a:endParaRPr kumimoji="1" lang="zh-TW" altLang="en-US"/>
          </a:p>
        </p:txBody>
      </p:sp>
    </p:spTree>
    <p:extLst>
      <p:ext uri="{BB962C8B-B14F-4D97-AF65-F5344CB8AC3E}">
        <p14:creationId xmlns:p14="http://schemas.microsoft.com/office/powerpoint/2010/main" val="52519335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標題版面配置區 1">
            <a:extLst>
              <a:ext uri="{FF2B5EF4-FFF2-40B4-BE49-F238E27FC236}">
                <a16:creationId xmlns:a16="http://schemas.microsoft.com/office/drawing/2014/main" id="{89F7E9C3-643E-1097-9810-8C474933D94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zh-TW" altLang="en-US"/>
              <a:t>按一下以編輯母片標題樣式</a:t>
            </a:r>
          </a:p>
        </p:txBody>
      </p:sp>
      <p:sp>
        <p:nvSpPr>
          <p:cNvPr id="3" name="文字版面配置區 2">
            <a:extLst>
              <a:ext uri="{FF2B5EF4-FFF2-40B4-BE49-F238E27FC236}">
                <a16:creationId xmlns:a16="http://schemas.microsoft.com/office/drawing/2014/main" id="{72A31585-34BE-9580-4FEF-92EBA8BFC5B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zh-TW" altLang="en-US"/>
              <a:t>按一下以編輯母片文字樣式</a:t>
            </a:r>
          </a:p>
          <a:p>
            <a:pPr lvl="1"/>
            <a:r>
              <a:rPr kumimoji="1" lang="zh-TW" altLang="en-US"/>
              <a:t>第二層</a:t>
            </a:r>
          </a:p>
          <a:p>
            <a:pPr lvl="2"/>
            <a:r>
              <a:rPr kumimoji="1" lang="zh-TW" altLang="en-US"/>
              <a:t>第三層</a:t>
            </a:r>
          </a:p>
          <a:p>
            <a:pPr lvl="3"/>
            <a:r>
              <a:rPr kumimoji="1" lang="zh-TW" altLang="en-US"/>
              <a:t>第四層</a:t>
            </a:r>
          </a:p>
          <a:p>
            <a:pPr lvl="4"/>
            <a:r>
              <a:rPr kumimoji="1" lang="zh-TW" altLang="en-US"/>
              <a:t>第五層</a:t>
            </a:r>
          </a:p>
        </p:txBody>
      </p:sp>
      <p:sp>
        <p:nvSpPr>
          <p:cNvPr id="4" name="日期版面配置區 3">
            <a:extLst>
              <a:ext uri="{FF2B5EF4-FFF2-40B4-BE49-F238E27FC236}">
                <a16:creationId xmlns:a16="http://schemas.microsoft.com/office/drawing/2014/main" id="{4E73C95C-E05E-DB5F-D114-1C900F3A923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54C3933F-2E28-9043-B3D6-B4A6A2F2501C}" type="datetimeFigureOut">
              <a:rPr kumimoji="1" lang="zh-TW" altLang="en-US" smtClean="0"/>
              <a:t>2025/11/4</a:t>
            </a:fld>
            <a:endParaRPr kumimoji="1" lang="zh-TW" altLang="en-US"/>
          </a:p>
        </p:txBody>
      </p:sp>
      <p:sp>
        <p:nvSpPr>
          <p:cNvPr id="5" name="頁尾版面配置區 4">
            <a:extLst>
              <a:ext uri="{FF2B5EF4-FFF2-40B4-BE49-F238E27FC236}">
                <a16:creationId xmlns:a16="http://schemas.microsoft.com/office/drawing/2014/main" id="{35D9DB1E-85ED-5550-A427-9A5926CABF2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kumimoji="1" lang="zh-TW" altLang="en-US"/>
          </a:p>
        </p:txBody>
      </p:sp>
      <p:sp>
        <p:nvSpPr>
          <p:cNvPr id="6" name="投影片編號版面配置區 5">
            <a:extLst>
              <a:ext uri="{FF2B5EF4-FFF2-40B4-BE49-F238E27FC236}">
                <a16:creationId xmlns:a16="http://schemas.microsoft.com/office/drawing/2014/main" id="{FACCEF57-7D26-1C63-FF1A-812BDE3E3D9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28FD00D4-F5DF-B54F-AFA8-F906B23A8122}" type="slidenum">
              <a:rPr kumimoji="1" lang="zh-TW" altLang="en-US" smtClean="0"/>
              <a:t>‹#›</a:t>
            </a:fld>
            <a:endParaRPr kumimoji="1" lang="zh-TW" altLang="en-US"/>
          </a:p>
        </p:txBody>
      </p:sp>
    </p:spTree>
    <p:extLst>
      <p:ext uri="{BB962C8B-B14F-4D97-AF65-F5344CB8AC3E}">
        <p14:creationId xmlns:p14="http://schemas.microsoft.com/office/powerpoint/2010/main" val="296000975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xml"/><Relationship Id="rId1" Type="http://schemas.openxmlformats.org/officeDocument/2006/relationships/slideLayout" Target="../slideLayouts/slideLayout2.xml"/><Relationship Id="rId5" Type="http://schemas.openxmlformats.org/officeDocument/2006/relationships/image" Target="../media/image9.png"/><Relationship Id="rId4" Type="http://schemas.openxmlformats.org/officeDocument/2006/relationships/image" Target="../media/image8.png"/></Relationships>
</file>

<file path=ppt/slides/_rels/slide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0.png"/><Relationship Id="rId1" Type="http://schemas.openxmlformats.org/officeDocument/2006/relationships/slideLayout" Target="../slideLayouts/slideLayout2.xml"/><Relationship Id="rId5" Type="http://schemas.openxmlformats.org/officeDocument/2006/relationships/image" Target="../media/image14.png"/><Relationship Id="rId4" Type="http://schemas.openxmlformats.org/officeDocument/2006/relationships/image" Target="../media/image13.png"/></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5.png"/><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1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18.pn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2.xml"/><Relationship Id="rId6" Type="http://schemas.openxmlformats.org/officeDocument/2006/relationships/image" Target="../media/image25.png"/><Relationship Id="rId5" Type="http://schemas.openxmlformats.org/officeDocument/2006/relationships/image" Target="../media/image24.png"/><Relationship Id="rId4" Type="http://schemas.openxmlformats.org/officeDocument/2006/relationships/image" Target="../media/image23.png"/></Relationships>
</file>

<file path=ppt/slides/_rels/slide19.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27.png"/></Relationships>
</file>

<file path=ppt/slides/_rels/slide20.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6.png"/><Relationship Id="rId1" Type="http://schemas.openxmlformats.org/officeDocument/2006/relationships/slideLayout" Target="../slideLayouts/slideLayout2.xml"/><Relationship Id="rId4" Type="http://schemas.openxmlformats.org/officeDocument/2006/relationships/image" Target="../media/image27.png"/></Relationships>
</file>

<file path=ppt/slides/_rels/slide21.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9.png"/><Relationship Id="rId1" Type="http://schemas.openxmlformats.org/officeDocument/2006/relationships/slideLayout" Target="../slideLayouts/slideLayout2.xml"/><Relationship Id="rId5" Type="http://schemas.openxmlformats.org/officeDocument/2006/relationships/image" Target="../media/image30.png"/><Relationship Id="rId4" Type="http://schemas.openxmlformats.org/officeDocument/2006/relationships/image" Target="../media/image24.png"/></Relationships>
</file>

<file path=ppt/slides/_rels/slide22.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9.png"/><Relationship Id="rId1" Type="http://schemas.openxmlformats.org/officeDocument/2006/relationships/slideLayout" Target="../slideLayouts/slideLayout2.xml"/><Relationship Id="rId5" Type="http://schemas.openxmlformats.org/officeDocument/2006/relationships/image" Target="../media/image24.png"/><Relationship Id="rId4" Type="http://schemas.openxmlformats.org/officeDocument/2006/relationships/image" Target="../media/image31.png"/></Relationships>
</file>

<file path=ppt/slides/_rels/slide23.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6.png"/><Relationship Id="rId1" Type="http://schemas.openxmlformats.org/officeDocument/2006/relationships/slideLayout" Target="../slideLayouts/slideLayout2.xml"/><Relationship Id="rId6" Type="http://schemas.openxmlformats.org/officeDocument/2006/relationships/image" Target="../media/image31.png"/><Relationship Id="rId5" Type="http://schemas.openxmlformats.org/officeDocument/2006/relationships/image" Target="../media/image32.png"/><Relationship Id="rId4" Type="http://schemas.openxmlformats.org/officeDocument/2006/relationships/image" Target="../media/image27.png"/></Relationships>
</file>

<file path=ppt/slides/_rels/slide24.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32.png"/><Relationship Id="rId1" Type="http://schemas.openxmlformats.org/officeDocument/2006/relationships/slideLayout" Target="../slideLayouts/slideLayout2.xml"/><Relationship Id="rId6" Type="http://schemas.openxmlformats.org/officeDocument/2006/relationships/image" Target="../media/image31.png"/><Relationship Id="rId5" Type="http://schemas.openxmlformats.org/officeDocument/2006/relationships/image" Target="../media/image27.png"/><Relationship Id="rId4" Type="http://schemas.openxmlformats.org/officeDocument/2006/relationships/image" Target="../media/image28.png"/></Relationships>
</file>

<file path=ppt/slides/_rels/slide25.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2.xml"/><Relationship Id="rId6" Type="http://schemas.openxmlformats.org/officeDocument/2006/relationships/image" Target="../media/image27.png"/><Relationship Id="rId5" Type="http://schemas.openxmlformats.org/officeDocument/2006/relationships/image" Target="../media/image28.png"/><Relationship Id="rId4" Type="http://schemas.openxmlformats.org/officeDocument/2006/relationships/image" Target="../media/image26.png"/></Relationships>
</file>

<file path=ppt/slides/_rels/slide26.xml.rels><?xml version="1.0" encoding="UTF-8" standalone="yes"?>
<Relationships xmlns="http://schemas.openxmlformats.org/package/2006/relationships"><Relationship Id="rId3" Type="http://schemas.openxmlformats.org/officeDocument/2006/relationships/image" Target="../media/image26.png"/><Relationship Id="rId7" Type="http://schemas.openxmlformats.org/officeDocument/2006/relationships/image" Target="../media/image32.png"/><Relationship Id="rId2" Type="http://schemas.openxmlformats.org/officeDocument/2006/relationships/image" Target="../media/image34.png"/><Relationship Id="rId1" Type="http://schemas.openxmlformats.org/officeDocument/2006/relationships/slideLayout" Target="../slideLayouts/slideLayout2.xml"/><Relationship Id="rId6" Type="http://schemas.openxmlformats.org/officeDocument/2006/relationships/image" Target="../media/image31.png"/><Relationship Id="rId5" Type="http://schemas.openxmlformats.org/officeDocument/2006/relationships/image" Target="../media/image27.png"/><Relationship Id="rId4" Type="http://schemas.openxmlformats.org/officeDocument/2006/relationships/image" Target="../media/image28.png"/></Relationships>
</file>

<file path=ppt/slides/_rels/slide27.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34.png"/><Relationship Id="rId1" Type="http://schemas.openxmlformats.org/officeDocument/2006/relationships/slideLayout" Target="../slideLayouts/slideLayout2.xml"/><Relationship Id="rId5" Type="http://schemas.openxmlformats.org/officeDocument/2006/relationships/image" Target="../media/image31.png"/><Relationship Id="rId4" Type="http://schemas.openxmlformats.org/officeDocument/2006/relationships/image" Target="../media/image32.png"/></Relationships>
</file>

<file path=ppt/slides/_rels/slide28.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26.png"/><Relationship Id="rId1" Type="http://schemas.openxmlformats.org/officeDocument/2006/relationships/slideLayout" Target="../slideLayouts/slideLayout2.xml"/><Relationship Id="rId5" Type="http://schemas.openxmlformats.org/officeDocument/2006/relationships/image" Target="../media/image33.png"/><Relationship Id="rId4" Type="http://schemas.openxmlformats.org/officeDocument/2006/relationships/image" Target="../media/image32.png"/></Relationships>
</file>

<file path=ppt/slides/_rels/slide29.xml.rels><?xml version="1.0" encoding="UTF-8" standalone="yes"?>
<Relationships xmlns="http://schemas.openxmlformats.org/package/2006/relationships"><Relationship Id="rId3" Type="http://schemas.openxmlformats.org/officeDocument/2006/relationships/image" Target="../media/image28.png"/><Relationship Id="rId7" Type="http://schemas.openxmlformats.org/officeDocument/2006/relationships/image" Target="../media/image33.png"/><Relationship Id="rId2" Type="http://schemas.openxmlformats.org/officeDocument/2006/relationships/image" Target="../media/image26.png"/><Relationship Id="rId1" Type="http://schemas.openxmlformats.org/officeDocument/2006/relationships/slideLayout" Target="../slideLayouts/slideLayout2.xml"/><Relationship Id="rId6" Type="http://schemas.openxmlformats.org/officeDocument/2006/relationships/image" Target="../media/image31.png"/><Relationship Id="rId5" Type="http://schemas.openxmlformats.org/officeDocument/2006/relationships/image" Target="../media/image32.png"/><Relationship Id="rId4" Type="http://schemas.openxmlformats.org/officeDocument/2006/relationships/image" Target="../media/image27.png"/></Relationships>
</file>

<file path=ppt/slides/_rels/slide30.xml.rels><?xml version="1.0" encoding="UTF-8" standalone="yes"?>
<Relationships xmlns="http://schemas.openxmlformats.org/package/2006/relationships"><Relationship Id="rId8" Type="http://schemas.openxmlformats.org/officeDocument/2006/relationships/image" Target="../media/image33.png"/><Relationship Id="rId3" Type="http://schemas.openxmlformats.org/officeDocument/2006/relationships/image" Target="../media/image26.png"/><Relationship Id="rId7" Type="http://schemas.openxmlformats.org/officeDocument/2006/relationships/image" Target="../media/image31.png"/><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image" Target="../media/image32.png"/><Relationship Id="rId5" Type="http://schemas.openxmlformats.org/officeDocument/2006/relationships/image" Target="../media/image27.png"/><Relationship Id="rId4" Type="http://schemas.openxmlformats.org/officeDocument/2006/relationships/image" Target="../media/image28.png"/><Relationship Id="rId9" Type="http://schemas.openxmlformats.org/officeDocument/2006/relationships/image" Target="../media/image35.png"/></Relationships>
</file>

<file path=ppt/slides/_rels/slide31.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9.png"/><Relationship Id="rId1" Type="http://schemas.openxmlformats.org/officeDocument/2006/relationships/slideLayout" Target="../slideLayouts/slideLayout2.xml"/><Relationship Id="rId6" Type="http://schemas.openxmlformats.org/officeDocument/2006/relationships/image" Target="../media/image32.png"/><Relationship Id="rId5" Type="http://schemas.openxmlformats.org/officeDocument/2006/relationships/image" Target="../media/image36.png"/><Relationship Id="rId4" Type="http://schemas.openxmlformats.org/officeDocument/2006/relationships/image" Target="../media/image24.png"/></Relationships>
</file>

<file path=ppt/slides/_rels/slide32.xml.rels><?xml version="1.0" encoding="UTF-8" standalone="yes"?>
<Relationships xmlns="http://schemas.openxmlformats.org/package/2006/relationships"><Relationship Id="rId8" Type="http://schemas.openxmlformats.org/officeDocument/2006/relationships/image" Target="../media/image37.png"/><Relationship Id="rId3" Type="http://schemas.openxmlformats.org/officeDocument/2006/relationships/image" Target="../media/image32.png"/><Relationship Id="rId7" Type="http://schemas.openxmlformats.org/officeDocument/2006/relationships/image" Target="../media/image31.png"/><Relationship Id="rId2" Type="http://schemas.openxmlformats.org/officeDocument/2006/relationships/image" Target="../media/image36.png"/><Relationship Id="rId1" Type="http://schemas.openxmlformats.org/officeDocument/2006/relationships/slideLayout" Target="../slideLayouts/slideLayout2.xml"/><Relationship Id="rId6" Type="http://schemas.openxmlformats.org/officeDocument/2006/relationships/image" Target="../media/image27.png"/><Relationship Id="rId5" Type="http://schemas.openxmlformats.org/officeDocument/2006/relationships/image" Target="../media/image28.png"/><Relationship Id="rId4" Type="http://schemas.openxmlformats.org/officeDocument/2006/relationships/image" Target="../media/image26.png"/></Relationships>
</file>

<file path=ppt/slides/_rels/slide33.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9.png"/><Relationship Id="rId1" Type="http://schemas.openxmlformats.org/officeDocument/2006/relationships/slideLayout" Target="../slideLayouts/slideLayout2.xml"/><Relationship Id="rId5" Type="http://schemas.openxmlformats.org/officeDocument/2006/relationships/image" Target="../media/image24.png"/><Relationship Id="rId4" Type="http://schemas.openxmlformats.org/officeDocument/2006/relationships/image" Target="../media/image31.png"/></Relationships>
</file>

<file path=ppt/slides/_rels/slide34.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8.xml"/><Relationship Id="rId1" Type="http://schemas.openxmlformats.org/officeDocument/2006/relationships/slideLayout" Target="../slideLayouts/slideLayout2.xml"/><Relationship Id="rId5" Type="http://schemas.openxmlformats.org/officeDocument/2006/relationships/image" Target="../media/image36.png"/><Relationship Id="rId4" Type="http://schemas.openxmlformats.org/officeDocument/2006/relationships/image" Target="../media/image35.png"/></Relationships>
</file>

<file path=ppt/slides/_rels/slide35.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png"/><Relationship Id="rId1" Type="http://schemas.openxmlformats.org/officeDocument/2006/relationships/slideLayout" Target="../slideLayouts/slideLayout2.xml"/><Relationship Id="rId4" Type="http://schemas.openxmlformats.org/officeDocument/2006/relationships/image" Target="../media/image38.png"/></Relationships>
</file>

<file path=ppt/slides/_rels/slide36.xml.rels><?xml version="1.0" encoding="UTF-8" standalone="yes"?>
<Relationships xmlns="http://schemas.openxmlformats.org/package/2006/relationships"><Relationship Id="rId8" Type="http://schemas.openxmlformats.org/officeDocument/2006/relationships/image" Target="../media/image36.png"/><Relationship Id="rId3" Type="http://schemas.openxmlformats.org/officeDocument/2006/relationships/image" Target="../media/image39.png"/><Relationship Id="rId7" Type="http://schemas.openxmlformats.org/officeDocument/2006/relationships/image" Target="../media/image43.png"/><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image" Target="../media/image42.png"/><Relationship Id="rId5" Type="http://schemas.openxmlformats.org/officeDocument/2006/relationships/image" Target="../media/image41.png"/><Relationship Id="rId4" Type="http://schemas.openxmlformats.org/officeDocument/2006/relationships/image" Target="../media/image40.png"/></Relationships>
</file>

<file path=ppt/slides/_rels/slide37.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image" Target="../media/image36.png"/><Relationship Id="rId1" Type="http://schemas.openxmlformats.org/officeDocument/2006/relationships/slideLayout" Target="../slideLayouts/slideLayout2.xml"/><Relationship Id="rId4" Type="http://schemas.openxmlformats.org/officeDocument/2006/relationships/image" Target="../media/image45.png"/></Relationships>
</file>

<file path=ppt/slides/_rels/slide38.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47.png"/></Relationships>
</file>

<file path=ppt/slides/_rels/slide39.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image" Target="../media/image48.png"/><Relationship Id="rId1" Type="http://schemas.openxmlformats.org/officeDocument/2006/relationships/slideLayout" Target="../slideLayouts/slideLayout2.xml"/><Relationship Id="rId4" Type="http://schemas.openxmlformats.org/officeDocument/2006/relationships/image" Target="../media/image50.png"/></Relationships>
</file>

<file path=ppt/slides/_rels/slide40.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2.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image" Target="../media/image52.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4.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image" Target="../media/image54.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6.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image" Target="../media/image56.png"/><Relationship Id="rId1" Type="http://schemas.openxmlformats.org/officeDocument/2006/relationships/slideLayout" Target="../slideLayouts/slideLayout2.xml"/><Relationship Id="rId4" Type="http://schemas.openxmlformats.org/officeDocument/2006/relationships/image" Target="../media/image58.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 Id="rId5" Type="http://schemas.openxmlformats.org/officeDocument/2006/relationships/image" Target="../media/image20.png"/><Relationship Id="rId4" Type="http://schemas.openxmlformats.org/officeDocument/2006/relationships/image" Target="../media/image19.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2.xml"/><Relationship Id="rId5" Type="http://schemas.openxmlformats.org/officeDocument/2006/relationships/image" Target="../media/image24.png"/><Relationship Id="rId4" Type="http://schemas.openxmlformats.org/officeDocument/2006/relationships/image" Target="../media/image23.png"/></Relationships>
</file>

<file path=ppt/slides/_rels/slide51.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9.png"/><Relationship Id="rId1" Type="http://schemas.openxmlformats.org/officeDocument/2006/relationships/slideLayout" Target="../slideLayouts/slideLayout2.xml"/><Relationship Id="rId4" Type="http://schemas.openxmlformats.org/officeDocument/2006/relationships/image" Target="../media/image31.png"/></Relationships>
</file>

<file path=ppt/slides/_rels/slide53.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6.png"/><Relationship Id="rId1" Type="http://schemas.openxmlformats.org/officeDocument/2006/relationships/slideLayout" Target="../slideLayouts/slideLayout2.xml"/><Relationship Id="rId5" Type="http://schemas.openxmlformats.org/officeDocument/2006/relationships/image" Target="../media/image31.png"/><Relationship Id="rId4" Type="http://schemas.openxmlformats.org/officeDocument/2006/relationships/image" Target="../media/image27.png"/></Relationships>
</file>

<file path=ppt/slides/_rels/slide54.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6.png"/><Relationship Id="rId1" Type="http://schemas.openxmlformats.org/officeDocument/2006/relationships/slideLayout" Target="../slideLayouts/slideLayout2.xml"/><Relationship Id="rId6" Type="http://schemas.openxmlformats.org/officeDocument/2006/relationships/image" Target="../media/image35.png"/><Relationship Id="rId5" Type="http://schemas.openxmlformats.org/officeDocument/2006/relationships/image" Target="../media/image31.png"/><Relationship Id="rId4" Type="http://schemas.openxmlformats.org/officeDocument/2006/relationships/image" Target="../media/image27.png"/></Relationships>
</file>

<file path=ppt/slides/_rels/slide55.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D987BB55-BC58-8835-45D4-BF5F9323B144}"/>
              </a:ext>
            </a:extLst>
          </p:cNvPr>
          <p:cNvSpPr>
            <a:spLocks noGrp="1"/>
          </p:cNvSpPr>
          <p:nvPr>
            <p:ph type="ctrTitle"/>
          </p:nvPr>
        </p:nvSpPr>
        <p:spPr/>
        <p:txBody>
          <a:bodyPr/>
          <a:lstStyle/>
          <a:p>
            <a:r>
              <a:rPr kumimoji="1" lang="en-US" altLang="zh-TW" dirty="0"/>
              <a:t>Custom Audience</a:t>
            </a:r>
            <a:endParaRPr kumimoji="1" lang="zh-TW" altLang="en-US"/>
          </a:p>
        </p:txBody>
      </p:sp>
      <p:sp>
        <p:nvSpPr>
          <p:cNvPr id="3" name="副標題 2">
            <a:extLst>
              <a:ext uri="{FF2B5EF4-FFF2-40B4-BE49-F238E27FC236}">
                <a16:creationId xmlns:a16="http://schemas.microsoft.com/office/drawing/2014/main" id="{873C69FB-5BDA-E7E7-D177-832E9D2CA410}"/>
              </a:ext>
            </a:extLst>
          </p:cNvPr>
          <p:cNvSpPr>
            <a:spLocks noGrp="1"/>
          </p:cNvSpPr>
          <p:nvPr>
            <p:ph type="subTitle" idx="1"/>
          </p:nvPr>
        </p:nvSpPr>
        <p:spPr/>
        <p:txBody>
          <a:bodyPr/>
          <a:lstStyle/>
          <a:p>
            <a:r>
              <a:rPr kumimoji="1" lang="en-US" altLang="zh-TW" dirty="0"/>
              <a:t>20251104</a:t>
            </a:r>
            <a:endParaRPr kumimoji="1" lang="zh-TW" altLang="en-US" dirty="0"/>
          </a:p>
        </p:txBody>
      </p:sp>
    </p:spTree>
    <p:extLst>
      <p:ext uri="{BB962C8B-B14F-4D97-AF65-F5344CB8AC3E}">
        <p14:creationId xmlns:p14="http://schemas.microsoft.com/office/powerpoint/2010/main" val="15519511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 name="標題 1">
            <a:extLst>
              <a:ext uri="{FF2B5EF4-FFF2-40B4-BE49-F238E27FC236}">
                <a16:creationId xmlns:a16="http://schemas.microsoft.com/office/drawing/2014/main" id="{B8328A4C-05F5-1F7C-8FBD-30B064DD4827}"/>
              </a:ext>
            </a:extLst>
          </p:cNvPr>
          <p:cNvSpPr txBox="1">
            <a:spLocks/>
          </p:cNvSpPr>
          <p:nvPr/>
        </p:nvSpPr>
        <p:spPr>
          <a:xfrm>
            <a:off x="0" y="0"/>
            <a:ext cx="10515600" cy="70560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kumimoji="1" lang="zh-TW" altLang="en-US" sz="2000" dirty="0"/>
              <a:t>使用情境</a:t>
            </a:r>
            <a:endParaRPr kumimoji="1" lang="en-US" altLang="zh-TW" sz="2000" dirty="0"/>
          </a:p>
          <a:p>
            <a:endParaRPr kumimoji="1" lang="en-US" altLang="zh-TW" sz="2000" dirty="0"/>
          </a:p>
        </p:txBody>
      </p:sp>
      <p:pic>
        <p:nvPicPr>
          <p:cNvPr id="73" name="圖片 72" descr="一張含有 文字, 螢幕擷取畫面, 字型, 設計 的圖片&#10;&#10;AI 產生的內容可能不正確。">
            <a:extLst>
              <a:ext uri="{FF2B5EF4-FFF2-40B4-BE49-F238E27FC236}">
                <a16:creationId xmlns:a16="http://schemas.microsoft.com/office/drawing/2014/main" id="{5D40E985-F96E-06F1-B567-1A6DD1A3EBB0}"/>
              </a:ext>
            </a:extLst>
          </p:cNvPr>
          <p:cNvPicPr>
            <a:picLocks noChangeAspect="1"/>
          </p:cNvPicPr>
          <p:nvPr/>
        </p:nvPicPr>
        <p:blipFill>
          <a:blip r:embed="rId2"/>
          <a:stretch>
            <a:fillRect/>
          </a:stretch>
        </p:blipFill>
        <p:spPr>
          <a:xfrm>
            <a:off x="828892" y="882650"/>
            <a:ext cx="10534215" cy="5092700"/>
          </a:xfrm>
          <a:prstGeom prst="rect">
            <a:avLst/>
          </a:prstGeom>
        </p:spPr>
      </p:pic>
    </p:spTree>
    <p:extLst>
      <p:ext uri="{BB962C8B-B14F-4D97-AF65-F5344CB8AC3E}">
        <p14:creationId xmlns:p14="http://schemas.microsoft.com/office/powerpoint/2010/main" val="298659681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標題 1">
            <a:extLst>
              <a:ext uri="{FF2B5EF4-FFF2-40B4-BE49-F238E27FC236}">
                <a16:creationId xmlns:a16="http://schemas.microsoft.com/office/drawing/2014/main" id="{838D9099-4CEB-DAEA-E97B-DF6528426618}"/>
              </a:ext>
            </a:extLst>
          </p:cNvPr>
          <p:cNvSpPr txBox="1">
            <a:spLocks/>
          </p:cNvSpPr>
          <p:nvPr/>
        </p:nvSpPr>
        <p:spPr>
          <a:xfrm>
            <a:off x="0" y="-2"/>
            <a:ext cx="10515600" cy="70560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kumimoji="1" lang="zh-TW" altLang="en-US" sz="2000" dirty="0"/>
              <a:t>在</a:t>
            </a:r>
            <a:r>
              <a:rPr kumimoji="1" lang="en-US" altLang="zh-TW" sz="2000" dirty="0" err="1"/>
              <a:t>SuperDSP</a:t>
            </a:r>
            <a:r>
              <a:rPr kumimoji="1" lang="zh-TW" altLang="en-US" sz="2000" dirty="0"/>
              <a:t>如何達成</a:t>
            </a:r>
            <a:endParaRPr kumimoji="1" lang="en-US" altLang="zh-TW" sz="2000" dirty="0"/>
          </a:p>
          <a:p>
            <a:endParaRPr kumimoji="1" lang="zh-TW" altLang="en-US" sz="2000" dirty="0"/>
          </a:p>
        </p:txBody>
      </p:sp>
      <p:pic>
        <p:nvPicPr>
          <p:cNvPr id="8" name="圖片 7" descr="一張含有 螢幕擷取畫面, 文字, 軟體 的圖片&#10;&#10;AI 產生的內容可能不正確。">
            <a:extLst>
              <a:ext uri="{FF2B5EF4-FFF2-40B4-BE49-F238E27FC236}">
                <a16:creationId xmlns:a16="http://schemas.microsoft.com/office/drawing/2014/main" id="{6A4FE92A-7256-0600-A3A5-9C7E8F2BB523}"/>
              </a:ext>
            </a:extLst>
          </p:cNvPr>
          <p:cNvPicPr>
            <a:picLocks noChangeAspect="1"/>
          </p:cNvPicPr>
          <p:nvPr/>
        </p:nvPicPr>
        <p:blipFill>
          <a:blip r:embed="rId2"/>
          <a:stretch>
            <a:fillRect/>
          </a:stretch>
        </p:blipFill>
        <p:spPr>
          <a:xfrm>
            <a:off x="0" y="628196"/>
            <a:ext cx="5719265" cy="2699204"/>
          </a:xfrm>
          <a:prstGeom prst="rect">
            <a:avLst/>
          </a:prstGeom>
        </p:spPr>
      </p:pic>
      <p:pic>
        <p:nvPicPr>
          <p:cNvPr id="28" name="圖片 27" descr="一張含有 螢幕擷取畫面, 文字, 軟體, 數字 的圖片&#10;&#10;AI 產生的內容可能不正確。">
            <a:extLst>
              <a:ext uri="{FF2B5EF4-FFF2-40B4-BE49-F238E27FC236}">
                <a16:creationId xmlns:a16="http://schemas.microsoft.com/office/drawing/2014/main" id="{851352E2-007E-3F58-1B79-200ACD3C9656}"/>
              </a:ext>
            </a:extLst>
          </p:cNvPr>
          <p:cNvPicPr>
            <a:picLocks noChangeAspect="1"/>
          </p:cNvPicPr>
          <p:nvPr/>
        </p:nvPicPr>
        <p:blipFill>
          <a:blip r:embed="rId3"/>
          <a:stretch>
            <a:fillRect/>
          </a:stretch>
        </p:blipFill>
        <p:spPr>
          <a:xfrm>
            <a:off x="6096000" y="626723"/>
            <a:ext cx="6032500" cy="2454430"/>
          </a:xfrm>
          <a:prstGeom prst="rect">
            <a:avLst/>
          </a:prstGeom>
        </p:spPr>
      </p:pic>
      <p:pic>
        <p:nvPicPr>
          <p:cNvPr id="30" name="圖片 29" descr="一張含有 文字, 軟體, 螢幕擷取畫面 的圖片&#10;&#10;AI 產生的內容可能不正確。">
            <a:extLst>
              <a:ext uri="{FF2B5EF4-FFF2-40B4-BE49-F238E27FC236}">
                <a16:creationId xmlns:a16="http://schemas.microsoft.com/office/drawing/2014/main" id="{33E8E12B-C7A7-4047-455B-0B2CAFE300A5}"/>
              </a:ext>
            </a:extLst>
          </p:cNvPr>
          <p:cNvPicPr>
            <a:picLocks noChangeAspect="1"/>
          </p:cNvPicPr>
          <p:nvPr/>
        </p:nvPicPr>
        <p:blipFill>
          <a:blip r:embed="rId4"/>
          <a:stretch>
            <a:fillRect/>
          </a:stretch>
        </p:blipFill>
        <p:spPr>
          <a:xfrm>
            <a:off x="-24442" y="3807823"/>
            <a:ext cx="4011057" cy="2525244"/>
          </a:xfrm>
          <a:prstGeom prst="rect">
            <a:avLst/>
          </a:prstGeom>
        </p:spPr>
      </p:pic>
      <p:pic>
        <p:nvPicPr>
          <p:cNvPr id="32" name="圖片 31" descr="一張含有 文字, 螢幕擷取畫面, 軟體, 網頁 的圖片&#10;&#10;AI 產生的內容可能不正確。">
            <a:extLst>
              <a:ext uri="{FF2B5EF4-FFF2-40B4-BE49-F238E27FC236}">
                <a16:creationId xmlns:a16="http://schemas.microsoft.com/office/drawing/2014/main" id="{F0323FD0-6975-F0EB-2DCF-FD9DC6432701}"/>
              </a:ext>
            </a:extLst>
          </p:cNvPr>
          <p:cNvPicPr>
            <a:picLocks noChangeAspect="1"/>
          </p:cNvPicPr>
          <p:nvPr/>
        </p:nvPicPr>
        <p:blipFill>
          <a:blip r:embed="rId5"/>
          <a:stretch>
            <a:fillRect/>
          </a:stretch>
        </p:blipFill>
        <p:spPr>
          <a:xfrm>
            <a:off x="4106900" y="3807823"/>
            <a:ext cx="3228402" cy="2579556"/>
          </a:xfrm>
          <a:prstGeom prst="rect">
            <a:avLst/>
          </a:prstGeom>
        </p:spPr>
      </p:pic>
      <p:pic>
        <p:nvPicPr>
          <p:cNvPr id="36" name="圖片 35" descr="一張含有 螢幕擷取畫面, 文字, 軟體 的圖片&#10;&#10;AI 產生的內容可能不正確。">
            <a:extLst>
              <a:ext uri="{FF2B5EF4-FFF2-40B4-BE49-F238E27FC236}">
                <a16:creationId xmlns:a16="http://schemas.microsoft.com/office/drawing/2014/main" id="{001D92FC-85AF-8F1C-3028-F008A0BFF4F0}"/>
              </a:ext>
            </a:extLst>
          </p:cNvPr>
          <p:cNvPicPr>
            <a:picLocks noChangeAspect="1"/>
          </p:cNvPicPr>
          <p:nvPr/>
        </p:nvPicPr>
        <p:blipFill>
          <a:blip r:embed="rId6"/>
          <a:stretch>
            <a:fillRect/>
          </a:stretch>
        </p:blipFill>
        <p:spPr>
          <a:xfrm>
            <a:off x="7575872" y="3807823"/>
            <a:ext cx="4616128" cy="2117855"/>
          </a:xfrm>
          <a:prstGeom prst="rect">
            <a:avLst/>
          </a:prstGeom>
        </p:spPr>
      </p:pic>
      <p:sp>
        <p:nvSpPr>
          <p:cNvPr id="2" name="橢圓 1">
            <a:extLst>
              <a:ext uri="{FF2B5EF4-FFF2-40B4-BE49-F238E27FC236}">
                <a16:creationId xmlns:a16="http://schemas.microsoft.com/office/drawing/2014/main" id="{CBDC1279-7D23-AA07-55FD-1D0DD0916239}"/>
              </a:ext>
            </a:extLst>
          </p:cNvPr>
          <p:cNvSpPr/>
          <p:nvPr/>
        </p:nvSpPr>
        <p:spPr>
          <a:xfrm>
            <a:off x="995423" y="535641"/>
            <a:ext cx="439715" cy="43971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TW" dirty="0"/>
              <a:t>1</a:t>
            </a:r>
            <a:endParaRPr kumimoji="1" lang="zh-TW" altLang="en-US"/>
          </a:p>
        </p:txBody>
      </p:sp>
      <p:sp>
        <p:nvSpPr>
          <p:cNvPr id="3" name="橢圓 2">
            <a:extLst>
              <a:ext uri="{FF2B5EF4-FFF2-40B4-BE49-F238E27FC236}">
                <a16:creationId xmlns:a16="http://schemas.microsoft.com/office/drawing/2014/main" id="{7E3513E5-230B-E58D-E3AE-898BC433DB4E}"/>
              </a:ext>
            </a:extLst>
          </p:cNvPr>
          <p:cNvSpPr/>
          <p:nvPr/>
        </p:nvSpPr>
        <p:spPr>
          <a:xfrm>
            <a:off x="7829838" y="535641"/>
            <a:ext cx="439715" cy="43971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TW" dirty="0"/>
              <a:t>2</a:t>
            </a:r>
            <a:endParaRPr kumimoji="1" lang="zh-TW" altLang="en-US"/>
          </a:p>
        </p:txBody>
      </p:sp>
      <p:sp>
        <p:nvSpPr>
          <p:cNvPr id="7" name="橢圓 6">
            <a:extLst>
              <a:ext uri="{FF2B5EF4-FFF2-40B4-BE49-F238E27FC236}">
                <a16:creationId xmlns:a16="http://schemas.microsoft.com/office/drawing/2014/main" id="{3E1D025D-E985-1E3E-F065-B74DA44D112C}"/>
              </a:ext>
            </a:extLst>
          </p:cNvPr>
          <p:cNvSpPr/>
          <p:nvPr/>
        </p:nvSpPr>
        <p:spPr>
          <a:xfrm>
            <a:off x="44237" y="3648857"/>
            <a:ext cx="439715" cy="43971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TW" dirty="0"/>
              <a:t>3</a:t>
            </a:r>
            <a:endParaRPr kumimoji="1" lang="zh-TW" altLang="en-US"/>
          </a:p>
        </p:txBody>
      </p:sp>
      <p:sp>
        <p:nvSpPr>
          <p:cNvPr id="9" name="橢圓 8">
            <a:extLst>
              <a:ext uri="{FF2B5EF4-FFF2-40B4-BE49-F238E27FC236}">
                <a16:creationId xmlns:a16="http://schemas.microsoft.com/office/drawing/2014/main" id="{F7103857-857C-B9B8-E014-7215F1256552}"/>
              </a:ext>
            </a:extLst>
          </p:cNvPr>
          <p:cNvSpPr/>
          <p:nvPr/>
        </p:nvSpPr>
        <p:spPr>
          <a:xfrm>
            <a:off x="3998836" y="3648857"/>
            <a:ext cx="439715" cy="43971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TW" dirty="0"/>
              <a:t>4</a:t>
            </a:r>
            <a:endParaRPr kumimoji="1" lang="zh-TW" altLang="en-US"/>
          </a:p>
        </p:txBody>
      </p:sp>
      <p:sp>
        <p:nvSpPr>
          <p:cNvPr id="10" name="橢圓 9">
            <a:extLst>
              <a:ext uri="{FF2B5EF4-FFF2-40B4-BE49-F238E27FC236}">
                <a16:creationId xmlns:a16="http://schemas.microsoft.com/office/drawing/2014/main" id="{C664D08B-83DD-05C8-D1FD-9F1F3EBF7D2B}"/>
              </a:ext>
            </a:extLst>
          </p:cNvPr>
          <p:cNvSpPr/>
          <p:nvPr/>
        </p:nvSpPr>
        <p:spPr>
          <a:xfrm>
            <a:off x="7521372" y="3648857"/>
            <a:ext cx="439715" cy="43971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TW" dirty="0"/>
              <a:t>5</a:t>
            </a:r>
            <a:endParaRPr kumimoji="1" lang="zh-TW" altLang="en-US"/>
          </a:p>
        </p:txBody>
      </p:sp>
      <p:cxnSp>
        <p:nvCxnSpPr>
          <p:cNvPr id="16" name="直線箭頭接點 15">
            <a:extLst>
              <a:ext uri="{FF2B5EF4-FFF2-40B4-BE49-F238E27FC236}">
                <a16:creationId xmlns:a16="http://schemas.microsoft.com/office/drawing/2014/main" id="{82C9FA6C-8743-65DF-A826-CEFD6D46ADD6}"/>
              </a:ext>
            </a:extLst>
          </p:cNvPr>
          <p:cNvCxnSpPr>
            <a:stCxn id="8" idx="3"/>
            <a:endCxn id="28" idx="1"/>
          </p:cNvCxnSpPr>
          <p:nvPr/>
        </p:nvCxnSpPr>
        <p:spPr>
          <a:xfrm flipV="1">
            <a:off x="5719265" y="1853938"/>
            <a:ext cx="376735" cy="12386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8" name="肘形接點 17">
            <a:extLst>
              <a:ext uri="{FF2B5EF4-FFF2-40B4-BE49-F238E27FC236}">
                <a16:creationId xmlns:a16="http://schemas.microsoft.com/office/drawing/2014/main" id="{9CB43509-0CFC-BFBE-43D9-59D2CD735C22}"/>
              </a:ext>
            </a:extLst>
          </p:cNvPr>
          <p:cNvCxnSpPr>
            <a:stCxn id="28" idx="2"/>
            <a:endCxn id="30" idx="0"/>
          </p:cNvCxnSpPr>
          <p:nvPr/>
        </p:nvCxnSpPr>
        <p:spPr>
          <a:xfrm rot="5400000">
            <a:off x="5183334" y="-121093"/>
            <a:ext cx="726670" cy="7131163"/>
          </a:xfrm>
          <a:prstGeom prst="bentConnector3">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0" name="直線箭頭接點 19">
            <a:extLst>
              <a:ext uri="{FF2B5EF4-FFF2-40B4-BE49-F238E27FC236}">
                <a16:creationId xmlns:a16="http://schemas.microsoft.com/office/drawing/2014/main" id="{DF1896A1-EFDF-A400-D7C2-ABCF2B790100}"/>
              </a:ext>
            </a:extLst>
          </p:cNvPr>
          <p:cNvCxnSpPr>
            <a:cxnSpLocks/>
          </p:cNvCxnSpPr>
          <p:nvPr/>
        </p:nvCxnSpPr>
        <p:spPr>
          <a:xfrm>
            <a:off x="3836145" y="5070445"/>
            <a:ext cx="319167"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1" name="直線箭頭接點 20">
            <a:extLst>
              <a:ext uri="{FF2B5EF4-FFF2-40B4-BE49-F238E27FC236}">
                <a16:creationId xmlns:a16="http://schemas.microsoft.com/office/drawing/2014/main" id="{66B3CE4B-36E3-8773-33B9-6483BE7A55CD}"/>
              </a:ext>
            </a:extLst>
          </p:cNvPr>
          <p:cNvCxnSpPr>
            <a:cxnSpLocks/>
          </p:cNvCxnSpPr>
          <p:nvPr/>
        </p:nvCxnSpPr>
        <p:spPr>
          <a:xfrm>
            <a:off x="7335302" y="5061533"/>
            <a:ext cx="319167"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81548881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F888B94C-7B3E-554C-B1CE-781E87B2DEE5}"/>
              </a:ext>
            </a:extLst>
          </p:cNvPr>
          <p:cNvSpPr>
            <a:spLocks noGrp="1"/>
          </p:cNvSpPr>
          <p:nvPr>
            <p:ph type="title"/>
          </p:nvPr>
        </p:nvSpPr>
        <p:spPr/>
        <p:txBody>
          <a:bodyPr/>
          <a:lstStyle/>
          <a:p>
            <a:r>
              <a:rPr kumimoji="1" lang="en-US" altLang="zh-TW" dirty="0"/>
              <a:t>Agenda</a:t>
            </a:r>
            <a:endParaRPr kumimoji="1" lang="zh-TW" altLang="en-US"/>
          </a:p>
        </p:txBody>
      </p:sp>
      <p:sp>
        <p:nvSpPr>
          <p:cNvPr id="3" name="內容版面配置區 2">
            <a:extLst>
              <a:ext uri="{FF2B5EF4-FFF2-40B4-BE49-F238E27FC236}">
                <a16:creationId xmlns:a16="http://schemas.microsoft.com/office/drawing/2014/main" id="{7ACBB8BB-99D6-CE5D-9F40-37FB633E5098}"/>
              </a:ext>
            </a:extLst>
          </p:cNvPr>
          <p:cNvSpPr>
            <a:spLocks noGrp="1"/>
          </p:cNvSpPr>
          <p:nvPr>
            <p:ph idx="1"/>
          </p:nvPr>
        </p:nvSpPr>
        <p:spPr>
          <a:xfrm>
            <a:off x="838200" y="1825625"/>
            <a:ext cx="10515600" cy="4795094"/>
          </a:xfrm>
        </p:spPr>
        <p:txBody>
          <a:bodyPr>
            <a:normAutofit fontScale="70000" lnSpcReduction="20000"/>
          </a:bodyPr>
          <a:lstStyle/>
          <a:p>
            <a:r>
              <a:rPr kumimoji="1" lang="en-US" altLang="zh-TW" dirty="0"/>
              <a:t>SuperDSP</a:t>
            </a:r>
            <a:r>
              <a:rPr kumimoji="1" lang="zh-TW" altLang="en-US" dirty="0"/>
              <a:t> </a:t>
            </a:r>
            <a:r>
              <a:rPr kumimoji="1" lang="en-US" altLang="zh-TW" dirty="0"/>
              <a:t>with Segment Targeting Tool</a:t>
            </a:r>
          </a:p>
          <a:p>
            <a:r>
              <a:rPr kumimoji="1" lang="en-US" altLang="zh-TW" dirty="0"/>
              <a:t>Audience Planner</a:t>
            </a:r>
          </a:p>
          <a:p>
            <a:r>
              <a:rPr kumimoji="1" lang="en-US" altLang="zh-TW" dirty="0"/>
              <a:t>Ad Group</a:t>
            </a:r>
          </a:p>
          <a:p>
            <a:pPr lvl="1"/>
            <a:r>
              <a:rPr kumimoji="1" lang="en-US" altLang="zh-TW" dirty="0"/>
              <a:t>New Ad Group</a:t>
            </a:r>
          </a:p>
          <a:p>
            <a:pPr lvl="1"/>
            <a:r>
              <a:rPr kumimoji="1" lang="en-US" altLang="zh-TW" dirty="0"/>
              <a:t>Edit Ad Group + Selected Custom Audiences, Status=</a:t>
            </a:r>
            <a:r>
              <a:rPr kumimoji="1" lang="en-US" altLang="zh-TW" b="1" dirty="0"/>
              <a:t>Expired</a:t>
            </a:r>
            <a:r>
              <a:rPr kumimoji="1" lang="en-US" altLang="zh-TW" dirty="0"/>
              <a:t> or UU=0</a:t>
            </a:r>
          </a:p>
          <a:p>
            <a:pPr lvl="1"/>
            <a:r>
              <a:rPr kumimoji="1" lang="en-US" altLang="zh-TW" dirty="0"/>
              <a:t>Edit Ad Group + Selected Custom Audiences, Status=</a:t>
            </a:r>
            <a:r>
              <a:rPr kumimoji="1" lang="en-US" altLang="zh-TW" b="1" dirty="0"/>
              <a:t>Expired</a:t>
            </a:r>
            <a:r>
              <a:rPr kumimoji="1" lang="en-US" altLang="zh-TW" dirty="0"/>
              <a:t> + Deselect</a:t>
            </a:r>
          </a:p>
          <a:p>
            <a:pPr lvl="1"/>
            <a:r>
              <a:rPr kumimoji="1" lang="en-US" altLang="zh-TW" dirty="0"/>
              <a:t>Edit Ad Group + Selected Custom Audiences, Status=</a:t>
            </a:r>
            <a:r>
              <a:rPr kumimoji="1" lang="en-US" altLang="zh-TW" b="1" dirty="0"/>
              <a:t>Expired</a:t>
            </a:r>
            <a:r>
              <a:rPr kumimoji="1" lang="en-US" altLang="zh-TW" dirty="0"/>
              <a:t> + Clear</a:t>
            </a:r>
          </a:p>
          <a:p>
            <a:pPr lvl="1"/>
            <a:r>
              <a:rPr kumimoji="1" lang="en-US" altLang="zh-TW" dirty="0"/>
              <a:t>Edit Ad Group + Selected Custom Audiences, Status=</a:t>
            </a:r>
            <a:r>
              <a:rPr kumimoji="1" lang="en-US" altLang="zh-TW" b="1" dirty="0"/>
              <a:t>Expired </a:t>
            </a:r>
            <a:r>
              <a:rPr kumimoji="1" lang="en-US" altLang="zh-TW" dirty="0"/>
              <a:t>+ Save</a:t>
            </a:r>
          </a:p>
          <a:p>
            <a:pPr lvl="1"/>
            <a:r>
              <a:rPr kumimoji="1" lang="en-US" altLang="zh-TW" dirty="0"/>
              <a:t>Edit &amp; Save Ad Group + With Status=</a:t>
            </a:r>
            <a:r>
              <a:rPr kumimoji="1" lang="en-US" altLang="zh-TW" b="1" dirty="0"/>
              <a:t>Expired</a:t>
            </a:r>
            <a:r>
              <a:rPr kumimoji="1" lang="en-US" altLang="zh-TW" dirty="0"/>
              <a:t> Audiences</a:t>
            </a:r>
          </a:p>
          <a:p>
            <a:pPr lvl="1"/>
            <a:r>
              <a:rPr kumimoji="1" lang="en-US" altLang="zh-TW" dirty="0"/>
              <a:t>Handle </a:t>
            </a:r>
            <a:r>
              <a:rPr kumimoji="1" lang="en-US" altLang="zh-TW" b="1" dirty="0"/>
              <a:t>Expired</a:t>
            </a:r>
            <a:r>
              <a:rPr kumimoji="1" lang="en-US" altLang="zh-TW" dirty="0"/>
              <a:t> Custom Audiences Ad Delivery</a:t>
            </a:r>
            <a:r>
              <a:rPr kumimoji="1" lang="zh-TW" altLang="en-US" dirty="0"/>
              <a:t> </a:t>
            </a:r>
            <a:endParaRPr kumimoji="1" lang="en-US" altLang="zh-TW" dirty="0"/>
          </a:p>
          <a:p>
            <a:pPr lvl="1"/>
            <a:r>
              <a:rPr kumimoji="1" lang="en-US" altLang="zh-TW" dirty="0"/>
              <a:t>Include/Exclude Custom Audiences</a:t>
            </a:r>
          </a:p>
          <a:p>
            <a:pPr lvl="1"/>
            <a:r>
              <a:rPr kumimoji="1" lang="en-US" altLang="zh-TW" dirty="0"/>
              <a:t>Functions</a:t>
            </a:r>
          </a:p>
          <a:p>
            <a:r>
              <a:rPr kumimoji="1" lang="en-US" altLang="zh-TW" dirty="0"/>
              <a:t>Report</a:t>
            </a:r>
          </a:p>
          <a:p>
            <a:r>
              <a:rPr kumimoji="1" lang="en-US" altLang="zh-TW" dirty="0"/>
              <a:t>Behavior Change</a:t>
            </a:r>
          </a:p>
          <a:p>
            <a:r>
              <a:rPr kumimoji="1" lang="en-US" altLang="zh-TW" dirty="0"/>
              <a:t>User/Platform Permission</a:t>
            </a:r>
          </a:p>
          <a:p>
            <a:r>
              <a:rPr kumimoji="1" lang="zh-TW" altLang="en-US" dirty="0"/>
              <a:t>中英對照</a:t>
            </a:r>
          </a:p>
        </p:txBody>
      </p:sp>
    </p:spTree>
    <p:extLst>
      <p:ext uri="{BB962C8B-B14F-4D97-AF65-F5344CB8AC3E}">
        <p14:creationId xmlns:p14="http://schemas.microsoft.com/office/powerpoint/2010/main" val="5553209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標題 3">
            <a:extLst>
              <a:ext uri="{FF2B5EF4-FFF2-40B4-BE49-F238E27FC236}">
                <a16:creationId xmlns:a16="http://schemas.microsoft.com/office/drawing/2014/main" id="{3FCB2640-6583-C868-D53A-68DD8EA48B2D}"/>
              </a:ext>
            </a:extLst>
          </p:cNvPr>
          <p:cNvSpPr>
            <a:spLocks noGrp="1"/>
          </p:cNvSpPr>
          <p:nvPr>
            <p:ph type="title"/>
          </p:nvPr>
        </p:nvSpPr>
        <p:spPr/>
        <p:txBody>
          <a:bodyPr/>
          <a:lstStyle/>
          <a:p>
            <a:r>
              <a:rPr kumimoji="1" lang="en-US" altLang="zh-TW" dirty="0"/>
              <a:t>SuperDSP with </a:t>
            </a:r>
            <a:br>
              <a:rPr kumimoji="1" lang="en-US" altLang="zh-TW" dirty="0"/>
            </a:br>
            <a:r>
              <a:rPr kumimoji="1" lang="en-US" altLang="zh-TW" dirty="0"/>
              <a:t>Segment Targeting Tool</a:t>
            </a:r>
            <a:endParaRPr lang="zh-TW" altLang="en-US" dirty="0"/>
          </a:p>
        </p:txBody>
      </p:sp>
      <p:sp>
        <p:nvSpPr>
          <p:cNvPr id="5" name="文字版面配置區 4">
            <a:extLst>
              <a:ext uri="{FF2B5EF4-FFF2-40B4-BE49-F238E27FC236}">
                <a16:creationId xmlns:a16="http://schemas.microsoft.com/office/drawing/2014/main" id="{0698B911-3AFB-0430-7F3F-3E310E9885DB}"/>
              </a:ext>
            </a:extLst>
          </p:cNvPr>
          <p:cNvSpPr>
            <a:spLocks noGrp="1"/>
          </p:cNvSpPr>
          <p:nvPr>
            <p:ph type="body" idx="1"/>
          </p:nvPr>
        </p:nvSpPr>
        <p:spPr/>
        <p:txBody>
          <a:bodyPr/>
          <a:lstStyle/>
          <a:p>
            <a:endParaRPr lang="zh-TW" altLang="en-US"/>
          </a:p>
        </p:txBody>
      </p:sp>
    </p:spTree>
    <p:extLst>
      <p:ext uri="{BB962C8B-B14F-4D97-AF65-F5344CB8AC3E}">
        <p14:creationId xmlns:p14="http://schemas.microsoft.com/office/powerpoint/2010/main" val="192898360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F694D232-7972-2CF1-6878-92F84581C85A}"/>
              </a:ext>
            </a:extLst>
          </p:cNvPr>
          <p:cNvSpPr>
            <a:spLocks noGrp="1"/>
          </p:cNvSpPr>
          <p:nvPr>
            <p:ph type="title"/>
          </p:nvPr>
        </p:nvSpPr>
        <p:spPr>
          <a:xfrm>
            <a:off x="0" y="-2"/>
            <a:ext cx="10515600" cy="705600"/>
          </a:xfrm>
        </p:spPr>
        <p:txBody>
          <a:bodyPr>
            <a:normAutofit/>
          </a:bodyPr>
          <a:lstStyle/>
          <a:p>
            <a:r>
              <a:rPr kumimoji="1" lang="en-US" altLang="zh-TW" sz="2000" dirty="0"/>
              <a:t>Segment</a:t>
            </a:r>
            <a:r>
              <a:rPr kumimoji="1" lang="zh-TW" altLang="en-US" sz="2000" dirty="0"/>
              <a:t>使用權限</a:t>
            </a:r>
            <a:br>
              <a:rPr kumimoji="1" lang="en-US" altLang="zh-TW" sz="2000" dirty="0"/>
            </a:br>
            <a:r>
              <a:rPr kumimoji="1" lang="en-US" altLang="zh-TW" sz="2000" dirty="0"/>
              <a:t>Goal</a:t>
            </a:r>
            <a:endParaRPr kumimoji="1" lang="zh-TW" altLang="en-US" sz="2000" dirty="0"/>
          </a:p>
        </p:txBody>
      </p:sp>
      <p:pic>
        <p:nvPicPr>
          <p:cNvPr id="5" name="圖片 4" descr="一張含有 文字, 螢幕擷取畫面, 字型, 數字 的圖片&#10;&#10;AI 產生的內容可能不正確。">
            <a:extLst>
              <a:ext uri="{FF2B5EF4-FFF2-40B4-BE49-F238E27FC236}">
                <a16:creationId xmlns:a16="http://schemas.microsoft.com/office/drawing/2014/main" id="{D50DEE01-38D1-7D4D-C6D3-FBD92CBFA3AC}"/>
              </a:ext>
            </a:extLst>
          </p:cNvPr>
          <p:cNvPicPr>
            <a:picLocks noChangeAspect="1"/>
          </p:cNvPicPr>
          <p:nvPr/>
        </p:nvPicPr>
        <p:blipFill>
          <a:blip r:embed="rId3"/>
          <a:stretch>
            <a:fillRect/>
          </a:stretch>
        </p:blipFill>
        <p:spPr>
          <a:xfrm>
            <a:off x="6481165" y="662782"/>
            <a:ext cx="5594844" cy="2919049"/>
          </a:xfrm>
          <a:prstGeom prst="rect">
            <a:avLst/>
          </a:prstGeom>
        </p:spPr>
      </p:pic>
      <p:pic>
        <p:nvPicPr>
          <p:cNvPr id="7" name="圖片 6" descr="一張含有 文字, 螢幕擷取畫面, 字型, 數字 的圖片&#10;&#10;AI 產生的內容可能不正確。">
            <a:extLst>
              <a:ext uri="{FF2B5EF4-FFF2-40B4-BE49-F238E27FC236}">
                <a16:creationId xmlns:a16="http://schemas.microsoft.com/office/drawing/2014/main" id="{8816AB2D-92ED-E5F7-B97F-681FC55C5E83}"/>
              </a:ext>
            </a:extLst>
          </p:cNvPr>
          <p:cNvPicPr>
            <a:picLocks noChangeAspect="1"/>
          </p:cNvPicPr>
          <p:nvPr/>
        </p:nvPicPr>
        <p:blipFill>
          <a:blip r:embed="rId4"/>
          <a:stretch>
            <a:fillRect/>
          </a:stretch>
        </p:blipFill>
        <p:spPr>
          <a:xfrm>
            <a:off x="6365174" y="3969080"/>
            <a:ext cx="5826826" cy="2285030"/>
          </a:xfrm>
          <a:prstGeom prst="rect">
            <a:avLst/>
          </a:prstGeom>
        </p:spPr>
      </p:pic>
      <p:sp>
        <p:nvSpPr>
          <p:cNvPr id="8" name="文字方塊 7">
            <a:extLst>
              <a:ext uri="{FF2B5EF4-FFF2-40B4-BE49-F238E27FC236}">
                <a16:creationId xmlns:a16="http://schemas.microsoft.com/office/drawing/2014/main" id="{70628FCB-547E-3FB6-9640-EEB612EDF224}"/>
              </a:ext>
            </a:extLst>
          </p:cNvPr>
          <p:cNvSpPr txBox="1"/>
          <p:nvPr/>
        </p:nvSpPr>
        <p:spPr>
          <a:xfrm>
            <a:off x="7675419" y="770699"/>
            <a:ext cx="2001016" cy="369332"/>
          </a:xfrm>
          <a:prstGeom prst="rect">
            <a:avLst/>
          </a:prstGeom>
          <a:noFill/>
        </p:spPr>
        <p:txBody>
          <a:bodyPr wrap="square" rtlCol="0">
            <a:spAutoFit/>
          </a:bodyPr>
          <a:lstStyle/>
          <a:p>
            <a:r>
              <a:rPr kumimoji="1" lang="en-US" altLang="zh-TW" dirty="0" err="1">
                <a:solidFill>
                  <a:srgbClr val="FF0000"/>
                </a:solidFill>
              </a:rPr>
              <a:t>SuperDSP</a:t>
            </a:r>
            <a:r>
              <a:rPr kumimoji="1" lang="zh-TW" altLang="en-US" dirty="0">
                <a:solidFill>
                  <a:srgbClr val="FF0000"/>
                </a:solidFill>
              </a:rPr>
              <a:t>合約主</a:t>
            </a:r>
          </a:p>
        </p:txBody>
      </p:sp>
      <p:sp>
        <p:nvSpPr>
          <p:cNvPr id="9" name="矩形 8">
            <a:extLst>
              <a:ext uri="{FF2B5EF4-FFF2-40B4-BE49-F238E27FC236}">
                <a16:creationId xmlns:a16="http://schemas.microsoft.com/office/drawing/2014/main" id="{1E594C18-2136-5C27-CD88-BA177B304803}"/>
              </a:ext>
            </a:extLst>
          </p:cNvPr>
          <p:cNvSpPr/>
          <p:nvPr/>
        </p:nvSpPr>
        <p:spPr>
          <a:xfrm>
            <a:off x="6662057" y="1140031"/>
            <a:ext cx="2699658" cy="2441800"/>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0" name="矩形 9">
            <a:extLst>
              <a:ext uri="{FF2B5EF4-FFF2-40B4-BE49-F238E27FC236}">
                <a16:creationId xmlns:a16="http://schemas.microsoft.com/office/drawing/2014/main" id="{DB215D08-B69F-23D8-D773-200108AE61ED}"/>
              </a:ext>
            </a:extLst>
          </p:cNvPr>
          <p:cNvSpPr/>
          <p:nvPr/>
        </p:nvSpPr>
        <p:spPr>
          <a:xfrm>
            <a:off x="9239301" y="4416200"/>
            <a:ext cx="2941123" cy="1837910"/>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1" name="文字方塊 10">
            <a:extLst>
              <a:ext uri="{FF2B5EF4-FFF2-40B4-BE49-F238E27FC236}">
                <a16:creationId xmlns:a16="http://schemas.microsoft.com/office/drawing/2014/main" id="{D725A14C-87A5-6E81-B8A5-1CAA5233B958}"/>
              </a:ext>
            </a:extLst>
          </p:cNvPr>
          <p:cNvSpPr txBox="1"/>
          <p:nvPr/>
        </p:nvSpPr>
        <p:spPr>
          <a:xfrm>
            <a:off x="8414795" y="6272027"/>
            <a:ext cx="3888043" cy="646331"/>
          </a:xfrm>
          <a:prstGeom prst="rect">
            <a:avLst/>
          </a:prstGeom>
          <a:noFill/>
        </p:spPr>
        <p:txBody>
          <a:bodyPr wrap="square" rtlCol="0">
            <a:spAutoFit/>
          </a:bodyPr>
          <a:lstStyle/>
          <a:p>
            <a:r>
              <a:rPr kumimoji="1" lang="en-US" altLang="zh-TW" dirty="0" err="1">
                <a:solidFill>
                  <a:srgbClr val="FF0000"/>
                </a:solidFill>
              </a:rPr>
              <a:t>SuperDSP</a:t>
            </a:r>
            <a:r>
              <a:rPr kumimoji="1" lang="zh-TW" altLang="en-US" dirty="0">
                <a:solidFill>
                  <a:srgbClr val="FF0000"/>
                </a:solidFill>
              </a:rPr>
              <a:t>合約主下的廣告主</a:t>
            </a:r>
            <a:endParaRPr kumimoji="1" lang="en-US" altLang="zh-TW" dirty="0">
              <a:solidFill>
                <a:srgbClr val="FF0000"/>
              </a:solidFill>
            </a:endParaRPr>
          </a:p>
          <a:p>
            <a:r>
              <a:rPr kumimoji="1" lang="en-US" altLang="zh-TW" dirty="0">
                <a:solidFill>
                  <a:srgbClr val="FF0000"/>
                </a:solidFill>
              </a:rPr>
              <a:t>(</a:t>
            </a:r>
            <a:r>
              <a:rPr kumimoji="1" lang="zh-TW" altLang="en-US" dirty="0">
                <a:solidFill>
                  <a:srgbClr val="FF0000"/>
                </a:solidFill>
              </a:rPr>
              <a:t>由客戶自行在</a:t>
            </a:r>
            <a:r>
              <a:rPr kumimoji="1" lang="en-US" altLang="zh-TW" dirty="0" err="1">
                <a:solidFill>
                  <a:srgbClr val="FF0000"/>
                </a:solidFill>
              </a:rPr>
              <a:t>SuperDSP</a:t>
            </a:r>
            <a:r>
              <a:rPr kumimoji="1" lang="zh-TW" altLang="en-US" dirty="0">
                <a:solidFill>
                  <a:srgbClr val="FF0000"/>
                </a:solidFill>
              </a:rPr>
              <a:t>上建立</a:t>
            </a:r>
            <a:r>
              <a:rPr kumimoji="1" lang="en-US" altLang="zh-TW" dirty="0">
                <a:solidFill>
                  <a:srgbClr val="FF0000"/>
                </a:solidFill>
              </a:rPr>
              <a:t>)</a:t>
            </a:r>
            <a:endParaRPr kumimoji="1" lang="zh-TW" altLang="en-US" dirty="0">
              <a:solidFill>
                <a:srgbClr val="FF0000"/>
              </a:solidFill>
            </a:endParaRPr>
          </a:p>
        </p:txBody>
      </p:sp>
      <p:pic>
        <p:nvPicPr>
          <p:cNvPr id="13" name="圖片 12" descr="一張含有 文字, 螢幕擷取畫面, 數字, 字型 的圖片&#10;&#10;AI 產生的內容可能不正確。">
            <a:extLst>
              <a:ext uri="{FF2B5EF4-FFF2-40B4-BE49-F238E27FC236}">
                <a16:creationId xmlns:a16="http://schemas.microsoft.com/office/drawing/2014/main" id="{7EE79EF4-ADE8-53A0-3D8F-8194DB51B7FE}"/>
              </a:ext>
            </a:extLst>
          </p:cNvPr>
          <p:cNvPicPr>
            <a:picLocks noChangeAspect="1"/>
          </p:cNvPicPr>
          <p:nvPr/>
        </p:nvPicPr>
        <p:blipFill>
          <a:blip r:embed="rId5"/>
          <a:stretch>
            <a:fillRect/>
          </a:stretch>
        </p:blipFill>
        <p:spPr>
          <a:xfrm>
            <a:off x="148180" y="1493950"/>
            <a:ext cx="4935656" cy="3870100"/>
          </a:xfrm>
          <a:prstGeom prst="rect">
            <a:avLst/>
          </a:prstGeom>
        </p:spPr>
      </p:pic>
      <p:sp>
        <p:nvSpPr>
          <p:cNvPr id="14" name="矩形 13">
            <a:extLst>
              <a:ext uri="{FF2B5EF4-FFF2-40B4-BE49-F238E27FC236}">
                <a16:creationId xmlns:a16="http://schemas.microsoft.com/office/drawing/2014/main" id="{B84C2937-3733-AA7B-6143-092A46A4199A}"/>
              </a:ext>
            </a:extLst>
          </p:cNvPr>
          <p:cNvSpPr/>
          <p:nvPr/>
        </p:nvSpPr>
        <p:spPr>
          <a:xfrm>
            <a:off x="259277" y="4736275"/>
            <a:ext cx="2555175" cy="627775"/>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5" name="文字方塊 14">
            <a:extLst>
              <a:ext uri="{FF2B5EF4-FFF2-40B4-BE49-F238E27FC236}">
                <a16:creationId xmlns:a16="http://schemas.microsoft.com/office/drawing/2014/main" id="{550ADF88-94FC-AD1C-6A06-ACFEAE026B4F}"/>
              </a:ext>
            </a:extLst>
          </p:cNvPr>
          <p:cNvSpPr txBox="1"/>
          <p:nvPr/>
        </p:nvSpPr>
        <p:spPr>
          <a:xfrm>
            <a:off x="191981" y="5364050"/>
            <a:ext cx="1686296" cy="369332"/>
          </a:xfrm>
          <a:prstGeom prst="rect">
            <a:avLst/>
          </a:prstGeom>
          <a:noFill/>
        </p:spPr>
        <p:txBody>
          <a:bodyPr wrap="square" rtlCol="0">
            <a:spAutoFit/>
          </a:bodyPr>
          <a:lstStyle/>
          <a:p>
            <a:r>
              <a:rPr kumimoji="1" lang="en-US" altLang="zh-TW" dirty="0">
                <a:solidFill>
                  <a:srgbClr val="FF0000"/>
                </a:solidFill>
              </a:rPr>
              <a:t>ODM</a:t>
            </a:r>
            <a:r>
              <a:rPr kumimoji="1" lang="zh-TW" altLang="en-US" dirty="0">
                <a:solidFill>
                  <a:srgbClr val="FF0000"/>
                </a:solidFill>
              </a:rPr>
              <a:t>上的客戶</a:t>
            </a:r>
          </a:p>
        </p:txBody>
      </p:sp>
      <p:sp>
        <p:nvSpPr>
          <p:cNvPr id="16" name="向右箭號 15">
            <a:extLst>
              <a:ext uri="{FF2B5EF4-FFF2-40B4-BE49-F238E27FC236}">
                <a16:creationId xmlns:a16="http://schemas.microsoft.com/office/drawing/2014/main" id="{2C928D9D-0D90-7680-7803-B7687E352229}"/>
              </a:ext>
            </a:extLst>
          </p:cNvPr>
          <p:cNvSpPr/>
          <p:nvPr/>
        </p:nvSpPr>
        <p:spPr>
          <a:xfrm>
            <a:off x="5355771" y="3063834"/>
            <a:ext cx="629393" cy="517997"/>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7" name="文字方塊 16">
            <a:extLst>
              <a:ext uri="{FF2B5EF4-FFF2-40B4-BE49-F238E27FC236}">
                <a16:creationId xmlns:a16="http://schemas.microsoft.com/office/drawing/2014/main" id="{CC0AB20D-64DB-F489-8D25-12EE645F3B4D}"/>
              </a:ext>
            </a:extLst>
          </p:cNvPr>
          <p:cNvSpPr txBox="1"/>
          <p:nvPr/>
        </p:nvSpPr>
        <p:spPr>
          <a:xfrm>
            <a:off x="5343896" y="2574709"/>
            <a:ext cx="688769" cy="369332"/>
          </a:xfrm>
          <a:prstGeom prst="rect">
            <a:avLst/>
          </a:prstGeom>
          <a:noFill/>
        </p:spPr>
        <p:txBody>
          <a:bodyPr wrap="square" rtlCol="0">
            <a:spAutoFit/>
          </a:bodyPr>
          <a:lstStyle/>
          <a:p>
            <a:r>
              <a:rPr kumimoji="1" lang="zh-TW" altLang="en-US">
                <a:solidFill>
                  <a:srgbClr val="FF0000"/>
                </a:solidFill>
              </a:rPr>
              <a:t>擴充</a:t>
            </a:r>
          </a:p>
        </p:txBody>
      </p:sp>
    </p:spTree>
    <p:extLst>
      <p:ext uri="{BB962C8B-B14F-4D97-AF65-F5344CB8AC3E}">
        <p14:creationId xmlns:p14="http://schemas.microsoft.com/office/powerpoint/2010/main" val="413607716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D1E9718-03D6-EDF4-6408-A015DA1722C4}"/>
              </a:ext>
            </a:extLst>
          </p:cNvPr>
          <p:cNvSpPr txBox="1">
            <a:spLocks/>
          </p:cNvSpPr>
          <p:nvPr/>
        </p:nvSpPr>
        <p:spPr>
          <a:xfrm>
            <a:off x="0" y="0"/>
            <a:ext cx="10515600" cy="70560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kumimoji="1" lang="en-US" altLang="zh-TW" sz="2000" dirty="0"/>
              <a:t>Segment</a:t>
            </a:r>
            <a:r>
              <a:rPr kumimoji="1" lang="zh-TW" altLang="en-US" sz="2000" dirty="0"/>
              <a:t>使用權限</a:t>
            </a:r>
            <a:br>
              <a:rPr kumimoji="1" lang="en-US" altLang="zh-TW" sz="2000" dirty="0"/>
            </a:br>
            <a:r>
              <a:rPr kumimoji="1" lang="en-US" altLang="zh-TW" sz="2000" dirty="0"/>
              <a:t>Segment Targeting Tool UI</a:t>
            </a:r>
            <a:r>
              <a:rPr kumimoji="1" lang="zh-TW" altLang="en-US" sz="2000" dirty="0"/>
              <a:t> </a:t>
            </a:r>
          </a:p>
        </p:txBody>
      </p:sp>
      <p:pic>
        <p:nvPicPr>
          <p:cNvPr id="4" name="圖片 3" descr="一張含有 文字, 螢幕擷取畫面, 數字, 字型 的圖片&#10;&#10;AI 產生的內容可能不正確。">
            <a:extLst>
              <a:ext uri="{FF2B5EF4-FFF2-40B4-BE49-F238E27FC236}">
                <a16:creationId xmlns:a16="http://schemas.microsoft.com/office/drawing/2014/main" id="{C7D0E0A0-B0C6-E842-13C2-9411BEEEDAE6}"/>
              </a:ext>
            </a:extLst>
          </p:cNvPr>
          <p:cNvPicPr>
            <a:picLocks noChangeAspect="1"/>
          </p:cNvPicPr>
          <p:nvPr/>
        </p:nvPicPr>
        <p:blipFill>
          <a:blip r:embed="rId2"/>
          <a:srcRect t="13093" b="943"/>
          <a:stretch>
            <a:fillRect/>
          </a:stretch>
        </p:blipFill>
        <p:spPr>
          <a:xfrm>
            <a:off x="1630580" y="1855489"/>
            <a:ext cx="3650940" cy="4453727"/>
          </a:xfrm>
          <a:prstGeom prst="rect">
            <a:avLst/>
          </a:prstGeom>
        </p:spPr>
      </p:pic>
      <p:pic>
        <p:nvPicPr>
          <p:cNvPr id="5" name="圖片 4" descr="一張含有 文字, 螢幕擷取畫面, 數字, 字型 的圖片&#10;&#10;AI 產生的內容可能不正確。">
            <a:extLst>
              <a:ext uri="{FF2B5EF4-FFF2-40B4-BE49-F238E27FC236}">
                <a16:creationId xmlns:a16="http://schemas.microsoft.com/office/drawing/2014/main" id="{27BFAA59-4E96-40C3-76C6-3AA28DE71D8B}"/>
              </a:ext>
            </a:extLst>
          </p:cNvPr>
          <p:cNvPicPr>
            <a:picLocks noChangeAspect="1"/>
          </p:cNvPicPr>
          <p:nvPr/>
        </p:nvPicPr>
        <p:blipFill>
          <a:blip r:embed="rId2"/>
          <a:srcRect b="88519"/>
          <a:stretch>
            <a:fillRect/>
          </a:stretch>
        </p:blipFill>
        <p:spPr>
          <a:xfrm>
            <a:off x="1630580" y="880939"/>
            <a:ext cx="3650940" cy="594805"/>
          </a:xfrm>
          <a:prstGeom prst="rect">
            <a:avLst/>
          </a:prstGeom>
        </p:spPr>
      </p:pic>
      <p:pic>
        <p:nvPicPr>
          <p:cNvPr id="6" name="圖片 5" descr="一張含有 Rectangle, 符號, 行, 設計 的圖片&#10;&#10;AI 產生的內容可能不正確。">
            <a:extLst>
              <a:ext uri="{FF2B5EF4-FFF2-40B4-BE49-F238E27FC236}">
                <a16:creationId xmlns:a16="http://schemas.microsoft.com/office/drawing/2014/main" id="{B9D10E88-315E-B528-F04C-A836B2372E6E}"/>
              </a:ext>
            </a:extLst>
          </p:cNvPr>
          <p:cNvPicPr>
            <a:picLocks noChangeAspect="1"/>
          </p:cNvPicPr>
          <p:nvPr/>
        </p:nvPicPr>
        <p:blipFill>
          <a:blip r:embed="rId3"/>
          <a:stretch>
            <a:fillRect/>
          </a:stretch>
        </p:blipFill>
        <p:spPr>
          <a:xfrm>
            <a:off x="3465319" y="1534906"/>
            <a:ext cx="609600" cy="368300"/>
          </a:xfrm>
          <a:prstGeom prst="rect">
            <a:avLst/>
          </a:prstGeom>
        </p:spPr>
      </p:pic>
      <p:sp>
        <p:nvSpPr>
          <p:cNvPr id="7" name="文字方塊 6">
            <a:extLst>
              <a:ext uri="{FF2B5EF4-FFF2-40B4-BE49-F238E27FC236}">
                <a16:creationId xmlns:a16="http://schemas.microsoft.com/office/drawing/2014/main" id="{D370D75A-663C-C329-5DA9-094869FAAFAD}"/>
              </a:ext>
            </a:extLst>
          </p:cNvPr>
          <p:cNvSpPr txBox="1"/>
          <p:nvPr/>
        </p:nvSpPr>
        <p:spPr>
          <a:xfrm>
            <a:off x="1771106" y="1572862"/>
            <a:ext cx="1801091" cy="261610"/>
          </a:xfrm>
          <a:prstGeom prst="rect">
            <a:avLst/>
          </a:prstGeom>
          <a:noFill/>
        </p:spPr>
        <p:txBody>
          <a:bodyPr wrap="square" rtlCol="0">
            <a:spAutoFit/>
          </a:bodyPr>
          <a:lstStyle/>
          <a:p>
            <a:r>
              <a:rPr kumimoji="1" lang="zh-TW" altLang="en-US" sz="1100" b="1" dirty="0">
                <a:latin typeface="Microsoft JhengHei" panose="020B0604030504040204" pitchFamily="34" charset="-120"/>
                <a:ea typeface="Microsoft JhengHei" panose="020B0604030504040204" pitchFamily="34" charset="-120"/>
              </a:rPr>
              <a:t>是否為</a:t>
            </a:r>
            <a:r>
              <a:rPr kumimoji="1" lang="en-US" altLang="zh-TW" sz="1100" b="1" dirty="0">
                <a:latin typeface="Microsoft JhengHei" panose="020B0604030504040204" pitchFamily="34" charset="-120"/>
                <a:ea typeface="Microsoft JhengHei" panose="020B0604030504040204" pitchFamily="34" charset="-120"/>
              </a:rPr>
              <a:t>SuperDSP</a:t>
            </a:r>
            <a:r>
              <a:rPr kumimoji="1" lang="zh-TW" altLang="en-US" sz="1100" b="1" dirty="0">
                <a:latin typeface="Microsoft JhengHei" panose="020B0604030504040204" pitchFamily="34" charset="-120"/>
                <a:ea typeface="Microsoft JhengHei" panose="020B0604030504040204" pitchFamily="34" charset="-120"/>
              </a:rPr>
              <a:t>使用</a:t>
            </a:r>
            <a:r>
              <a:rPr kumimoji="1" lang="en-US" altLang="zh-TW" sz="1100" b="1" dirty="0">
                <a:latin typeface="Microsoft JhengHei" panose="020B0604030504040204" pitchFamily="34" charset="-120"/>
                <a:ea typeface="Microsoft JhengHei" panose="020B0604030504040204" pitchFamily="34" charset="-120"/>
              </a:rPr>
              <a:t>?</a:t>
            </a:r>
            <a:endParaRPr kumimoji="1" lang="zh-TW" altLang="en-US" sz="1100" b="1" dirty="0">
              <a:latin typeface="Microsoft JhengHei" panose="020B0604030504040204" pitchFamily="34" charset="-120"/>
              <a:ea typeface="Microsoft JhengHei" panose="020B0604030504040204" pitchFamily="34" charset="-120"/>
            </a:endParaRPr>
          </a:p>
        </p:txBody>
      </p:sp>
      <p:sp>
        <p:nvSpPr>
          <p:cNvPr id="8" name="矩形 7">
            <a:extLst>
              <a:ext uri="{FF2B5EF4-FFF2-40B4-BE49-F238E27FC236}">
                <a16:creationId xmlns:a16="http://schemas.microsoft.com/office/drawing/2014/main" id="{2CE3D75B-D08C-F0FD-FFAC-8BB7ED07C05E}"/>
              </a:ext>
            </a:extLst>
          </p:cNvPr>
          <p:cNvSpPr/>
          <p:nvPr/>
        </p:nvSpPr>
        <p:spPr>
          <a:xfrm>
            <a:off x="1709238" y="1418347"/>
            <a:ext cx="2555175" cy="521138"/>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pic>
        <p:nvPicPr>
          <p:cNvPr id="11" name="圖片 10" descr="一張含有 文字, 螢幕擷取畫面, 數字, 字型 的圖片&#10;&#10;AI 產生的內容可能不正確。">
            <a:extLst>
              <a:ext uri="{FF2B5EF4-FFF2-40B4-BE49-F238E27FC236}">
                <a16:creationId xmlns:a16="http://schemas.microsoft.com/office/drawing/2014/main" id="{DB17178D-3D86-5782-9FBD-AF49F030653D}"/>
              </a:ext>
            </a:extLst>
          </p:cNvPr>
          <p:cNvPicPr>
            <a:picLocks noChangeAspect="1"/>
          </p:cNvPicPr>
          <p:nvPr/>
        </p:nvPicPr>
        <p:blipFill>
          <a:blip r:embed="rId2"/>
          <a:srcRect t="13093" b="943"/>
          <a:stretch>
            <a:fillRect/>
          </a:stretch>
        </p:blipFill>
        <p:spPr>
          <a:xfrm>
            <a:off x="6783243" y="1855489"/>
            <a:ext cx="3650940" cy="4453727"/>
          </a:xfrm>
          <a:prstGeom prst="rect">
            <a:avLst/>
          </a:prstGeom>
        </p:spPr>
      </p:pic>
      <p:pic>
        <p:nvPicPr>
          <p:cNvPr id="12" name="圖片 11" descr="一張含有 文字, 螢幕擷取畫面, 數字, 字型 的圖片&#10;&#10;AI 產生的內容可能不正確。">
            <a:extLst>
              <a:ext uri="{FF2B5EF4-FFF2-40B4-BE49-F238E27FC236}">
                <a16:creationId xmlns:a16="http://schemas.microsoft.com/office/drawing/2014/main" id="{A67407BD-3695-F20B-9A50-D4ACF2CF3052}"/>
              </a:ext>
            </a:extLst>
          </p:cNvPr>
          <p:cNvPicPr>
            <a:picLocks noChangeAspect="1"/>
          </p:cNvPicPr>
          <p:nvPr/>
        </p:nvPicPr>
        <p:blipFill>
          <a:blip r:embed="rId2"/>
          <a:srcRect b="88519"/>
          <a:stretch>
            <a:fillRect/>
          </a:stretch>
        </p:blipFill>
        <p:spPr>
          <a:xfrm>
            <a:off x="6783243" y="880939"/>
            <a:ext cx="3650940" cy="594805"/>
          </a:xfrm>
          <a:prstGeom prst="rect">
            <a:avLst/>
          </a:prstGeom>
        </p:spPr>
      </p:pic>
      <p:sp>
        <p:nvSpPr>
          <p:cNvPr id="14" name="文字方塊 13">
            <a:extLst>
              <a:ext uri="{FF2B5EF4-FFF2-40B4-BE49-F238E27FC236}">
                <a16:creationId xmlns:a16="http://schemas.microsoft.com/office/drawing/2014/main" id="{736EE3C9-7106-28D4-110F-F6550C90ED8C}"/>
              </a:ext>
            </a:extLst>
          </p:cNvPr>
          <p:cNvSpPr txBox="1"/>
          <p:nvPr/>
        </p:nvSpPr>
        <p:spPr>
          <a:xfrm>
            <a:off x="6923769" y="1572862"/>
            <a:ext cx="1801091" cy="261610"/>
          </a:xfrm>
          <a:prstGeom prst="rect">
            <a:avLst/>
          </a:prstGeom>
          <a:noFill/>
        </p:spPr>
        <p:txBody>
          <a:bodyPr wrap="square" rtlCol="0">
            <a:spAutoFit/>
          </a:bodyPr>
          <a:lstStyle/>
          <a:p>
            <a:r>
              <a:rPr kumimoji="1" lang="zh-TW" altLang="en-US" sz="1100" b="1" dirty="0">
                <a:latin typeface="Microsoft JhengHei" panose="020B0604030504040204" pitchFamily="34" charset="-120"/>
                <a:ea typeface="Microsoft JhengHei" panose="020B0604030504040204" pitchFamily="34" charset="-120"/>
              </a:rPr>
              <a:t>是否為</a:t>
            </a:r>
            <a:r>
              <a:rPr kumimoji="1" lang="en-US" altLang="zh-TW" sz="1100" b="1" dirty="0">
                <a:latin typeface="Microsoft JhengHei" panose="020B0604030504040204" pitchFamily="34" charset="-120"/>
                <a:ea typeface="Microsoft JhengHei" panose="020B0604030504040204" pitchFamily="34" charset="-120"/>
              </a:rPr>
              <a:t>SuperDSP</a:t>
            </a:r>
            <a:r>
              <a:rPr kumimoji="1" lang="zh-TW" altLang="en-US" sz="1100" b="1" dirty="0">
                <a:latin typeface="Microsoft JhengHei" panose="020B0604030504040204" pitchFamily="34" charset="-120"/>
                <a:ea typeface="Microsoft JhengHei" panose="020B0604030504040204" pitchFamily="34" charset="-120"/>
              </a:rPr>
              <a:t>使用</a:t>
            </a:r>
            <a:r>
              <a:rPr kumimoji="1" lang="en-US" altLang="zh-TW" sz="1100" b="1" dirty="0">
                <a:latin typeface="Microsoft JhengHei" panose="020B0604030504040204" pitchFamily="34" charset="-120"/>
                <a:ea typeface="Microsoft JhengHei" panose="020B0604030504040204" pitchFamily="34" charset="-120"/>
              </a:rPr>
              <a:t>?</a:t>
            </a:r>
            <a:endParaRPr kumimoji="1" lang="zh-TW" altLang="en-US" sz="1100" b="1" dirty="0">
              <a:latin typeface="Microsoft JhengHei" panose="020B0604030504040204" pitchFamily="34" charset="-120"/>
              <a:ea typeface="Microsoft JhengHei" panose="020B0604030504040204" pitchFamily="34" charset="-120"/>
            </a:endParaRPr>
          </a:p>
        </p:txBody>
      </p:sp>
      <p:sp>
        <p:nvSpPr>
          <p:cNvPr id="15" name="矩形 14">
            <a:extLst>
              <a:ext uri="{FF2B5EF4-FFF2-40B4-BE49-F238E27FC236}">
                <a16:creationId xmlns:a16="http://schemas.microsoft.com/office/drawing/2014/main" id="{5F1ACAD4-9C0A-AB12-D268-EF996DEDE352}"/>
              </a:ext>
            </a:extLst>
          </p:cNvPr>
          <p:cNvSpPr/>
          <p:nvPr/>
        </p:nvSpPr>
        <p:spPr>
          <a:xfrm>
            <a:off x="6861901" y="1418347"/>
            <a:ext cx="2555175" cy="521138"/>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pic>
        <p:nvPicPr>
          <p:cNvPr id="16" name="圖片 15" descr="一張含有 電子藍, 字型, 符號, 標誌 的圖片&#10;&#10;AI 產生的內容可能不正確。">
            <a:extLst>
              <a:ext uri="{FF2B5EF4-FFF2-40B4-BE49-F238E27FC236}">
                <a16:creationId xmlns:a16="http://schemas.microsoft.com/office/drawing/2014/main" id="{C6674C0F-466E-387D-C2A0-740C4E6F4C0B}"/>
              </a:ext>
            </a:extLst>
          </p:cNvPr>
          <p:cNvPicPr>
            <a:picLocks noChangeAspect="1"/>
          </p:cNvPicPr>
          <p:nvPr/>
        </p:nvPicPr>
        <p:blipFill>
          <a:blip r:embed="rId4"/>
          <a:stretch>
            <a:fillRect/>
          </a:stretch>
        </p:blipFill>
        <p:spPr>
          <a:xfrm>
            <a:off x="8608713" y="1534906"/>
            <a:ext cx="584200" cy="355600"/>
          </a:xfrm>
          <a:prstGeom prst="rect">
            <a:avLst/>
          </a:prstGeom>
        </p:spPr>
      </p:pic>
      <p:sp>
        <p:nvSpPr>
          <p:cNvPr id="17" name="文字方塊 16">
            <a:extLst>
              <a:ext uri="{FF2B5EF4-FFF2-40B4-BE49-F238E27FC236}">
                <a16:creationId xmlns:a16="http://schemas.microsoft.com/office/drawing/2014/main" id="{3221E58F-6879-556E-F019-4A8236A5EF15}"/>
              </a:ext>
            </a:extLst>
          </p:cNvPr>
          <p:cNvSpPr txBox="1"/>
          <p:nvPr/>
        </p:nvSpPr>
        <p:spPr>
          <a:xfrm>
            <a:off x="3814967" y="5792395"/>
            <a:ext cx="1686296" cy="369332"/>
          </a:xfrm>
          <a:prstGeom prst="rect">
            <a:avLst/>
          </a:prstGeom>
          <a:noFill/>
        </p:spPr>
        <p:txBody>
          <a:bodyPr wrap="square" rtlCol="0">
            <a:spAutoFit/>
          </a:bodyPr>
          <a:lstStyle/>
          <a:p>
            <a:r>
              <a:rPr kumimoji="1" lang="en-US" altLang="zh-TW" dirty="0">
                <a:solidFill>
                  <a:srgbClr val="FF0000"/>
                </a:solidFill>
              </a:rPr>
              <a:t>ODM</a:t>
            </a:r>
            <a:r>
              <a:rPr kumimoji="1" lang="zh-TW" altLang="en-US" dirty="0">
                <a:solidFill>
                  <a:srgbClr val="FF0000"/>
                </a:solidFill>
              </a:rPr>
              <a:t>上的客戶</a:t>
            </a:r>
          </a:p>
        </p:txBody>
      </p:sp>
      <p:sp>
        <p:nvSpPr>
          <p:cNvPr id="18" name="文字方塊 17">
            <a:extLst>
              <a:ext uri="{FF2B5EF4-FFF2-40B4-BE49-F238E27FC236}">
                <a16:creationId xmlns:a16="http://schemas.microsoft.com/office/drawing/2014/main" id="{9595737F-C51A-41FF-39C6-803FBA4F81B3}"/>
              </a:ext>
            </a:extLst>
          </p:cNvPr>
          <p:cNvSpPr txBox="1"/>
          <p:nvPr/>
        </p:nvSpPr>
        <p:spPr>
          <a:xfrm>
            <a:off x="8511026" y="5792395"/>
            <a:ext cx="3205137" cy="369332"/>
          </a:xfrm>
          <a:prstGeom prst="rect">
            <a:avLst/>
          </a:prstGeom>
          <a:noFill/>
        </p:spPr>
        <p:txBody>
          <a:bodyPr wrap="square" rtlCol="0">
            <a:spAutoFit/>
          </a:bodyPr>
          <a:lstStyle/>
          <a:p>
            <a:r>
              <a:rPr kumimoji="1" lang="en-US" altLang="zh-TW" dirty="0" err="1">
                <a:solidFill>
                  <a:srgbClr val="FF0000"/>
                </a:solidFill>
              </a:rPr>
              <a:t>SuperDSP</a:t>
            </a:r>
            <a:r>
              <a:rPr kumimoji="1" lang="zh-TW" altLang="en-US" dirty="0">
                <a:solidFill>
                  <a:srgbClr val="FF0000"/>
                </a:solidFill>
              </a:rPr>
              <a:t>合約主下的廣告主</a:t>
            </a:r>
          </a:p>
        </p:txBody>
      </p:sp>
      <p:cxnSp>
        <p:nvCxnSpPr>
          <p:cNvPr id="20" name="直線箭頭接點 19">
            <a:extLst>
              <a:ext uri="{FF2B5EF4-FFF2-40B4-BE49-F238E27FC236}">
                <a16:creationId xmlns:a16="http://schemas.microsoft.com/office/drawing/2014/main" id="{0A3B1763-E8AA-EB5D-CB78-6CEE77BE467F}"/>
              </a:ext>
            </a:extLst>
          </p:cNvPr>
          <p:cNvCxnSpPr>
            <a:stCxn id="15" idx="2"/>
            <a:endCxn id="18" idx="0"/>
          </p:cNvCxnSpPr>
          <p:nvPr/>
        </p:nvCxnSpPr>
        <p:spPr>
          <a:xfrm>
            <a:off x="8139489" y="1939485"/>
            <a:ext cx="1974106" cy="385291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05999857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圖片 3" descr="一張含有 文字, 螢幕擷取畫面, 數字, 字型 的圖片&#10;&#10;AI 產生的內容可能不正確。">
            <a:extLst>
              <a:ext uri="{FF2B5EF4-FFF2-40B4-BE49-F238E27FC236}">
                <a16:creationId xmlns:a16="http://schemas.microsoft.com/office/drawing/2014/main" id="{357EE7E7-3CA0-480B-2E35-097ADD464A51}"/>
              </a:ext>
            </a:extLst>
          </p:cNvPr>
          <p:cNvPicPr>
            <a:picLocks noChangeAspect="1"/>
          </p:cNvPicPr>
          <p:nvPr/>
        </p:nvPicPr>
        <p:blipFill>
          <a:blip r:embed="rId2"/>
          <a:srcRect t="13093" b="943"/>
          <a:stretch>
            <a:fillRect/>
          </a:stretch>
        </p:blipFill>
        <p:spPr>
          <a:xfrm>
            <a:off x="1157947" y="1786041"/>
            <a:ext cx="3650940" cy="4453727"/>
          </a:xfrm>
          <a:prstGeom prst="rect">
            <a:avLst/>
          </a:prstGeom>
        </p:spPr>
      </p:pic>
      <p:pic>
        <p:nvPicPr>
          <p:cNvPr id="5" name="圖片 4" descr="一張含有 文字, 螢幕擷取畫面, 數字, 字型 的圖片&#10;&#10;AI 產生的內容可能不正確。">
            <a:extLst>
              <a:ext uri="{FF2B5EF4-FFF2-40B4-BE49-F238E27FC236}">
                <a16:creationId xmlns:a16="http://schemas.microsoft.com/office/drawing/2014/main" id="{944E7B25-4AD7-768F-C1C4-CC45DA70D5BE}"/>
              </a:ext>
            </a:extLst>
          </p:cNvPr>
          <p:cNvPicPr>
            <a:picLocks noChangeAspect="1"/>
          </p:cNvPicPr>
          <p:nvPr/>
        </p:nvPicPr>
        <p:blipFill>
          <a:blip r:embed="rId2"/>
          <a:srcRect b="88519"/>
          <a:stretch>
            <a:fillRect/>
          </a:stretch>
        </p:blipFill>
        <p:spPr>
          <a:xfrm>
            <a:off x="1157947" y="811491"/>
            <a:ext cx="3650940" cy="594805"/>
          </a:xfrm>
          <a:prstGeom prst="rect">
            <a:avLst/>
          </a:prstGeom>
        </p:spPr>
      </p:pic>
      <p:sp>
        <p:nvSpPr>
          <p:cNvPr id="6" name="文字方塊 5">
            <a:extLst>
              <a:ext uri="{FF2B5EF4-FFF2-40B4-BE49-F238E27FC236}">
                <a16:creationId xmlns:a16="http://schemas.microsoft.com/office/drawing/2014/main" id="{7E640C5F-495E-4260-0199-19D3E6CC2593}"/>
              </a:ext>
            </a:extLst>
          </p:cNvPr>
          <p:cNvSpPr txBox="1"/>
          <p:nvPr/>
        </p:nvSpPr>
        <p:spPr>
          <a:xfrm>
            <a:off x="1298473" y="1503414"/>
            <a:ext cx="1801091" cy="261610"/>
          </a:xfrm>
          <a:prstGeom prst="rect">
            <a:avLst/>
          </a:prstGeom>
          <a:noFill/>
        </p:spPr>
        <p:txBody>
          <a:bodyPr wrap="square" rtlCol="0">
            <a:spAutoFit/>
          </a:bodyPr>
          <a:lstStyle/>
          <a:p>
            <a:r>
              <a:rPr kumimoji="1" lang="zh-TW" altLang="en-US" sz="1100" b="1" dirty="0">
                <a:latin typeface="Microsoft JhengHei" panose="020B0604030504040204" pitchFamily="34" charset="-120"/>
                <a:ea typeface="Microsoft JhengHei" panose="020B0604030504040204" pitchFamily="34" charset="-120"/>
              </a:rPr>
              <a:t>是否為</a:t>
            </a:r>
            <a:r>
              <a:rPr kumimoji="1" lang="en-US" altLang="zh-TW" sz="1100" b="1" dirty="0">
                <a:latin typeface="Microsoft JhengHei" panose="020B0604030504040204" pitchFamily="34" charset="-120"/>
                <a:ea typeface="Microsoft JhengHei" panose="020B0604030504040204" pitchFamily="34" charset="-120"/>
              </a:rPr>
              <a:t>SuperDSP</a:t>
            </a:r>
            <a:r>
              <a:rPr kumimoji="1" lang="zh-TW" altLang="en-US" sz="1100" b="1" dirty="0">
                <a:latin typeface="Microsoft JhengHei" panose="020B0604030504040204" pitchFamily="34" charset="-120"/>
                <a:ea typeface="Microsoft JhengHei" panose="020B0604030504040204" pitchFamily="34" charset="-120"/>
              </a:rPr>
              <a:t>使用</a:t>
            </a:r>
            <a:r>
              <a:rPr kumimoji="1" lang="en-US" altLang="zh-TW" sz="1100" b="1" dirty="0">
                <a:latin typeface="Microsoft JhengHei" panose="020B0604030504040204" pitchFamily="34" charset="-120"/>
                <a:ea typeface="Microsoft JhengHei" panose="020B0604030504040204" pitchFamily="34" charset="-120"/>
              </a:rPr>
              <a:t>?</a:t>
            </a:r>
            <a:endParaRPr kumimoji="1" lang="zh-TW" altLang="en-US" sz="1100" b="1" dirty="0">
              <a:latin typeface="Microsoft JhengHei" panose="020B0604030504040204" pitchFamily="34" charset="-120"/>
              <a:ea typeface="Microsoft JhengHei" panose="020B0604030504040204" pitchFamily="34" charset="-120"/>
            </a:endParaRPr>
          </a:p>
        </p:txBody>
      </p:sp>
      <p:pic>
        <p:nvPicPr>
          <p:cNvPr id="8" name="圖片 7" descr="一張含有 電子藍, 字型, 符號, 標誌 的圖片&#10;&#10;AI 產生的內容可能不正確。">
            <a:extLst>
              <a:ext uri="{FF2B5EF4-FFF2-40B4-BE49-F238E27FC236}">
                <a16:creationId xmlns:a16="http://schemas.microsoft.com/office/drawing/2014/main" id="{C8D95021-9268-60E3-C157-11D99984C619}"/>
              </a:ext>
            </a:extLst>
          </p:cNvPr>
          <p:cNvPicPr>
            <a:picLocks noChangeAspect="1"/>
          </p:cNvPicPr>
          <p:nvPr/>
        </p:nvPicPr>
        <p:blipFill>
          <a:blip r:embed="rId3"/>
          <a:stretch>
            <a:fillRect/>
          </a:stretch>
        </p:blipFill>
        <p:spPr>
          <a:xfrm>
            <a:off x="2983417" y="1465458"/>
            <a:ext cx="584200" cy="355600"/>
          </a:xfrm>
          <a:prstGeom prst="rect">
            <a:avLst/>
          </a:prstGeom>
        </p:spPr>
      </p:pic>
      <p:sp>
        <p:nvSpPr>
          <p:cNvPr id="10" name="標題 1">
            <a:extLst>
              <a:ext uri="{FF2B5EF4-FFF2-40B4-BE49-F238E27FC236}">
                <a16:creationId xmlns:a16="http://schemas.microsoft.com/office/drawing/2014/main" id="{9328AC18-EDBD-DD66-7798-5D9F8986BC89}"/>
              </a:ext>
            </a:extLst>
          </p:cNvPr>
          <p:cNvSpPr txBox="1">
            <a:spLocks/>
          </p:cNvSpPr>
          <p:nvPr/>
        </p:nvSpPr>
        <p:spPr>
          <a:xfrm>
            <a:off x="0" y="0"/>
            <a:ext cx="10515600" cy="70560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kumimoji="1" lang="en-US" altLang="zh-TW" sz="2000" dirty="0"/>
              <a:t>Segment</a:t>
            </a:r>
            <a:r>
              <a:rPr kumimoji="1" lang="zh-TW" altLang="en-US" sz="2000" dirty="0"/>
              <a:t>使用權限</a:t>
            </a:r>
            <a:br>
              <a:rPr kumimoji="1" lang="en-US" altLang="zh-TW" sz="2000" dirty="0"/>
            </a:br>
            <a:r>
              <a:rPr kumimoji="1" lang="en-US" altLang="zh-TW" sz="2000" dirty="0"/>
              <a:t>Segment Targeting Tool UI</a:t>
            </a:r>
            <a:r>
              <a:rPr kumimoji="1" lang="zh-TW" altLang="en-US" sz="2000" dirty="0"/>
              <a:t> </a:t>
            </a:r>
          </a:p>
        </p:txBody>
      </p:sp>
      <p:pic>
        <p:nvPicPr>
          <p:cNvPr id="12" name="圖片 11" descr="一張含有 文字, 字型, 螢幕擷取畫面, 行 的圖片&#10;&#10;AI 產生的內容可能不正確。">
            <a:extLst>
              <a:ext uri="{FF2B5EF4-FFF2-40B4-BE49-F238E27FC236}">
                <a16:creationId xmlns:a16="http://schemas.microsoft.com/office/drawing/2014/main" id="{41C1CD4C-722E-EE7D-1E7E-5F639F04D089}"/>
              </a:ext>
            </a:extLst>
          </p:cNvPr>
          <p:cNvPicPr>
            <a:picLocks noChangeAspect="1"/>
          </p:cNvPicPr>
          <p:nvPr/>
        </p:nvPicPr>
        <p:blipFill>
          <a:blip r:embed="rId4"/>
          <a:stretch>
            <a:fillRect/>
          </a:stretch>
        </p:blipFill>
        <p:spPr>
          <a:xfrm>
            <a:off x="1337239" y="5732529"/>
            <a:ext cx="3327358" cy="470298"/>
          </a:xfrm>
          <a:prstGeom prst="rect">
            <a:avLst/>
          </a:prstGeom>
        </p:spPr>
      </p:pic>
      <p:pic>
        <p:nvPicPr>
          <p:cNvPr id="15" name="圖片 14" descr="一張含有 文字, 螢幕擷取畫面, 字型, 數字 的圖片&#10;&#10;AI 產生的內容可能不正確。">
            <a:extLst>
              <a:ext uri="{FF2B5EF4-FFF2-40B4-BE49-F238E27FC236}">
                <a16:creationId xmlns:a16="http://schemas.microsoft.com/office/drawing/2014/main" id="{3644A0AB-E391-0427-D4BD-FD49FDDACD46}"/>
              </a:ext>
            </a:extLst>
          </p:cNvPr>
          <p:cNvPicPr>
            <a:picLocks noChangeAspect="1"/>
          </p:cNvPicPr>
          <p:nvPr/>
        </p:nvPicPr>
        <p:blipFill>
          <a:blip r:embed="rId5"/>
          <a:srcRect t="14723" r="2351" b="16881"/>
          <a:stretch>
            <a:fillRect/>
          </a:stretch>
        </p:blipFill>
        <p:spPr>
          <a:xfrm>
            <a:off x="4664597" y="3831220"/>
            <a:ext cx="5034988" cy="2788293"/>
          </a:xfrm>
          <a:prstGeom prst="rect">
            <a:avLst/>
          </a:prstGeom>
        </p:spPr>
      </p:pic>
      <p:graphicFrame>
        <p:nvGraphicFramePr>
          <p:cNvPr id="16" name="表格 15">
            <a:extLst>
              <a:ext uri="{FF2B5EF4-FFF2-40B4-BE49-F238E27FC236}">
                <a16:creationId xmlns:a16="http://schemas.microsoft.com/office/drawing/2014/main" id="{1547949B-A113-FABC-9B78-F7037F11258D}"/>
              </a:ext>
            </a:extLst>
          </p:cNvPr>
          <p:cNvGraphicFramePr>
            <a:graphicFrameLocks noGrp="1"/>
          </p:cNvGraphicFramePr>
          <p:nvPr>
            <p:extLst>
              <p:ext uri="{D42A27DB-BD31-4B8C-83A1-F6EECF244321}">
                <p14:modId xmlns:p14="http://schemas.microsoft.com/office/powerpoint/2010/main" val="3900890784"/>
              </p:ext>
            </p:extLst>
          </p:nvPr>
        </p:nvGraphicFramePr>
        <p:xfrm>
          <a:off x="7545978" y="49491"/>
          <a:ext cx="4549566" cy="1524000"/>
        </p:xfrm>
        <a:graphic>
          <a:graphicData uri="http://schemas.openxmlformats.org/drawingml/2006/table">
            <a:tbl>
              <a:tblPr firstRow="1" bandRow="1">
                <a:tableStyleId>{5C22544A-7EE6-4342-B048-85BDC9FD1C3A}</a:tableStyleId>
              </a:tblPr>
              <a:tblGrid>
                <a:gridCol w="2292503">
                  <a:extLst>
                    <a:ext uri="{9D8B030D-6E8A-4147-A177-3AD203B41FA5}">
                      <a16:colId xmlns:a16="http://schemas.microsoft.com/office/drawing/2014/main" val="3668544452"/>
                    </a:ext>
                  </a:extLst>
                </a:gridCol>
                <a:gridCol w="2257063">
                  <a:extLst>
                    <a:ext uri="{9D8B030D-6E8A-4147-A177-3AD203B41FA5}">
                      <a16:colId xmlns:a16="http://schemas.microsoft.com/office/drawing/2014/main" val="3831372383"/>
                    </a:ext>
                  </a:extLst>
                </a:gridCol>
              </a:tblGrid>
              <a:tr h="238486">
                <a:tc>
                  <a:txBody>
                    <a:bodyPr/>
                    <a:lstStyle/>
                    <a:p>
                      <a:r>
                        <a:rPr lang="en-US" altLang="zh-TW" sz="1400" dirty="0" err="1"/>
                        <a:t>SuperDSP</a:t>
                      </a:r>
                      <a:r>
                        <a:rPr lang="zh-TW" altLang="en-US" sz="1400" dirty="0"/>
                        <a:t>合約主</a:t>
                      </a:r>
                    </a:p>
                  </a:txBody>
                  <a:tcPr/>
                </a:tc>
                <a:tc>
                  <a:txBody>
                    <a:bodyPr/>
                    <a:lstStyle/>
                    <a:p>
                      <a:r>
                        <a:rPr lang="zh-TW" altLang="en-US" sz="1400" dirty="0"/>
                        <a:t>廣告主</a:t>
                      </a:r>
                    </a:p>
                  </a:txBody>
                  <a:tcPr/>
                </a:tc>
                <a:extLst>
                  <a:ext uri="{0D108BD9-81ED-4DB2-BD59-A6C34878D82A}">
                    <a16:rowId xmlns:a16="http://schemas.microsoft.com/office/drawing/2014/main" val="1005283739"/>
                  </a:ext>
                </a:extLst>
              </a:tr>
              <a:tr h="238486">
                <a:tc rowSpan="2">
                  <a:txBody>
                    <a:bodyPr/>
                    <a:lstStyle/>
                    <a:p>
                      <a:r>
                        <a:rPr lang="en-US" altLang="zh-TW" sz="1400" dirty="0"/>
                        <a:t>176 - </a:t>
                      </a:r>
                      <a:r>
                        <a:rPr lang="zh-TW" altLang="en-US" sz="1400" dirty="0"/>
                        <a:t>貝立德股份有限公司</a:t>
                      </a:r>
                    </a:p>
                  </a:txBody>
                  <a:tcPr anchor="ctr"/>
                </a:tc>
                <a:tc>
                  <a:txBody>
                    <a:bodyPr/>
                    <a:lstStyle/>
                    <a:p>
                      <a:r>
                        <a:rPr lang="en-US" altLang="zh-TW" sz="1400" dirty="0"/>
                        <a:t>3322 - </a:t>
                      </a:r>
                      <a:r>
                        <a:rPr lang="en-US" altLang="zh-TW" sz="1400" dirty="0" err="1"/>
                        <a:t>dentsu</a:t>
                      </a:r>
                      <a:r>
                        <a:rPr lang="en-US" altLang="zh-TW" sz="1400" dirty="0"/>
                        <a:t> X_TEST</a:t>
                      </a:r>
                      <a:endParaRPr lang="zh-TW" altLang="en-US" sz="1400" dirty="0"/>
                    </a:p>
                  </a:txBody>
                  <a:tcPr/>
                </a:tc>
                <a:extLst>
                  <a:ext uri="{0D108BD9-81ED-4DB2-BD59-A6C34878D82A}">
                    <a16:rowId xmlns:a16="http://schemas.microsoft.com/office/drawing/2014/main" val="2096012804"/>
                  </a:ext>
                </a:extLst>
              </a:tr>
              <a:tr h="238486">
                <a:tc vMerge="1">
                  <a:txBody>
                    <a:bodyPr/>
                    <a:lstStyle/>
                    <a:p>
                      <a:endParaRPr lang="zh-TW" altLang="en-US" dirty="0"/>
                    </a:p>
                  </a:txBody>
                  <a:tcPr/>
                </a:tc>
                <a:tc>
                  <a:txBody>
                    <a:bodyPr/>
                    <a:lstStyle/>
                    <a:p>
                      <a:r>
                        <a:rPr lang="en-US" altLang="zh-TW" sz="1400" dirty="0"/>
                        <a:t>3323 - </a:t>
                      </a:r>
                      <a:r>
                        <a:rPr lang="en-US" altLang="zh-TW" sz="1400" dirty="0" err="1"/>
                        <a:t>dentsu</a:t>
                      </a:r>
                      <a:r>
                        <a:rPr lang="en-US" altLang="zh-TW" sz="1400" dirty="0"/>
                        <a:t> X_</a:t>
                      </a:r>
                      <a:r>
                        <a:rPr lang="zh-TW" altLang="en-US" sz="1400" dirty="0"/>
                        <a:t>黑松</a:t>
                      </a:r>
                      <a:r>
                        <a:rPr lang="en-US" altLang="zh-TW" sz="1400" dirty="0"/>
                        <a:t>C&amp;C</a:t>
                      </a:r>
                      <a:endParaRPr lang="zh-TW" altLang="en-US" sz="1400" dirty="0"/>
                    </a:p>
                  </a:txBody>
                  <a:tcPr/>
                </a:tc>
                <a:extLst>
                  <a:ext uri="{0D108BD9-81ED-4DB2-BD59-A6C34878D82A}">
                    <a16:rowId xmlns:a16="http://schemas.microsoft.com/office/drawing/2014/main" val="4165277662"/>
                  </a:ext>
                </a:extLst>
              </a:tr>
              <a:tr h="238486">
                <a:tc rowSpan="2">
                  <a:txBody>
                    <a:bodyPr/>
                    <a:lstStyle/>
                    <a:p>
                      <a:r>
                        <a:rPr lang="en-US" altLang="zh-TW" sz="1400" dirty="0"/>
                        <a:t>493 - </a:t>
                      </a:r>
                      <a:r>
                        <a:rPr lang="en-US" altLang="zh-TW" sz="1400" dirty="0" err="1"/>
                        <a:t>OneAD</a:t>
                      </a:r>
                      <a:r>
                        <a:rPr lang="en-US" altLang="zh-TW" sz="1400" dirty="0"/>
                        <a:t> agency</a:t>
                      </a:r>
                      <a:endParaRPr lang="zh-TW" altLang="en-US" sz="1400" dirty="0"/>
                    </a:p>
                  </a:txBody>
                  <a:tcPr anchor="ctr"/>
                </a:tc>
                <a:tc>
                  <a:txBody>
                    <a:bodyPr/>
                    <a:lstStyle/>
                    <a:p>
                      <a:r>
                        <a:rPr lang="en-US" altLang="zh-TW" sz="1400" dirty="0"/>
                        <a:t>2768 - </a:t>
                      </a:r>
                      <a:r>
                        <a:rPr lang="zh-TW" altLang="en-US" sz="1400" dirty="0"/>
                        <a:t>果實醫美</a:t>
                      </a:r>
                    </a:p>
                  </a:txBody>
                  <a:tcPr/>
                </a:tc>
                <a:extLst>
                  <a:ext uri="{0D108BD9-81ED-4DB2-BD59-A6C34878D82A}">
                    <a16:rowId xmlns:a16="http://schemas.microsoft.com/office/drawing/2014/main" val="2385482812"/>
                  </a:ext>
                </a:extLst>
              </a:tr>
              <a:tr h="238486">
                <a:tc vMerge="1">
                  <a:txBody>
                    <a:bodyPr/>
                    <a:lstStyle/>
                    <a:p>
                      <a:endParaRPr lang="zh-TW" altLang="en-US" dirty="0"/>
                    </a:p>
                  </a:txBody>
                  <a:tcPr/>
                </a:tc>
                <a:tc>
                  <a:txBody>
                    <a:bodyPr/>
                    <a:lstStyle/>
                    <a:p>
                      <a:r>
                        <a:rPr lang="en-US" altLang="zh-TW" sz="1400" dirty="0"/>
                        <a:t>2769 - </a:t>
                      </a:r>
                      <a:r>
                        <a:rPr lang="zh-TW" altLang="en-US" sz="1400" dirty="0"/>
                        <a:t>果實旅遊</a:t>
                      </a:r>
                    </a:p>
                  </a:txBody>
                  <a:tcPr/>
                </a:tc>
                <a:extLst>
                  <a:ext uri="{0D108BD9-81ED-4DB2-BD59-A6C34878D82A}">
                    <a16:rowId xmlns:a16="http://schemas.microsoft.com/office/drawing/2014/main" val="1811238727"/>
                  </a:ext>
                </a:extLst>
              </a:tr>
            </a:tbl>
          </a:graphicData>
        </a:graphic>
      </p:graphicFrame>
      <p:sp>
        <p:nvSpPr>
          <p:cNvPr id="17" name="文字方塊 16">
            <a:extLst>
              <a:ext uri="{FF2B5EF4-FFF2-40B4-BE49-F238E27FC236}">
                <a16:creationId xmlns:a16="http://schemas.microsoft.com/office/drawing/2014/main" id="{B6AEB871-8F68-8D01-040F-13C5D78FD481}"/>
              </a:ext>
            </a:extLst>
          </p:cNvPr>
          <p:cNvSpPr txBox="1"/>
          <p:nvPr/>
        </p:nvSpPr>
        <p:spPr>
          <a:xfrm>
            <a:off x="4860893" y="3957245"/>
            <a:ext cx="4630348" cy="2462213"/>
          </a:xfrm>
          <a:prstGeom prst="rect">
            <a:avLst/>
          </a:prstGeom>
          <a:solidFill>
            <a:srgbClr val="FFFBFF"/>
          </a:solidFill>
        </p:spPr>
        <p:txBody>
          <a:bodyPr wrap="square" rtlCol="0">
            <a:spAutoFit/>
          </a:bodyPr>
          <a:lstStyle/>
          <a:p>
            <a:r>
              <a:rPr kumimoji="1" lang="en-US" altLang="zh-TW" sz="1400" b="1" dirty="0"/>
              <a:t>176 -</a:t>
            </a:r>
            <a:r>
              <a:rPr kumimoji="1" lang="zh-TW" altLang="en-US" sz="1400" b="1" dirty="0"/>
              <a:t> </a:t>
            </a:r>
            <a:r>
              <a:rPr lang="zh-TW" altLang="en-US" sz="1400" b="1" dirty="0"/>
              <a:t>貝立德股份有限公司</a:t>
            </a:r>
            <a:endParaRPr lang="en-US" altLang="zh-TW" sz="1400" b="1" dirty="0"/>
          </a:p>
          <a:p>
            <a:r>
              <a:rPr lang="en-US" altLang="zh-TW" sz="1400" b="1" dirty="0">
                <a:solidFill>
                  <a:schemeClr val="tx1">
                    <a:lumMod val="50000"/>
                    <a:lumOff val="50000"/>
                  </a:schemeClr>
                </a:solidFill>
              </a:rPr>
              <a:t>3322 - </a:t>
            </a:r>
            <a:r>
              <a:rPr lang="en-US" altLang="zh-TW" sz="1400" b="1" dirty="0" err="1">
                <a:solidFill>
                  <a:schemeClr val="tx1">
                    <a:lumMod val="50000"/>
                    <a:lumOff val="50000"/>
                  </a:schemeClr>
                </a:solidFill>
              </a:rPr>
              <a:t>dentsu</a:t>
            </a:r>
            <a:r>
              <a:rPr lang="en-US" altLang="zh-TW" sz="1400" b="1" dirty="0">
                <a:solidFill>
                  <a:schemeClr val="tx1">
                    <a:lumMod val="50000"/>
                    <a:lumOff val="50000"/>
                  </a:schemeClr>
                </a:solidFill>
              </a:rPr>
              <a:t> X_TEST</a:t>
            </a:r>
            <a:endParaRPr lang="zh-TW" altLang="en-US" sz="1400" b="1" dirty="0">
              <a:solidFill>
                <a:schemeClr val="tx1">
                  <a:lumMod val="50000"/>
                  <a:lumOff val="50000"/>
                </a:schemeClr>
              </a:solidFill>
            </a:endParaRPr>
          </a:p>
          <a:p>
            <a:endParaRPr kumimoji="1" lang="en-US" altLang="zh-TW" sz="1400" b="1" dirty="0"/>
          </a:p>
          <a:p>
            <a:r>
              <a:rPr kumimoji="1" lang="en-US" altLang="zh-TW" sz="1400" b="1" dirty="0"/>
              <a:t>176 -</a:t>
            </a:r>
            <a:r>
              <a:rPr kumimoji="1" lang="zh-TW" altLang="en-US" sz="1400" b="1" dirty="0"/>
              <a:t> </a:t>
            </a:r>
            <a:r>
              <a:rPr lang="zh-TW" altLang="en-US" sz="1400" b="1" dirty="0"/>
              <a:t>貝立德股份有限公司</a:t>
            </a:r>
            <a:endParaRPr lang="en-US" altLang="zh-TW" sz="1400" b="1" dirty="0"/>
          </a:p>
          <a:p>
            <a:r>
              <a:rPr lang="en-US" altLang="zh-TW" sz="1400" b="1" dirty="0">
                <a:solidFill>
                  <a:schemeClr val="tx1">
                    <a:lumMod val="50000"/>
                    <a:lumOff val="50000"/>
                  </a:schemeClr>
                </a:solidFill>
              </a:rPr>
              <a:t>3323 - </a:t>
            </a:r>
            <a:r>
              <a:rPr lang="en-US" altLang="zh-TW" sz="1400" b="1" dirty="0" err="1">
                <a:solidFill>
                  <a:schemeClr val="tx1">
                    <a:lumMod val="50000"/>
                    <a:lumOff val="50000"/>
                  </a:schemeClr>
                </a:solidFill>
              </a:rPr>
              <a:t>dentsu</a:t>
            </a:r>
            <a:r>
              <a:rPr lang="en-US" altLang="zh-TW" sz="1400" b="1" dirty="0">
                <a:solidFill>
                  <a:schemeClr val="tx1">
                    <a:lumMod val="50000"/>
                    <a:lumOff val="50000"/>
                  </a:schemeClr>
                </a:solidFill>
              </a:rPr>
              <a:t> X_</a:t>
            </a:r>
            <a:r>
              <a:rPr lang="zh-TW" altLang="en-US" sz="1400" b="1" dirty="0">
                <a:solidFill>
                  <a:schemeClr val="tx1">
                    <a:lumMod val="50000"/>
                    <a:lumOff val="50000"/>
                  </a:schemeClr>
                </a:solidFill>
              </a:rPr>
              <a:t>黑松</a:t>
            </a:r>
            <a:r>
              <a:rPr lang="en-US" altLang="zh-TW" sz="1400" b="1" dirty="0">
                <a:solidFill>
                  <a:schemeClr val="tx1">
                    <a:lumMod val="50000"/>
                    <a:lumOff val="50000"/>
                  </a:schemeClr>
                </a:solidFill>
              </a:rPr>
              <a:t>C&amp;C</a:t>
            </a:r>
          </a:p>
          <a:p>
            <a:endParaRPr lang="en-US" altLang="zh-TW" sz="1400" b="1" dirty="0"/>
          </a:p>
          <a:p>
            <a:r>
              <a:rPr lang="en-US" altLang="zh-TW" sz="1400" b="1" dirty="0"/>
              <a:t>493 - </a:t>
            </a:r>
            <a:r>
              <a:rPr lang="en-US" altLang="zh-TW" sz="1400" b="1" dirty="0" err="1"/>
              <a:t>OneAD</a:t>
            </a:r>
            <a:r>
              <a:rPr lang="en-US" altLang="zh-TW" sz="1400" b="1" dirty="0"/>
              <a:t> agency</a:t>
            </a:r>
          </a:p>
          <a:p>
            <a:r>
              <a:rPr lang="en-US" altLang="zh-TW" sz="1400" b="1" dirty="0">
                <a:solidFill>
                  <a:schemeClr val="tx1">
                    <a:lumMod val="50000"/>
                    <a:lumOff val="50000"/>
                  </a:schemeClr>
                </a:solidFill>
              </a:rPr>
              <a:t>2768 - </a:t>
            </a:r>
            <a:r>
              <a:rPr lang="zh-TW" altLang="en-US" sz="1400" b="1" dirty="0">
                <a:solidFill>
                  <a:schemeClr val="tx1">
                    <a:lumMod val="50000"/>
                    <a:lumOff val="50000"/>
                  </a:schemeClr>
                </a:solidFill>
              </a:rPr>
              <a:t>果實醫美</a:t>
            </a:r>
          </a:p>
          <a:p>
            <a:endParaRPr lang="en-US" altLang="zh-TW" sz="1400" b="1" dirty="0"/>
          </a:p>
          <a:p>
            <a:r>
              <a:rPr lang="en-US" altLang="zh-TW" sz="1400" b="1" dirty="0"/>
              <a:t>493 - </a:t>
            </a:r>
            <a:r>
              <a:rPr lang="en-US" altLang="zh-TW" sz="1400" b="1" dirty="0" err="1"/>
              <a:t>OneAD</a:t>
            </a:r>
            <a:r>
              <a:rPr lang="en-US" altLang="zh-TW" sz="1400" b="1" dirty="0"/>
              <a:t> agency</a:t>
            </a:r>
          </a:p>
          <a:p>
            <a:r>
              <a:rPr lang="en-US" altLang="zh-TW" sz="1400" b="1" dirty="0">
                <a:solidFill>
                  <a:schemeClr val="tx1">
                    <a:lumMod val="50000"/>
                    <a:lumOff val="50000"/>
                  </a:schemeClr>
                </a:solidFill>
              </a:rPr>
              <a:t>2769 - </a:t>
            </a:r>
            <a:r>
              <a:rPr lang="zh-TW" altLang="en-US" sz="1400" b="1" dirty="0">
                <a:solidFill>
                  <a:schemeClr val="tx1">
                    <a:lumMod val="50000"/>
                    <a:lumOff val="50000"/>
                  </a:schemeClr>
                </a:solidFill>
              </a:rPr>
              <a:t>果實旅遊</a:t>
            </a:r>
          </a:p>
        </p:txBody>
      </p:sp>
      <p:sp>
        <p:nvSpPr>
          <p:cNvPr id="18" name="文字方塊 17">
            <a:extLst>
              <a:ext uri="{FF2B5EF4-FFF2-40B4-BE49-F238E27FC236}">
                <a16:creationId xmlns:a16="http://schemas.microsoft.com/office/drawing/2014/main" id="{849D05DE-693C-3DC4-A693-957A022BD8FF}"/>
              </a:ext>
            </a:extLst>
          </p:cNvPr>
          <p:cNvSpPr txBox="1"/>
          <p:nvPr/>
        </p:nvSpPr>
        <p:spPr>
          <a:xfrm>
            <a:off x="4808887" y="2654170"/>
            <a:ext cx="5226167" cy="923330"/>
          </a:xfrm>
          <a:prstGeom prst="rect">
            <a:avLst/>
          </a:prstGeom>
          <a:noFill/>
        </p:spPr>
        <p:txBody>
          <a:bodyPr wrap="square" rtlCol="0">
            <a:spAutoFit/>
          </a:bodyPr>
          <a:lstStyle/>
          <a:p>
            <a:r>
              <a:rPr kumimoji="1" lang="zh-TW" altLang="en-US" dirty="0">
                <a:solidFill>
                  <a:srgbClr val="FF0000"/>
                </a:solidFill>
              </a:rPr>
              <a:t>排序規則</a:t>
            </a:r>
            <a:r>
              <a:rPr kumimoji="1" lang="en-US" altLang="zh-TW" dirty="0">
                <a:solidFill>
                  <a:srgbClr val="FF0000"/>
                </a:solidFill>
              </a:rPr>
              <a:t>:</a:t>
            </a:r>
          </a:p>
          <a:p>
            <a:r>
              <a:rPr kumimoji="1" lang="en-US" altLang="zh-TW" dirty="0">
                <a:solidFill>
                  <a:srgbClr val="FF0000"/>
                </a:solidFill>
              </a:rPr>
              <a:t>-</a:t>
            </a:r>
            <a:r>
              <a:rPr kumimoji="1" lang="zh-TW" altLang="en-US" dirty="0">
                <a:solidFill>
                  <a:srgbClr val="FF0000"/>
                </a:solidFill>
              </a:rPr>
              <a:t>合約主</a:t>
            </a:r>
            <a:r>
              <a:rPr kumimoji="1" lang="en-US" altLang="zh-TW" dirty="0">
                <a:solidFill>
                  <a:srgbClr val="FF0000"/>
                </a:solidFill>
              </a:rPr>
              <a:t>ID</a:t>
            </a:r>
            <a:r>
              <a:rPr kumimoji="1" lang="zh-TW" altLang="en-US" dirty="0">
                <a:solidFill>
                  <a:srgbClr val="FF0000"/>
                </a:solidFill>
              </a:rPr>
              <a:t>遞增</a:t>
            </a:r>
            <a:r>
              <a:rPr kumimoji="1" lang="en-US" altLang="zh-TW" dirty="0">
                <a:solidFill>
                  <a:srgbClr val="FF0000"/>
                </a:solidFill>
              </a:rPr>
              <a:t> -&gt; </a:t>
            </a:r>
            <a:r>
              <a:rPr kumimoji="1" lang="zh-TW" altLang="en-US" dirty="0">
                <a:solidFill>
                  <a:srgbClr val="FF0000"/>
                </a:solidFill>
              </a:rPr>
              <a:t>每個合約主下的廣告主</a:t>
            </a:r>
            <a:r>
              <a:rPr kumimoji="1" lang="en-US" altLang="zh-TW" dirty="0">
                <a:solidFill>
                  <a:srgbClr val="FF0000"/>
                </a:solidFill>
              </a:rPr>
              <a:t>ID</a:t>
            </a:r>
            <a:r>
              <a:rPr kumimoji="1" lang="zh-TW" altLang="en-US" dirty="0">
                <a:solidFill>
                  <a:srgbClr val="FF0000"/>
                </a:solidFill>
              </a:rPr>
              <a:t>遞增</a:t>
            </a:r>
            <a:endParaRPr kumimoji="1" lang="en-US" altLang="zh-TW" dirty="0">
              <a:solidFill>
                <a:srgbClr val="FF0000"/>
              </a:solidFill>
            </a:endParaRPr>
          </a:p>
          <a:p>
            <a:r>
              <a:rPr kumimoji="1" lang="en-US" altLang="zh-TW" dirty="0">
                <a:solidFill>
                  <a:srgbClr val="FF0000"/>
                </a:solidFill>
              </a:rPr>
              <a:t>-</a:t>
            </a:r>
            <a:r>
              <a:rPr kumimoji="1" lang="zh-TW" altLang="en-US" dirty="0">
                <a:solidFill>
                  <a:srgbClr val="FF0000"/>
                </a:solidFill>
              </a:rPr>
              <a:t>相同合約主下的廣告主會連續出現</a:t>
            </a:r>
          </a:p>
        </p:txBody>
      </p:sp>
    </p:spTree>
    <p:extLst>
      <p:ext uri="{BB962C8B-B14F-4D97-AF65-F5344CB8AC3E}">
        <p14:creationId xmlns:p14="http://schemas.microsoft.com/office/powerpoint/2010/main" val="236727204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 name="圖片 14" descr="一張含有 文字, 螢幕擷取畫面, 字型, 數字 的圖片&#10;&#10;AI 產生的內容可能不正確。">
            <a:extLst>
              <a:ext uri="{FF2B5EF4-FFF2-40B4-BE49-F238E27FC236}">
                <a16:creationId xmlns:a16="http://schemas.microsoft.com/office/drawing/2014/main" id="{CC159C6B-C366-EA41-EB2C-C08E4BC9F85E}"/>
              </a:ext>
            </a:extLst>
          </p:cNvPr>
          <p:cNvPicPr>
            <a:picLocks noChangeAspect="1"/>
          </p:cNvPicPr>
          <p:nvPr/>
        </p:nvPicPr>
        <p:blipFill>
          <a:blip r:embed="rId2"/>
          <a:stretch>
            <a:fillRect/>
          </a:stretch>
        </p:blipFill>
        <p:spPr>
          <a:xfrm>
            <a:off x="4015887" y="936594"/>
            <a:ext cx="3650940" cy="5090585"/>
          </a:xfrm>
          <a:prstGeom prst="rect">
            <a:avLst/>
          </a:prstGeom>
        </p:spPr>
      </p:pic>
      <p:sp>
        <p:nvSpPr>
          <p:cNvPr id="6" name="標題 1">
            <a:extLst>
              <a:ext uri="{FF2B5EF4-FFF2-40B4-BE49-F238E27FC236}">
                <a16:creationId xmlns:a16="http://schemas.microsoft.com/office/drawing/2014/main" id="{B4BA2E07-8E22-B25F-53F9-42ABB0670FFA}"/>
              </a:ext>
            </a:extLst>
          </p:cNvPr>
          <p:cNvSpPr txBox="1">
            <a:spLocks/>
          </p:cNvSpPr>
          <p:nvPr/>
        </p:nvSpPr>
        <p:spPr>
          <a:xfrm>
            <a:off x="0" y="0"/>
            <a:ext cx="10515600" cy="70560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kumimoji="1" lang="en-US" altLang="zh-TW" sz="2000" dirty="0"/>
              <a:t>Segment</a:t>
            </a:r>
            <a:r>
              <a:rPr kumimoji="1" lang="zh-TW" altLang="en-US" sz="2000" dirty="0"/>
              <a:t>使用權限</a:t>
            </a:r>
            <a:br>
              <a:rPr kumimoji="1" lang="en-US" altLang="zh-TW" sz="2000" dirty="0"/>
            </a:br>
            <a:r>
              <a:rPr kumimoji="1" lang="en-US" altLang="zh-TW" sz="2000" dirty="0"/>
              <a:t>Segment Targeting Tool UI</a:t>
            </a:r>
            <a:r>
              <a:rPr kumimoji="1" lang="zh-TW" altLang="en-US" sz="2000" dirty="0"/>
              <a:t> </a:t>
            </a:r>
          </a:p>
        </p:txBody>
      </p:sp>
      <p:pic>
        <p:nvPicPr>
          <p:cNvPr id="9" name="圖片 8" descr="一張含有 文字, 螢幕擷取畫面, 數字, 字型 的圖片&#10;&#10;AI 產生的內容可能不正確。">
            <a:extLst>
              <a:ext uri="{FF2B5EF4-FFF2-40B4-BE49-F238E27FC236}">
                <a16:creationId xmlns:a16="http://schemas.microsoft.com/office/drawing/2014/main" id="{FE8D8B97-BF38-06A9-2382-2D3A0DFE553A}"/>
              </a:ext>
            </a:extLst>
          </p:cNvPr>
          <p:cNvPicPr>
            <a:picLocks noChangeAspect="1"/>
          </p:cNvPicPr>
          <p:nvPr/>
        </p:nvPicPr>
        <p:blipFill>
          <a:blip r:embed="rId3"/>
          <a:srcRect b="88519"/>
          <a:stretch>
            <a:fillRect/>
          </a:stretch>
        </p:blipFill>
        <p:spPr>
          <a:xfrm>
            <a:off x="4096910" y="0"/>
            <a:ext cx="3650940" cy="594805"/>
          </a:xfrm>
          <a:prstGeom prst="rect">
            <a:avLst/>
          </a:prstGeom>
        </p:spPr>
      </p:pic>
      <p:sp>
        <p:nvSpPr>
          <p:cNvPr id="10" name="文字方塊 9">
            <a:extLst>
              <a:ext uri="{FF2B5EF4-FFF2-40B4-BE49-F238E27FC236}">
                <a16:creationId xmlns:a16="http://schemas.microsoft.com/office/drawing/2014/main" id="{22600BCD-355E-DAA6-F039-286CC76BF6BD}"/>
              </a:ext>
            </a:extLst>
          </p:cNvPr>
          <p:cNvSpPr txBox="1"/>
          <p:nvPr/>
        </p:nvSpPr>
        <p:spPr>
          <a:xfrm>
            <a:off x="4237436" y="691923"/>
            <a:ext cx="1801091" cy="261610"/>
          </a:xfrm>
          <a:prstGeom prst="rect">
            <a:avLst/>
          </a:prstGeom>
          <a:noFill/>
        </p:spPr>
        <p:txBody>
          <a:bodyPr wrap="square" rtlCol="0">
            <a:spAutoFit/>
          </a:bodyPr>
          <a:lstStyle/>
          <a:p>
            <a:r>
              <a:rPr kumimoji="1" lang="zh-TW" altLang="en-US" sz="1100" b="1" dirty="0">
                <a:latin typeface="Microsoft JhengHei" panose="020B0604030504040204" pitchFamily="34" charset="-120"/>
                <a:ea typeface="Microsoft JhengHei" panose="020B0604030504040204" pitchFamily="34" charset="-120"/>
              </a:rPr>
              <a:t>是否為</a:t>
            </a:r>
            <a:r>
              <a:rPr kumimoji="1" lang="en-US" altLang="zh-TW" sz="1100" b="1" dirty="0">
                <a:latin typeface="Microsoft JhengHei" panose="020B0604030504040204" pitchFamily="34" charset="-120"/>
                <a:ea typeface="Microsoft JhengHei" panose="020B0604030504040204" pitchFamily="34" charset="-120"/>
              </a:rPr>
              <a:t>SuperDSP</a:t>
            </a:r>
            <a:r>
              <a:rPr kumimoji="1" lang="zh-TW" altLang="en-US" sz="1100" b="1" dirty="0">
                <a:latin typeface="Microsoft JhengHei" panose="020B0604030504040204" pitchFamily="34" charset="-120"/>
                <a:ea typeface="Microsoft JhengHei" panose="020B0604030504040204" pitchFamily="34" charset="-120"/>
              </a:rPr>
              <a:t>使用</a:t>
            </a:r>
            <a:r>
              <a:rPr kumimoji="1" lang="en-US" altLang="zh-TW" sz="1100" b="1" dirty="0">
                <a:latin typeface="Microsoft JhengHei" panose="020B0604030504040204" pitchFamily="34" charset="-120"/>
                <a:ea typeface="Microsoft JhengHei" panose="020B0604030504040204" pitchFamily="34" charset="-120"/>
              </a:rPr>
              <a:t>?</a:t>
            </a:r>
            <a:endParaRPr kumimoji="1" lang="zh-TW" altLang="en-US" sz="1100" b="1" dirty="0">
              <a:latin typeface="Microsoft JhengHei" panose="020B0604030504040204" pitchFamily="34" charset="-120"/>
              <a:ea typeface="Microsoft JhengHei" panose="020B0604030504040204" pitchFamily="34" charset="-120"/>
            </a:endParaRPr>
          </a:p>
        </p:txBody>
      </p:sp>
      <p:sp>
        <p:nvSpPr>
          <p:cNvPr id="11" name="矩形 10">
            <a:extLst>
              <a:ext uri="{FF2B5EF4-FFF2-40B4-BE49-F238E27FC236}">
                <a16:creationId xmlns:a16="http://schemas.microsoft.com/office/drawing/2014/main" id="{F1C042AF-30B7-B5A9-53E3-9431C3155840}"/>
              </a:ext>
            </a:extLst>
          </p:cNvPr>
          <p:cNvSpPr/>
          <p:nvPr/>
        </p:nvSpPr>
        <p:spPr>
          <a:xfrm>
            <a:off x="4175568" y="537408"/>
            <a:ext cx="2555175" cy="521138"/>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pic>
        <p:nvPicPr>
          <p:cNvPr id="12" name="圖片 11" descr="一張含有 電子藍, 字型, 符號, 標誌 的圖片&#10;&#10;AI 產生的內容可能不正確。">
            <a:extLst>
              <a:ext uri="{FF2B5EF4-FFF2-40B4-BE49-F238E27FC236}">
                <a16:creationId xmlns:a16="http://schemas.microsoft.com/office/drawing/2014/main" id="{E1B93DE3-C568-9582-AD94-5C5BEBD02285}"/>
              </a:ext>
            </a:extLst>
          </p:cNvPr>
          <p:cNvPicPr>
            <a:picLocks noChangeAspect="1"/>
          </p:cNvPicPr>
          <p:nvPr/>
        </p:nvPicPr>
        <p:blipFill>
          <a:blip r:embed="rId4"/>
          <a:stretch>
            <a:fillRect/>
          </a:stretch>
        </p:blipFill>
        <p:spPr>
          <a:xfrm>
            <a:off x="5922380" y="653967"/>
            <a:ext cx="584200" cy="355600"/>
          </a:xfrm>
          <a:prstGeom prst="rect">
            <a:avLst/>
          </a:prstGeom>
        </p:spPr>
      </p:pic>
      <p:sp>
        <p:nvSpPr>
          <p:cNvPr id="16" name="橢圓 15">
            <a:extLst>
              <a:ext uri="{FF2B5EF4-FFF2-40B4-BE49-F238E27FC236}">
                <a16:creationId xmlns:a16="http://schemas.microsoft.com/office/drawing/2014/main" id="{2486C7F3-A587-901F-3CA7-23A87E8A36CA}"/>
              </a:ext>
            </a:extLst>
          </p:cNvPr>
          <p:cNvSpPr/>
          <p:nvPr/>
        </p:nvSpPr>
        <p:spPr>
          <a:xfrm>
            <a:off x="5989484" y="5747785"/>
            <a:ext cx="202971" cy="202971"/>
          </a:xfrm>
          <a:prstGeom prst="ellipse">
            <a:avLst/>
          </a:prstGeom>
          <a:solidFill>
            <a:schemeClr val="bg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7" name="文字方塊 16">
            <a:extLst>
              <a:ext uri="{FF2B5EF4-FFF2-40B4-BE49-F238E27FC236}">
                <a16:creationId xmlns:a16="http://schemas.microsoft.com/office/drawing/2014/main" id="{BBB1B751-F6C4-116B-7FB9-D4689613DF53}"/>
              </a:ext>
            </a:extLst>
          </p:cNvPr>
          <p:cNvSpPr txBox="1"/>
          <p:nvPr/>
        </p:nvSpPr>
        <p:spPr>
          <a:xfrm>
            <a:off x="7171310" y="5565514"/>
            <a:ext cx="3072286" cy="923330"/>
          </a:xfrm>
          <a:prstGeom prst="rect">
            <a:avLst/>
          </a:prstGeom>
          <a:noFill/>
        </p:spPr>
        <p:txBody>
          <a:bodyPr wrap="square" rtlCol="0">
            <a:spAutoFit/>
          </a:bodyPr>
          <a:lstStyle/>
          <a:p>
            <a:r>
              <a:rPr kumimoji="1" lang="zh-TW" altLang="en-US" dirty="0">
                <a:solidFill>
                  <a:srgbClr val="FF0000"/>
                </a:solidFill>
              </a:rPr>
              <a:t>為</a:t>
            </a:r>
            <a:r>
              <a:rPr kumimoji="1" lang="en-US" altLang="zh-TW" dirty="0" err="1">
                <a:solidFill>
                  <a:srgbClr val="FF0000"/>
                </a:solidFill>
              </a:rPr>
              <a:t>SuperDSP</a:t>
            </a:r>
            <a:r>
              <a:rPr kumimoji="1" lang="zh-TW" altLang="en-US" dirty="0">
                <a:solidFill>
                  <a:srgbClr val="FF0000"/>
                </a:solidFill>
              </a:rPr>
              <a:t>使用時不允許客製受眾包常駐更新</a:t>
            </a:r>
            <a:r>
              <a:rPr kumimoji="1" lang="en-US" altLang="zh-TW" dirty="0">
                <a:solidFill>
                  <a:srgbClr val="FF0000"/>
                </a:solidFill>
              </a:rPr>
              <a:t>, disable the radio </a:t>
            </a:r>
            <a:r>
              <a:rPr kumimoji="1" lang="en-US" altLang="zh-TW" dirty="0" err="1">
                <a:solidFill>
                  <a:srgbClr val="FF0000"/>
                </a:solidFill>
              </a:rPr>
              <a:t>btn</a:t>
            </a:r>
            <a:endParaRPr kumimoji="1" lang="zh-TW" altLang="en-US" dirty="0">
              <a:solidFill>
                <a:srgbClr val="FF0000"/>
              </a:solidFill>
            </a:endParaRPr>
          </a:p>
        </p:txBody>
      </p:sp>
      <p:sp>
        <p:nvSpPr>
          <p:cNvPr id="18" name="矩形 17">
            <a:extLst>
              <a:ext uri="{FF2B5EF4-FFF2-40B4-BE49-F238E27FC236}">
                <a16:creationId xmlns:a16="http://schemas.microsoft.com/office/drawing/2014/main" id="{9D628251-6D48-2107-F5CF-F95275D535FA}"/>
              </a:ext>
            </a:extLst>
          </p:cNvPr>
          <p:cNvSpPr/>
          <p:nvPr/>
        </p:nvSpPr>
        <p:spPr>
          <a:xfrm>
            <a:off x="5841356" y="5671823"/>
            <a:ext cx="1207625" cy="354894"/>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Tree>
    <p:extLst>
      <p:ext uri="{BB962C8B-B14F-4D97-AF65-F5344CB8AC3E}">
        <p14:creationId xmlns:p14="http://schemas.microsoft.com/office/powerpoint/2010/main" val="326587961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標題 1">
            <a:extLst>
              <a:ext uri="{FF2B5EF4-FFF2-40B4-BE49-F238E27FC236}">
                <a16:creationId xmlns:a16="http://schemas.microsoft.com/office/drawing/2014/main" id="{F3BE49BB-CBDC-9D4F-59DB-463F2B8170EB}"/>
              </a:ext>
            </a:extLst>
          </p:cNvPr>
          <p:cNvSpPr txBox="1">
            <a:spLocks/>
          </p:cNvSpPr>
          <p:nvPr/>
        </p:nvSpPr>
        <p:spPr>
          <a:xfrm>
            <a:off x="0" y="-28202"/>
            <a:ext cx="10515600" cy="70560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kumimoji="1" lang="en-US" altLang="zh-TW" sz="2000" dirty="0"/>
              <a:t>Segment</a:t>
            </a:r>
            <a:r>
              <a:rPr kumimoji="1" lang="zh-TW" altLang="en-US" sz="2000" dirty="0"/>
              <a:t>使用權限</a:t>
            </a:r>
            <a:br>
              <a:rPr kumimoji="1" lang="en-US" altLang="zh-TW" sz="2000" dirty="0"/>
            </a:br>
            <a:r>
              <a:rPr kumimoji="1" lang="en-US" altLang="zh-TW" sz="2000" dirty="0"/>
              <a:t>Segment Targeting Tool UI</a:t>
            </a:r>
            <a:r>
              <a:rPr kumimoji="1" lang="zh-TW" altLang="en-US" sz="2000" dirty="0"/>
              <a:t> </a:t>
            </a:r>
          </a:p>
        </p:txBody>
      </p:sp>
      <p:pic>
        <p:nvPicPr>
          <p:cNvPr id="6" name="圖片 5" descr="一張含有 文字, 螢幕擷取畫面 的圖片&#10;&#10;AI 產生的內容可能不正確。">
            <a:extLst>
              <a:ext uri="{FF2B5EF4-FFF2-40B4-BE49-F238E27FC236}">
                <a16:creationId xmlns:a16="http://schemas.microsoft.com/office/drawing/2014/main" id="{A0EA4222-1B29-54D6-36F1-ADE8F95184C7}"/>
              </a:ext>
            </a:extLst>
          </p:cNvPr>
          <p:cNvPicPr>
            <a:picLocks noChangeAspect="1"/>
          </p:cNvPicPr>
          <p:nvPr/>
        </p:nvPicPr>
        <p:blipFill>
          <a:blip r:embed="rId3"/>
          <a:stretch>
            <a:fillRect/>
          </a:stretch>
        </p:blipFill>
        <p:spPr>
          <a:xfrm>
            <a:off x="118340" y="1769039"/>
            <a:ext cx="11955319" cy="2907463"/>
          </a:xfrm>
          <a:prstGeom prst="rect">
            <a:avLst/>
          </a:prstGeom>
        </p:spPr>
      </p:pic>
      <p:sp>
        <p:nvSpPr>
          <p:cNvPr id="7" name="文字方塊 6">
            <a:extLst>
              <a:ext uri="{FF2B5EF4-FFF2-40B4-BE49-F238E27FC236}">
                <a16:creationId xmlns:a16="http://schemas.microsoft.com/office/drawing/2014/main" id="{A52F35BD-6CBC-E19D-9D62-73C50D562535}"/>
              </a:ext>
            </a:extLst>
          </p:cNvPr>
          <p:cNvSpPr txBox="1"/>
          <p:nvPr/>
        </p:nvSpPr>
        <p:spPr>
          <a:xfrm>
            <a:off x="8368162" y="1235687"/>
            <a:ext cx="3823838" cy="369332"/>
          </a:xfrm>
          <a:prstGeom prst="rect">
            <a:avLst/>
          </a:prstGeom>
          <a:noFill/>
        </p:spPr>
        <p:txBody>
          <a:bodyPr wrap="square" rtlCol="0">
            <a:spAutoFit/>
          </a:bodyPr>
          <a:lstStyle/>
          <a:p>
            <a:r>
              <a:rPr kumimoji="1" lang="zh-TW" altLang="en-US" dirty="0">
                <a:solidFill>
                  <a:srgbClr val="FF0000"/>
                </a:solidFill>
              </a:rPr>
              <a:t>允許搜尋到</a:t>
            </a:r>
            <a:r>
              <a:rPr kumimoji="1" lang="en-US" altLang="zh-TW" dirty="0">
                <a:solidFill>
                  <a:srgbClr val="FF0000"/>
                </a:solidFill>
              </a:rPr>
              <a:t>”</a:t>
            </a:r>
            <a:r>
              <a:rPr kumimoji="1" lang="en-US" altLang="zh-TW" dirty="0" err="1">
                <a:solidFill>
                  <a:srgbClr val="FF0000"/>
                </a:solidFill>
              </a:rPr>
              <a:t>SuperDSP</a:t>
            </a:r>
            <a:r>
              <a:rPr kumimoji="1" lang="en-US" altLang="zh-TW" dirty="0">
                <a:solidFill>
                  <a:srgbClr val="FF0000"/>
                </a:solidFill>
              </a:rPr>
              <a:t>” tag wording</a:t>
            </a:r>
            <a:endParaRPr kumimoji="1" lang="zh-TW" altLang="en-US" dirty="0">
              <a:solidFill>
                <a:srgbClr val="FF0000"/>
              </a:solidFill>
            </a:endParaRPr>
          </a:p>
        </p:txBody>
      </p:sp>
      <p:sp>
        <p:nvSpPr>
          <p:cNvPr id="10" name="文字方塊 9">
            <a:extLst>
              <a:ext uri="{FF2B5EF4-FFF2-40B4-BE49-F238E27FC236}">
                <a16:creationId xmlns:a16="http://schemas.microsoft.com/office/drawing/2014/main" id="{5881BA9E-7D0C-B6A5-2BAF-3921734E6A5C}"/>
              </a:ext>
            </a:extLst>
          </p:cNvPr>
          <p:cNvSpPr txBox="1"/>
          <p:nvPr/>
        </p:nvSpPr>
        <p:spPr>
          <a:xfrm>
            <a:off x="2495007" y="2791883"/>
            <a:ext cx="1580604" cy="430887"/>
          </a:xfrm>
          <a:prstGeom prst="rect">
            <a:avLst/>
          </a:prstGeom>
          <a:solidFill>
            <a:schemeClr val="bg1"/>
          </a:solidFill>
        </p:spPr>
        <p:txBody>
          <a:bodyPr wrap="square" rtlCol="0">
            <a:spAutoFit/>
          </a:bodyPr>
          <a:lstStyle/>
          <a:p>
            <a:r>
              <a:rPr kumimoji="1" lang="en-US" altLang="zh-TW" sz="1100" dirty="0">
                <a:solidFill>
                  <a:schemeClr val="tx1">
                    <a:lumMod val="75000"/>
                    <a:lumOff val="25000"/>
                  </a:schemeClr>
                </a:solidFill>
                <a:latin typeface="Microsoft JhengHei" panose="020B0604030504040204" pitchFamily="34" charset="-120"/>
                <a:ea typeface="Microsoft JhengHei" panose="020B0604030504040204" pitchFamily="34" charset="-120"/>
              </a:rPr>
              <a:t>493 - </a:t>
            </a:r>
            <a:r>
              <a:rPr kumimoji="1" lang="en-US" altLang="zh-TW" sz="1100" dirty="0" err="1">
                <a:solidFill>
                  <a:schemeClr val="tx1">
                    <a:lumMod val="75000"/>
                    <a:lumOff val="25000"/>
                  </a:schemeClr>
                </a:solidFill>
                <a:latin typeface="Microsoft JhengHei" panose="020B0604030504040204" pitchFamily="34" charset="-120"/>
                <a:ea typeface="Microsoft JhengHei" panose="020B0604030504040204" pitchFamily="34" charset="-120"/>
              </a:rPr>
              <a:t>OneAD</a:t>
            </a:r>
            <a:r>
              <a:rPr kumimoji="1" lang="en-US" altLang="zh-TW" sz="1100" dirty="0">
                <a:solidFill>
                  <a:schemeClr val="tx1">
                    <a:lumMod val="75000"/>
                    <a:lumOff val="25000"/>
                  </a:schemeClr>
                </a:solidFill>
                <a:latin typeface="Microsoft JhengHei" panose="020B0604030504040204" pitchFamily="34" charset="-120"/>
                <a:ea typeface="Microsoft JhengHei" panose="020B0604030504040204" pitchFamily="34" charset="-120"/>
              </a:rPr>
              <a:t> agency | 2769 - </a:t>
            </a:r>
            <a:r>
              <a:rPr kumimoji="1" lang="zh-TW" altLang="en-US" sz="1100" dirty="0">
                <a:solidFill>
                  <a:schemeClr val="tx1">
                    <a:lumMod val="75000"/>
                    <a:lumOff val="25000"/>
                  </a:schemeClr>
                </a:solidFill>
                <a:latin typeface="Microsoft JhengHei" panose="020B0604030504040204" pitchFamily="34" charset="-120"/>
                <a:ea typeface="Microsoft JhengHei" panose="020B0604030504040204" pitchFamily="34" charset="-120"/>
              </a:rPr>
              <a:t>果實旅遊</a:t>
            </a:r>
          </a:p>
        </p:txBody>
      </p:sp>
      <p:sp>
        <p:nvSpPr>
          <p:cNvPr id="12" name="圓角矩形 11">
            <a:extLst>
              <a:ext uri="{FF2B5EF4-FFF2-40B4-BE49-F238E27FC236}">
                <a16:creationId xmlns:a16="http://schemas.microsoft.com/office/drawing/2014/main" id="{FAAEBE3D-D6AF-0C31-6425-9CCD4FB2DC7A}"/>
              </a:ext>
            </a:extLst>
          </p:cNvPr>
          <p:cNvSpPr/>
          <p:nvPr/>
        </p:nvSpPr>
        <p:spPr>
          <a:xfrm>
            <a:off x="2573386" y="3245920"/>
            <a:ext cx="888272" cy="285142"/>
          </a:xfrm>
          <a:prstGeom prst="roundRect">
            <a:avLst/>
          </a:prstGeom>
          <a:solidFill>
            <a:srgbClr val="505050"/>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TW" sz="1100" b="1" err="1">
                <a:solidFill>
                  <a:schemeClr val="bg1"/>
                </a:solidFill>
                <a:latin typeface="Microsoft JhengHei" panose="020B0604030504040204" pitchFamily="34" charset="-120"/>
                <a:ea typeface="Microsoft JhengHei" panose="020B0604030504040204" pitchFamily="34" charset="-120"/>
              </a:rPr>
              <a:t>SuperDSP</a:t>
            </a:r>
            <a:endParaRPr kumimoji="1" lang="zh-TW" altLang="en-US" sz="1100" b="1">
              <a:solidFill>
                <a:schemeClr val="bg1"/>
              </a:solidFill>
              <a:latin typeface="Microsoft JhengHei" panose="020B0604030504040204" pitchFamily="34" charset="-120"/>
              <a:ea typeface="Microsoft JhengHei" panose="020B0604030504040204" pitchFamily="34" charset="-120"/>
            </a:endParaRPr>
          </a:p>
        </p:txBody>
      </p:sp>
      <p:sp>
        <p:nvSpPr>
          <p:cNvPr id="13" name="矩形 12">
            <a:extLst>
              <a:ext uri="{FF2B5EF4-FFF2-40B4-BE49-F238E27FC236}">
                <a16:creationId xmlns:a16="http://schemas.microsoft.com/office/drawing/2014/main" id="{9B4A53E8-4D61-91C0-5377-E479C82F1D10}"/>
              </a:ext>
            </a:extLst>
          </p:cNvPr>
          <p:cNvSpPr/>
          <p:nvPr/>
        </p:nvSpPr>
        <p:spPr>
          <a:xfrm>
            <a:off x="2416629" y="2234702"/>
            <a:ext cx="1580604" cy="2441800"/>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cxnSp>
        <p:nvCxnSpPr>
          <p:cNvPr id="15" name="直線箭頭接點 14">
            <a:extLst>
              <a:ext uri="{FF2B5EF4-FFF2-40B4-BE49-F238E27FC236}">
                <a16:creationId xmlns:a16="http://schemas.microsoft.com/office/drawing/2014/main" id="{C50BF90B-0B84-2235-0358-6FE5145D34CF}"/>
              </a:ext>
            </a:extLst>
          </p:cNvPr>
          <p:cNvCxnSpPr>
            <a:cxnSpLocks/>
            <a:endCxn id="13" idx="0"/>
          </p:cNvCxnSpPr>
          <p:nvPr/>
        </p:nvCxnSpPr>
        <p:spPr>
          <a:xfrm flipH="1">
            <a:off x="3206931" y="1140389"/>
            <a:ext cx="868680" cy="1094313"/>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 name="直線箭頭接點 1">
            <a:extLst>
              <a:ext uri="{FF2B5EF4-FFF2-40B4-BE49-F238E27FC236}">
                <a16:creationId xmlns:a16="http://schemas.microsoft.com/office/drawing/2014/main" id="{B72E9650-61B1-941E-689E-82E98A71E8FE}"/>
              </a:ext>
            </a:extLst>
          </p:cNvPr>
          <p:cNvCxnSpPr>
            <a:cxnSpLocks/>
          </p:cNvCxnSpPr>
          <p:nvPr/>
        </p:nvCxnSpPr>
        <p:spPr>
          <a:xfrm flipH="1">
            <a:off x="10515600" y="1602347"/>
            <a:ext cx="316411" cy="560961"/>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3" name="文字方塊 2">
            <a:extLst>
              <a:ext uri="{FF2B5EF4-FFF2-40B4-BE49-F238E27FC236}">
                <a16:creationId xmlns:a16="http://schemas.microsoft.com/office/drawing/2014/main" id="{74A83C95-1AA0-5373-89D8-F7D35BB37EC1}"/>
              </a:ext>
            </a:extLst>
          </p:cNvPr>
          <p:cNvSpPr txBox="1"/>
          <p:nvPr/>
        </p:nvSpPr>
        <p:spPr>
          <a:xfrm>
            <a:off x="4075611" y="99125"/>
            <a:ext cx="1801091" cy="261610"/>
          </a:xfrm>
          <a:prstGeom prst="rect">
            <a:avLst/>
          </a:prstGeom>
          <a:noFill/>
        </p:spPr>
        <p:txBody>
          <a:bodyPr wrap="square" rtlCol="0">
            <a:spAutoFit/>
          </a:bodyPr>
          <a:lstStyle/>
          <a:p>
            <a:r>
              <a:rPr kumimoji="1" lang="zh-TW" altLang="en-US" sz="1100" b="1" dirty="0">
                <a:latin typeface="Microsoft JhengHei" panose="020B0604030504040204" pitchFamily="34" charset="-120"/>
                <a:ea typeface="Microsoft JhengHei" panose="020B0604030504040204" pitchFamily="34" charset="-120"/>
              </a:rPr>
              <a:t>是否為</a:t>
            </a:r>
            <a:r>
              <a:rPr kumimoji="1" lang="en-US" altLang="zh-TW" sz="1100" b="1" dirty="0">
                <a:latin typeface="Microsoft JhengHei" panose="020B0604030504040204" pitchFamily="34" charset="-120"/>
                <a:ea typeface="Microsoft JhengHei" panose="020B0604030504040204" pitchFamily="34" charset="-120"/>
              </a:rPr>
              <a:t>SuperDSP</a:t>
            </a:r>
            <a:r>
              <a:rPr kumimoji="1" lang="zh-TW" altLang="en-US" sz="1100" b="1" dirty="0">
                <a:latin typeface="Microsoft JhengHei" panose="020B0604030504040204" pitchFamily="34" charset="-120"/>
                <a:ea typeface="Microsoft JhengHei" panose="020B0604030504040204" pitchFamily="34" charset="-120"/>
              </a:rPr>
              <a:t>使用</a:t>
            </a:r>
            <a:r>
              <a:rPr kumimoji="1" lang="en-US" altLang="zh-TW" sz="1100" b="1" dirty="0">
                <a:latin typeface="Microsoft JhengHei" panose="020B0604030504040204" pitchFamily="34" charset="-120"/>
                <a:ea typeface="Microsoft JhengHei" panose="020B0604030504040204" pitchFamily="34" charset="-120"/>
              </a:rPr>
              <a:t>?</a:t>
            </a:r>
            <a:endParaRPr kumimoji="1" lang="zh-TW" altLang="en-US" sz="1100" b="1" dirty="0">
              <a:latin typeface="Microsoft JhengHei" panose="020B0604030504040204" pitchFamily="34" charset="-120"/>
              <a:ea typeface="Microsoft JhengHei" panose="020B0604030504040204" pitchFamily="34" charset="-120"/>
            </a:endParaRPr>
          </a:p>
        </p:txBody>
      </p:sp>
      <p:pic>
        <p:nvPicPr>
          <p:cNvPr id="5" name="圖片 4" descr="一張含有 電子藍, 字型, 符號, 標誌 的圖片&#10;&#10;AI 產生的內容可能不正確。">
            <a:extLst>
              <a:ext uri="{FF2B5EF4-FFF2-40B4-BE49-F238E27FC236}">
                <a16:creationId xmlns:a16="http://schemas.microsoft.com/office/drawing/2014/main" id="{C8A77E64-24E6-E100-04FE-E8B891F62407}"/>
              </a:ext>
            </a:extLst>
          </p:cNvPr>
          <p:cNvPicPr>
            <a:picLocks noChangeAspect="1"/>
          </p:cNvPicPr>
          <p:nvPr/>
        </p:nvPicPr>
        <p:blipFill>
          <a:blip r:embed="rId4"/>
          <a:stretch>
            <a:fillRect/>
          </a:stretch>
        </p:blipFill>
        <p:spPr>
          <a:xfrm>
            <a:off x="5760555" y="61169"/>
            <a:ext cx="584200" cy="355600"/>
          </a:xfrm>
          <a:prstGeom prst="rect">
            <a:avLst/>
          </a:prstGeom>
        </p:spPr>
      </p:pic>
      <p:sp>
        <p:nvSpPr>
          <p:cNvPr id="16" name="文字方塊 15">
            <a:extLst>
              <a:ext uri="{FF2B5EF4-FFF2-40B4-BE49-F238E27FC236}">
                <a16:creationId xmlns:a16="http://schemas.microsoft.com/office/drawing/2014/main" id="{EBC4A92B-E7DE-8CF9-5CA3-DED3296A1BA3}"/>
              </a:ext>
            </a:extLst>
          </p:cNvPr>
          <p:cNvSpPr txBox="1"/>
          <p:nvPr/>
        </p:nvSpPr>
        <p:spPr>
          <a:xfrm>
            <a:off x="4118052" y="490030"/>
            <a:ext cx="2269144" cy="923330"/>
          </a:xfrm>
          <a:prstGeom prst="rect">
            <a:avLst/>
          </a:prstGeom>
          <a:noFill/>
        </p:spPr>
        <p:txBody>
          <a:bodyPr wrap="square">
            <a:spAutoFit/>
          </a:bodyPr>
          <a:lstStyle/>
          <a:p>
            <a:r>
              <a:rPr lang="zh-TW" altLang="en-US" b="1" dirty="0"/>
              <a:t>客戶</a:t>
            </a:r>
            <a:r>
              <a:rPr lang="en-US" altLang="zh-TW" b="1" dirty="0"/>
              <a:t>:</a:t>
            </a:r>
            <a:endParaRPr lang="en-US" altLang="zh-TW" sz="1800" b="1" dirty="0"/>
          </a:p>
          <a:p>
            <a:r>
              <a:rPr lang="en-US" altLang="zh-TW" b="1" dirty="0"/>
              <a:t>493 - </a:t>
            </a:r>
            <a:r>
              <a:rPr lang="en-US" altLang="zh-TW" b="1" dirty="0" err="1"/>
              <a:t>OneAD</a:t>
            </a:r>
            <a:r>
              <a:rPr lang="en-US" altLang="zh-TW" b="1" dirty="0"/>
              <a:t> agency</a:t>
            </a:r>
          </a:p>
          <a:p>
            <a:r>
              <a:rPr lang="en-US" altLang="zh-TW" b="1" dirty="0">
                <a:solidFill>
                  <a:schemeClr val="tx1">
                    <a:lumMod val="50000"/>
                    <a:lumOff val="50000"/>
                  </a:schemeClr>
                </a:solidFill>
              </a:rPr>
              <a:t>2769 - </a:t>
            </a:r>
            <a:r>
              <a:rPr lang="zh-TW" altLang="en-US" b="1" dirty="0">
                <a:solidFill>
                  <a:schemeClr val="tx1">
                    <a:lumMod val="50000"/>
                    <a:lumOff val="50000"/>
                  </a:schemeClr>
                </a:solidFill>
              </a:rPr>
              <a:t>果實旅遊</a:t>
            </a:r>
          </a:p>
        </p:txBody>
      </p:sp>
    </p:spTree>
    <p:extLst>
      <p:ext uri="{BB962C8B-B14F-4D97-AF65-F5344CB8AC3E}">
        <p14:creationId xmlns:p14="http://schemas.microsoft.com/office/powerpoint/2010/main" val="213571826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標題 3">
            <a:extLst>
              <a:ext uri="{FF2B5EF4-FFF2-40B4-BE49-F238E27FC236}">
                <a16:creationId xmlns:a16="http://schemas.microsoft.com/office/drawing/2014/main" id="{4BE6F5E4-46FD-AFB7-6E90-B251204E6B16}"/>
              </a:ext>
            </a:extLst>
          </p:cNvPr>
          <p:cNvSpPr>
            <a:spLocks noGrp="1"/>
          </p:cNvSpPr>
          <p:nvPr>
            <p:ph type="title"/>
          </p:nvPr>
        </p:nvSpPr>
        <p:spPr/>
        <p:txBody>
          <a:bodyPr/>
          <a:lstStyle/>
          <a:p>
            <a:r>
              <a:rPr kumimoji="1" lang="en-US" altLang="zh-TW"/>
              <a:t>Audience Planner</a:t>
            </a:r>
            <a:endParaRPr lang="zh-TW" altLang="en-US"/>
          </a:p>
        </p:txBody>
      </p:sp>
      <p:sp>
        <p:nvSpPr>
          <p:cNvPr id="5" name="文字版面配置區 4">
            <a:extLst>
              <a:ext uri="{FF2B5EF4-FFF2-40B4-BE49-F238E27FC236}">
                <a16:creationId xmlns:a16="http://schemas.microsoft.com/office/drawing/2014/main" id="{9380142A-7AAF-FD56-3847-91AA565A7939}"/>
              </a:ext>
            </a:extLst>
          </p:cNvPr>
          <p:cNvSpPr>
            <a:spLocks noGrp="1"/>
          </p:cNvSpPr>
          <p:nvPr>
            <p:ph type="body" idx="1"/>
          </p:nvPr>
        </p:nvSpPr>
        <p:spPr/>
        <p:txBody>
          <a:bodyPr/>
          <a:lstStyle/>
          <a:p>
            <a:endParaRPr lang="zh-TW" altLang="en-US"/>
          </a:p>
        </p:txBody>
      </p:sp>
    </p:spTree>
    <p:extLst>
      <p:ext uri="{BB962C8B-B14F-4D97-AF65-F5344CB8AC3E}">
        <p14:creationId xmlns:p14="http://schemas.microsoft.com/office/powerpoint/2010/main" val="286793144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圖片 4" descr="一張含有 螢幕擷取畫面, 文字, 軟體 的圖片&#10;&#10;AI 產生的內容可能不正確。">
            <a:extLst>
              <a:ext uri="{FF2B5EF4-FFF2-40B4-BE49-F238E27FC236}">
                <a16:creationId xmlns:a16="http://schemas.microsoft.com/office/drawing/2014/main" id="{FA3A99BB-6E25-30C4-C855-9D2298834711}"/>
              </a:ext>
            </a:extLst>
          </p:cNvPr>
          <p:cNvPicPr>
            <a:picLocks noChangeAspect="1"/>
          </p:cNvPicPr>
          <p:nvPr/>
        </p:nvPicPr>
        <p:blipFill>
          <a:blip r:embed="rId2"/>
          <a:stretch>
            <a:fillRect/>
          </a:stretch>
        </p:blipFill>
        <p:spPr>
          <a:xfrm>
            <a:off x="0" y="1089576"/>
            <a:ext cx="12210070" cy="4963983"/>
          </a:xfrm>
          <a:prstGeom prst="rect">
            <a:avLst/>
          </a:prstGeom>
        </p:spPr>
      </p:pic>
      <p:cxnSp>
        <p:nvCxnSpPr>
          <p:cNvPr id="6" name="直線接點 5">
            <a:extLst>
              <a:ext uri="{FF2B5EF4-FFF2-40B4-BE49-F238E27FC236}">
                <a16:creationId xmlns:a16="http://schemas.microsoft.com/office/drawing/2014/main" id="{593274B6-99AB-63DF-436C-729EB4F93221}"/>
              </a:ext>
            </a:extLst>
          </p:cNvPr>
          <p:cNvCxnSpPr>
            <a:cxnSpLocks/>
          </p:cNvCxnSpPr>
          <p:nvPr/>
        </p:nvCxnSpPr>
        <p:spPr>
          <a:xfrm>
            <a:off x="1672316" y="1940528"/>
            <a:ext cx="1469234" cy="0"/>
          </a:xfrm>
          <a:prstGeom prst="line">
            <a:avLst/>
          </a:prstGeom>
          <a:ln>
            <a:solidFill>
              <a:srgbClr val="E5E7ED"/>
            </a:solidFill>
          </a:ln>
        </p:spPr>
        <p:style>
          <a:lnRef idx="2">
            <a:schemeClr val="accent1"/>
          </a:lnRef>
          <a:fillRef idx="0">
            <a:schemeClr val="accent1"/>
          </a:fillRef>
          <a:effectRef idx="1">
            <a:schemeClr val="accent1"/>
          </a:effectRef>
          <a:fontRef idx="minor">
            <a:schemeClr val="tx1"/>
          </a:fontRef>
        </p:style>
      </p:cxnSp>
      <p:cxnSp>
        <p:nvCxnSpPr>
          <p:cNvPr id="7" name="直線接點 6">
            <a:extLst>
              <a:ext uri="{FF2B5EF4-FFF2-40B4-BE49-F238E27FC236}">
                <a16:creationId xmlns:a16="http://schemas.microsoft.com/office/drawing/2014/main" id="{5B38E439-26E4-578D-D694-75020E1F7C1E}"/>
              </a:ext>
            </a:extLst>
          </p:cNvPr>
          <p:cNvCxnSpPr>
            <a:cxnSpLocks/>
          </p:cNvCxnSpPr>
          <p:nvPr/>
        </p:nvCxnSpPr>
        <p:spPr>
          <a:xfrm>
            <a:off x="722824" y="1940528"/>
            <a:ext cx="949492" cy="0"/>
          </a:xfrm>
          <a:prstGeom prst="line">
            <a:avLst/>
          </a:prstGeom>
          <a:ln>
            <a:solidFill>
              <a:srgbClr val="1990FF"/>
            </a:solidFill>
          </a:ln>
        </p:spPr>
        <p:style>
          <a:lnRef idx="2">
            <a:schemeClr val="accent1"/>
          </a:lnRef>
          <a:fillRef idx="0">
            <a:schemeClr val="accent1"/>
          </a:fillRef>
          <a:effectRef idx="1">
            <a:schemeClr val="accent1"/>
          </a:effectRef>
          <a:fontRef idx="minor">
            <a:schemeClr val="tx1"/>
          </a:fontRef>
        </p:style>
      </p:cxnSp>
      <p:sp>
        <p:nvSpPr>
          <p:cNvPr id="8" name="文字方塊 7">
            <a:extLst>
              <a:ext uri="{FF2B5EF4-FFF2-40B4-BE49-F238E27FC236}">
                <a16:creationId xmlns:a16="http://schemas.microsoft.com/office/drawing/2014/main" id="{027DA0FB-005A-AE6F-0627-45C5AA5A42FA}"/>
              </a:ext>
            </a:extLst>
          </p:cNvPr>
          <p:cNvSpPr txBox="1"/>
          <p:nvPr/>
        </p:nvSpPr>
        <p:spPr>
          <a:xfrm>
            <a:off x="1636426" y="1680787"/>
            <a:ext cx="1561828" cy="230832"/>
          </a:xfrm>
          <a:prstGeom prst="rect">
            <a:avLst/>
          </a:prstGeom>
          <a:noFill/>
        </p:spPr>
        <p:txBody>
          <a:bodyPr wrap="square" rtlCol="0">
            <a:spAutoFit/>
          </a:bodyPr>
          <a:lstStyle/>
          <a:p>
            <a:r>
              <a:rPr kumimoji="1" lang="en-US" altLang="zh-TW" sz="900">
                <a:solidFill>
                  <a:srgbClr val="202022"/>
                </a:solidFill>
              </a:rPr>
              <a:t>Custom Audience Pack List</a:t>
            </a:r>
            <a:endParaRPr kumimoji="1" lang="zh-TW" altLang="en-US" sz="900">
              <a:solidFill>
                <a:srgbClr val="202022"/>
              </a:solidFill>
            </a:endParaRPr>
          </a:p>
        </p:txBody>
      </p:sp>
      <p:sp>
        <p:nvSpPr>
          <p:cNvPr id="9" name="矩形 8">
            <a:extLst>
              <a:ext uri="{FF2B5EF4-FFF2-40B4-BE49-F238E27FC236}">
                <a16:creationId xmlns:a16="http://schemas.microsoft.com/office/drawing/2014/main" id="{7F0E8262-9B88-C0E1-F974-52951CB228DE}"/>
              </a:ext>
            </a:extLst>
          </p:cNvPr>
          <p:cNvSpPr/>
          <p:nvPr/>
        </p:nvSpPr>
        <p:spPr>
          <a:xfrm>
            <a:off x="1663722" y="1584440"/>
            <a:ext cx="1534532" cy="465965"/>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0" name="標題 1">
            <a:extLst>
              <a:ext uri="{FF2B5EF4-FFF2-40B4-BE49-F238E27FC236}">
                <a16:creationId xmlns:a16="http://schemas.microsoft.com/office/drawing/2014/main" id="{591DD580-3102-EBF9-7D57-5F64ED801EBD}"/>
              </a:ext>
            </a:extLst>
          </p:cNvPr>
          <p:cNvSpPr txBox="1">
            <a:spLocks/>
          </p:cNvSpPr>
          <p:nvPr/>
        </p:nvSpPr>
        <p:spPr>
          <a:xfrm>
            <a:off x="0" y="0"/>
            <a:ext cx="10515600" cy="70560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kumimoji="1" lang="en-US" altLang="zh-TW" sz="2000" dirty="0"/>
              <a:t>Audience Planner</a:t>
            </a:r>
          </a:p>
          <a:p>
            <a:r>
              <a:rPr kumimoji="1" lang="en-US" altLang="zh-TW" sz="2000" dirty="0"/>
              <a:t>Custom Audience UI</a:t>
            </a:r>
            <a:endParaRPr kumimoji="1" lang="zh-TW" altLang="en-US" sz="2000" dirty="0"/>
          </a:p>
        </p:txBody>
      </p:sp>
    </p:spTree>
    <p:extLst>
      <p:ext uri="{BB962C8B-B14F-4D97-AF65-F5344CB8AC3E}">
        <p14:creationId xmlns:p14="http://schemas.microsoft.com/office/powerpoint/2010/main" val="321816238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圖片 8" descr="一張含有 螢幕擷取畫面, 文字, 軟體 的圖片&#10;&#10;AI 產生的內容可能不正確。">
            <a:extLst>
              <a:ext uri="{FF2B5EF4-FFF2-40B4-BE49-F238E27FC236}">
                <a16:creationId xmlns:a16="http://schemas.microsoft.com/office/drawing/2014/main" id="{97695EF2-5F90-509E-8BF8-2782CA030D86}"/>
              </a:ext>
            </a:extLst>
          </p:cNvPr>
          <p:cNvPicPr>
            <a:picLocks noChangeAspect="1"/>
          </p:cNvPicPr>
          <p:nvPr/>
        </p:nvPicPr>
        <p:blipFill>
          <a:blip r:embed="rId3"/>
          <a:stretch>
            <a:fillRect/>
          </a:stretch>
        </p:blipFill>
        <p:spPr>
          <a:xfrm>
            <a:off x="0" y="1089576"/>
            <a:ext cx="12210070" cy="4963983"/>
          </a:xfrm>
          <a:prstGeom prst="rect">
            <a:avLst/>
          </a:prstGeom>
        </p:spPr>
      </p:pic>
      <p:cxnSp>
        <p:nvCxnSpPr>
          <p:cNvPr id="14" name="直線接點 13">
            <a:extLst>
              <a:ext uri="{FF2B5EF4-FFF2-40B4-BE49-F238E27FC236}">
                <a16:creationId xmlns:a16="http://schemas.microsoft.com/office/drawing/2014/main" id="{EE42F8C3-C5BD-732D-2854-BD62AA724527}"/>
              </a:ext>
            </a:extLst>
          </p:cNvPr>
          <p:cNvCxnSpPr>
            <a:cxnSpLocks/>
          </p:cNvCxnSpPr>
          <p:nvPr/>
        </p:nvCxnSpPr>
        <p:spPr>
          <a:xfrm>
            <a:off x="1646618" y="1940566"/>
            <a:ext cx="1468800" cy="0"/>
          </a:xfrm>
          <a:prstGeom prst="line">
            <a:avLst/>
          </a:prstGeom>
          <a:ln>
            <a:solidFill>
              <a:srgbClr val="2993FF"/>
            </a:solidFill>
          </a:ln>
        </p:spPr>
        <p:style>
          <a:lnRef idx="2">
            <a:schemeClr val="accent1"/>
          </a:lnRef>
          <a:fillRef idx="0">
            <a:schemeClr val="accent1"/>
          </a:fillRef>
          <a:effectRef idx="1">
            <a:schemeClr val="accent1"/>
          </a:effectRef>
          <a:fontRef idx="minor">
            <a:schemeClr val="tx1"/>
          </a:fontRef>
        </p:style>
      </p:cxnSp>
      <p:cxnSp>
        <p:nvCxnSpPr>
          <p:cNvPr id="15" name="直線接點 14">
            <a:extLst>
              <a:ext uri="{FF2B5EF4-FFF2-40B4-BE49-F238E27FC236}">
                <a16:creationId xmlns:a16="http://schemas.microsoft.com/office/drawing/2014/main" id="{27C37815-7AD9-075E-94A5-936DD84FBC90}"/>
              </a:ext>
            </a:extLst>
          </p:cNvPr>
          <p:cNvCxnSpPr>
            <a:cxnSpLocks/>
          </p:cNvCxnSpPr>
          <p:nvPr/>
        </p:nvCxnSpPr>
        <p:spPr>
          <a:xfrm>
            <a:off x="698066" y="1942334"/>
            <a:ext cx="950400" cy="0"/>
          </a:xfrm>
          <a:prstGeom prst="line">
            <a:avLst/>
          </a:prstGeom>
          <a:ln>
            <a:solidFill>
              <a:srgbClr val="E5E7ED"/>
            </a:solidFill>
          </a:ln>
        </p:spPr>
        <p:style>
          <a:lnRef idx="2">
            <a:schemeClr val="accent1"/>
          </a:lnRef>
          <a:fillRef idx="0">
            <a:schemeClr val="accent1"/>
          </a:fillRef>
          <a:effectRef idx="1">
            <a:schemeClr val="accent1"/>
          </a:effectRef>
          <a:fontRef idx="minor">
            <a:schemeClr val="tx1"/>
          </a:fontRef>
        </p:style>
      </p:cxnSp>
      <p:sp>
        <p:nvSpPr>
          <p:cNvPr id="16" name="文字方塊 15">
            <a:extLst>
              <a:ext uri="{FF2B5EF4-FFF2-40B4-BE49-F238E27FC236}">
                <a16:creationId xmlns:a16="http://schemas.microsoft.com/office/drawing/2014/main" id="{92C8D120-A324-C66B-34C9-EC80A3442262}"/>
              </a:ext>
            </a:extLst>
          </p:cNvPr>
          <p:cNvSpPr txBox="1"/>
          <p:nvPr/>
        </p:nvSpPr>
        <p:spPr>
          <a:xfrm>
            <a:off x="614498" y="1682241"/>
            <a:ext cx="1114749" cy="230832"/>
          </a:xfrm>
          <a:prstGeom prst="rect">
            <a:avLst/>
          </a:prstGeom>
          <a:solidFill>
            <a:srgbClr val="F5F8FE"/>
          </a:solidFill>
        </p:spPr>
        <p:txBody>
          <a:bodyPr wrap="square" rtlCol="0">
            <a:spAutoFit/>
          </a:bodyPr>
          <a:lstStyle/>
          <a:p>
            <a:r>
              <a:rPr kumimoji="1" lang="en-US" altLang="zh-TW" sz="900">
                <a:solidFill>
                  <a:srgbClr val="202022"/>
                </a:solidFill>
              </a:rPr>
              <a:t>Audience Pack List</a:t>
            </a:r>
            <a:endParaRPr kumimoji="1" lang="zh-TW" altLang="en-US" sz="900">
              <a:solidFill>
                <a:srgbClr val="202022"/>
              </a:solidFill>
            </a:endParaRPr>
          </a:p>
        </p:txBody>
      </p:sp>
      <p:sp>
        <p:nvSpPr>
          <p:cNvPr id="17" name="文字方塊 16">
            <a:extLst>
              <a:ext uri="{FF2B5EF4-FFF2-40B4-BE49-F238E27FC236}">
                <a16:creationId xmlns:a16="http://schemas.microsoft.com/office/drawing/2014/main" id="{79A6A7F6-B9CF-3F8F-E474-B7DB0AECA410}"/>
              </a:ext>
            </a:extLst>
          </p:cNvPr>
          <p:cNvSpPr txBox="1"/>
          <p:nvPr/>
        </p:nvSpPr>
        <p:spPr>
          <a:xfrm>
            <a:off x="1610729" y="1680825"/>
            <a:ext cx="1561828" cy="230832"/>
          </a:xfrm>
          <a:prstGeom prst="rect">
            <a:avLst/>
          </a:prstGeom>
          <a:noFill/>
        </p:spPr>
        <p:txBody>
          <a:bodyPr wrap="square" rtlCol="0">
            <a:spAutoFit/>
          </a:bodyPr>
          <a:lstStyle/>
          <a:p>
            <a:r>
              <a:rPr kumimoji="1" lang="en-US" altLang="zh-TW" sz="900">
                <a:solidFill>
                  <a:srgbClr val="2993FF"/>
                </a:solidFill>
              </a:rPr>
              <a:t>Custom Audience Pack List</a:t>
            </a:r>
            <a:endParaRPr kumimoji="1" lang="zh-TW" altLang="en-US" sz="900">
              <a:solidFill>
                <a:srgbClr val="2993FF"/>
              </a:solidFill>
            </a:endParaRPr>
          </a:p>
        </p:txBody>
      </p:sp>
      <p:graphicFrame>
        <p:nvGraphicFramePr>
          <p:cNvPr id="18" name="表格 17">
            <a:extLst>
              <a:ext uri="{FF2B5EF4-FFF2-40B4-BE49-F238E27FC236}">
                <a16:creationId xmlns:a16="http://schemas.microsoft.com/office/drawing/2014/main" id="{FA13B374-78E0-803F-5B1F-EB63149EEA9E}"/>
              </a:ext>
            </a:extLst>
          </p:cNvPr>
          <p:cNvGraphicFramePr>
            <a:graphicFrameLocks noGrp="1"/>
          </p:cNvGraphicFramePr>
          <p:nvPr>
            <p:extLst>
              <p:ext uri="{D42A27DB-BD31-4B8C-83A1-F6EECF244321}">
                <p14:modId xmlns:p14="http://schemas.microsoft.com/office/powerpoint/2010/main" val="1750703327"/>
              </p:ext>
            </p:extLst>
          </p:nvPr>
        </p:nvGraphicFramePr>
        <p:xfrm>
          <a:off x="719332" y="2426458"/>
          <a:ext cx="11380522" cy="2287255"/>
        </p:xfrm>
        <a:graphic>
          <a:graphicData uri="http://schemas.openxmlformats.org/drawingml/2006/table">
            <a:tbl>
              <a:tblPr firstRow="1" bandRow="1">
                <a:tableStyleId>{5940675A-B579-460E-94D1-54222C63F5DA}</a:tableStyleId>
              </a:tblPr>
              <a:tblGrid>
                <a:gridCol w="737716">
                  <a:extLst>
                    <a:ext uri="{9D8B030D-6E8A-4147-A177-3AD203B41FA5}">
                      <a16:colId xmlns:a16="http://schemas.microsoft.com/office/drawing/2014/main" val="2132221474"/>
                    </a:ext>
                  </a:extLst>
                </a:gridCol>
                <a:gridCol w="1796516">
                  <a:extLst>
                    <a:ext uri="{9D8B030D-6E8A-4147-A177-3AD203B41FA5}">
                      <a16:colId xmlns:a16="http://schemas.microsoft.com/office/drawing/2014/main" val="4011186730"/>
                    </a:ext>
                  </a:extLst>
                </a:gridCol>
                <a:gridCol w="2594344">
                  <a:extLst>
                    <a:ext uri="{9D8B030D-6E8A-4147-A177-3AD203B41FA5}">
                      <a16:colId xmlns:a16="http://schemas.microsoft.com/office/drawing/2014/main" val="2814822502"/>
                    </a:ext>
                  </a:extLst>
                </a:gridCol>
                <a:gridCol w="1499191">
                  <a:extLst>
                    <a:ext uri="{9D8B030D-6E8A-4147-A177-3AD203B41FA5}">
                      <a16:colId xmlns:a16="http://schemas.microsoft.com/office/drawing/2014/main" val="3195966690"/>
                    </a:ext>
                  </a:extLst>
                </a:gridCol>
                <a:gridCol w="1180214">
                  <a:extLst>
                    <a:ext uri="{9D8B030D-6E8A-4147-A177-3AD203B41FA5}">
                      <a16:colId xmlns:a16="http://schemas.microsoft.com/office/drawing/2014/main" val="288521062"/>
                    </a:ext>
                  </a:extLst>
                </a:gridCol>
                <a:gridCol w="1063255">
                  <a:extLst>
                    <a:ext uri="{9D8B030D-6E8A-4147-A177-3AD203B41FA5}">
                      <a16:colId xmlns:a16="http://schemas.microsoft.com/office/drawing/2014/main" val="1609414602"/>
                    </a:ext>
                  </a:extLst>
                </a:gridCol>
                <a:gridCol w="1175352">
                  <a:extLst>
                    <a:ext uri="{9D8B030D-6E8A-4147-A177-3AD203B41FA5}">
                      <a16:colId xmlns:a16="http://schemas.microsoft.com/office/drawing/2014/main" val="2336893862"/>
                    </a:ext>
                  </a:extLst>
                </a:gridCol>
                <a:gridCol w="1333934">
                  <a:extLst>
                    <a:ext uri="{9D8B030D-6E8A-4147-A177-3AD203B41FA5}">
                      <a16:colId xmlns:a16="http://schemas.microsoft.com/office/drawing/2014/main" val="2221016226"/>
                    </a:ext>
                  </a:extLst>
                </a:gridCol>
              </a:tblGrid>
              <a:tr h="298955">
                <a:tc>
                  <a:txBody>
                    <a:bodyPr/>
                    <a:lstStyle/>
                    <a:p>
                      <a:r>
                        <a:rPr kumimoji="1" lang="en-US" altLang="zh-TW" sz="1000" kern="1200">
                          <a:solidFill>
                            <a:srgbClr val="4E4E4E"/>
                          </a:solidFill>
                          <a:latin typeface="+mn-lt"/>
                          <a:ea typeface="+mn-ea"/>
                          <a:cs typeface="+mn-cs"/>
                        </a:rPr>
                        <a:t>ID</a:t>
                      </a:r>
                      <a:endParaRPr kumimoji="1" lang="zh-TW" altLang="en-US" sz="1000" kern="1200">
                        <a:solidFill>
                          <a:srgbClr val="4E4E4E"/>
                        </a:solidFill>
                        <a:latin typeface="+mn-lt"/>
                        <a:ea typeface="+mn-ea"/>
                        <a:cs typeface="+mn-cs"/>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FAFAFA"/>
                    </a:solidFill>
                  </a:tcPr>
                </a:tc>
                <a:tc>
                  <a:txBody>
                    <a:bodyPr/>
                    <a:lstStyle/>
                    <a:p>
                      <a:r>
                        <a:rPr kumimoji="1" lang="en-US" altLang="zh-TW" sz="1000" kern="1200" dirty="0">
                          <a:solidFill>
                            <a:srgbClr val="4E4E4E"/>
                          </a:solidFill>
                          <a:latin typeface="+mn-lt"/>
                          <a:ea typeface="+mn-ea"/>
                          <a:cs typeface="+mn-cs"/>
                        </a:rPr>
                        <a:t>Type</a:t>
                      </a:r>
                      <a:endParaRPr kumimoji="1" lang="zh-TW" altLang="en-US" sz="1000" kern="1200" dirty="0">
                        <a:solidFill>
                          <a:srgbClr val="4E4E4E"/>
                        </a:solidFill>
                        <a:latin typeface="+mn-lt"/>
                        <a:ea typeface="+mn-ea"/>
                        <a:cs typeface="+mn-cs"/>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FAFAFA"/>
                    </a:solidFill>
                  </a:tcPr>
                </a:tc>
                <a:tc>
                  <a:txBody>
                    <a:bodyPr/>
                    <a:lstStyle/>
                    <a:p>
                      <a:r>
                        <a:rPr kumimoji="1" lang="en-US" altLang="zh-TW" sz="1000" kern="1200">
                          <a:solidFill>
                            <a:srgbClr val="4E4E4E"/>
                          </a:solidFill>
                          <a:latin typeface="+mn-lt"/>
                          <a:ea typeface="+mn-ea"/>
                          <a:cs typeface="+mn-cs"/>
                        </a:rPr>
                        <a:t>Audience Pack Name</a:t>
                      </a:r>
                      <a:endParaRPr kumimoji="1" lang="zh-TW" altLang="en-US" sz="1000" kern="1200">
                        <a:solidFill>
                          <a:srgbClr val="4E4E4E"/>
                        </a:solidFill>
                        <a:latin typeface="+mn-lt"/>
                        <a:ea typeface="+mn-ea"/>
                        <a:cs typeface="+mn-cs"/>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FAFAFA"/>
                    </a:solidFill>
                  </a:tcPr>
                </a:tc>
                <a:tc>
                  <a:txBody>
                    <a:bodyPr/>
                    <a:lstStyle/>
                    <a:p>
                      <a:r>
                        <a:rPr kumimoji="1" lang="en" altLang="zh-TW" sz="1000" kern="1200">
                          <a:solidFill>
                            <a:srgbClr val="4E4E4E"/>
                          </a:solidFill>
                          <a:latin typeface="+mn-lt"/>
                          <a:ea typeface="+mn-ea"/>
                          <a:cs typeface="+mn-cs"/>
                        </a:rPr>
                        <a:t>Audience Size (UU)</a:t>
                      </a:r>
                      <a:endParaRPr kumimoji="1" lang="zh-TW" altLang="en-US" sz="1000" kern="1200">
                        <a:solidFill>
                          <a:srgbClr val="4E4E4E"/>
                        </a:solidFill>
                        <a:latin typeface="+mn-lt"/>
                        <a:ea typeface="+mn-ea"/>
                        <a:cs typeface="+mn-cs"/>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FAFAFA"/>
                    </a:solidFill>
                  </a:tcPr>
                </a:tc>
                <a:tc>
                  <a:txBody>
                    <a:bodyPr/>
                    <a:lstStyle/>
                    <a:p>
                      <a:r>
                        <a:rPr kumimoji="1" lang="en-US" altLang="zh-TW" sz="1000" kern="1200">
                          <a:solidFill>
                            <a:srgbClr val="4E4E4E"/>
                          </a:solidFill>
                          <a:latin typeface="+mn-lt"/>
                          <a:ea typeface="+mn-ea"/>
                          <a:cs typeface="+mn-cs"/>
                        </a:rPr>
                        <a:t>Created Date</a:t>
                      </a:r>
                      <a:endParaRPr kumimoji="1" lang="zh-TW" altLang="en-US" sz="1000" kern="1200">
                        <a:solidFill>
                          <a:srgbClr val="4E4E4E"/>
                        </a:solidFill>
                        <a:latin typeface="+mn-lt"/>
                        <a:ea typeface="+mn-ea"/>
                        <a:cs typeface="+mn-cs"/>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FAFAFA"/>
                    </a:solidFill>
                  </a:tcPr>
                </a:tc>
                <a:tc>
                  <a:txBody>
                    <a:bodyPr/>
                    <a:lstStyle/>
                    <a:p>
                      <a:r>
                        <a:rPr kumimoji="1" lang="en-US" altLang="zh-TW" sz="1000" kern="1200">
                          <a:solidFill>
                            <a:srgbClr val="4E4E4E"/>
                          </a:solidFill>
                          <a:latin typeface="+mn-lt"/>
                          <a:ea typeface="+mn-ea"/>
                          <a:cs typeface="+mn-cs"/>
                        </a:rPr>
                        <a:t>Expired Date</a:t>
                      </a:r>
                      <a:endParaRPr kumimoji="1" lang="zh-TW" altLang="en-US" sz="1000" kern="1200">
                        <a:solidFill>
                          <a:srgbClr val="4E4E4E"/>
                        </a:solidFill>
                        <a:latin typeface="+mn-lt"/>
                        <a:ea typeface="+mn-ea"/>
                        <a:cs typeface="+mn-cs"/>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FAFAFA"/>
                    </a:solidFill>
                  </a:tcPr>
                </a:tc>
                <a:tc>
                  <a:txBody>
                    <a:bodyPr/>
                    <a:lstStyle/>
                    <a:p>
                      <a:r>
                        <a:rPr kumimoji="1" lang="en-US" altLang="zh-TW" sz="1000" kern="1200">
                          <a:solidFill>
                            <a:srgbClr val="4E4E4E"/>
                          </a:solidFill>
                          <a:latin typeface="+mn-lt"/>
                          <a:ea typeface="+mn-ea"/>
                          <a:cs typeface="+mn-cs"/>
                        </a:rPr>
                        <a:t>Status</a:t>
                      </a:r>
                      <a:endParaRPr kumimoji="1" lang="zh-TW" altLang="en-US" sz="1000" kern="1200">
                        <a:solidFill>
                          <a:srgbClr val="4E4E4E"/>
                        </a:solidFill>
                        <a:latin typeface="+mn-lt"/>
                        <a:ea typeface="+mn-ea"/>
                        <a:cs typeface="+mn-cs"/>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FAFAFA"/>
                    </a:solidFill>
                  </a:tcPr>
                </a:tc>
                <a:tc>
                  <a:txBody>
                    <a:bodyPr/>
                    <a:lstStyle/>
                    <a:p>
                      <a:r>
                        <a:rPr kumimoji="1" lang="en-US" altLang="zh-TW" sz="1000" kern="1200">
                          <a:solidFill>
                            <a:srgbClr val="4E4E4E"/>
                          </a:solidFill>
                          <a:latin typeface="+mn-lt"/>
                          <a:ea typeface="+mn-ea"/>
                          <a:cs typeface="+mn-cs"/>
                        </a:rPr>
                        <a:t>Settings</a:t>
                      </a:r>
                      <a:endParaRPr kumimoji="1" lang="zh-TW" altLang="en-US" sz="1000" kern="1200">
                        <a:solidFill>
                          <a:srgbClr val="4E4E4E"/>
                        </a:solidFill>
                        <a:latin typeface="+mn-lt"/>
                        <a:ea typeface="+mn-ea"/>
                        <a:cs typeface="+mn-cs"/>
                      </a:endParaRPr>
                    </a:p>
                  </a:txBody>
                  <a:tcPr anchor="ctr">
                    <a:lnL w="12700" cap="flat" cmpd="sng" algn="ctr">
                      <a:no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FAFAFA"/>
                    </a:solidFill>
                  </a:tcPr>
                </a:tc>
                <a:extLst>
                  <a:ext uri="{0D108BD9-81ED-4DB2-BD59-A6C34878D82A}">
                    <a16:rowId xmlns:a16="http://schemas.microsoft.com/office/drawing/2014/main" val="382988244"/>
                  </a:ext>
                </a:extLst>
              </a:tr>
              <a:tr h="29895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zh-TW" sz="1000" kern="1200">
                          <a:solidFill>
                            <a:srgbClr val="4E4E4E"/>
                          </a:solidFill>
                          <a:latin typeface="+mn-lt"/>
                          <a:ea typeface="+mn-ea"/>
                          <a:cs typeface="+mn-cs"/>
                        </a:rPr>
                        <a:t>12157</a:t>
                      </a:r>
                      <a:endParaRPr kumimoji="1" lang="zh-TW" altLang="en-US" sz="1000" kern="1200">
                        <a:solidFill>
                          <a:srgbClr val="4E4E4E"/>
                        </a:solidFill>
                        <a:latin typeface="+mn-lt"/>
                        <a:ea typeface="+mn-ea"/>
                        <a:cs typeface="+mn-cs"/>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 altLang="zh-TW" sz="1000" kern="1200">
                          <a:solidFill>
                            <a:srgbClr val="4E4E4E"/>
                          </a:solidFill>
                          <a:latin typeface="+mn-lt"/>
                          <a:ea typeface="+mn-ea"/>
                          <a:cs typeface="+mn-cs"/>
                        </a:rPr>
                        <a:t>Brand Keyword AI Exploration</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zh-TW" sz="1000" kern="1200">
                          <a:solidFill>
                            <a:srgbClr val="4E4E4E"/>
                          </a:solidFill>
                          <a:latin typeface="+mn-lt"/>
                          <a:ea typeface="+mn-ea"/>
                          <a:cs typeface="+mn-cs"/>
                        </a:rPr>
                        <a:t>[</a:t>
                      </a:r>
                      <a:r>
                        <a:rPr kumimoji="1" lang="zh-TW" altLang="en-US" sz="1000" kern="1200">
                          <a:solidFill>
                            <a:srgbClr val="4E4E4E"/>
                          </a:solidFill>
                          <a:latin typeface="+mn-lt"/>
                          <a:ea typeface="+mn-ea"/>
                          <a:cs typeface="+mn-cs"/>
                        </a:rPr>
                        <a:t>關鍵字</a:t>
                      </a:r>
                      <a:r>
                        <a:rPr kumimoji="1" lang="en-US" altLang="zh-TW" sz="1000" kern="1200">
                          <a:solidFill>
                            <a:srgbClr val="4E4E4E"/>
                          </a:solidFill>
                          <a:latin typeface="+mn-lt"/>
                          <a:ea typeface="+mn-ea"/>
                          <a:cs typeface="+mn-cs"/>
                        </a:rPr>
                        <a:t>] </a:t>
                      </a:r>
                      <a:r>
                        <a:rPr kumimoji="1" lang="zh-TW" altLang="en-US" sz="1000" kern="1200">
                          <a:solidFill>
                            <a:srgbClr val="4E4E4E"/>
                          </a:solidFill>
                          <a:latin typeface="+mn-lt"/>
                          <a:ea typeface="+mn-ea"/>
                          <a:cs typeface="+mn-cs"/>
                        </a:rPr>
                        <a:t>合利他命</a:t>
                      </a:r>
                      <a:r>
                        <a:rPr kumimoji="1" lang="en" altLang="zh-TW" sz="1000" kern="1200">
                          <a:solidFill>
                            <a:srgbClr val="4E4E4E"/>
                          </a:solidFill>
                          <a:latin typeface="+mn-lt"/>
                          <a:ea typeface="+mn-ea"/>
                          <a:cs typeface="+mn-cs"/>
                        </a:rPr>
                        <a:t>EXPLUS 10</a:t>
                      </a:r>
                      <a:r>
                        <a:rPr kumimoji="1" lang="zh-TW" altLang="en-US" sz="1000" kern="1200">
                          <a:solidFill>
                            <a:srgbClr val="4E4E4E"/>
                          </a:solidFill>
                          <a:latin typeface="+mn-lt"/>
                          <a:ea typeface="+mn-ea"/>
                          <a:cs typeface="+mn-cs"/>
                        </a:rPr>
                        <a:t>月</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zh-TW" sz="1000" kern="1200">
                          <a:solidFill>
                            <a:srgbClr val="4E4E4E"/>
                          </a:solidFill>
                          <a:latin typeface="+mn-lt"/>
                          <a:ea typeface="+mn-ea"/>
                          <a:cs typeface="+mn-cs"/>
                        </a:rPr>
                        <a:t>--</a:t>
                      </a:r>
                      <a:endParaRPr kumimoji="1" lang="zh-TW" altLang="en-US" sz="1000" kern="1200">
                        <a:solidFill>
                          <a:srgbClr val="4E4E4E"/>
                        </a:solidFill>
                        <a:latin typeface="+mn-lt"/>
                        <a:ea typeface="+mn-ea"/>
                        <a:cs typeface="+mn-cs"/>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zh-TW" sz="1000" kern="1200">
                          <a:solidFill>
                            <a:srgbClr val="4E4E4E"/>
                          </a:solidFill>
                          <a:latin typeface="+mn-lt"/>
                          <a:ea typeface="+mn-ea"/>
                          <a:cs typeface="+mn-cs"/>
                        </a:rPr>
                        <a:t>2025-10-16</a:t>
                      </a:r>
                      <a:endParaRPr kumimoji="1" lang="zh-TW" altLang="en-US" sz="1000" kern="1200">
                        <a:solidFill>
                          <a:srgbClr val="4E4E4E"/>
                        </a:solidFill>
                        <a:latin typeface="+mn-lt"/>
                        <a:ea typeface="+mn-ea"/>
                        <a:cs typeface="+mn-cs"/>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zh-TW" sz="1000" b="0" i="0" u="none" strike="noStrike" kern="1200" cap="none" spc="0" normalizeH="0" baseline="0" noProof="0">
                          <a:ln>
                            <a:noFill/>
                          </a:ln>
                          <a:solidFill>
                            <a:srgbClr val="4E4E4E"/>
                          </a:solidFill>
                          <a:effectLst/>
                          <a:uLnTx/>
                          <a:uFillTx/>
                          <a:latin typeface="+mn-lt"/>
                          <a:ea typeface="+mn-ea"/>
                          <a:cs typeface="+mn-cs"/>
                        </a:rPr>
                        <a:t>2025-10-30</a:t>
                      </a:r>
                      <a:endParaRPr kumimoji="1" lang="zh-TW" altLang="en-US" sz="1000" b="0" i="0" u="none" strike="noStrike" kern="1200" cap="none" spc="0" normalizeH="0" baseline="0" noProof="0">
                        <a:ln>
                          <a:noFill/>
                        </a:ln>
                        <a:solidFill>
                          <a:srgbClr val="4E4E4E"/>
                        </a:solidFill>
                        <a:effectLst/>
                        <a:uLnTx/>
                        <a:uFillTx/>
                        <a:latin typeface="+mn-lt"/>
                        <a:ea typeface="+mn-ea"/>
                        <a:cs typeface="+mn-cs"/>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zh-TW" sz="1000" kern="1200">
                          <a:solidFill>
                            <a:srgbClr val="4E4E4E"/>
                          </a:solidFill>
                          <a:latin typeface="+mn-lt"/>
                          <a:ea typeface="+mn-ea"/>
                          <a:cs typeface="+mn-cs"/>
                        </a:rPr>
                        <a:t>Processing</a:t>
                      </a:r>
                      <a:endParaRPr kumimoji="1" lang="zh-TW" altLang="en-US" sz="1000" kern="1200">
                        <a:solidFill>
                          <a:srgbClr val="4E4E4E"/>
                        </a:solidFill>
                        <a:latin typeface="+mn-lt"/>
                        <a:ea typeface="+mn-ea"/>
                        <a:cs typeface="+mn-cs"/>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zh-TW" sz="1000" kern="1200" dirty="0">
                          <a:solidFill>
                            <a:srgbClr val="2993FF"/>
                          </a:solidFill>
                          <a:latin typeface="+mn-lt"/>
                          <a:ea typeface="+mn-ea"/>
                          <a:cs typeface="+mn-cs"/>
                        </a:rPr>
                        <a:t>In Used(0)</a:t>
                      </a:r>
                      <a:endParaRPr kumimoji="1" lang="zh-TW" altLang="en-US" sz="1000" kern="1200" dirty="0">
                        <a:solidFill>
                          <a:srgbClr val="2993FF"/>
                        </a:solidFill>
                        <a:latin typeface="+mn-lt"/>
                        <a:ea typeface="+mn-ea"/>
                        <a:cs typeface="+mn-cs"/>
                      </a:endParaRPr>
                    </a:p>
                  </a:txBody>
                  <a:tcPr anchor="ctr">
                    <a:lnL w="12700" cap="flat" cmpd="sng" algn="ctr">
                      <a:no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3705966175"/>
                  </a:ext>
                </a:extLst>
              </a:tr>
              <a:tr h="29895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zh-TW" sz="1000" kern="1200">
                          <a:solidFill>
                            <a:srgbClr val="4E4E4E"/>
                          </a:solidFill>
                          <a:latin typeface="+mn-lt"/>
                          <a:ea typeface="+mn-ea"/>
                          <a:cs typeface="+mn-cs"/>
                        </a:rPr>
                        <a:t>12146</a:t>
                      </a:r>
                      <a:endParaRPr kumimoji="1" lang="zh-TW" altLang="en-US" sz="1000" kern="1200">
                        <a:solidFill>
                          <a:srgbClr val="4E4E4E"/>
                        </a:solidFill>
                        <a:latin typeface="+mn-lt"/>
                        <a:ea typeface="+mn-ea"/>
                        <a:cs typeface="+mn-cs"/>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 altLang="zh-TW" sz="1000" kern="1200" dirty="0">
                          <a:solidFill>
                            <a:srgbClr val="4E4E4E"/>
                          </a:solidFill>
                          <a:latin typeface="+mn-lt"/>
                          <a:ea typeface="+mn-ea"/>
                          <a:cs typeface="+mn-cs"/>
                        </a:rPr>
                        <a:t>Offline Point of Interest (POI)</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zh-TW" sz="1000" kern="1200">
                          <a:solidFill>
                            <a:srgbClr val="4E4E4E"/>
                          </a:solidFill>
                          <a:latin typeface="+mn-lt"/>
                          <a:ea typeface="+mn-ea"/>
                          <a:cs typeface="+mn-cs"/>
                        </a:rPr>
                        <a:t>[</a:t>
                      </a:r>
                      <a:r>
                        <a:rPr kumimoji="1" lang="zh-TW" altLang="en-US" sz="1000" kern="1200">
                          <a:solidFill>
                            <a:srgbClr val="4E4E4E"/>
                          </a:solidFill>
                          <a:latin typeface="+mn-lt"/>
                          <a:ea typeface="+mn-ea"/>
                          <a:cs typeface="+mn-cs"/>
                        </a:rPr>
                        <a:t>線下</a:t>
                      </a:r>
                      <a:r>
                        <a:rPr kumimoji="1" lang="en" altLang="zh-TW" sz="1000" kern="1200">
                          <a:solidFill>
                            <a:srgbClr val="4E4E4E"/>
                          </a:solidFill>
                          <a:latin typeface="+mn-lt"/>
                          <a:ea typeface="+mn-ea"/>
                          <a:cs typeface="+mn-cs"/>
                        </a:rPr>
                        <a:t>POI] </a:t>
                      </a:r>
                      <a:r>
                        <a:rPr kumimoji="1" lang="zh-TW" altLang="en-US" sz="1000" kern="1200">
                          <a:solidFill>
                            <a:srgbClr val="4E4E4E"/>
                          </a:solidFill>
                          <a:latin typeface="+mn-lt"/>
                          <a:ea typeface="+mn-ea"/>
                          <a:cs typeface="+mn-cs"/>
                        </a:rPr>
                        <a:t>合利他命</a:t>
                      </a:r>
                      <a:r>
                        <a:rPr kumimoji="1" lang="en" altLang="zh-TW" sz="1000" kern="1200">
                          <a:solidFill>
                            <a:srgbClr val="4E4E4E"/>
                          </a:solidFill>
                          <a:latin typeface="+mn-lt"/>
                          <a:ea typeface="+mn-ea"/>
                          <a:cs typeface="+mn-cs"/>
                        </a:rPr>
                        <a:t>EXPLUS 10</a:t>
                      </a:r>
                      <a:r>
                        <a:rPr kumimoji="1" lang="zh-TW" altLang="en-US" sz="1000" kern="1200">
                          <a:solidFill>
                            <a:srgbClr val="4E4E4E"/>
                          </a:solidFill>
                          <a:latin typeface="+mn-lt"/>
                          <a:ea typeface="+mn-ea"/>
                          <a:cs typeface="+mn-cs"/>
                        </a:rPr>
                        <a:t>月</a:t>
                      </a:r>
                      <a:endParaRPr kumimoji="1" lang="zh-TW" altLang="en-US" sz="1000" kern="1200" noProof="0">
                        <a:solidFill>
                          <a:srgbClr val="4E4E4E"/>
                        </a:solidFill>
                        <a:latin typeface="+mn-lt"/>
                        <a:ea typeface="+mn-ea"/>
                        <a:cs typeface="+mn-cs"/>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zh-TW" sz="1000" kern="1200" noProof="0">
                          <a:solidFill>
                            <a:srgbClr val="4E4E4E"/>
                          </a:solidFill>
                          <a:latin typeface="+mn-lt"/>
                          <a:ea typeface="+mn-ea"/>
                          <a:cs typeface="+mn-cs"/>
                        </a:rPr>
                        <a:t>0</a:t>
                      </a:r>
                      <a:endParaRPr kumimoji="1" lang="zh-TW" altLang="en-US" sz="1000" kern="1200" noProof="0">
                        <a:solidFill>
                          <a:srgbClr val="4E4E4E"/>
                        </a:solidFill>
                        <a:latin typeface="+mn-lt"/>
                        <a:ea typeface="+mn-ea"/>
                        <a:cs typeface="+mn-cs"/>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zh-TW" sz="1000" b="0" i="0" u="none" strike="noStrike" kern="1200" cap="none" spc="0" normalizeH="0" baseline="0" noProof="0">
                          <a:ln>
                            <a:noFill/>
                          </a:ln>
                          <a:solidFill>
                            <a:srgbClr val="4E4E4E"/>
                          </a:solidFill>
                          <a:effectLst/>
                          <a:uLnTx/>
                          <a:uFillTx/>
                          <a:latin typeface="Aptos" panose="02110004020202020204"/>
                          <a:ea typeface="新細明體" panose="02020500000000000000" pitchFamily="18" charset="-120"/>
                          <a:cs typeface="+mn-cs"/>
                        </a:rPr>
                        <a:t>2025-09-30</a:t>
                      </a:r>
                      <a:endParaRPr kumimoji="1" lang="zh-TW" altLang="en-US" sz="1000" b="0" i="0" u="none" strike="noStrike" kern="1200" cap="none" spc="0" normalizeH="0" baseline="0" noProof="0">
                        <a:ln>
                          <a:noFill/>
                        </a:ln>
                        <a:solidFill>
                          <a:srgbClr val="4E4E4E"/>
                        </a:solidFill>
                        <a:effectLst/>
                        <a:uLnTx/>
                        <a:uFillTx/>
                        <a:latin typeface="Aptos" panose="02110004020202020204"/>
                        <a:ea typeface="新細明體" panose="02020500000000000000" pitchFamily="18" charset="-120"/>
                        <a:cs typeface="+mn-cs"/>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zh-TW" sz="1000" b="0" i="0" u="none" strike="noStrike" kern="1200" cap="none" spc="0" normalizeH="0" baseline="0" noProof="0">
                          <a:ln>
                            <a:noFill/>
                          </a:ln>
                          <a:solidFill>
                            <a:srgbClr val="4E4E4E"/>
                          </a:solidFill>
                          <a:effectLst/>
                          <a:uLnTx/>
                          <a:uFillTx/>
                          <a:latin typeface="+mn-lt"/>
                          <a:ea typeface="+mn-ea"/>
                          <a:cs typeface="+mn-cs"/>
                        </a:rPr>
                        <a:t>2025-10-30</a:t>
                      </a:r>
                      <a:endParaRPr kumimoji="1" lang="zh-TW" altLang="en-US" sz="1000" b="0" i="0" u="none" strike="noStrike" kern="1200" cap="none" spc="0" normalizeH="0" baseline="0" noProof="0">
                        <a:ln>
                          <a:noFill/>
                        </a:ln>
                        <a:solidFill>
                          <a:srgbClr val="4E4E4E"/>
                        </a:solidFill>
                        <a:effectLst/>
                        <a:uLnTx/>
                        <a:uFillTx/>
                        <a:latin typeface="+mn-lt"/>
                        <a:ea typeface="+mn-ea"/>
                        <a:cs typeface="+mn-cs"/>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zh-TW" sz="1000" b="0" i="0" u="none" strike="noStrike" kern="1200" cap="none" spc="0" normalizeH="0" baseline="0" noProof="0" dirty="0">
                          <a:ln>
                            <a:noFill/>
                          </a:ln>
                          <a:solidFill>
                            <a:srgbClr val="4E4E4E"/>
                          </a:solidFill>
                          <a:effectLst/>
                          <a:uLnTx/>
                          <a:uFillTx/>
                          <a:latin typeface="+mn-lt"/>
                          <a:ea typeface="+mn-ea"/>
                          <a:cs typeface="+mn-cs"/>
                        </a:rPr>
                        <a:t>Completed</a:t>
                      </a:r>
                      <a:endParaRPr kumimoji="1" lang="zh-TW" altLang="en-US" sz="1000" b="0" i="0" u="none" strike="noStrike" kern="1200" cap="none" spc="0" normalizeH="0" baseline="0" noProof="0" dirty="0">
                        <a:ln>
                          <a:noFill/>
                        </a:ln>
                        <a:solidFill>
                          <a:srgbClr val="4E4E4E"/>
                        </a:solidFill>
                        <a:effectLst/>
                        <a:uLnTx/>
                        <a:uFillTx/>
                        <a:latin typeface="+mn-lt"/>
                        <a:ea typeface="+mn-ea"/>
                        <a:cs typeface="+mn-cs"/>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zh-TW" sz="1000" kern="1200">
                          <a:solidFill>
                            <a:srgbClr val="2993FF"/>
                          </a:solidFill>
                          <a:latin typeface="+mn-lt"/>
                          <a:ea typeface="+mn-ea"/>
                          <a:cs typeface="+mn-cs"/>
                        </a:rPr>
                        <a:t>In Used(1)</a:t>
                      </a:r>
                      <a:endParaRPr kumimoji="1" lang="zh-TW" altLang="en-US" sz="1000" kern="1200">
                        <a:solidFill>
                          <a:srgbClr val="2993FF"/>
                        </a:solidFill>
                        <a:latin typeface="+mn-lt"/>
                        <a:ea typeface="+mn-ea"/>
                        <a:cs typeface="+mn-cs"/>
                      </a:endParaRPr>
                    </a:p>
                  </a:txBody>
                  <a:tcPr anchor="ctr">
                    <a:lnL w="12700" cap="flat" cmpd="sng" algn="ctr">
                      <a:no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3805930247"/>
                  </a:ext>
                </a:extLst>
              </a:tr>
              <a:tr h="36882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zh-TW" sz="1000" kern="1200">
                          <a:solidFill>
                            <a:srgbClr val="4E4E4E"/>
                          </a:solidFill>
                          <a:latin typeface="+mn-lt"/>
                          <a:ea typeface="+mn-ea"/>
                          <a:cs typeface="+mn-cs"/>
                        </a:rPr>
                        <a:t>12130</a:t>
                      </a:r>
                      <a:endParaRPr kumimoji="1" lang="zh-TW" altLang="en-US" sz="1000" kern="1200">
                        <a:solidFill>
                          <a:srgbClr val="4E4E4E"/>
                        </a:solidFill>
                        <a:latin typeface="+mn-lt"/>
                        <a:ea typeface="+mn-ea"/>
                        <a:cs typeface="+mn-cs"/>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fontAlgn="base" latinLnBrk="0">
                        <a:buNone/>
                      </a:pPr>
                      <a:r>
                        <a:rPr kumimoji="1" lang="en" altLang="zh-TW" sz="1000" kern="1200" dirty="0">
                          <a:solidFill>
                            <a:srgbClr val="4E4E4E"/>
                          </a:solidFill>
                          <a:latin typeface="+mn-lt"/>
                          <a:ea typeface="+mn-ea"/>
                          <a:cs typeface="+mn-cs"/>
                        </a:rPr>
                        <a:t>Webb Retail Data (Purchase)</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 altLang="zh-TW" sz="1000" kern="1200">
                          <a:solidFill>
                            <a:srgbClr val="4E4E4E"/>
                          </a:solidFill>
                          <a:latin typeface="+mn-lt"/>
                          <a:ea typeface="+mn-ea"/>
                          <a:cs typeface="+mn-cs"/>
                        </a:rPr>
                        <a:t>[Webb</a:t>
                      </a:r>
                      <a:r>
                        <a:rPr kumimoji="1" lang="zh-TW" altLang="en-US" sz="1000" kern="1200">
                          <a:solidFill>
                            <a:srgbClr val="4E4E4E"/>
                          </a:solidFill>
                          <a:latin typeface="+mn-lt"/>
                          <a:ea typeface="+mn-ea"/>
                          <a:cs typeface="+mn-cs"/>
                        </a:rPr>
                        <a:t>零售數據</a:t>
                      </a:r>
                      <a:r>
                        <a:rPr kumimoji="1" lang="en-US" altLang="zh-TW" sz="1000" kern="1200">
                          <a:solidFill>
                            <a:srgbClr val="4E4E4E"/>
                          </a:solidFill>
                          <a:latin typeface="+mn-lt"/>
                          <a:ea typeface="+mn-ea"/>
                          <a:cs typeface="+mn-cs"/>
                        </a:rPr>
                        <a:t>-</a:t>
                      </a:r>
                      <a:r>
                        <a:rPr kumimoji="1" lang="zh-TW" altLang="en-US" sz="1000" kern="1200">
                          <a:solidFill>
                            <a:srgbClr val="4E4E4E"/>
                          </a:solidFill>
                          <a:latin typeface="+mn-lt"/>
                          <a:ea typeface="+mn-ea"/>
                          <a:cs typeface="+mn-cs"/>
                        </a:rPr>
                        <a:t>購買</a:t>
                      </a:r>
                      <a:r>
                        <a:rPr kumimoji="1" lang="en-US" altLang="zh-TW" sz="1000" kern="1200">
                          <a:solidFill>
                            <a:srgbClr val="4E4E4E"/>
                          </a:solidFill>
                          <a:latin typeface="+mn-lt"/>
                          <a:ea typeface="+mn-ea"/>
                          <a:cs typeface="+mn-cs"/>
                        </a:rPr>
                        <a:t>] </a:t>
                      </a:r>
                      <a:r>
                        <a:rPr kumimoji="1" lang="zh-TW" altLang="en-US" sz="1000" kern="1200">
                          <a:solidFill>
                            <a:srgbClr val="4E4E4E"/>
                          </a:solidFill>
                          <a:latin typeface="+mn-lt"/>
                          <a:ea typeface="+mn-ea"/>
                          <a:cs typeface="+mn-cs"/>
                        </a:rPr>
                        <a:t>合利他命</a:t>
                      </a:r>
                      <a:r>
                        <a:rPr kumimoji="1" lang="en" altLang="zh-TW" sz="1000" kern="1200">
                          <a:solidFill>
                            <a:srgbClr val="4E4E4E"/>
                          </a:solidFill>
                          <a:latin typeface="+mn-lt"/>
                          <a:ea typeface="+mn-ea"/>
                          <a:cs typeface="+mn-cs"/>
                        </a:rPr>
                        <a:t>EXPLUS 10</a:t>
                      </a:r>
                      <a:r>
                        <a:rPr kumimoji="1" lang="zh-TW" altLang="en-US" sz="1000" kern="1200">
                          <a:solidFill>
                            <a:srgbClr val="4E4E4E"/>
                          </a:solidFill>
                          <a:latin typeface="+mn-lt"/>
                          <a:ea typeface="+mn-ea"/>
                          <a:cs typeface="+mn-cs"/>
                        </a:rPr>
                        <a:t>月</a:t>
                      </a:r>
                      <a:endParaRPr kumimoji="1" lang="zh-TW" altLang="en-US" sz="1000" kern="1200" noProof="0">
                        <a:solidFill>
                          <a:srgbClr val="4E4E4E"/>
                        </a:solidFill>
                        <a:latin typeface="+mn-lt"/>
                        <a:ea typeface="+mn-ea"/>
                        <a:cs typeface="+mn-cs"/>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zh-TW" sz="1000" kern="1200">
                          <a:solidFill>
                            <a:srgbClr val="4E4E4E"/>
                          </a:solidFill>
                          <a:latin typeface="+mn-lt"/>
                          <a:ea typeface="+mn-ea"/>
                          <a:cs typeface="+mn-cs"/>
                        </a:rPr>
                        <a:t>46,167</a:t>
                      </a:r>
                      <a:endParaRPr kumimoji="1" lang="zh-TW" altLang="en-US" sz="1000" kern="1200" noProof="0">
                        <a:solidFill>
                          <a:srgbClr val="4E4E4E"/>
                        </a:solidFill>
                        <a:latin typeface="+mn-lt"/>
                        <a:ea typeface="+mn-ea"/>
                        <a:cs typeface="+mn-cs"/>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zh-TW" sz="1000" b="0" i="0" u="none" strike="noStrike" kern="1200" cap="none" spc="0" normalizeH="0" baseline="0" noProof="0">
                          <a:ln>
                            <a:noFill/>
                          </a:ln>
                          <a:solidFill>
                            <a:srgbClr val="4E4E4E"/>
                          </a:solidFill>
                          <a:effectLst/>
                          <a:uLnTx/>
                          <a:uFillTx/>
                          <a:latin typeface="Aptos" panose="02110004020202020204"/>
                          <a:ea typeface="新細明體" panose="02020500000000000000" pitchFamily="18" charset="-120"/>
                          <a:cs typeface="+mn-cs"/>
                        </a:rPr>
                        <a:t>2025-09-30</a:t>
                      </a:r>
                      <a:endParaRPr kumimoji="1" lang="zh-TW" altLang="en-US" sz="1000" b="0" i="0" u="none" strike="noStrike" kern="1200" cap="none" spc="0" normalizeH="0" baseline="0" noProof="0">
                        <a:ln>
                          <a:noFill/>
                        </a:ln>
                        <a:solidFill>
                          <a:srgbClr val="4E4E4E"/>
                        </a:solidFill>
                        <a:effectLst/>
                        <a:uLnTx/>
                        <a:uFillTx/>
                        <a:latin typeface="Aptos" panose="02110004020202020204"/>
                        <a:ea typeface="新細明體" panose="02020500000000000000" pitchFamily="18" charset="-120"/>
                        <a:cs typeface="+mn-cs"/>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zh-TW" sz="1000" b="0" i="0" u="none" strike="noStrike" kern="1200" cap="none" spc="0" normalizeH="0" baseline="0" noProof="0">
                          <a:ln>
                            <a:noFill/>
                          </a:ln>
                          <a:solidFill>
                            <a:srgbClr val="4E4E4E"/>
                          </a:solidFill>
                          <a:effectLst/>
                          <a:uLnTx/>
                          <a:uFillTx/>
                          <a:latin typeface="+mn-lt"/>
                          <a:ea typeface="+mn-ea"/>
                          <a:cs typeface="+mn-cs"/>
                        </a:rPr>
                        <a:t>2025-10-30</a:t>
                      </a:r>
                      <a:endParaRPr kumimoji="1" lang="zh-TW" altLang="en-US" sz="1000" b="0" i="0" u="none" strike="noStrike" kern="1200" cap="none" spc="0" normalizeH="0" baseline="0" noProof="0">
                        <a:ln>
                          <a:noFill/>
                        </a:ln>
                        <a:solidFill>
                          <a:srgbClr val="4E4E4E"/>
                        </a:solidFill>
                        <a:effectLst/>
                        <a:uLnTx/>
                        <a:uFillTx/>
                        <a:latin typeface="+mn-lt"/>
                        <a:ea typeface="+mn-ea"/>
                        <a:cs typeface="+mn-cs"/>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zh-TW" sz="1000" b="0" i="0" u="none" strike="noStrike" kern="1200" cap="none" spc="0" normalizeH="0" baseline="0" noProof="0" dirty="0">
                          <a:ln>
                            <a:noFill/>
                          </a:ln>
                          <a:solidFill>
                            <a:srgbClr val="4E4E4E"/>
                          </a:solidFill>
                          <a:effectLst/>
                          <a:uLnTx/>
                          <a:uFillTx/>
                          <a:latin typeface="Aptos" panose="02110004020202020204"/>
                          <a:ea typeface="新細明體" panose="02020500000000000000" pitchFamily="18" charset="-120"/>
                          <a:cs typeface="+mn-cs"/>
                        </a:rPr>
                        <a:t>Completed</a:t>
                      </a:r>
                      <a:endParaRPr kumimoji="1" lang="zh-TW" altLang="en-US" sz="1000" b="0" i="0" u="none" strike="noStrike" kern="1200" cap="none" spc="0" normalizeH="0" baseline="0" noProof="0" dirty="0">
                        <a:ln>
                          <a:noFill/>
                        </a:ln>
                        <a:solidFill>
                          <a:srgbClr val="4E4E4E"/>
                        </a:solidFill>
                        <a:effectLst/>
                        <a:uLnTx/>
                        <a:uFillTx/>
                        <a:latin typeface="Aptos" panose="02110004020202020204"/>
                        <a:ea typeface="新細明體" panose="02020500000000000000" pitchFamily="18" charset="-120"/>
                        <a:cs typeface="+mn-cs"/>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zh-TW" sz="1000" kern="1200">
                          <a:solidFill>
                            <a:srgbClr val="2993FF"/>
                          </a:solidFill>
                          <a:latin typeface="+mn-lt"/>
                          <a:ea typeface="+mn-ea"/>
                          <a:cs typeface="+mn-cs"/>
                        </a:rPr>
                        <a:t>In Used(4)</a:t>
                      </a:r>
                      <a:endParaRPr kumimoji="1" lang="zh-TW" altLang="en-US" sz="1000" kern="1200">
                        <a:solidFill>
                          <a:srgbClr val="2993FF"/>
                        </a:solidFill>
                        <a:latin typeface="+mn-lt"/>
                        <a:ea typeface="+mn-ea"/>
                        <a:cs typeface="+mn-cs"/>
                      </a:endParaRPr>
                    </a:p>
                  </a:txBody>
                  <a:tcPr anchor="ctr">
                    <a:lnL w="12700" cap="flat" cmpd="sng" algn="ctr">
                      <a:no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189279743"/>
                  </a:ext>
                </a:extLst>
              </a:tr>
              <a:tr h="36882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zh-TW" sz="1000" kern="1200">
                          <a:solidFill>
                            <a:srgbClr val="4E4E4E"/>
                          </a:solidFill>
                          <a:latin typeface="+mn-lt"/>
                          <a:ea typeface="+mn-ea"/>
                          <a:cs typeface="+mn-cs"/>
                        </a:rPr>
                        <a:t>12120</a:t>
                      </a:r>
                      <a:endParaRPr kumimoji="1" lang="zh-TW" altLang="en-US" sz="1000" kern="1200">
                        <a:solidFill>
                          <a:srgbClr val="4E4E4E"/>
                        </a:solidFill>
                        <a:latin typeface="+mn-lt"/>
                        <a:ea typeface="+mn-ea"/>
                        <a:cs typeface="+mn-cs"/>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 altLang="zh-TW" sz="1000" kern="1200">
                          <a:solidFill>
                            <a:srgbClr val="4E4E4E"/>
                          </a:solidFill>
                          <a:latin typeface="+mn-lt"/>
                          <a:ea typeface="+mn-ea"/>
                          <a:cs typeface="+mn-cs"/>
                        </a:rPr>
                        <a:t>Industry Shopper Graph</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 altLang="zh-TW" sz="1000" kern="1200">
                          <a:solidFill>
                            <a:srgbClr val="4E4E4E"/>
                          </a:solidFill>
                          <a:latin typeface="+mn-lt"/>
                          <a:ea typeface="+mn-ea"/>
                          <a:cs typeface="+mn-cs"/>
                        </a:rPr>
                        <a:t>[</a:t>
                      </a:r>
                      <a:r>
                        <a:rPr kumimoji="1" lang="zh-TW" altLang="en-US" sz="1000" kern="1200">
                          <a:solidFill>
                            <a:srgbClr val="4E4E4E"/>
                          </a:solidFill>
                          <a:latin typeface="+mn-lt"/>
                          <a:ea typeface="+mn-ea"/>
                          <a:cs typeface="+mn-cs"/>
                        </a:rPr>
                        <a:t>產業 </a:t>
                      </a:r>
                      <a:r>
                        <a:rPr kumimoji="1" lang="en" altLang="zh-TW" sz="1000" kern="1200">
                          <a:solidFill>
                            <a:srgbClr val="4E4E4E"/>
                          </a:solidFill>
                          <a:latin typeface="+mn-lt"/>
                          <a:ea typeface="+mn-ea"/>
                          <a:cs typeface="+mn-cs"/>
                        </a:rPr>
                        <a:t>Shopper Graph</a:t>
                      </a:r>
                      <a:r>
                        <a:rPr kumimoji="1" lang="en-US" altLang="zh-TW" sz="1000" kern="1200">
                          <a:solidFill>
                            <a:srgbClr val="4E4E4E"/>
                          </a:solidFill>
                          <a:latin typeface="+mn-lt"/>
                          <a:ea typeface="+mn-ea"/>
                          <a:cs typeface="+mn-cs"/>
                        </a:rPr>
                        <a:t>] </a:t>
                      </a:r>
                      <a:r>
                        <a:rPr kumimoji="1" lang="zh-TW" altLang="en-US" sz="1000" kern="1200">
                          <a:solidFill>
                            <a:srgbClr val="4E4E4E"/>
                          </a:solidFill>
                          <a:latin typeface="+mn-lt"/>
                          <a:ea typeface="+mn-ea"/>
                          <a:cs typeface="+mn-cs"/>
                        </a:rPr>
                        <a:t>合利他命</a:t>
                      </a:r>
                      <a:r>
                        <a:rPr kumimoji="1" lang="en" altLang="zh-TW" sz="1000" kern="1200">
                          <a:solidFill>
                            <a:srgbClr val="4E4E4E"/>
                          </a:solidFill>
                          <a:latin typeface="+mn-lt"/>
                          <a:ea typeface="+mn-ea"/>
                          <a:cs typeface="+mn-cs"/>
                        </a:rPr>
                        <a:t>EXPLUS 9-10</a:t>
                      </a:r>
                      <a:r>
                        <a:rPr kumimoji="1" lang="zh-TW" altLang="en-US" sz="1000" kern="1200">
                          <a:solidFill>
                            <a:srgbClr val="4E4E4E"/>
                          </a:solidFill>
                          <a:latin typeface="+mn-lt"/>
                          <a:ea typeface="+mn-ea"/>
                          <a:cs typeface="+mn-cs"/>
                        </a:rPr>
                        <a:t>月</a:t>
                      </a:r>
                      <a:endParaRPr kumimoji="1" lang="zh-TW" altLang="en-US" sz="1000" kern="1200" noProof="0">
                        <a:solidFill>
                          <a:srgbClr val="4E4E4E"/>
                        </a:solidFill>
                        <a:latin typeface="+mn-lt"/>
                        <a:ea typeface="+mn-ea"/>
                        <a:cs typeface="+mn-cs"/>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zh-TW" sz="1000" kern="1200">
                          <a:solidFill>
                            <a:srgbClr val="4E4E4E"/>
                          </a:solidFill>
                          <a:latin typeface="+mn-lt"/>
                          <a:ea typeface="+mn-ea"/>
                          <a:cs typeface="+mn-cs"/>
                        </a:rPr>
                        <a:t>1,000,000</a:t>
                      </a:r>
                      <a:endParaRPr kumimoji="1" lang="zh-TW" altLang="en-US" sz="1000" kern="1200" noProof="0">
                        <a:solidFill>
                          <a:srgbClr val="4E4E4E"/>
                        </a:solidFill>
                        <a:latin typeface="+mn-lt"/>
                        <a:ea typeface="+mn-ea"/>
                        <a:cs typeface="+mn-cs"/>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zh-TW" sz="1000" b="0" i="0" u="none" strike="noStrike" kern="1200" cap="none" spc="0" normalizeH="0" baseline="0" noProof="0" dirty="0">
                          <a:ln>
                            <a:noFill/>
                          </a:ln>
                          <a:solidFill>
                            <a:srgbClr val="4E4E4E"/>
                          </a:solidFill>
                          <a:effectLst/>
                          <a:uLnTx/>
                          <a:uFillTx/>
                          <a:latin typeface="Aptos" panose="02110004020202020204"/>
                          <a:ea typeface="新細明體" panose="02020500000000000000" pitchFamily="18" charset="-120"/>
                          <a:cs typeface="+mn-cs"/>
                        </a:rPr>
                        <a:t>2025-07-25</a:t>
                      </a:r>
                      <a:endParaRPr kumimoji="1" lang="zh-TW" altLang="en-US" sz="1000" b="0" i="0" u="none" strike="noStrike" kern="1200" cap="none" spc="0" normalizeH="0" baseline="0" noProof="0" dirty="0">
                        <a:ln>
                          <a:noFill/>
                        </a:ln>
                        <a:solidFill>
                          <a:srgbClr val="4E4E4E"/>
                        </a:solidFill>
                        <a:effectLst/>
                        <a:uLnTx/>
                        <a:uFillTx/>
                        <a:latin typeface="Aptos" panose="02110004020202020204"/>
                        <a:ea typeface="新細明體" panose="02020500000000000000" pitchFamily="18" charset="-120"/>
                        <a:cs typeface="+mn-cs"/>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zh-TW" sz="1000" b="0" i="0" u="none" strike="noStrike" kern="1200" cap="none" spc="0" normalizeH="0" baseline="0" noProof="0">
                          <a:ln>
                            <a:noFill/>
                          </a:ln>
                          <a:solidFill>
                            <a:srgbClr val="4E4E4E"/>
                          </a:solidFill>
                          <a:effectLst/>
                          <a:uLnTx/>
                          <a:uFillTx/>
                          <a:latin typeface="+mn-lt"/>
                          <a:ea typeface="+mn-ea"/>
                          <a:cs typeface="+mn-cs"/>
                        </a:rPr>
                        <a:t>2025-10-25</a:t>
                      </a:r>
                      <a:endParaRPr kumimoji="1" lang="zh-TW" altLang="en-US" sz="1000" b="0" i="0" u="none" strike="noStrike" kern="1200" cap="none" spc="0" normalizeH="0" baseline="0" noProof="0">
                        <a:ln>
                          <a:noFill/>
                        </a:ln>
                        <a:solidFill>
                          <a:srgbClr val="4E4E4E"/>
                        </a:solidFill>
                        <a:effectLst/>
                        <a:uLnTx/>
                        <a:uFillTx/>
                        <a:latin typeface="+mn-lt"/>
                        <a:ea typeface="+mn-ea"/>
                        <a:cs typeface="+mn-cs"/>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zh-TW" sz="1000" b="0" i="0" u="none" strike="noStrike" kern="1200" cap="none" spc="0" normalizeH="0" baseline="0" noProof="0">
                          <a:ln>
                            <a:noFill/>
                          </a:ln>
                          <a:solidFill>
                            <a:srgbClr val="4E4E4E"/>
                          </a:solidFill>
                          <a:effectLst/>
                          <a:uLnTx/>
                          <a:uFillTx/>
                          <a:latin typeface="+mn-lt"/>
                          <a:ea typeface="+mn-ea"/>
                          <a:cs typeface="+mn-cs"/>
                        </a:rPr>
                        <a:t>Completed</a:t>
                      </a:r>
                      <a:endParaRPr kumimoji="1" lang="zh-TW" altLang="en-US" sz="1000" b="0" i="0" u="none" strike="noStrike" kern="1200" cap="none" spc="0" normalizeH="0" baseline="0" noProof="0">
                        <a:ln>
                          <a:noFill/>
                        </a:ln>
                        <a:solidFill>
                          <a:srgbClr val="4E4E4E"/>
                        </a:solidFill>
                        <a:effectLst/>
                        <a:uLnTx/>
                        <a:uFillTx/>
                        <a:latin typeface="+mn-lt"/>
                        <a:ea typeface="+mn-ea"/>
                        <a:cs typeface="+mn-cs"/>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zh-TW" sz="1000" kern="1200">
                          <a:solidFill>
                            <a:srgbClr val="2993FF"/>
                          </a:solidFill>
                          <a:latin typeface="+mn-lt"/>
                          <a:ea typeface="+mn-ea"/>
                          <a:cs typeface="+mn-cs"/>
                        </a:rPr>
                        <a:t>In Used(3)</a:t>
                      </a:r>
                      <a:endParaRPr kumimoji="1" lang="zh-TW" altLang="en-US" sz="1000" kern="1200">
                        <a:solidFill>
                          <a:srgbClr val="2993FF"/>
                        </a:solidFill>
                        <a:latin typeface="+mn-lt"/>
                        <a:ea typeface="+mn-ea"/>
                        <a:cs typeface="+mn-cs"/>
                      </a:endParaRPr>
                    </a:p>
                  </a:txBody>
                  <a:tcPr anchor="ctr">
                    <a:lnL w="12700" cap="flat" cmpd="sng" algn="ctr">
                      <a:no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2605622895"/>
                  </a:ext>
                </a:extLst>
              </a:tr>
              <a:tr h="29895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zh-TW" sz="1000" kern="1200">
                          <a:solidFill>
                            <a:srgbClr val="4E4E4E"/>
                          </a:solidFill>
                          <a:latin typeface="+mn-lt"/>
                          <a:ea typeface="+mn-ea"/>
                          <a:cs typeface="+mn-cs"/>
                        </a:rPr>
                        <a:t>11111</a:t>
                      </a:r>
                      <a:endParaRPr kumimoji="1" lang="zh-TW" altLang="en-US" sz="1000" kern="1200">
                        <a:solidFill>
                          <a:srgbClr val="4E4E4E"/>
                        </a:solidFill>
                        <a:latin typeface="+mn-lt"/>
                        <a:ea typeface="+mn-ea"/>
                        <a:cs typeface="+mn-cs"/>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 altLang="zh-TW" sz="1000" kern="1200" dirty="0">
                          <a:solidFill>
                            <a:srgbClr val="4E4E4E"/>
                          </a:solidFill>
                          <a:latin typeface="+mn-lt"/>
                          <a:ea typeface="+mn-ea"/>
                          <a:cs typeface="+mn-cs"/>
                        </a:rPr>
                        <a:t>Industry Shopper Graph</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 altLang="zh-TW" sz="1000" kern="1200" dirty="0">
                          <a:solidFill>
                            <a:srgbClr val="4E4E4E"/>
                          </a:solidFill>
                          <a:latin typeface="+mn-lt"/>
                          <a:ea typeface="+mn-ea"/>
                          <a:cs typeface="+mn-cs"/>
                        </a:rPr>
                        <a:t>[</a:t>
                      </a:r>
                      <a:r>
                        <a:rPr kumimoji="1" lang="zh-TW" altLang="en-US" sz="1000" kern="1200" dirty="0">
                          <a:solidFill>
                            <a:srgbClr val="4E4E4E"/>
                          </a:solidFill>
                          <a:latin typeface="+mn-lt"/>
                          <a:ea typeface="+mn-ea"/>
                          <a:cs typeface="+mn-cs"/>
                        </a:rPr>
                        <a:t>產業 </a:t>
                      </a:r>
                      <a:r>
                        <a:rPr kumimoji="1" lang="en" altLang="zh-TW" sz="1000" kern="1200" dirty="0">
                          <a:solidFill>
                            <a:srgbClr val="4E4E4E"/>
                          </a:solidFill>
                          <a:latin typeface="+mn-lt"/>
                          <a:ea typeface="+mn-ea"/>
                          <a:cs typeface="+mn-cs"/>
                        </a:rPr>
                        <a:t>Shopper Graph</a:t>
                      </a:r>
                      <a:r>
                        <a:rPr kumimoji="1" lang="en-US" altLang="zh-TW" sz="1000" kern="1200" dirty="0">
                          <a:solidFill>
                            <a:srgbClr val="4E4E4E"/>
                          </a:solidFill>
                          <a:latin typeface="+mn-lt"/>
                          <a:ea typeface="+mn-ea"/>
                          <a:cs typeface="+mn-cs"/>
                        </a:rPr>
                        <a:t>] </a:t>
                      </a:r>
                      <a:r>
                        <a:rPr kumimoji="1" lang="zh-TW" altLang="en-US" sz="1000" kern="1200" dirty="0">
                          <a:solidFill>
                            <a:srgbClr val="4E4E4E"/>
                          </a:solidFill>
                          <a:latin typeface="+mn-lt"/>
                          <a:ea typeface="+mn-ea"/>
                          <a:cs typeface="+mn-cs"/>
                        </a:rPr>
                        <a:t>合利他命</a:t>
                      </a:r>
                      <a:r>
                        <a:rPr kumimoji="1" lang="en" altLang="zh-TW" sz="1000" kern="1200" dirty="0">
                          <a:solidFill>
                            <a:srgbClr val="4E4E4E"/>
                          </a:solidFill>
                          <a:latin typeface="+mn-lt"/>
                          <a:ea typeface="+mn-ea"/>
                          <a:cs typeface="+mn-cs"/>
                        </a:rPr>
                        <a:t>EXPLUS 7</a:t>
                      </a:r>
                      <a:r>
                        <a:rPr kumimoji="1" lang="zh-TW" altLang="en-US" sz="1000" kern="1200" dirty="0">
                          <a:solidFill>
                            <a:srgbClr val="4E4E4E"/>
                          </a:solidFill>
                          <a:latin typeface="+mn-lt"/>
                          <a:ea typeface="+mn-ea"/>
                          <a:cs typeface="+mn-cs"/>
                        </a:rPr>
                        <a:t>月</a:t>
                      </a:r>
                      <a:endParaRPr kumimoji="1" lang="zh-TW" altLang="en-US" sz="1000" kern="1200" noProof="0" dirty="0">
                        <a:solidFill>
                          <a:srgbClr val="4E4E4E"/>
                        </a:solidFill>
                        <a:latin typeface="+mn-lt"/>
                        <a:ea typeface="+mn-ea"/>
                        <a:cs typeface="+mn-cs"/>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zh-TW" sz="1000" kern="1200" dirty="0">
                          <a:solidFill>
                            <a:srgbClr val="4E4E4E"/>
                          </a:solidFill>
                          <a:latin typeface="+mn-lt"/>
                          <a:ea typeface="+mn-ea"/>
                          <a:cs typeface="+mn-cs"/>
                        </a:rPr>
                        <a:t>800000</a:t>
                      </a:r>
                      <a:endParaRPr kumimoji="1" lang="zh-TW" altLang="en-US" sz="1000" kern="1200" noProof="0" dirty="0">
                        <a:solidFill>
                          <a:srgbClr val="4E4E4E"/>
                        </a:solidFill>
                        <a:latin typeface="+mn-lt"/>
                        <a:ea typeface="+mn-ea"/>
                        <a:cs typeface="+mn-cs"/>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zh-TW" sz="1000" b="0" i="0" u="none" strike="noStrike" kern="1200" cap="none" spc="0" normalizeH="0" baseline="0" noProof="0">
                          <a:ln>
                            <a:noFill/>
                          </a:ln>
                          <a:solidFill>
                            <a:srgbClr val="4E4E4E"/>
                          </a:solidFill>
                          <a:effectLst/>
                          <a:uLnTx/>
                          <a:uFillTx/>
                          <a:latin typeface="Aptos" panose="02110004020202020204"/>
                          <a:ea typeface="新細明體" panose="02020500000000000000" pitchFamily="18" charset="-120"/>
                          <a:cs typeface="+mn-cs"/>
                        </a:rPr>
                        <a:t>2025-06-25</a:t>
                      </a:r>
                      <a:endParaRPr kumimoji="1" lang="zh-TW" altLang="en-US" sz="1000" b="0" i="0" u="none" strike="noStrike" kern="1200" cap="none" spc="0" normalizeH="0" baseline="0" noProof="0">
                        <a:ln>
                          <a:noFill/>
                        </a:ln>
                        <a:solidFill>
                          <a:srgbClr val="4E4E4E"/>
                        </a:solidFill>
                        <a:effectLst/>
                        <a:uLnTx/>
                        <a:uFillTx/>
                        <a:latin typeface="Aptos" panose="02110004020202020204"/>
                        <a:ea typeface="新細明體" panose="02020500000000000000" pitchFamily="18" charset="-120"/>
                        <a:cs typeface="+mn-cs"/>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zh-TW" sz="1000" b="0" i="0" u="none" strike="noStrike" kern="1200" cap="none" spc="0" normalizeH="0" baseline="0" noProof="0">
                          <a:ln>
                            <a:noFill/>
                          </a:ln>
                          <a:solidFill>
                            <a:srgbClr val="4E4E4E"/>
                          </a:solidFill>
                          <a:effectLst/>
                          <a:uLnTx/>
                          <a:uFillTx/>
                          <a:latin typeface="+mn-lt"/>
                          <a:ea typeface="+mn-ea"/>
                          <a:cs typeface="+mn-cs"/>
                        </a:rPr>
                        <a:t>2025-07-31</a:t>
                      </a:r>
                      <a:endParaRPr kumimoji="1" lang="zh-TW" altLang="en-US" sz="1000" b="0" i="0" u="none" strike="noStrike" kern="1200" cap="none" spc="0" normalizeH="0" baseline="0" noProof="0">
                        <a:ln>
                          <a:noFill/>
                        </a:ln>
                        <a:solidFill>
                          <a:srgbClr val="4E4E4E"/>
                        </a:solidFill>
                        <a:effectLst/>
                        <a:uLnTx/>
                        <a:uFillTx/>
                        <a:latin typeface="+mn-lt"/>
                        <a:ea typeface="+mn-ea"/>
                        <a:cs typeface="+mn-cs"/>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zh-TW" sz="1000" b="0" i="0" u="none" strike="noStrike" kern="1200" cap="none" spc="0" normalizeH="0" baseline="0" noProof="0">
                          <a:ln>
                            <a:noFill/>
                          </a:ln>
                          <a:solidFill>
                            <a:srgbClr val="4E4E4E"/>
                          </a:solidFill>
                          <a:effectLst/>
                          <a:uLnTx/>
                          <a:uFillTx/>
                          <a:latin typeface="Aptos" panose="02110004020202020204"/>
                          <a:ea typeface="新細明體" panose="02020500000000000000" pitchFamily="18" charset="-120"/>
                          <a:cs typeface="+mn-cs"/>
                        </a:rPr>
                        <a:t>Expired</a:t>
                      </a:r>
                      <a:endParaRPr kumimoji="1" lang="zh-TW" altLang="en-US" sz="1000" b="0" i="0" u="none" strike="noStrike" kern="1200" cap="none" spc="0" normalizeH="0" baseline="0" noProof="0">
                        <a:ln>
                          <a:noFill/>
                        </a:ln>
                        <a:solidFill>
                          <a:srgbClr val="4E4E4E"/>
                        </a:solidFill>
                        <a:effectLst/>
                        <a:uLnTx/>
                        <a:uFillTx/>
                        <a:latin typeface="Aptos" panose="02110004020202020204"/>
                        <a:ea typeface="新細明體" panose="02020500000000000000" pitchFamily="18" charset="-120"/>
                        <a:cs typeface="+mn-cs"/>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zh-TW" sz="1000" kern="1200" dirty="0">
                          <a:solidFill>
                            <a:srgbClr val="2993FF"/>
                          </a:solidFill>
                          <a:latin typeface="+mn-lt"/>
                          <a:ea typeface="+mn-ea"/>
                          <a:cs typeface="+mn-cs"/>
                        </a:rPr>
                        <a:t>In Used(3)</a:t>
                      </a:r>
                      <a:endParaRPr kumimoji="1" lang="zh-TW" altLang="en-US" sz="1000" kern="1200" dirty="0">
                        <a:solidFill>
                          <a:srgbClr val="2993FF"/>
                        </a:solidFill>
                        <a:latin typeface="+mn-lt"/>
                        <a:ea typeface="+mn-ea"/>
                        <a:cs typeface="+mn-cs"/>
                      </a:endParaRPr>
                    </a:p>
                  </a:txBody>
                  <a:tcPr anchor="ctr">
                    <a:lnL w="12700" cap="flat" cmpd="sng" algn="ctr">
                      <a:no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3724327193"/>
                  </a:ext>
                </a:extLst>
              </a:tr>
              <a:tr h="29895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zh-TW" sz="1000" kern="1200" dirty="0">
                          <a:solidFill>
                            <a:srgbClr val="4E4E4E"/>
                          </a:solidFill>
                          <a:latin typeface="+mn-lt"/>
                          <a:ea typeface="+mn-ea"/>
                          <a:cs typeface="+mn-cs"/>
                        </a:rPr>
                        <a:t>10000</a:t>
                      </a:r>
                      <a:endParaRPr kumimoji="1" lang="zh-TW" altLang="en-US" sz="1000" kern="1200" dirty="0">
                        <a:solidFill>
                          <a:srgbClr val="4E4E4E"/>
                        </a:solidFill>
                        <a:latin typeface="+mn-lt"/>
                        <a:ea typeface="+mn-ea"/>
                        <a:cs typeface="+mn-cs"/>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 altLang="zh-TW" sz="1000" kern="1200" dirty="0">
                          <a:solidFill>
                            <a:srgbClr val="4E4E4E"/>
                          </a:solidFill>
                          <a:latin typeface="+mn-lt"/>
                          <a:ea typeface="+mn-ea"/>
                          <a:cs typeface="+mn-cs"/>
                        </a:rPr>
                        <a:t>Industry Shopper Graph</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 altLang="zh-TW" sz="1000" kern="1200" dirty="0">
                          <a:solidFill>
                            <a:srgbClr val="4E4E4E"/>
                          </a:solidFill>
                          <a:latin typeface="+mn-lt"/>
                          <a:ea typeface="+mn-ea"/>
                          <a:cs typeface="+mn-cs"/>
                        </a:rPr>
                        <a:t>[</a:t>
                      </a:r>
                      <a:r>
                        <a:rPr kumimoji="1" lang="zh-TW" altLang="en-US" sz="1000" kern="1200" dirty="0">
                          <a:solidFill>
                            <a:srgbClr val="4E4E4E"/>
                          </a:solidFill>
                          <a:latin typeface="+mn-lt"/>
                          <a:ea typeface="+mn-ea"/>
                          <a:cs typeface="+mn-cs"/>
                        </a:rPr>
                        <a:t>產業 </a:t>
                      </a:r>
                      <a:r>
                        <a:rPr kumimoji="1" lang="en" altLang="zh-TW" sz="1000" kern="1200" dirty="0">
                          <a:solidFill>
                            <a:srgbClr val="4E4E4E"/>
                          </a:solidFill>
                          <a:latin typeface="+mn-lt"/>
                          <a:ea typeface="+mn-ea"/>
                          <a:cs typeface="+mn-cs"/>
                        </a:rPr>
                        <a:t>Shopper Graph</a:t>
                      </a:r>
                      <a:r>
                        <a:rPr kumimoji="1" lang="en-US" altLang="zh-TW" sz="1000" kern="1200" dirty="0">
                          <a:solidFill>
                            <a:srgbClr val="4E4E4E"/>
                          </a:solidFill>
                          <a:latin typeface="+mn-lt"/>
                          <a:ea typeface="+mn-ea"/>
                          <a:cs typeface="+mn-cs"/>
                        </a:rPr>
                        <a:t>] </a:t>
                      </a:r>
                      <a:r>
                        <a:rPr kumimoji="1" lang="zh-TW" altLang="en-US" sz="1000" kern="1200" dirty="0">
                          <a:solidFill>
                            <a:srgbClr val="4E4E4E"/>
                          </a:solidFill>
                          <a:latin typeface="+mn-lt"/>
                          <a:ea typeface="+mn-ea"/>
                          <a:cs typeface="+mn-cs"/>
                        </a:rPr>
                        <a:t>合利他命</a:t>
                      </a:r>
                      <a:r>
                        <a:rPr kumimoji="1" lang="en" altLang="zh-TW" sz="1000" kern="1200" dirty="0">
                          <a:solidFill>
                            <a:srgbClr val="4E4E4E"/>
                          </a:solidFill>
                          <a:latin typeface="+mn-lt"/>
                          <a:ea typeface="+mn-ea"/>
                          <a:cs typeface="+mn-cs"/>
                        </a:rPr>
                        <a:t>EXPLUS 6</a:t>
                      </a:r>
                      <a:r>
                        <a:rPr kumimoji="1" lang="zh-TW" altLang="en-US" sz="1000" kern="1200" dirty="0">
                          <a:solidFill>
                            <a:srgbClr val="4E4E4E"/>
                          </a:solidFill>
                          <a:latin typeface="+mn-lt"/>
                          <a:ea typeface="+mn-ea"/>
                          <a:cs typeface="+mn-cs"/>
                        </a:rPr>
                        <a:t>月</a:t>
                      </a:r>
                      <a:endParaRPr kumimoji="1" lang="zh-TW" altLang="en-US" sz="1000" kern="1200" noProof="0" dirty="0">
                        <a:solidFill>
                          <a:srgbClr val="4E4E4E"/>
                        </a:solidFill>
                        <a:latin typeface="+mn-lt"/>
                        <a:ea typeface="+mn-ea"/>
                        <a:cs typeface="+mn-cs"/>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zh-TW" sz="1000" kern="1200" noProof="0" dirty="0">
                          <a:solidFill>
                            <a:srgbClr val="4E4E4E"/>
                          </a:solidFill>
                          <a:latin typeface="+mn-lt"/>
                          <a:ea typeface="+mn-ea"/>
                          <a:cs typeface="+mn-cs"/>
                        </a:rPr>
                        <a:t>--</a:t>
                      </a:r>
                      <a:endParaRPr kumimoji="1" lang="zh-TW" altLang="en-US" sz="1000" kern="1200" noProof="0" dirty="0">
                        <a:solidFill>
                          <a:srgbClr val="4E4E4E"/>
                        </a:solidFill>
                        <a:latin typeface="+mn-lt"/>
                        <a:ea typeface="+mn-ea"/>
                        <a:cs typeface="+mn-cs"/>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zh-TW" sz="1000" b="0" i="0" u="none" strike="noStrike" kern="1200" cap="none" spc="0" normalizeH="0" baseline="0" noProof="0" dirty="0">
                          <a:ln>
                            <a:noFill/>
                          </a:ln>
                          <a:solidFill>
                            <a:srgbClr val="4E4E4E"/>
                          </a:solidFill>
                          <a:effectLst/>
                          <a:uLnTx/>
                          <a:uFillTx/>
                          <a:latin typeface="Aptos" panose="02110004020202020204"/>
                          <a:ea typeface="新細明體" panose="02020500000000000000" pitchFamily="18" charset="-120"/>
                          <a:cs typeface="+mn-cs"/>
                        </a:rPr>
                        <a:t>2025-05-25</a:t>
                      </a:r>
                      <a:endParaRPr kumimoji="1" lang="zh-TW" altLang="en-US" sz="1000" b="0" i="0" u="none" strike="noStrike" kern="1200" cap="none" spc="0" normalizeH="0" baseline="0" noProof="0" dirty="0">
                        <a:ln>
                          <a:noFill/>
                        </a:ln>
                        <a:solidFill>
                          <a:srgbClr val="4E4E4E"/>
                        </a:solidFill>
                        <a:effectLst/>
                        <a:uLnTx/>
                        <a:uFillTx/>
                        <a:latin typeface="Aptos" panose="02110004020202020204"/>
                        <a:ea typeface="新細明體" panose="02020500000000000000" pitchFamily="18" charset="-120"/>
                        <a:cs typeface="+mn-cs"/>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zh-TW" sz="1000" b="0" i="0" u="none" strike="noStrike" kern="1200" cap="none" spc="0" normalizeH="0" baseline="0" noProof="0" dirty="0">
                          <a:ln>
                            <a:noFill/>
                          </a:ln>
                          <a:solidFill>
                            <a:srgbClr val="4E4E4E"/>
                          </a:solidFill>
                          <a:effectLst/>
                          <a:uLnTx/>
                          <a:uFillTx/>
                          <a:latin typeface="+mn-lt"/>
                          <a:ea typeface="+mn-ea"/>
                          <a:cs typeface="+mn-cs"/>
                        </a:rPr>
                        <a:t>2025-06-30</a:t>
                      </a:r>
                      <a:endParaRPr kumimoji="1" lang="zh-TW" altLang="en-US" sz="1000" b="0" i="0" u="none" strike="noStrike" kern="1200" cap="none" spc="0" normalizeH="0" baseline="0" noProof="0" dirty="0">
                        <a:ln>
                          <a:noFill/>
                        </a:ln>
                        <a:solidFill>
                          <a:srgbClr val="4E4E4E"/>
                        </a:solidFill>
                        <a:effectLst/>
                        <a:uLnTx/>
                        <a:uFillTx/>
                        <a:latin typeface="+mn-lt"/>
                        <a:ea typeface="+mn-ea"/>
                        <a:cs typeface="+mn-cs"/>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zh-TW" sz="1000" b="0" i="0" u="none" strike="noStrike" kern="1200" cap="none" spc="0" normalizeH="0" baseline="0" noProof="0" dirty="0">
                          <a:ln>
                            <a:noFill/>
                          </a:ln>
                          <a:solidFill>
                            <a:srgbClr val="4E4E4E"/>
                          </a:solidFill>
                          <a:effectLst/>
                          <a:uLnTx/>
                          <a:uFillTx/>
                          <a:latin typeface="Aptos" panose="02110004020202020204"/>
                          <a:ea typeface="新細明體" panose="02020500000000000000" pitchFamily="18" charset="-120"/>
                          <a:cs typeface="+mn-cs"/>
                        </a:rPr>
                        <a:t>Expired </a:t>
                      </a:r>
                      <a:endParaRPr kumimoji="1" lang="zh-TW" altLang="en-US" sz="1000" b="0" i="0" u="none" strike="noStrike" kern="1200" cap="none" spc="0" normalizeH="0" baseline="0" noProof="0" dirty="0">
                        <a:ln>
                          <a:noFill/>
                        </a:ln>
                        <a:solidFill>
                          <a:srgbClr val="4E4E4E"/>
                        </a:solidFill>
                        <a:effectLst/>
                        <a:uLnTx/>
                        <a:uFillTx/>
                        <a:latin typeface="Aptos" panose="02110004020202020204"/>
                        <a:ea typeface="新細明體" panose="02020500000000000000" pitchFamily="18" charset="-120"/>
                        <a:cs typeface="+mn-cs"/>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zh-TW" sz="1000" kern="1200" dirty="0">
                          <a:solidFill>
                            <a:srgbClr val="2993FF"/>
                          </a:solidFill>
                          <a:latin typeface="+mn-lt"/>
                          <a:ea typeface="+mn-ea"/>
                          <a:cs typeface="+mn-cs"/>
                        </a:rPr>
                        <a:t>In Used(0)</a:t>
                      </a:r>
                      <a:endParaRPr kumimoji="1" lang="zh-TW" altLang="en-US" sz="1000" kern="1200" dirty="0">
                        <a:solidFill>
                          <a:srgbClr val="2993FF"/>
                        </a:solidFill>
                        <a:latin typeface="+mn-lt"/>
                        <a:ea typeface="+mn-ea"/>
                        <a:cs typeface="+mn-cs"/>
                      </a:endParaRPr>
                    </a:p>
                  </a:txBody>
                  <a:tcPr anchor="ctr">
                    <a:lnL w="12700" cap="flat" cmpd="sng" algn="ctr">
                      <a:no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4087557477"/>
                  </a:ext>
                </a:extLst>
              </a:tr>
            </a:tbl>
          </a:graphicData>
        </a:graphic>
      </p:graphicFrame>
      <p:sp>
        <p:nvSpPr>
          <p:cNvPr id="19" name="標題 1">
            <a:extLst>
              <a:ext uri="{FF2B5EF4-FFF2-40B4-BE49-F238E27FC236}">
                <a16:creationId xmlns:a16="http://schemas.microsoft.com/office/drawing/2014/main" id="{D8358563-7515-4527-02FF-CC3DBC56C23D}"/>
              </a:ext>
            </a:extLst>
          </p:cNvPr>
          <p:cNvSpPr txBox="1">
            <a:spLocks/>
          </p:cNvSpPr>
          <p:nvPr/>
        </p:nvSpPr>
        <p:spPr>
          <a:xfrm>
            <a:off x="0" y="0"/>
            <a:ext cx="10515600" cy="70560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kumimoji="1" lang="en-US" altLang="zh-TW" sz="2000" dirty="0"/>
              <a:t>Audience Planner</a:t>
            </a:r>
          </a:p>
          <a:p>
            <a:r>
              <a:rPr kumimoji="1" lang="en-US" altLang="zh-TW" sz="2000" dirty="0"/>
              <a:t>Custom Audience UI</a:t>
            </a:r>
            <a:endParaRPr kumimoji="1" lang="zh-TW" altLang="en-US" sz="2000" dirty="0"/>
          </a:p>
        </p:txBody>
      </p:sp>
      <p:sp>
        <p:nvSpPr>
          <p:cNvPr id="28" name="矩形 27">
            <a:extLst>
              <a:ext uri="{FF2B5EF4-FFF2-40B4-BE49-F238E27FC236}">
                <a16:creationId xmlns:a16="http://schemas.microsoft.com/office/drawing/2014/main" id="{4C0DEB81-9B2F-7F81-D803-5D54A09BE007}"/>
              </a:ext>
            </a:extLst>
          </p:cNvPr>
          <p:cNvSpPr/>
          <p:nvPr/>
        </p:nvSpPr>
        <p:spPr>
          <a:xfrm>
            <a:off x="3425710" y="2031029"/>
            <a:ext cx="3313757" cy="355600"/>
          </a:xfrm>
          <a:prstGeom prst="rect">
            <a:avLst/>
          </a:prstGeom>
          <a:solidFill>
            <a:srgbClr val="F5F8F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0" name="圓角矩形 9">
            <a:extLst>
              <a:ext uri="{FF2B5EF4-FFF2-40B4-BE49-F238E27FC236}">
                <a16:creationId xmlns:a16="http://schemas.microsoft.com/office/drawing/2014/main" id="{07A38465-74D6-B694-135B-78AD51F3CE08}"/>
              </a:ext>
            </a:extLst>
          </p:cNvPr>
          <p:cNvSpPr/>
          <p:nvPr/>
        </p:nvSpPr>
        <p:spPr>
          <a:xfrm>
            <a:off x="3425711" y="2061784"/>
            <a:ext cx="2670289" cy="275380"/>
          </a:xfrm>
          <a:prstGeom prst="roundRect">
            <a:avLst>
              <a:gd name="adj" fmla="val 0"/>
            </a:avLst>
          </a:prstGeom>
          <a:solidFill>
            <a:schemeClr val="bg1"/>
          </a:solidFill>
          <a:ln w="1270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7" name="圓角矩形 6">
            <a:extLst>
              <a:ext uri="{FF2B5EF4-FFF2-40B4-BE49-F238E27FC236}">
                <a16:creationId xmlns:a16="http://schemas.microsoft.com/office/drawing/2014/main" id="{83E0FAEA-666D-2363-9E86-44B9D5E3AFC2}"/>
              </a:ext>
            </a:extLst>
          </p:cNvPr>
          <p:cNvSpPr/>
          <p:nvPr/>
        </p:nvSpPr>
        <p:spPr>
          <a:xfrm>
            <a:off x="3489428" y="2102038"/>
            <a:ext cx="767780" cy="194872"/>
          </a:xfrm>
          <a:prstGeom prst="roundRect">
            <a:avLst/>
          </a:prstGeom>
          <a:solidFill>
            <a:srgbClr val="F4F4F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en-US" altLang="zh-TW" sz="800" dirty="0">
                <a:solidFill>
                  <a:schemeClr val="bg1">
                    <a:lumMod val="65000"/>
                  </a:schemeClr>
                </a:solidFill>
              </a:rPr>
              <a:t>Processing</a:t>
            </a:r>
            <a:endParaRPr kumimoji="1" lang="zh-TW" altLang="en-US" sz="800" dirty="0">
              <a:solidFill>
                <a:schemeClr val="bg1">
                  <a:lumMod val="65000"/>
                </a:schemeClr>
              </a:solidFill>
            </a:endParaRPr>
          </a:p>
        </p:txBody>
      </p:sp>
      <p:pic>
        <p:nvPicPr>
          <p:cNvPr id="12" name="圖片 11">
            <a:extLst>
              <a:ext uri="{FF2B5EF4-FFF2-40B4-BE49-F238E27FC236}">
                <a16:creationId xmlns:a16="http://schemas.microsoft.com/office/drawing/2014/main" id="{2170A0C7-3075-445A-9B37-EDCD8AB266DB}"/>
              </a:ext>
            </a:extLst>
          </p:cNvPr>
          <p:cNvPicPr>
            <a:picLocks noChangeAspect="1"/>
          </p:cNvPicPr>
          <p:nvPr/>
        </p:nvPicPr>
        <p:blipFill>
          <a:blip r:embed="rId4"/>
          <a:stretch>
            <a:fillRect/>
          </a:stretch>
        </p:blipFill>
        <p:spPr>
          <a:xfrm>
            <a:off x="4105300" y="2139746"/>
            <a:ext cx="126977" cy="134446"/>
          </a:xfrm>
          <a:prstGeom prst="rect">
            <a:avLst/>
          </a:prstGeom>
        </p:spPr>
      </p:pic>
      <p:sp>
        <p:nvSpPr>
          <p:cNvPr id="21" name="圓角矩形 20">
            <a:extLst>
              <a:ext uri="{FF2B5EF4-FFF2-40B4-BE49-F238E27FC236}">
                <a16:creationId xmlns:a16="http://schemas.microsoft.com/office/drawing/2014/main" id="{2BC93F65-917B-6826-D612-14EFA26EF51A}"/>
              </a:ext>
            </a:extLst>
          </p:cNvPr>
          <p:cNvSpPr/>
          <p:nvPr/>
        </p:nvSpPr>
        <p:spPr>
          <a:xfrm>
            <a:off x="5173481" y="2102038"/>
            <a:ext cx="340569" cy="194400"/>
          </a:xfrm>
          <a:prstGeom prst="roundRect">
            <a:avLst/>
          </a:prstGeom>
          <a:solidFill>
            <a:srgbClr val="F4F4F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en-US" altLang="zh-TW" sz="800" dirty="0">
                <a:solidFill>
                  <a:schemeClr val="bg1">
                    <a:lumMod val="65000"/>
                  </a:schemeClr>
                </a:solidFill>
              </a:rPr>
              <a:t>+ 1</a:t>
            </a:r>
            <a:endParaRPr kumimoji="1" lang="zh-TW" altLang="en-US" sz="800" dirty="0">
              <a:solidFill>
                <a:schemeClr val="bg1">
                  <a:lumMod val="65000"/>
                </a:schemeClr>
              </a:solidFill>
            </a:endParaRPr>
          </a:p>
        </p:txBody>
      </p:sp>
      <p:pic>
        <p:nvPicPr>
          <p:cNvPr id="24" name="圖片 23">
            <a:extLst>
              <a:ext uri="{FF2B5EF4-FFF2-40B4-BE49-F238E27FC236}">
                <a16:creationId xmlns:a16="http://schemas.microsoft.com/office/drawing/2014/main" id="{59A96ADD-A3D0-1341-1D5B-4545137EC3CC}"/>
              </a:ext>
            </a:extLst>
          </p:cNvPr>
          <p:cNvPicPr>
            <a:picLocks noChangeAspect="1"/>
          </p:cNvPicPr>
          <p:nvPr/>
        </p:nvPicPr>
        <p:blipFill>
          <a:blip r:embed="rId5"/>
          <a:stretch>
            <a:fillRect/>
          </a:stretch>
        </p:blipFill>
        <p:spPr>
          <a:xfrm>
            <a:off x="5851842" y="2111734"/>
            <a:ext cx="194542" cy="162118"/>
          </a:xfrm>
          <a:prstGeom prst="rect">
            <a:avLst/>
          </a:prstGeom>
        </p:spPr>
      </p:pic>
      <p:sp>
        <p:nvSpPr>
          <p:cNvPr id="25" name="圓角矩形 24">
            <a:extLst>
              <a:ext uri="{FF2B5EF4-FFF2-40B4-BE49-F238E27FC236}">
                <a16:creationId xmlns:a16="http://schemas.microsoft.com/office/drawing/2014/main" id="{4996AD5D-F4D9-F3D1-D44D-9D2B0D7D0C82}"/>
              </a:ext>
            </a:extLst>
          </p:cNvPr>
          <p:cNvSpPr/>
          <p:nvPr/>
        </p:nvSpPr>
        <p:spPr>
          <a:xfrm>
            <a:off x="6159717" y="2061784"/>
            <a:ext cx="1840062" cy="275380"/>
          </a:xfrm>
          <a:prstGeom prst="roundRect">
            <a:avLst>
              <a:gd name="adj" fmla="val 0"/>
            </a:avLst>
          </a:prstGeom>
          <a:solidFill>
            <a:schemeClr val="bg1"/>
          </a:solidFill>
          <a:ln w="1270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en-US" altLang="zh-TW" sz="1000">
                <a:solidFill>
                  <a:schemeClr val="bg1">
                    <a:lumMod val="75000"/>
                  </a:schemeClr>
                </a:solidFill>
              </a:rPr>
              <a:t>Type</a:t>
            </a:r>
            <a:endParaRPr kumimoji="1" lang="zh-TW" altLang="en-US" sz="1000">
              <a:solidFill>
                <a:schemeClr val="bg1">
                  <a:lumMod val="75000"/>
                </a:schemeClr>
              </a:solidFill>
            </a:endParaRPr>
          </a:p>
        </p:txBody>
      </p:sp>
      <p:pic>
        <p:nvPicPr>
          <p:cNvPr id="26" name="圖片 25">
            <a:extLst>
              <a:ext uri="{FF2B5EF4-FFF2-40B4-BE49-F238E27FC236}">
                <a16:creationId xmlns:a16="http://schemas.microsoft.com/office/drawing/2014/main" id="{BF4961CC-EE55-4C1E-76B2-01C7DC96A267}"/>
              </a:ext>
            </a:extLst>
          </p:cNvPr>
          <p:cNvPicPr>
            <a:picLocks noChangeAspect="1"/>
          </p:cNvPicPr>
          <p:nvPr/>
        </p:nvPicPr>
        <p:blipFill>
          <a:blip r:embed="rId5"/>
          <a:stretch>
            <a:fillRect/>
          </a:stretch>
        </p:blipFill>
        <p:spPr>
          <a:xfrm>
            <a:off x="7755621" y="2111734"/>
            <a:ext cx="194542" cy="162118"/>
          </a:xfrm>
          <a:prstGeom prst="rect">
            <a:avLst/>
          </a:prstGeom>
        </p:spPr>
      </p:pic>
      <p:sp>
        <p:nvSpPr>
          <p:cNvPr id="29" name="文字方塊 28">
            <a:extLst>
              <a:ext uri="{FF2B5EF4-FFF2-40B4-BE49-F238E27FC236}">
                <a16:creationId xmlns:a16="http://schemas.microsoft.com/office/drawing/2014/main" id="{89C7F123-6F7F-845D-1854-6045C30A9B09}"/>
              </a:ext>
            </a:extLst>
          </p:cNvPr>
          <p:cNvSpPr txBox="1"/>
          <p:nvPr/>
        </p:nvSpPr>
        <p:spPr>
          <a:xfrm>
            <a:off x="1646618" y="793849"/>
            <a:ext cx="3313758" cy="646331"/>
          </a:xfrm>
          <a:prstGeom prst="rect">
            <a:avLst/>
          </a:prstGeom>
          <a:noFill/>
        </p:spPr>
        <p:txBody>
          <a:bodyPr wrap="square" rtlCol="0">
            <a:spAutoFit/>
          </a:bodyPr>
          <a:lstStyle/>
          <a:p>
            <a:r>
              <a:rPr kumimoji="1" lang="en-US" altLang="zh-TW" dirty="0">
                <a:solidFill>
                  <a:srgbClr val="FF0000"/>
                </a:solidFill>
              </a:rPr>
              <a:t>ID/Audience Pack Name</a:t>
            </a:r>
          </a:p>
          <a:p>
            <a:r>
              <a:rPr kumimoji="1" lang="zh-TW" altLang="en-US" dirty="0">
                <a:solidFill>
                  <a:srgbClr val="FF0000"/>
                </a:solidFill>
              </a:rPr>
              <a:t>支援</a:t>
            </a:r>
            <a:r>
              <a:rPr lang="zh-TW" altLang="en-US" dirty="0">
                <a:solidFill>
                  <a:srgbClr val="FF0000"/>
                </a:solidFill>
              </a:rPr>
              <a:t>部分匹配</a:t>
            </a:r>
            <a:endParaRPr kumimoji="1" lang="zh-TW" altLang="en-US" dirty="0">
              <a:solidFill>
                <a:srgbClr val="FF0000"/>
              </a:solidFill>
            </a:endParaRPr>
          </a:p>
        </p:txBody>
      </p:sp>
      <p:cxnSp>
        <p:nvCxnSpPr>
          <p:cNvPr id="31" name="直線箭頭接點 30">
            <a:extLst>
              <a:ext uri="{FF2B5EF4-FFF2-40B4-BE49-F238E27FC236}">
                <a16:creationId xmlns:a16="http://schemas.microsoft.com/office/drawing/2014/main" id="{D017FD42-A3C0-1590-0810-2B0778801C06}"/>
              </a:ext>
            </a:extLst>
          </p:cNvPr>
          <p:cNvCxnSpPr>
            <a:stCxn id="29" idx="2"/>
          </p:cNvCxnSpPr>
          <p:nvPr/>
        </p:nvCxnSpPr>
        <p:spPr>
          <a:xfrm flipH="1">
            <a:off x="2997200" y="1440180"/>
            <a:ext cx="306297" cy="766789"/>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33" name="文字方塊 32">
            <a:extLst>
              <a:ext uri="{FF2B5EF4-FFF2-40B4-BE49-F238E27FC236}">
                <a16:creationId xmlns:a16="http://schemas.microsoft.com/office/drawing/2014/main" id="{CF3AFCED-E1B5-0BBB-60D2-7C0435A463D6}"/>
              </a:ext>
            </a:extLst>
          </p:cNvPr>
          <p:cNvSpPr txBox="1"/>
          <p:nvPr/>
        </p:nvSpPr>
        <p:spPr>
          <a:xfrm>
            <a:off x="719332" y="4852593"/>
            <a:ext cx="6140368" cy="646331"/>
          </a:xfrm>
          <a:prstGeom prst="rect">
            <a:avLst/>
          </a:prstGeom>
          <a:noFill/>
        </p:spPr>
        <p:txBody>
          <a:bodyPr wrap="square">
            <a:spAutoFit/>
          </a:bodyPr>
          <a:lstStyle/>
          <a:p>
            <a:r>
              <a:rPr kumimoji="1" lang="en-US" altLang="zh-TW" dirty="0">
                <a:solidFill>
                  <a:srgbClr val="FF0000"/>
                </a:solidFill>
              </a:rPr>
              <a:t>-ID</a:t>
            </a:r>
            <a:r>
              <a:rPr kumimoji="1" lang="zh-TW" altLang="en-US" dirty="0">
                <a:solidFill>
                  <a:srgbClr val="FF0000"/>
                </a:solidFill>
              </a:rPr>
              <a:t>為</a:t>
            </a:r>
            <a:r>
              <a:rPr kumimoji="1" lang="en-US" altLang="zh-TW" dirty="0">
                <a:solidFill>
                  <a:srgbClr val="FF0000"/>
                </a:solidFill>
              </a:rPr>
              <a:t>Segment Targeting Tool</a:t>
            </a:r>
            <a:r>
              <a:rPr kumimoji="1" lang="zh-TW" altLang="en-US" dirty="0">
                <a:solidFill>
                  <a:srgbClr val="FF0000"/>
                </a:solidFill>
              </a:rPr>
              <a:t>上的</a:t>
            </a:r>
            <a:r>
              <a:rPr kumimoji="1" lang="en-US" altLang="zh-TW" dirty="0">
                <a:solidFill>
                  <a:srgbClr val="FF0000"/>
                </a:solidFill>
              </a:rPr>
              <a:t>ID</a:t>
            </a:r>
          </a:p>
          <a:p>
            <a:r>
              <a:rPr kumimoji="1" lang="en-US" altLang="zh-TW" dirty="0">
                <a:solidFill>
                  <a:srgbClr val="FF0000"/>
                </a:solidFill>
              </a:rPr>
              <a:t>-</a:t>
            </a:r>
            <a:r>
              <a:rPr kumimoji="1" lang="zh-TW" altLang="en-US" dirty="0">
                <a:solidFill>
                  <a:srgbClr val="FF0000"/>
                </a:solidFill>
              </a:rPr>
              <a:t>初始排序</a:t>
            </a:r>
            <a:r>
              <a:rPr kumimoji="1" lang="en-US" altLang="zh-TW" dirty="0">
                <a:solidFill>
                  <a:srgbClr val="FF0000"/>
                </a:solidFill>
              </a:rPr>
              <a:t>ID</a:t>
            </a:r>
            <a:r>
              <a:rPr kumimoji="1" lang="zh-TW" altLang="en-US" dirty="0">
                <a:solidFill>
                  <a:srgbClr val="FF0000"/>
                </a:solidFill>
              </a:rPr>
              <a:t> 大</a:t>
            </a:r>
            <a:r>
              <a:rPr kumimoji="1" lang="en-US" altLang="zh-TW" dirty="0">
                <a:solidFill>
                  <a:srgbClr val="FF0000"/>
                </a:solidFill>
              </a:rPr>
              <a:t>-&gt;</a:t>
            </a:r>
            <a:r>
              <a:rPr kumimoji="1" lang="zh-TW" altLang="en-US" dirty="0">
                <a:solidFill>
                  <a:srgbClr val="FF0000"/>
                </a:solidFill>
              </a:rPr>
              <a:t>小</a:t>
            </a:r>
            <a:endParaRPr kumimoji="1" lang="en-US" altLang="zh-TW" dirty="0">
              <a:solidFill>
                <a:srgbClr val="FF0000"/>
              </a:solidFill>
            </a:endParaRPr>
          </a:p>
        </p:txBody>
      </p:sp>
      <p:pic>
        <p:nvPicPr>
          <p:cNvPr id="4" name="圖片 3" descr="一張含有 Rectangle, 行, 設計 的圖片&#10;&#10;AI 產生的內容可能不正確。">
            <a:extLst>
              <a:ext uri="{FF2B5EF4-FFF2-40B4-BE49-F238E27FC236}">
                <a16:creationId xmlns:a16="http://schemas.microsoft.com/office/drawing/2014/main" id="{346F6F2A-82CC-92DC-3747-957416BCF09A}"/>
              </a:ext>
            </a:extLst>
          </p:cNvPr>
          <p:cNvPicPr>
            <a:picLocks noChangeAspect="1"/>
          </p:cNvPicPr>
          <p:nvPr/>
        </p:nvPicPr>
        <p:blipFill>
          <a:blip r:embed="rId6"/>
          <a:stretch>
            <a:fillRect/>
          </a:stretch>
        </p:blipFill>
        <p:spPr>
          <a:xfrm>
            <a:off x="5906581" y="4723441"/>
            <a:ext cx="1036479" cy="366432"/>
          </a:xfrm>
          <a:prstGeom prst="rect">
            <a:avLst/>
          </a:prstGeom>
        </p:spPr>
      </p:pic>
      <p:sp>
        <p:nvSpPr>
          <p:cNvPr id="2" name="文字方塊 1">
            <a:extLst>
              <a:ext uri="{FF2B5EF4-FFF2-40B4-BE49-F238E27FC236}">
                <a16:creationId xmlns:a16="http://schemas.microsoft.com/office/drawing/2014/main" id="{ADB06DF5-87DD-F413-28D9-69F13283781A}"/>
              </a:ext>
            </a:extLst>
          </p:cNvPr>
          <p:cNvSpPr txBox="1"/>
          <p:nvPr/>
        </p:nvSpPr>
        <p:spPr>
          <a:xfrm>
            <a:off x="6028988" y="195727"/>
            <a:ext cx="2235335" cy="646331"/>
          </a:xfrm>
          <a:prstGeom prst="rect">
            <a:avLst/>
          </a:prstGeom>
          <a:noFill/>
        </p:spPr>
        <p:txBody>
          <a:bodyPr wrap="square" rtlCol="0">
            <a:spAutoFit/>
          </a:bodyPr>
          <a:lstStyle/>
          <a:p>
            <a:r>
              <a:rPr kumimoji="1" lang="en-US" altLang="zh-TW" dirty="0">
                <a:solidFill>
                  <a:schemeClr val="accent2"/>
                </a:solidFill>
              </a:rPr>
              <a:t>(TBD)Status UI</a:t>
            </a:r>
          </a:p>
          <a:p>
            <a:r>
              <a:rPr kumimoji="1" lang="zh-TW" altLang="en-US" dirty="0">
                <a:solidFill>
                  <a:schemeClr val="accent2"/>
                </a:solidFill>
              </a:rPr>
              <a:t>暫時先以文字表示</a:t>
            </a:r>
          </a:p>
        </p:txBody>
      </p:sp>
      <p:sp>
        <p:nvSpPr>
          <p:cNvPr id="3" name="圓角矩形 2">
            <a:extLst>
              <a:ext uri="{FF2B5EF4-FFF2-40B4-BE49-F238E27FC236}">
                <a16:creationId xmlns:a16="http://schemas.microsoft.com/office/drawing/2014/main" id="{8AB47FE0-2AD0-1662-2A99-B8E0A031B78B}"/>
              </a:ext>
            </a:extLst>
          </p:cNvPr>
          <p:cNvSpPr/>
          <p:nvPr/>
        </p:nvSpPr>
        <p:spPr>
          <a:xfrm>
            <a:off x="4332026" y="2102038"/>
            <a:ext cx="767780" cy="194872"/>
          </a:xfrm>
          <a:prstGeom prst="roundRect">
            <a:avLst/>
          </a:prstGeom>
          <a:solidFill>
            <a:srgbClr val="F4F4F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en-US" altLang="zh-TW" sz="800" dirty="0">
                <a:solidFill>
                  <a:schemeClr val="bg1">
                    <a:lumMod val="65000"/>
                  </a:schemeClr>
                </a:solidFill>
              </a:rPr>
              <a:t>Completed</a:t>
            </a:r>
            <a:endParaRPr kumimoji="1" lang="zh-TW" altLang="en-US" sz="800" dirty="0">
              <a:solidFill>
                <a:schemeClr val="bg1">
                  <a:lumMod val="65000"/>
                </a:schemeClr>
              </a:solidFill>
            </a:endParaRPr>
          </a:p>
        </p:txBody>
      </p:sp>
      <p:pic>
        <p:nvPicPr>
          <p:cNvPr id="5" name="圖片 4">
            <a:extLst>
              <a:ext uri="{FF2B5EF4-FFF2-40B4-BE49-F238E27FC236}">
                <a16:creationId xmlns:a16="http://schemas.microsoft.com/office/drawing/2014/main" id="{6D9787B2-ED42-270A-9937-94B4525FC3FE}"/>
              </a:ext>
            </a:extLst>
          </p:cNvPr>
          <p:cNvPicPr>
            <a:picLocks noChangeAspect="1"/>
          </p:cNvPicPr>
          <p:nvPr/>
        </p:nvPicPr>
        <p:blipFill>
          <a:blip r:embed="rId4"/>
          <a:stretch>
            <a:fillRect/>
          </a:stretch>
        </p:blipFill>
        <p:spPr>
          <a:xfrm>
            <a:off x="4947898" y="2139746"/>
            <a:ext cx="126977" cy="134446"/>
          </a:xfrm>
          <a:prstGeom prst="rect">
            <a:avLst/>
          </a:prstGeom>
        </p:spPr>
      </p:pic>
    </p:spTree>
    <p:extLst>
      <p:ext uri="{BB962C8B-B14F-4D97-AF65-F5344CB8AC3E}">
        <p14:creationId xmlns:p14="http://schemas.microsoft.com/office/powerpoint/2010/main" val="150670346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標題 1">
            <a:extLst>
              <a:ext uri="{FF2B5EF4-FFF2-40B4-BE49-F238E27FC236}">
                <a16:creationId xmlns:a16="http://schemas.microsoft.com/office/drawing/2014/main" id="{D3F6CCB0-05BC-A359-76EC-66DAA0492EC9}"/>
              </a:ext>
            </a:extLst>
          </p:cNvPr>
          <p:cNvSpPr txBox="1">
            <a:spLocks/>
          </p:cNvSpPr>
          <p:nvPr/>
        </p:nvSpPr>
        <p:spPr>
          <a:xfrm>
            <a:off x="0" y="0"/>
            <a:ext cx="10515600" cy="70560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kumimoji="1" lang="en-US" altLang="zh-TW" sz="2000" dirty="0"/>
              <a:t>Audience Planner</a:t>
            </a:r>
          </a:p>
          <a:p>
            <a:r>
              <a:rPr kumimoji="1" lang="zh-TW" altLang="en-US" sz="2000" dirty="0"/>
              <a:t>資料對照</a:t>
            </a:r>
          </a:p>
        </p:txBody>
      </p:sp>
      <p:graphicFrame>
        <p:nvGraphicFramePr>
          <p:cNvPr id="5" name="表格 4">
            <a:extLst>
              <a:ext uri="{FF2B5EF4-FFF2-40B4-BE49-F238E27FC236}">
                <a16:creationId xmlns:a16="http://schemas.microsoft.com/office/drawing/2014/main" id="{07A5B9AE-D252-1D2E-BFF6-5C6C636EBD05}"/>
              </a:ext>
            </a:extLst>
          </p:cNvPr>
          <p:cNvGraphicFramePr>
            <a:graphicFrameLocks noGrp="1"/>
          </p:cNvGraphicFramePr>
          <p:nvPr>
            <p:extLst>
              <p:ext uri="{D42A27DB-BD31-4B8C-83A1-F6EECF244321}">
                <p14:modId xmlns:p14="http://schemas.microsoft.com/office/powerpoint/2010/main" val="928190864"/>
              </p:ext>
            </p:extLst>
          </p:nvPr>
        </p:nvGraphicFramePr>
        <p:xfrm>
          <a:off x="700032" y="797656"/>
          <a:ext cx="10791936" cy="5156200"/>
        </p:xfrm>
        <a:graphic>
          <a:graphicData uri="http://schemas.openxmlformats.org/drawingml/2006/table">
            <a:tbl>
              <a:tblPr firstRow="1" bandRow="1">
                <a:tableStyleId>{5C22544A-7EE6-4342-B048-85BDC9FD1C3A}</a:tableStyleId>
              </a:tblPr>
              <a:tblGrid>
                <a:gridCol w="2671818">
                  <a:extLst>
                    <a:ext uri="{9D8B030D-6E8A-4147-A177-3AD203B41FA5}">
                      <a16:colId xmlns:a16="http://schemas.microsoft.com/office/drawing/2014/main" val="1389162512"/>
                    </a:ext>
                  </a:extLst>
                </a:gridCol>
                <a:gridCol w="3190996">
                  <a:extLst>
                    <a:ext uri="{9D8B030D-6E8A-4147-A177-3AD203B41FA5}">
                      <a16:colId xmlns:a16="http://schemas.microsoft.com/office/drawing/2014/main" val="3764465205"/>
                    </a:ext>
                  </a:extLst>
                </a:gridCol>
                <a:gridCol w="4929122">
                  <a:extLst>
                    <a:ext uri="{9D8B030D-6E8A-4147-A177-3AD203B41FA5}">
                      <a16:colId xmlns:a16="http://schemas.microsoft.com/office/drawing/2014/main" val="634536605"/>
                    </a:ext>
                  </a:extLst>
                </a:gridCol>
              </a:tblGrid>
              <a:tr h="370840">
                <a:tc>
                  <a:txBody>
                    <a:bodyPr/>
                    <a:lstStyle/>
                    <a:p>
                      <a:r>
                        <a:rPr lang="en-US" altLang="zh-TW" err="1"/>
                        <a:t>SuperDSP</a:t>
                      </a:r>
                      <a:endParaRPr lang="zh-TW" altLang="en-US"/>
                    </a:p>
                  </a:txBody>
                  <a:tcPr/>
                </a:tc>
                <a:tc>
                  <a:txBody>
                    <a:bodyPr/>
                    <a:lstStyle/>
                    <a:p>
                      <a:r>
                        <a:rPr lang="en-US" altLang="zh-TW" dirty="0"/>
                        <a:t>Segment Targeting Tool</a:t>
                      </a:r>
                      <a:endParaRPr lang="zh-TW" altLang="en-US" dirty="0"/>
                    </a:p>
                  </a:txBody>
                  <a:tcPr/>
                </a:tc>
                <a:tc>
                  <a:txBody>
                    <a:bodyPr/>
                    <a:lstStyle/>
                    <a:p>
                      <a:r>
                        <a:rPr lang="en-US" altLang="zh-TW"/>
                        <a:t>Note</a:t>
                      </a:r>
                      <a:endParaRPr lang="zh-TW" altLang="en-US"/>
                    </a:p>
                  </a:txBody>
                  <a:tcPr/>
                </a:tc>
                <a:extLst>
                  <a:ext uri="{0D108BD9-81ED-4DB2-BD59-A6C34878D82A}">
                    <a16:rowId xmlns:a16="http://schemas.microsoft.com/office/drawing/2014/main" val="1551096990"/>
                  </a:ext>
                </a:extLst>
              </a:tr>
              <a:tr h="370840">
                <a:tc>
                  <a:txBody>
                    <a:bodyPr/>
                    <a:lstStyle/>
                    <a:p>
                      <a:r>
                        <a:rPr lang="en-US" altLang="zh-TW"/>
                        <a:t>ID</a:t>
                      </a:r>
                      <a:endParaRPr lang="zh-TW" altLang="en-US"/>
                    </a:p>
                  </a:txBody>
                  <a:tcPr/>
                </a:tc>
                <a:tc>
                  <a:txBody>
                    <a:bodyPr/>
                    <a:lstStyle/>
                    <a:p>
                      <a:r>
                        <a:rPr lang="en-US" altLang="zh-TW"/>
                        <a:t>No.</a:t>
                      </a:r>
                      <a:endParaRPr lang="zh-TW" altLang="en-US"/>
                    </a:p>
                  </a:txBody>
                  <a:tcPr/>
                </a:tc>
                <a:tc>
                  <a:txBody>
                    <a:bodyPr/>
                    <a:lstStyle/>
                    <a:p>
                      <a:endParaRPr lang="zh-TW" altLang="en-US"/>
                    </a:p>
                  </a:txBody>
                  <a:tcPr/>
                </a:tc>
                <a:extLst>
                  <a:ext uri="{0D108BD9-81ED-4DB2-BD59-A6C34878D82A}">
                    <a16:rowId xmlns:a16="http://schemas.microsoft.com/office/drawing/2014/main" val="3580867818"/>
                  </a:ext>
                </a:extLst>
              </a:tr>
              <a:tr h="370840">
                <a:tc>
                  <a:txBody>
                    <a:bodyPr/>
                    <a:lstStyle/>
                    <a:p>
                      <a:r>
                        <a:rPr lang="en-US" altLang="zh-TW"/>
                        <a:t>Type</a:t>
                      </a:r>
                      <a:endParaRPr lang="zh-TW" altLang="en-US"/>
                    </a:p>
                  </a:txBody>
                  <a:tcPr/>
                </a:tc>
                <a:tc>
                  <a:txBody>
                    <a:bodyPr/>
                    <a:lstStyle/>
                    <a:p>
                      <a:r>
                        <a:rPr lang="en-US" altLang="zh-TW" dirty="0"/>
                        <a:t>Segment </a:t>
                      </a:r>
                      <a:r>
                        <a:rPr lang="zh-TW" altLang="en-US" dirty="0"/>
                        <a:t>類別</a:t>
                      </a:r>
                    </a:p>
                  </a:txBody>
                  <a:tcPr/>
                </a:tc>
                <a:tc>
                  <a:txBody>
                    <a:bodyPr/>
                    <a:lstStyle/>
                    <a:p>
                      <a:endParaRPr lang="zh-TW" altLang="en-US"/>
                    </a:p>
                  </a:txBody>
                  <a:tcPr/>
                </a:tc>
                <a:extLst>
                  <a:ext uri="{0D108BD9-81ED-4DB2-BD59-A6C34878D82A}">
                    <a16:rowId xmlns:a16="http://schemas.microsoft.com/office/drawing/2014/main" val="3944566797"/>
                  </a:ext>
                </a:extLst>
              </a:tr>
              <a:tr h="370840">
                <a:tc>
                  <a:txBody>
                    <a:bodyPr/>
                    <a:lstStyle/>
                    <a:p>
                      <a:r>
                        <a:rPr lang="en-US" altLang="zh-TW" sz="1800" kern="1200">
                          <a:solidFill>
                            <a:schemeClr val="dk1"/>
                          </a:solidFill>
                          <a:latin typeface="+mn-lt"/>
                          <a:ea typeface="+mn-ea"/>
                          <a:cs typeface="+mn-cs"/>
                        </a:rPr>
                        <a:t>Audience Pack Name</a:t>
                      </a:r>
                      <a:endParaRPr lang="zh-TW" altLang="en-US" sz="1800" kern="1200">
                        <a:solidFill>
                          <a:schemeClr val="dk1"/>
                        </a:solidFill>
                        <a:latin typeface="+mn-lt"/>
                        <a:ea typeface="+mn-ea"/>
                        <a:cs typeface="+mn-cs"/>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1800" kern="1200">
                          <a:solidFill>
                            <a:schemeClr val="dk1"/>
                          </a:solidFill>
                          <a:latin typeface="+mn-lt"/>
                          <a:ea typeface="+mn-ea"/>
                          <a:cs typeface="+mn-cs"/>
                        </a:rPr>
                        <a:t>Segment </a:t>
                      </a:r>
                      <a:r>
                        <a:rPr lang="zh-TW" altLang="en-US" sz="1800" kern="1200">
                          <a:solidFill>
                            <a:schemeClr val="dk1"/>
                          </a:solidFill>
                          <a:latin typeface="+mn-lt"/>
                          <a:ea typeface="+mn-ea"/>
                          <a:cs typeface="+mn-cs"/>
                        </a:rPr>
                        <a:t>描述</a:t>
                      </a:r>
                    </a:p>
                  </a:txBody>
                  <a:tcPr/>
                </a:tc>
                <a:tc>
                  <a:txBody>
                    <a:bodyPr/>
                    <a:lstStyle/>
                    <a:p>
                      <a:endParaRPr lang="zh-TW" altLang="en-US"/>
                    </a:p>
                  </a:txBody>
                  <a:tcPr/>
                </a:tc>
                <a:extLst>
                  <a:ext uri="{0D108BD9-81ED-4DB2-BD59-A6C34878D82A}">
                    <a16:rowId xmlns:a16="http://schemas.microsoft.com/office/drawing/2014/main" val="3715768150"/>
                  </a:ext>
                </a:extLst>
              </a:tr>
              <a:tr h="370840">
                <a:tc>
                  <a:txBody>
                    <a:bodyPr/>
                    <a:lstStyle/>
                    <a:p>
                      <a:r>
                        <a:rPr lang="en" altLang="zh-TW" sz="1800" kern="1200">
                          <a:solidFill>
                            <a:schemeClr val="dk1"/>
                          </a:solidFill>
                          <a:latin typeface="+mn-lt"/>
                          <a:ea typeface="+mn-ea"/>
                          <a:cs typeface="+mn-cs"/>
                        </a:rPr>
                        <a:t>Audience Size (UU)</a:t>
                      </a:r>
                      <a:endParaRPr lang="zh-TW" altLang="en-US" sz="1800" kern="1200">
                        <a:solidFill>
                          <a:schemeClr val="dk1"/>
                        </a:solidFill>
                        <a:latin typeface="+mn-lt"/>
                        <a:ea typeface="+mn-ea"/>
                        <a:cs typeface="+mn-cs"/>
                      </a:endParaRPr>
                    </a:p>
                  </a:txBody>
                  <a:tcPr/>
                </a:tc>
                <a:tc>
                  <a:txBody>
                    <a:bodyPr/>
                    <a:lstStyle/>
                    <a:p>
                      <a:r>
                        <a:rPr lang="zh-TW" altLang="en-US"/>
                        <a:t>量體</a:t>
                      </a:r>
                    </a:p>
                  </a:txBody>
                  <a:tcPr/>
                </a:tc>
                <a:tc>
                  <a:txBody>
                    <a:bodyPr/>
                    <a:lstStyle/>
                    <a:p>
                      <a:endParaRPr lang="zh-TW" altLang="en-US" dirty="0">
                        <a:solidFill>
                          <a:schemeClr val="tx1"/>
                        </a:solidFill>
                      </a:endParaRPr>
                    </a:p>
                  </a:txBody>
                  <a:tcPr/>
                </a:tc>
                <a:extLst>
                  <a:ext uri="{0D108BD9-81ED-4DB2-BD59-A6C34878D82A}">
                    <a16:rowId xmlns:a16="http://schemas.microsoft.com/office/drawing/2014/main" val="3091548420"/>
                  </a:ext>
                </a:extLst>
              </a:tr>
              <a:tr h="370840">
                <a:tc>
                  <a:txBody>
                    <a:bodyPr/>
                    <a:lstStyle/>
                    <a:p>
                      <a:r>
                        <a:rPr lang="en" altLang="zh-TW" sz="1800" kern="1200">
                          <a:solidFill>
                            <a:schemeClr val="dk1"/>
                          </a:solidFill>
                          <a:latin typeface="+mn-lt"/>
                          <a:ea typeface="+mn-ea"/>
                          <a:cs typeface="+mn-cs"/>
                        </a:rPr>
                        <a:t>Created Date</a:t>
                      </a:r>
                      <a:endParaRPr lang="zh-TW" altLang="en-US" sz="1800" kern="1200">
                        <a:solidFill>
                          <a:schemeClr val="dk1"/>
                        </a:solidFill>
                        <a:latin typeface="+mn-lt"/>
                        <a:ea typeface="+mn-ea"/>
                        <a:cs typeface="+mn-cs"/>
                      </a:endParaRPr>
                    </a:p>
                  </a:txBody>
                  <a:tcPr/>
                </a:tc>
                <a:tc>
                  <a:txBody>
                    <a:bodyPr/>
                    <a:lstStyle/>
                    <a:p>
                      <a:r>
                        <a:rPr lang="zh-TW" altLang="en-US" dirty="0">
                          <a:solidFill>
                            <a:schemeClr val="tx1"/>
                          </a:solidFill>
                        </a:rPr>
                        <a:t>受眾包建立時間</a:t>
                      </a:r>
                    </a:p>
                  </a:txBody>
                  <a:tcPr/>
                </a:tc>
                <a:tc>
                  <a:txBody>
                    <a:bodyPr/>
                    <a:lstStyle/>
                    <a:p>
                      <a:endParaRPr lang="zh-TW" altLang="en-US"/>
                    </a:p>
                  </a:txBody>
                  <a:tcPr/>
                </a:tc>
                <a:extLst>
                  <a:ext uri="{0D108BD9-81ED-4DB2-BD59-A6C34878D82A}">
                    <a16:rowId xmlns:a16="http://schemas.microsoft.com/office/drawing/2014/main" val="757752194"/>
                  </a:ext>
                </a:extLst>
              </a:tr>
              <a:tr h="370840">
                <a:tc>
                  <a:txBody>
                    <a:bodyPr/>
                    <a:lstStyle/>
                    <a:p>
                      <a:r>
                        <a:rPr lang="en-US" altLang="zh-TW" sz="1800" kern="1200">
                          <a:solidFill>
                            <a:schemeClr val="dk1"/>
                          </a:solidFill>
                          <a:latin typeface="+mn-lt"/>
                          <a:ea typeface="+mn-ea"/>
                          <a:cs typeface="+mn-cs"/>
                        </a:rPr>
                        <a:t>Expired Date</a:t>
                      </a:r>
                      <a:endParaRPr lang="zh-TW" altLang="en-US" sz="1800" kern="1200">
                        <a:solidFill>
                          <a:schemeClr val="dk1"/>
                        </a:solidFill>
                        <a:latin typeface="+mn-lt"/>
                        <a:ea typeface="+mn-ea"/>
                        <a:cs typeface="+mn-cs"/>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TW" altLang="en-US" dirty="0">
                          <a:solidFill>
                            <a:schemeClr val="tx1"/>
                          </a:solidFill>
                        </a:rPr>
                        <a:t>走期範圍的</a:t>
                      </a:r>
                      <a:r>
                        <a:rPr lang="en-US" altLang="zh-TW" dirty="0">
                          <a:solidFill>
                            <a:schemeClr val="tx1"/>
                          </a:solidFill>
                        </a:rPr>
                        <a:t>End Date</a:t>
                      </a:r>
                      <a:endParaRPr lang="zh-TW" altLang="en-US" dirty="0">
                        <a:solidFill>
                          <a:schemeClr val="tx1"/>
                        </a:solidFill>
                      </a:endParaRPr>
                    </a:p>
                  </a:txBody>
                  <a:tcPr/>
                </a:tc>
                <a:tc>
                  <a:txBody>
                    <a:bodyPr/>
                    <a:lstStyle/>
                    <a:p>
                      <a:endParaRPr lang="zh-TW" altLang="en-US"/>
                    </a:p>
                  </a:txBody>
                  <a:tcPr/>
                </a:tc>
                <a:extLst>
                  <a:ext uri="{0D108BD9-81ED-4DB2-BD59-A6C34878D82A}">
                    <a16:rowId xmlns:a16="http://schemas.microsoft.com/office/drawing/2014/main" val="4130862532"/>
                  </a:ext>
                </a:extLst>
              </a:tr>
              <a:tr h="370840">
                <a:tc>
                  <a:txBody>
                    <a:bodyPr/>
                    <a:lstStyle/>
                    <a:p>
                      <a:r>
                        <a:rPr lang="en-US" altLang="zh-TW" sz="1800" kern="1200" dirty="0">
                          <a:solidFill>
                            <a:schemeClr val="dk1"/>
                          </a:solidFill>
                          <a:latin typeface="+mn-lt"/>
                          <a:ea typeface="+mn-ea"/>
                          <a:cs typeface="+mn-cs"/>
                        </a:rPr>
                        <a:t>Status</a:t>
                      </a:r>
                      <a:endParaRPr lang="zh-TW" altLang="en-US" sz="1800" kern="1200" dirty="0">
                        <a:solidFill>
                          <a:schemeClr val="dk1"/>
                        </a:solidFill>
                        <a:latin typeface="+mn-lt"/>
                        <a:ea typeface="+mn-ea"/>
                        <a:cs typeface="+mn-cs"/>
                      </a:endParaRPr>
                    </a:p>
                  </a:txBody>
                  <a:tcPr/>
                </a:tc>
                <a:tc>
                  <a:txBody>
                    <a:bodyPr/>
                    <a:lstStyle/>
                    <a:p>
                      <a:r>
                        <a:rPr lang="zh-TW" altLang="en-US" dirty="0"/>
                        <a:t>狀態</a:t>
                      </a:r>
                    </a:p>
                  </a:txBody>
                  <a:tcPr/>
                </a:tc>
                <a:tc>
                  <a:txBody>
                    <a:bodyPr/>
                    <a:lstStyle/>
                    <a:p>
                      <a:r>
                        <a:rPr kumimoji="1" lang="en-US" altLang="zh-TW" sz="1800" dirty="0"/>
                        <a:t>Tool</a:t>
                      </a:r>
                      <a:r>
                        <a:rPr kumimoji="1" lang="zh-TW" altLang="en-US" sz="1800" dirty="0"/>
                        <a:t>裡有這</a:t>
                      </a:r>
                      <a:r>
                        <a:rPr kumimoji="1" lang="en-US" altLang="zh-TW" sz="1800" dirty="0"/>
                        <a:t>3</a:t>
                      </a:r>
                      <a:r>
                        <a:rPr kumimoji="1" lang="zh-TW" altLang="en-US" sz="1800" dirty="0"/>
                        <a:t>種狀態</a:t>
                      </a:r>
                      <a:r>
                        <a:rPr kumimoji="1" lang="en-US" altLang="zh-TW" sz="1800" dirty="0"/>
                        <a:t>: </a:t>
                      </a:r>
                      <a:r>
                        <a:rPr kumimoji="1" lang="zh-TW" altLang="en-US" sz="1800" dirty="0"/>
                        <a:t>處理中</a:t>
                      </a:r>
                      <a:r>
                        <a:rPr kumimoji="1" lang="en-US" altLang="zh-TW" sz="1800" dirty="0"/>
                        <a:t>/</a:t>
                      </a:r>
                      <a:r>
                        <a:rPr kumimoji="1" lang="zh-TW" altLang="en-US" sz="1800" dirty="0"/>
                        <a:t>完成</a:t>
                      </a:r>
                      <a:r>
                        <a:rPr kumimoji="1" lang="en-US" altLang="zh-TW" sz="1800" dirty="0"/>
                        <a:t>/</a:t>
                      </a:r>
                      <a:r>
                        <a:rPr kumimoji="1" lang="zh-TW" altLang="en-US" sz="1800" dirty="0"/>
                        <a:t>無量體</a:t>
                      </a:r>
                      <a:endParaRPr kumimoji="1" lang="en-US" altLang="zh-TW" sz="1800" dirty="0"/>
                    </a:p>
                    <a:p>
                      <a:endParaRPr kumimoji="1" lang="en-US" altLang="zh-TW" sz="1800" dirty="0"/>
                    </a:p>
                    <a:p>
                      <a:endParaRPr kumimoji="1" lang="en-US" altLang="zh-TW" sz="1800" dirty="0">
                        <a:solidFill>
                          <a:schemeClr val="accent2"/>
                        </a:solidFill>
                      </a:endParaRPr>
                    </a:p>
                    <a:p>
                      <a:endParaRPr kumimoji="1" lang="en-US" altLang="zh-TW" sz="1800" dirty="0">
                        <a:solidFill>
                          <a:schemeClr val="accent2"/>
                        </a:solidFill>
                      </a:endParaRPr>
                    </a:p>
                    <a:p>
                      <a:endParaRPr kumimoji="1" lang="en-US" altLang="zh-TW" sz="1800" dirty="0">
                        <a:solidFill>
                          <a:schemeClr val="accent2"/>
                        </a:solidFill>
                      </a:endParaRPr>
                    </a:p>
                    <a:p>
                      <a:endParaRPr kumimoji="1" lang="en-US" altLang="zh-TW" sz="1800" dirty="0">
                        <a:solidFill>
                          <a:schemeClr val="accent2"/>
                        </a:solidFill>
                      </a:endParaRPr>
                    </a:p>
                    <a:p>
                      <a:endParaRPr kumimoji="1" lang="en-US" altLang="zh-TW" sz="1800" dirty="0">
                        <a:solidFill>
                          <a:schemeClr val="accent2"/>
                        </a:solidFill>
                      </a:endParaRPr>
                    </a:p>
                    <a:p>
                      <a:endParaRPr kumimoji="1" lang="en-US" altLang="zh-TW" sz="1800" dirty="0">
                        <a:solidFill>
                          <a:schemeClr val="accent2"/>
                        </a:solidFill>
                      </a:endParaRPr>
                    </a:p>
                    <a:p>
                      <a:endParaRPr kumimoji="1" lang="en-US" altLang="zh-TW" sz="1800" dirty="0">
                        <a:solidFill>
                          <a:schemeClr val="accent2"/>
                        </a:solidFill>
                      </a:endParaRPr>
                    </a:p>
                  </a:txBody>
                  <a:tcPr/>
                </a:tc>
                <a:extLst>
                  <a:ext uri="{0D108BD9-81ED-4DB2-BD59-A6C34878D82A}">
                    <a16:rowId xmlns:a16="http://schemas.microsoft.com/office/drawing/2014/main" val="2288714756"/>
                  </a:ext>
                </a:extLst>
              </a:tr>
            </a:tbl>
          </a:graphicData>
        </a:graphic>
      </p:graphicFrame>
      <p:graphicFrame>
        <p:nvGraphicFramePr>
          <p:cNvPr id="3" name="表格 2">
            <a:extLst>
              <a:ext uri="{FF2B5EF4-FFF2-40B4-BE49-F238E27FC236}">
                <a16:creationId xmlns:a16="http://schemas.microsoft.com/office/drawing/2014/main" id="{A75E57B5-86FF-F0C1-0222-911AA7D7C2E6}"/>
              </a:ext>
            </a:extLst>
          </p:cNvPr>
          <p:cNvGraphicFramePr>
            <a:graphicFrameLocks noGrp="1"/>
          </p:cNvGraphicFramePr>
          <p:nvPr>
            <p:extLst>
              <p:ext uri="{D42A27DB-BD31-4B8C-83A1-F6EECF244321}">
                <p14:modId xmlns:p14="http://schemas.microsoft.com/office/powerpoint/2010/main" val="1704299206"/>
              </p:ext>
            </p:extLst>
          </p:nvPr>
        </p:nvGraphicFramePr>
        <p:xfrm>
          <a:off x="6710704" y="3790567"/>
          <a:ext cx="4529666" cy="1645920"/>
        </p:xfrm>
        <a:graphic>
          <a:graphicData uri="http://schemas.openxmlformats.org/drawingml/2006/table">
            <a:tbl>
              <a:tblPr firstRow="1" bandRow="1">
                <a:tableStyleId>{5C22544A-7EE6-4342-B048-85BDC9FD1C3A}</a:tableStyleId>
              </a:tblPr>
              <a:tblGrid>
                <a:gridCol w="2421466">
                  <a:extLst>
                    <a:ext uri="{9D8B030D-6E8A-4147-A177-3AD203B41FA5}">
                      <a16:colId xmlns:a16="http://schemas.microsoft.com/office/drawing/2014/main" val="908554175"/>
                    </a:ext>
                  </a:extLst>
                </a:gridCol>
                <a:gridCol w="2108200">
                  <a:extLst>
                    <a:ext uri="{9D8B030D-6E8A-4147-A177-3AD203B41FA5}">
                      <a16:colId xmlns:a16="http://schemas.microsoft.com/office/drawing/2014/main" val="2644936786"/>
                    </a:ext>
                  </a:extLst>
                </a:gridCol>
              </a:tblGrid>
              <a:tr h="290434">
                <a:tc>
                  <a:txBody>
                    <a:bodyPr/>
                    <a:lstStyle/>
                    <a:p>
                      <a:r>
                        <a:rPr lang="en-US" altLang="zh-TW" sz="1400" dirty="0" err="1"/>
                        <a:t>SuperDSP</a:t>
                      </a:r>
                      <a:endParaRPr lang="zh-TW" altLang="en-US" sz="14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1400" dirty="0"/>
                        <a:t>Segment Targeting Tool</a:t>
                      </a:r>
                      <a:endParaRPr lang="zh-TW" altLang="en-US" sz="1400" dirty="0"/>
                    </a:p>
                  </a:txBody>
                  <a:tcPr/>
                </a:tc>
                <a:extLst>
                  <a:ext uri="{0D108BD9-81ED-4DB2-BD59-A6C34878D82A}">
                    <a16:rowId xmlns:a16="http://schemas.microsoft.com/office/drawing/2014/main" val="697304603"/>
                  </a:ext>
                </a:extLst>
              </a:tr>
              <a:tr h="290434">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zh-TW" altLang="en-US" sz="1400" dirty="0">
                          <a:solidFill>
                            <a:schemeClr val="tx1"/>
                          </a:solidFill>
                        </a:rPr>
                        <a:t>處理中 </a:t>
                      </a:r>
                      <a:r>
                        <a:rPr kumimoji="1" lang="en-US" altLang="zh-TW" sz="1400" dirty="0">
                          <a:solidFill>
                            <a:schemeClr val="tx1"/>
                          </a:solidFill>
                        </a:rPr>
                        <a:t>In Processing</a:t>
                      </a:r>
                    </a:p>
                  </a:txBody>
                  <a:tcPr/>
                </a:tc>
                <a:tc>
                  <a:txBody>
                    <a:bodyPr/>
                    <a:lstStyle/>
                    <a:p>
                      <a:r>
                        <a:rPr lang="zh-TW" altLang="en-US" sz="1400" dirty="0"/>
                        <a:t>處理中</a:t>
                      </a:r>
                    </a:p>
                  </a:txBody>
                  <a:tcPr/>
                </a:tc>
                <a:extLst>
                  <a:ext uri="{0D108BD9-81ED-4DB2-BD59-A6C34878D82A}">
                    <a16:rowId xmlns:a16="http://schemas.microsoft.com/office/drawing/2014/main" val="3834030964"/>
                  </a:ext>
                </a:extLst>
              </a:tr>
              <a:tr h="290434">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zh-TW" altLang="en-US" sz="1400" dirty="0">
                          <a:solidFill>
                            <a:schemeClr val="tx1"/>
                          </a:solidFill>
                        </a:rPr>
                        <a:t>已完成</a:t>
                      </a:r>
                      <a:r>
                        <a:rPr kumimoji="1" lang="en-US" altLang="zh-TW" sz="1400" dirty="0">
                          <a:solidFill>
                            <a:schemeClr val="tx1"/>
                          </a:solidFill>
                        </a:rPr>
                        <a:t> Completed</a:t>
                      </a:r>
                    </a:p>
                  </a:txBody>
                  <a:tcPr/>
                </a:tc>
                <a:tc>
                  <a:txBody>
                    <a:bodyPr/>
                    <a:lstStyle/>
                    <a:p>
                      <a:r>
                        <a:rPr lang="zh-TW" altLang="en-US" sz="1400" dirty="0"/>
                        <a:t>完成</a:t>
                      </a:r>
                      <a:r>
                        <a:rPr lang="en-US" altLang="zh-TW" sz="1400" dirty="0"/>
                        <a:t>/</a:t>
                      </a:r>
                      <a:r>
                        <a:rPr lang="zh-TW" altLang="en-US" sz="1400" dirty="0"/>
                        <a:t>無量體</a:t>
                      </a:r>
                    </a:p>
                  </a:txBody>
                  <a:tcPr/>
                </a:tc>
                <a:extLst>
                  <a:ext uri="{0D108BD9-81ED-4DB2-BD59-A6C34878D82A}">
                    <a16:rowId xmlns:a16="http://schemas.microsoft.com/office/drawing/2014/main" val="835663808"/>
                  </a:ext>
                </a:extLst>
              </a:tr>
              <a:tr h="290434">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zh-TW" altLang="en-US" sz="1400" dirty="0">
                          <a:solidFill>
                            <a:schemeClr val="tx1"/>
                          </a:solidFill>
                        </a:rPr>
                        <a:t>已過期</a:t>
                      </a:r>
                      <a:r>
                        <a:rPr kumimoji="1" lang="en-US" altLang="zh-TW" sz="1400" dirty="0">
                          <a:solidFill>
                            <a:schemeClr val="tx1"/>
                          </a:solidFill>
                        </a:rPr>
                        <a:t> Expired</a:t>
                      </a:r>
                    </a:p>
                  </a:txBody>
                  <a:tcPr/>
                </a:tc>
                <a:tc>
                  <a:txBody>
                    <a:bodyPr/>
                    <a:lstStyle/>
                    <a:p>
                      <a:r>
                        <a:rPr lang="en-US" altLang="zh-TW" sz="1400" dirty="0" err="1">
                          <a:solidFill>
                            <a:schemeClr val="tx1"/>
                          </a:solidFill>
                        </a:rPr>
                        <a:t>SuperDSP</a:t>
                      </a:r>
                      <a:r>
                        <a:rPr lang="zh-TW" altLang="en-US" sz="1400" dirty="0">
                          <a:solidFill>
                            <a:schemeClr val="tx1"/>
                          </a:solidFill>
                        </a:rPr>
                        <a:t>根據</a:t>
                      </a:r>
                      <a:r>
                        <a:rPr lang="en-US" altLang="zh-TW" sz="1400" dirty="0">
                          <a:solidFill>
                            <a:schemeClr val="tx1"/>
                          </a:solidFill>
                        </a:rPr>
                        <a:t>End Date</a:t>
                      </a:r>
                      <a:r>
                        <a:rPr lang="zh-TW" altLang="en-US" sz="1400" dirty="0">
                          <a:solidFill>
                            <a:schemeClr val="tx1"/>
                          </a:solidFill>
                        </a:rPr>
                        <a:t>判斷且要定期判斷更新狀態</a:t>
                      </a:r>
                    </a:p>
                  </a:txBody>
                  <a:tcPr/>
                </a:tc>
                <a:extLst>
                  <a:ext uri="{0D108BD9-81ED-4DB2-BD59-A6C34878D82A}">
                    <a16:rowId xmlns:a16="http://schemas.microsoft.com/office/drawing/2014/main" val="1242125329"/>
                  </a:ext>
                </a:extLst>
              </a:tr>
            </a:tbl>
          </a:graphicData>
        </a:graphic>
      </p:graphicFrame>
    </p:spTree>
    <p:extLst>
      <p:ext uri="{BB962C8B-B14F-4D97-AF65-F5344CB8AC3E}">
        <p14:creationId xmlns:p14="http://schemas.microsoft.com/office/powerpoint/2010/main" val="183808607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a:extLst>
              <a:ext uri="{FF2B5EF4-FFF2-40B4-BE49-F238E27FC236}">
                <a16:creationId xmlns:a16="http://schemas.microsoft.com/office/drawing/2014/main" id="{6574449F-93C0-0F03-0DFD-03ACE5D9FAD8}"/>
              </a:ext>
            </a:extLst>
          </p:cNvPr>
          <p:cNvSpPr/>
          <p:nvPr/>
        </p:nvSpPr>
        <p:spPr>
          <a:xfrm>
            <a:off x="5630762" y="0"/>
            <a:ext cx="6561238" cy="6858000"/>
          </a:xfrm>
          <a:prstGeom prst="rect">
            <a:avLst/>
          </a:prstGeom>
          <a:solidFill>
            <a:srgbClr val="F5F8F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graphicFrame>
        <p:nvGraphicFramePr>
          <p:cNvPr id="2" name="表格 1">
            <a:extLst>
              <a:ext uri="{FF2B5EF4-FFF2-40B4-BE49-F238E27FC236}">
                <a16:creationId xmlns:a16="http://schemas.microsoft.com/office/drawing/2014/main" id="{AFECBCFF-E56C-F6A1-E63C-FAE73742DBBB}"/>
              </a:ext>
            </a:extLst>
          </p:cNvPr>
          <p:cNvGraphicFramePr>
            <a:graphicFrameLocks noGrp="1"/>
          </p:cNvGraphicFramePr>
          <p:nvPr>
            <p:extLst>
              <p:ext uri="{D42A27DB-BD31-4B8C-83A1-F6EECF244321}">
                <p14:modId xmlns:p14="http://schemas.microsoft.com/office/powerpoint/2010/main" val="67842932"/>
              </p:ext>
            </p:extLst>
          </p:nvPr>
        </p:nvGraphicFramePr>
        <p:xfrm>
          <a:off x="5817842" y="544833"/>
          <a:ext cx="6187078" cy="1925703"/>
        </p:xfrm>
        <a:graphic>
          <a:graphicData uri="http://schemas.openxmlformats.org/drawingml/2006/table">
            <a:tbl>
              <a:tblPr firstRow="1" bandRow="1">
                <a:tableStyleId>{5940675A-B579-460E-94D1-54222C63F5DA}</a:tableStyleId>
              </a:tblPr>
              <a:tblGrid>
                <a:gridCol w="1800000">
                  <a:extLst>
                    <a:ext uri="{9D8B030D-6E8A-4147-A177-3AD203B41FA5}">
                      <a16:colId xmlns:a16="http://schemas.microsoft.com/office/drawing/2014/main" val="4011186730"/>
                    </a:ext>
                  </a:extLst>
                </a:gridCol>
                <a:gridCol w="1800000">
                  <a:extLst>
                    <a:ext uri="{9D8B030D-6E8A-4147-A177-3AD203B41FA5}">
                      <a16:colId xmlns:a16="http://schemas.microsoft.com/office/drawing/2014/main" val="3439201306"/>
                    </a:ext>
                  </a:extLst>
                </a:gridCol>
                <a:gridCol w="1800000">
                  <a:extLst>
                    <a:ext uri="{9D8B030D-6E8A-4147-A177-3AD203B41FA5}">
                      <a16:colId xmlns:a16="http://schemas.microsoft.com/office/drawing/2014/main" val="907279586"/>
                    </a:ext>
                  </a:extLst>
                </a:gridCol>
                <a:gridCol w="787078">
                  <a:extLst>
                    <a:ext uri="{9D8B030D-6E8A-4147-A177-3AD203B41FA5}">
                      <a16:colId xmlns:a16="http://schemas.microsoft.com/office/drawing/2014/main" val="1807217647"/>
                    </a:ext>
                  </a:extLst>
                </a:gridCol>
              </a:tblGrid>
              <a:tr h="340743">
                <a:tc>
                  <a:txBody>
                    <a:bodyPr/>
                    <a:lstStyle/>
                    <a:p>
                      <a:r>
                        <a:rPr kumimoji="1" lang="en-US" altLang="zh-TW" sz="1000" kern="1200">
                          <a:solidFill>
                            <a:srgbClr val="4E4E4E"/>
                          </a:solidFill>
                          <a:latin typeface="+mn-lt"/>
                          <a:ea typeface="+mn-ea"/>
                          <a:cs typeface="+mn-cs"/>
                        </a:rPr>
                        <a:t>Insertion Order</a:t>
                      </a:r>
                      <a:endParaRPr kumimoji="1" lang="zh-TW" altLang="en-US" sz="1000" kern="1200">
                        <a:solidFill>
                          <a:srgbClr val="4E4E4E"/>
                        </a:solidFill>
                        <a:latin typeface="+mn-lt"/>
                        <a:ea typeface="+mn-ea"/>
                        <a:cs typeface="+mn-cs"/>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FAFAFA"/>
                    </a:solidFill>
                  </a:tcPr>
                </a:tc>
                <a:tc>
                  <a:txBody>
                    <a:bodyPr/>
                    <a:lstStyle/>
                    <a:p>
                      <a:r>
                        <a:rPr kumimoji="1" lang="en-US" altLang="zh-TW" sz="1000" kern="1200">
                          <a:solidFill>
                            <a:srgbClr val="4E4E4E"/>
                          </a:solidFill>
                          <a:latin typeface="+mn-lt"/>
                          <a:ea typeface="+mn-ea"/>
                          <a:cs typeface="+mn-cs"/>
                        </a:rPr>
                        <a:t>Campaign Name</a:t>
                      </a:r>
                      <a:endParaRPr kumimoji="1" lang="zh-TW" altLang="en-US" sz="1000" kern="1200">
                        <a:solidFill>
                          <a:srgbClr val="4E4E4E"/>
                        </a:solidFill>
                        <a:latin typeface="+mn-lt"/>
                        <a:ea typeface="+mn-ea"/>
                        <a:cs typeface="+mn-cs"/>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FAFAFA"/>
                    </a:solidFill>
                  </a:tcPr>
                </a:tc>
                <a:tc>
                  <a:txBody>
                    <a:bodyPr/>
                    <a:lstStyle/>
                    <a:p>
                      <a:r>
                        <a:rPr kumimoji="1" lang="en-US" altLang="zh-TW" sz="1000" kern="1200">
                          <a:solidFill>
                            <a:srgbClr val="4E4E4E"/>
                          </a:solidFill>
                          <a:latin typeface="+mn-lt"/>
                          <a:ea typeface="+mn-ea"/>
                          <a:cs typeface="+mn-cs"/>
                        </a:rPr>
                        <a:t>Ad Group Name</a:t>
                      </a:r>
                      <a:endParaRPr kumimoji="1" lang="zh-TW" altLang="en-US" sz="1000" kern="1200">
                        <a:solidFill>
                          <a:srgbClr val="4E4E4E"/>
                        </a:solidFill>
                        <a:latin typeface="+mn-lt"/>
                        <a:ea typeface="+mn-ea"/>
                        <a:cs typeface="+mn-cs"/>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FAFAFA"/>
                    </a:solidFill>
                  </a:tcPr>
                </a:tc>
                <a:tc>
                  <a:txBody>
                    <a:bodyPr/>
                    <a:lstStyle/>
                    <a:p>
                      <a:r>
                        <a:rPr kumimoji="1" lang="en-US" altLang="zh-TW" sz="1000" kern="1200">
                          <a:solidFill>
                            <a:srgbClr val="4E4E4E"/>
                          </a:solidFill>
                          <a:latin typeface="+mn-lt"/>
                          <a:ea typeface="+mn-ea"/>
                          <a:cs typeface="+mn-cs"/>
                        </a:rPr>
                        <a:t>Status</a:t>
                      </a:r>
                      <a:endParaRPr kumimoji="1" lang="zh-TW" altLang="en-US" sz="1000" kern="1200">
                        <a:solidFill>
                          <a:srgbClr val="4E4E4E"/>
                        </a:solidFill>
                        <a:latin typeface="+mn-lt"/>
                        <a:ea typeface="+mn-ea"/>
                        <a:cs typeface="+mn-cs"/>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FAFAFA"/>
                    </a:solidFill>
                  </a:tcPr>
                </a:tc>
                <a:extLst>
                  <a:ext uri="{0D108BD9-81ED-4DB2-BD59-A6C34878D82A}">
                    <a16:rowId xmlns:a16="http://schemas.microsoft.com/office/drawing/2014/main" val="382988244"/>
                  </a:ext>
                </a:extLst>
              </a:tr>
              <a:tr h="37042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 altLang="zh-TW" sz="1000" b="0" i="0" u="none" strike="noStrike" kern="1200" cap="none" spc="0" normalizeH="0" baseline="0">
                          <a:ln>
                            <a:noFill/>
                          </a:ln>
                          <a:solidFill>
                            <a:srgbClr val="4E4E4E"/>
                          </a:solidFill>
                          <a:effectLst/>
                          <a:uLnTx/>
                          <a:uFillTx/>
                          <a:latin typeface="Aptos" panose="02110004020202020204"/>
                          <a:ea typeface="新細明體" panose="02020500000000000000" pitchFamily="18" charset="-120"/>
                          <a:cs typeface="+mn-cs"/>
                        </a:rPr>
                        <a:t>20251013_CCT_test</a:t>
                      </a:r>
                      <a:endParaRPr kumimoji="1" lang="zh-TW" altLang="en-US" sz="1000" b="0" i="0" u="none" strike="noStrike" kern="1200" cap="none" spc="0" normalizeH="0" baseline="0">
                        <a:ln>
                          <a:noFill/>
                        </a:ln>
                        <a:solidFill>
                          <a:srgbClr val="4E4E4E"/>
                        </a:solidFill>
                        <a:effectLst/>
                        <a:uLnTx/>
                        <a:uFillTx/>
                        <a:latin typeface="Aptos" panose="02110004020202020204"/>
                        <a:ea typeface="新細明體" panose="02020500000000000000" pitchFamily="18" charset="-120"/>
                        <a:cs typeface="+mn-cs"/>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 altLang="zh-TW" sz="1000" b="0" i="0" u="none" strike="noStrike" kern="1200" cap="none" spc="0" normalizeH="0" baseline="0">
                          <a:ln>
                            <a:noFill/>
                          </a:ln>
                          <a:solidFill>
                            <a:srgbClr val="4E4E4E"/>
                          </a:solidFill>
                          <a:effectLst/>
                          <a:uLnTx/>
                          <a:uFillTx/>
                          <a:latin typeface="Aptos" panose="02110004020202020204"/>
                          <a:ea typeface="新細明體" panose="02020500000000000000" pitchFamily="18" charset="-120"/>
                          <a:cs typeface="+mn-cs"/>
                        </a:rPr>
                        <a:t>20251013_CCT_test_RichMedia</a:t>
                      </a:r>
                      <a:endParaRPr kumimoji="1" lang="zh-TW" altLang="en-US" sz="1000" b="0" i="0" u="none" strike="noStrike" kern="1200" cap="none" spc="0" normalizeH="0" baseline="0">
                        <a:ln>
                          <a:noFill/>
                        </a:ln>
                        <a:solidFill>
                          <a:srgbClr val="4E4E4E"/>
                        </a:solidFill>
                        <a:effectLst/>
                        <a:uLnTx/>
                        <a:uFillTx/>
                        <a:latin typeface="Aptos" panose="02110004020202020204"/>
                        <a:ea typeface="新細明體" panose="02020500000000000000" pitchFamily="18" charset="-120"/>
                        <a:cs typeface="+mn-cs"/>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 altLang="zh-TW" sz="1000" b="0" i="0" u="none" strike="noStrike" kern="1200" cap="none" spc="0" normalizeH="0" baseline="0" dirty="0">
                          <a:ln>
                            <a:noFill/>
                          </a:ln>
                          <a:solidFill>
                            <a:srgbClr val="4E4E4E"/>
                          </a:solidFill>
                          <a:effectLst/>
                          <a:uLnTx/>
                          <a:uFillTx/>
                          <a:latin typeface="Aptos" panose="02110004020202020204"/>
                          <a:ea typeface="新細明體" panose="02020500000000000000" pitchFamily="18" charset="-120"/>
                          <a:cs typeface="+mn-cs"/>
                        </a:rPr>
                        <a:t>20251013_CCT_test_MIBI_OneAD's account</a:t>
                      </a:r>
                      <a:endParaRPr kumimoji="1" lang="zh-TW" altLang="en-US" sz="1000" b="0" i="0" u="none" strike="noStrike" kern="1200" cap="none" spc="0" normalizeH="0" baseline="0" dirty="0">
                        <a:ln>
                          <a:noFill/>
                        </a:ln>
                        <a:solidFill>
                          <a:srgbClr val="4E4E4E"/>
                        </a:solidFill>
                        <a:effectLst/>
                        <a:uLnTx/>
                        <a:uFillTx/>
                        <a:latin typeface="Aptos" panose="02110004020202020204"/>
                        <a:ea typeface="新細明體" panose="02020500000000000000" pitchFamily="18" charset="-120"/>
                        <a:cs typeface="+mn-cs"/>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zh-TW" sz="1000" kern="1200" dirty="0">
                          <a:solidFill>
                            <a:srgbClr val="4E4E4E"/>
                          </a:solidFill>
                          <a:latin typeface="+mn-lt"/>
                          <a:ea typeface="+mn-ea"/>
                          <a:cs typeface="+mn-cs"/>
                        </a:rPr>
                        <a:t>On cue</a:t>
                      </a:r>
                      <a:endParaRPr kumimoji="1" lang="zh-TW" altLang="en-US" sz="1000" kern="1200" dirty="0">
                        <a:solidFill>
                          <a:srgbClr val="4E4E4E"/>
                        </a:solidFill>
                        <a:latin typeface="+mn-lt"/>
                        <a:ea typeface="+mn-ea"/>
                        <a:cs typeface="+mn-cs"/>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3705966175"/>
                  </a:ext>
                </a:extLst>
              </a:tr>
              <a:tr h="37042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 altLang="zh-TW" sz="1000" b="0" i="0" u="none" strike="noStrike" kern="1200" cap="none" spc="0" normalizeH="0" baseline="0">
                          <a:ln>
                            <a:noFill/>
                          </a:ln>
                          <a:solidFill>
                            <a:srgbClr val="4E4E4E"/>
                          </a:solidFill>
                          <a:effectLst/>
                          <a:uLnTx/>
                          <a:uFillTx/>
                          <a:latin typeface="Aptos" panose="02110004020202020204"/>
                          <a:ea typeface="新細明體" panose="02020500000000000000" pitchFamily="18" charset="-120"/>
                          <a:cs typeface="+mn-cs"/>
                        </a:rPr>
                        <a:t>20251013_CCT_test</a:t>
                      </a:r>
                      <a:endParaRPr kumimoji="1" lang="zh-TW" altLang="en-US" sz="1000" b="0" i="0" u="none" strike="noStrike" kern="1200" cap="none" spc="0" normalizeH="0" baseline="0">
                        <a:ln>
                          <a:noFill/>
                        </a:ln>
                        <a:solidFill>
                          <a:srgbClr val="4E4E4E"/>
                        </a:solidFill>
                        <a:effectLst/>
                        <a:uLnTx/>
                        <a:uFillTx/>
                        <a:latin typeface="Aptos" panose="02110004020202020204"/>
                        <a:ea typeface="新細明體" panose="02020500000000000000" pitchFamily="18" charset="-120"/>
                        <a:cs typeface="+mn-cs"/>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 altLang="zh-TW" sz="1000" b="0" i="0" u="none" strike="noStrike" kern="1200" cap="none" spc="0" normalizeH="0" baseline="0">
                          <a:ln>
                            <a:noFill/>
                          </a:ln>
                          <a:solidFill>
                            <a:srgbClr val="4E4E4E"/>
                          </a:solidFill>
                          <a:effectLst/>
                          <a:uLnTx/>
                          <a:uFillTx/>
                          <a:latin typeface="Aptos" panose="02110004020202020204"/>
                          <a:ea typeface="新細明體" panose="02020500000000000000" pitchFamily="18" charset="-120"/>
                          <a:cs typeface="+mn-cs"/>
                        </a:rPr>
                        <a:t>20251013_CCT_test_RichMedia</a:t>
                      </a:r>
                      <a:endParaRPr kumimoji="1" lang="zh-TW" altLang="en-US" sz="1000" b="0" i="0" u="none" strike="noStrike" kern="1200" cap="none" spc="0" normalizeH="0" baseline="0" noProof="0">
                        <a:ln>
                          <a:noFill/>
                        </a:ln>
                        <a:solidFill>
                          <a:srgbClr val="4E4E4E"/>
                        </a:solidFill>
                        <a:effectLst/>
                        <a:uLnTx/>
                        <a:uFillTx/>
                        <a:latin typeface="Aptos" panose="02110004020202020204"/>
                        <a:ea typeface="新細明體" panose="02020500000000000000" pitchFamily="18" charset="-120"/>
                        <a:cs typeface="+mn-cs"/>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 altLang="zh-TW" sz="1000" b="0" i="0" u="none" strike="noStrike" kern="1200" cap="none" spc="0" normalizeH="0" baseline="0">
                          <a:ln>
                            <a:noFill/>
                          </a:ln>
                          <a:solidFill>
                            <a:srgbClr val="4E4E4E"/>
                          </a:solidFill>
                          <a:effectLst/>
                          <a:uLnTx/>
                          <a:uFillTx/>
                          <a:latin typeface="Aptos" panose="02110004020202020204"/>
                          <a:ea typeface="新細明體" panose="02020500000000000000" pitchFamily="18" charset="-120"/>
                          <a:cs typeface="+mn-cs"/>
                        </a:rPr>
                        <a:t>20251013_CCT_test_MIRV_OneAD's account</a:t>
                      </a:r>
                      <a:endParaRPr kumimoji="1" lang="zh-TW" altLang="en-US" sz="1000" b="0" i="0" u="none" strike="noStrike" kern="1200" cap="none" spc="0" normalizeH="0" baseline="0" noProof="0">
                        <a:ln>
                          <a:noFill/>
                        </a:ln>
                        <a:solidFill>
                          <a:srgbClr val="4E4E4E"/>
                        </a:solidFill>
                        <a:effectLst/>
                        <a:uLnTx/>
                        <a:uFillTx/>
                        <a:latin typeface="Aptos" panose="02110004020202020204"/>
                        <a:ea typeface="新細明體" panose="02020500000000000000" pitchFamily="18" charset="-120"/>
                        <a:cs typeface="+mn-cs"/>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zh-TW" sz="1000" b="0" i="0" u="none" strike="noStrike" kern="1200" cap="none" spc="0" normalizeH="0" baseline="0" noProof="0">
                          <a:ln>
                            <a:noFill/>
                          </a:ln>
                          <a:solidFill>
                            <a:srgbClr val="4E4E4E"/>
                          </a:solidFill>
                          <a:effectLst/>
                          <a:uLnTx/>
                          <a:uFillTx/>
                          <a:latin typeface="Aptos" panose="02110004020202020204"/>
                          <a:ea typeface="新細明體" panose="02020500000000000000" pitchFamily="18" charset="-120"/>
                          <a:cs typeface="+mn-cs"/>
                        </a:rPr>
                        <a:t>Draft</a:t>
                      </a:r>
                      <a:endParaRPr kumimoji="1" lang="zh-TW" altLang="en-US" sz="1000" b="0" i="0" u="none" strike="noStrike" kern="1200" cap="none" spc="0" normalizeH="0" baseline="0" noProof="0">
                        <a:ln>
                          <a:noFill/>
                        </a:ln>
                        <a:solidFill>
                          <a:srgbClr val="4E4E4E"/>
                        </a:solidFill>
                        <a:effectLst/>
                        <a:uLnTx/>
                        <a:uFillTx/>
                        <a:latin typeface="Aptos" panose="02110004020202020204"/>
                        <a:ea typeface="新細明體" panose="02020500000000000000" pitchFamily="18" charset="-120"/>
                        <a:cs typeface="+mn-cs"/>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3805930247"/>
                  </a:ext>
                </a:extLst>
              </a:tr>
              <a:tr h="37042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 altLang="zh-TW" sz="1000" b="0" i="0" u="none" strike="noStrike" kern="1200" cap="none" spc="0" normalizeH="0" baseline="0">
                          <a:ln>
                            <a:noFill/>
                          </a:ln>
                          <a:solidFill>
                            <a:srgbClr val="4E4E4E"/>
                          </a:solidFill>
                          <a:effectLst/>
                          <a:uLnTx/>
                          <a:uFillTx/>
                          <a:latin typeface="Aptos" panose="02110004020202020204"/>
                          <a:ea typeface="新細明體" panose="02020500000000000000" pitchFamily="18" charset="-120"/>
                          <a:cs typeface="+mn-cs"/>
                        </a:rPr>
                        <a:t>20251013_CCT_test</a:t>
                      </a:r>
                      <a:endParaRPr kumimoji="1" lang="zh-TW" altLang="en-US" sz="1000" b="0" i="0" u="none" strike="noStrike" kern="1200" cap="none" spc="0" normalizeH="0" baseline="0">
                        <a:ln>
                          <a:noFill/>
                        </a:ln>
                        <a:solidFill>
                          <a:srgbClr val="4E4E4E"/>
                        </a:solidFill>
                        <a:effectLst/>
                        <a:uLnTx/>
                        <a:uFillTx/>
                        <a:latin typeface="Aptos" panose="02110004020202020204"/>
                        <a:ea typeface="新細明體" panose="02020500000000000000" pitchFamily="18" charset="-120"/>
                        <a:cs typeface="+mn-cs"/>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 altLang="zh-TW" sz="1000" b="0" i="0" u="none" strike="noStrike" kern="1200" cap="none" spc="0" normalizeH="0" baseline="0">
                          <a:ln>
                            <a:noFill/>
                          </a:ln>
                          <a:solidFill>
                            <a:srgbClr val="4E4E4E"/>
                          </a:solidFill>
                          <a:effectLst/>
                          <a:uLnTx/>
                          <a:uFillTx/>
                          <a:latin typeface="Aptos" panose="02110004020202020204"/>
                          <a:ea typeface="新細明體" panose="02020500000000000000" pitchFamily="18" charset="-120"/>
                          <a:cs typeface="+mn-cs"/>
                        </a:rPr>
                        <a:t>20251013_CCT_test_InStream</a:t>
                      </a:r>
                      <a:endParaRPr kumimoji="1" lang="zh-TW" altLang="en-US" sz="1000" b="0" i="0" u="none" strike="noStrike" kern="1200" cap="none" spc="0" normalizeH="0" baseline="0" noProof="0">
                        <a:ln>
                          <a:noFill/>
                        </a:ln>
                        <a:solidFill>
                          <a:srgbClr val="4E4E4E"/>
                        </a:solidFill>
                        <a:effectLst/>
                        <a:uLnTx/>
                        <a:uFillTx/>
                        <a:latin typeface="Aptos" panose="02110004020202020204"/>
                        <a:ea typeface="新細明體" panose="02020500000000000000" pitchFamily="18" charset="-120"/>
                        <a:cs typeface="+mn-cs"/>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 altLang="zh-TW" sz="1000" b="0" i="0" u="none" strike="noStrike" kern="1200" cap="none" spc="0" normalizeH="0" baseline="0">
                          <a:ln>
                            <a:noFill/>
                          </a:ln>
                          <a:solidFill>
                            <a:srgbClr val="4E4E4E"/>
                          </a:solidFill>
                          <a:effectLst/>
                          <a:uLnTx/>
                          <a:uFillTx/>
                          <a:latin typeface="Aptos" panose="02110004020202020204"/>
                          <a:ea typeface="新細明體" panose="02020500000000000000" pitchFamily="18" charset="-120"/>
                          <a:cs typeface="+mn-cs"/>
                        </a:rPr>
                        <a:t>20251014_CCT_test_InStream_OneAD's account</a:t>
                      </a:r>
                      <a:endParaRPr kumimoji="1" lang="zh-TW" altLang="en-US" sz="1000" b="0" i="0" u="none" strike="noStrike" kern="1200" cap="none" spc="0" normalizeH="0" baseline="0" noProof="0">
                        <a:ln>
                          <a:noFill/>
                        </a:ln>
                        <a:solidFill>
                          <a:srgbClr val="4E4E4E"/>
                        </a:solidFill>
                        <a:effectLst/>
                        <a:uLnTx/>
                        <a:uFillTx/>
                        <a:latin typeface="Aptos" panose="02110004020202020204"/>
                        <a:ea typeface="新細明體" panose="02020500000000000000" pitchFamily="18" charset="-120"/>
                        <a:cs typeface="+mn-cs"/>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zh-TW" sz="1000" b="0" i="0" u="none" strike="noStrike" kern="1200" cap="none" spc="0" normalizeH="0" baseline="0" noProof="0">
                          <a:ln>
                            <a:noFill/>
                          </a:ln>
                          <a:solidFill>
                            <a:srgbClr val="4E4E4E"/>
                          </a:solidFill>
                          <a:effectLst/>
                          <a:uLnTx/>
                          <a:uFillTx/>
                          <a:latin typeface="Aptos" panose="02110004020202020204"/>
                          <a:ea typeface="新細明體" panose="02020500000000000000" pitchFamily="18" charset="-120"/>
                          <a:cs typeface="+mn-cs"/>
                        </a:rPr>
                        <a:t>End</a:t>
                      </a:r>
                      <a:endParaRPr kumimoji="1" lang="zh-TW" altLang="en-US" sz="1000" b="0" i="0" u="none" strike="noStrike" kern="1200" cap="none" spc="0" normalizeH="0" baseline="0" noProof="0">
                        <a:ln>
                          <a:noFill/>
                        </a:ln>
                        <a:solidFill>
                          <a:srgbClr val="4E4E4E"/>
                        </a:solidFill>
                        <a:effectLst/>
                        <a:uLnTx/>
                        <a:uFillTx/>
                        <a:latin typeface="Aptos" panose="02110004020202020204"/>
                        <a:ea typeface="新細明體" panose="02020500000000000000" pitchFamily="18" charset="-120"/>
                        <a:cs typeface="+mn-cs"/>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189279743"/>
                  </a:ext>
                </a:extLst>
              </a:tr>
              <a:tr h="37042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 altLang="zh-TW" sz="1000" b="0" i="0" u="none" strike="noStrike" kern="1200" cap="none" spc="0" normalizeH="0" baseline="0">
                          <a:ln>
                            <a:noFill/>
                          </a:ln>
                          <a:solidFill>
                            <a:srgbClr val="4E4E4E"/>
                          </a:solidFill>
                          <a:effectLst/>
                          <a:uLnTx/>
                          <a:uFillTx/>
                          <a:latin typeface="+mn-lt"/>
                          <a:ea typeface="+mn-ea"/>
                          <a:cs typeface="+mn-cs"/>
                        </a:rPr>
                        <a:t>20251013_CCT_test</a:t>
                      </a:r>
                      <a:endParaRPr kumimoji="1" lang="zh-TW" altLang="en-US" sz="1000" b="0" i="0" u="none" strike="noStrike" kern="1200" cap="none" spc="0" normalizeH="0" baseline="0">
                        <a:ln>
                          <a:noFill/>
                        </a:ln>
                        <a:solidFill>
                          <a:srgbClr val="4E4E4E"/>
                        </a:solidFill>
                        <a:effectLst/>
                        <a:uLnTx/>
                        <a:uFillTx/>
                        <a:latin typeface="+mn-lt"/>
                        <a:ea typeface="+mn-ea"/>
                        <a:cs typeface="+mn-cs"/>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 altLang="zh-TW" sz="1000" b="0" i="0" u="none" strike="noStrike" kern="1200" cap="none" spc="0" normalizeH="0" baseline="0">
                          <a:ln>
                            <a:noFill/>
                          </a:ln>
                          <a:solidFill>
                            <a:srgbClr val="4E4E4E"/>
                          </a:solidFill>
                          <a:effectLst/>
                          <a:uLnTx/>
                          <a:uFillTx/>
                          <a:latin typeface="Aptos" panose="02110004020202020204"/>
                          <a:ea typeface="新細明體" panose="02020500000000000000" pitchFamily="18" charset="-120"/>
                          <a:cs typeface="+mn-cs"/>
                        </a:rPr>
                        <a:t>20251013_CCT_test_InStream</a:t>
                      </a:r>
                      <a:endParaRPr kumimoji="1" lang="zh-TW" altLang="en-US" sz="1000" b="0" i="0" u="none" strike="noStrike" kern="1200" cap="none" spc="0" normalizeH="0" baseline="0" noProof="0">
                        <a:ln>
                          <a:noFill/>
                        </a:ln>
                        <a:solidFill>
                          <a:srgbClr val="4E4E4E"/>
                        </a:solidFill>
                        <a:effectLst/>
                        <a:uLnTx/>
                        <a:uFillTx/>
                        <a:latin typeface="Aptos" panose="02110004020202020204"/>
                        <a:ea typeface="新細明體" panose="02020500000000000000" pitchFamily="18" charset="-120"/>
                        <a:cs typeface="+mn-cs"/>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 altLang="zh-TW" sz="1000" b="0" i="0" u="none" strike="noStrike" kern="1200" cap="none" spc="0" normalizeH="0" baseline="0">
                          <a:ln>
                            <a:noFill/>
                          </a:ln>
                          <a:solidFill>
                            <a:srgbClr val="4E4E4E"/>
                          </a:solidFill>
                          <a:effectLst/>
                          <a:uLnTx/>
                          <a:uFillTx/>
                          <a:latin typeface="Aptos" panose="02110004020202020204"/>
                          <a:ea typeface="新細明體" panose="02020500000000000000" pitchFamily="18" charset="-120"/>
                          <a:cs typeface="+mn-cs"/>
                        </a:rPr>
                        <a:t>20251014_CCT_test_InStream_PM's account</a:t>
                      </a:r>
                      <a:endParaRPr kumimoji="1" lang="zh-TW" altLang="en-US" sz="1000" b="0" i="0" u="none" strike="noStrike" kern="1200" cap="none" spc="0" normalizeH="0" baseline="0" noProof="0">
                        <a:ln>
                          <a:noFill/>
                        </a:ln>
                        <a:solidFill>
                          <a:srgbClr val="4E4E4E"/>
                        </a:solidFill>
                        <a:effectLst/>
                        <a:uLnTx/>
                        <a:uFillTx/>
                        <a:latin typeface="Aptos" panose="02110004020202020204"/>
                        <a:ea typeface="新細明體" panose="02020500000000000000" pitchFamily="18" charset="-120"/>
                        <a:cs typeface="+mn-cs"/>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zh-TW" sz="1000" b="0" i="0" u="none" strike="noStrike" kern="1200" cap="none" spc="0" normalizeH="0" baseline="0" noProof="0" dirty="0">
                          <a:ln>
                            <a:noFill/>
                          </a:ln>
                          <a:solidFill>
                            <a:srgbClr val="4E4E4E"/>
                          </a:solidFill>
                          <a:effectLst/>
                          <a:uLnTx/>
                          <a:uFillTx/>
                          <a:latin typeface="Aptos" panose="02110004020202020204"/>
                          <a:ea typeface="新細明體" panose="02020500000000000000" pitchFamily="18" charset="-120"/>
                          <a:cs typeface="+mn-cs"/>
                        </a:rPr>
                        <a:t>Paused</a:t>
                      </a:r>
                      <a:endParaRPr kumimoji="1" lang="zh-TW" altLang="en-US" sz="1000" b="0" i="0" u="none" strike="noStrike" kern="1200" cap="none" spc="0" normalizeH="0" baseline="0" noProof="0" dirty="0">
                        <a:ln>
                          <a:noFill/>
                        </a:ln>
                        <a:solidFill>
                          <a:srgbClr val="4E4E4E"/>
                        </a:solidFill>
                        <a:effectLst/>
                        <a:uLnTx/>
                        <a:uFillTx/>
                        <a:latin typeface="Aptos" panose="02110004020202020204"/>
                        <a:ea typeface="新細明體" panose="02020500000000000000" pitchFamily="18" charset="-120"/>
                        <a:cs typeface="+mn-cs"/>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3029814189"/>
                  </a:ext>
                </a:extLst>
              </a:tr>
            </a:tbl>
          </a:graphicData>
        </a:graphic>
      </p:graphicFrame>
      <p:sp>
        <p:nvSpPr>
          <p:cNvPr id="9" name="矩形 8">
            <a:extLst>
              <a:ext uri="{FF2B5EF4-FFF2-40B4-BE49-F238E27FC236}">
                <a16:creationId xmlns:a16="http://schemas.microsoft.com/office/drawing/2014/main" id="{9037DAE1-D988-3098-B1E1-44581766831D}"/>
              </a:ext>
            </a:extLst>
          </p:cNvPr>
          <p:cNvSpPr/>
          <p:nvPr/>
        </p:nvSpPr>
        <p:spPr>
          <a:xfrm>
            <a:off x="11293720" y="6477000"/>
            <a:ext cx="711200" cy="282144"/>
          </a:xfrm>
          <a:prstGeom prst="rect">
            <a:avLst/>
          </a:prstGeom>
          <a:solidFill>
            <a:schemeClr val="bg1"/>
          </a:solid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TW" sz="1000">
                <a:solidFill>
                  <a:schemeClr val="tx1">
                    <a:lumMod val="65000"/>
                    <a:lumOff val="35000"/>
                  </a:schemeClr>
                </a:solidFill>
              </a:rPr>
              <a:t>Close</a:t>
            </a:r>
            <a:endParaRPr kumimoji="1" lang="zh-TW" altLang="en-US" sz="1000">
              <a:solidFill>
                <a:schemeClr val="tx1">
                  <a:lumMod val="65000"/>
                  <a:lumOff val="35000"/>
                </a:schemeClr>
              </a:solidFill>
            </a:endParaRPr>
          </a:p>
        </p:txBody>
      </p:sp>
      <p:sp>
        <p:nvSpPr>
          <p:cNvPr id="11" name="文字方塊 10">
            <a:extLst>
              <a:ext uri="{FF2B5EF4-FFF2-40B4-BE49-F238E27FC236}">
                <a16:creationId xmlns:a16="http://schemas.microsoft.com/office/drawing/2014/main" id="{053A9F5F-5D74-EC9B-C481-FCE921EC2EE4}"/>
              </a:ext>
            </a:extLst>
          </p:cNvPr>
          <p:cNvSpPr txBox="1"/>
          <p:nvPr/>
        </p:nvSpPr>
        <p:spPr>
          <a:xfrm>
            <a:off x="6593483" y="114119"/>
            <a:ext cx="4635795" cy="307777"/>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 altLang="zh-TW" sz="1400" b="1" kern="1200">
                <a:solidFill>
                  <a:srgbClr val="4E4E4E"/>
                </a:solidFill>
                <a:latin typeface="+mn-lt"/>
                <a:ea typeface="+mn-ea"/>
                <a:cs typeface="+mn-cs"/>
              </a:rPr>
              <a:t>[Webb</a:t>
            </a:r>
            <a:r>
              <a:rPr kumimoji="1" lang="zh-TW" altLang="en-US" sz="1400" b="1" kern="1200">
                <a:solidFill>
                  <a:srgbClr val="4E4E4E"/>
                </a:solidFill>
                <a:latin typeface="+mn-lt"/>
                <a:ea typeface="+mn-ea"/>
                <a:cs typeface="+mn-cs"/>
              </a:rPr>
              <a:t>零售數據</a:t>
            </a:r>
            <a:r>
              <a:rPr kumimoji="1" lang="en-US" altLang="zh-TW" sz="1400" b="1" kern="1200">
                <a:solidFill>
                  <a:srgbClr val="4E4E4E"/>
                </a:solidFill>
                <a:latin typeface="+mn-lt"/>
                <a:ea typeface="+mn-ea"/>
                <a:cs typeface="+mn-cs"/>
              </a:rPr>
              <a:t>-</a:t>
            </a:r>
            <a:r>
              <a:rPr kumimoji="1" lang="zh-TW" altLang="en-US" sz="1400" b="1" kern="1200">
                <a:solidFill>
                  <a:srgbClr val="4E4E4E"/>
                </a:solidFill>
                <a:latin typeface="+mn-lt"/>
                <a:ea typeface="+mn-ea"/>
                <a:cs typeface="+mn-cs"/>
              </a:rPr>
              <a:t>購買</a:t>
            </a:r>
            <a:r>
              <a:rPr kumimoji="1" lang="en-US" altLang="zh-TW" sz="1400" b="1" kern="1200">
                <a:solidFill>
                  <a:srgbClr val="4E4E4E"/>
                </a:solidFill>
                <a:latin typeface="+mn-lt"/>
                <a:ea typeface="+mn-ea"/>
                <a:cs typeface="+mn-cs"/>
              </a:rPr>
              <a:t>] </a:t>
            </a:r>
            <a:r>
              <a:rPr kumimoji="1" lang="zh-TW" altLang="en-US" sz="1400" b="1" kern="1200">
                <a:solidFill>
                  <a:srgbClr val="4E4E4E"/>
                </a:solidFill>
                <a:latin typeface="+mn-lt"/>
                <a:ea typeface="+mn-ea"/>
                <a:cs typeface="+mn-cs"/>
              </a:rPr>
              <a:t>合利他命</a:t>
            </a:r>
            <a:r>
              <a:rPr kumimoji="1" lang="en" altLang="zh-TW" sz="1400" b="1" kern="1200">
                <a:solidFill>
                  <a:srgbClr val="4E4E4E"/>
                </a:solidFill>
                <a:latin typeface="+mn-lt"/>
                <a:ea typeface="+mn-ea"/>
                <a:cs typeface="+mn-cs"/>
              </a:rPr>
              <a:t>EXPLUS 10</a:t>
            </a:r>
            <a:r>
              <a:rPr kumimoji="1" lang="zh-TW" altLang="en-US" sz="1400" b="1" kern="1200">
                <a:solidFill>
                  <a:srgbClr val="4E4E4E"/>
                </a:solidFill>
                <a:latin typeface="+mn-lt"/>
                <a:ea typeface="+mn-ea"/>
                <a:cs typeface="+mn-cs"/>
              </a:rPr>
              <a:t>月</a:t>
            </a:r>
            <a:endParaRPr kumimoji="1" lang="zh-TW" altLang="en-US" sz="1400" b="1" kern="1200" noProof="0">
              <a:solidFill>
                <a:srgbClr val="4E4E4E"/>
              </a:solidFill>
              <a:latin typeface="+mn-lt"/>
              <a:ea typeface="+mn-ea"/>
              <a:cs typeface="+mn-cs"/>
            </a:endParaRPr>
          </a:p>
        </p:txBody>
      </p:sp>
      <p:sp>
        <p:nvSpPr>
          <p:cNvPr id="12" name="標題 1">
            <a:extLst>
              <a:ext uri="{FF2B5EF4-FFF2-40B4-BE49-F238E27FC236}">
                <a16:creationId xmlns:a16="http://schemas.microsoft.com/office/drawing/2014/main" id="{9FA0313E-000C-2808-63EE-2302F8159956}"/>
              </a:ext>
            </a:extLst>
          </p:cNvPr>
          <p:cNvSpPr txBox="1">
            <a:spLocks/>
          </p:cNvSpPr>
          <p:nvPr/>
        </p:nvSpPr>
        <p:spPr>
          <a:xfrm>
            <a:off x="0" y="0"/>
            <a:ext cx="10515600" cy="70560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kumimoji="1" lang="en-US" altLang="zh-TW" sz="2000" dirty="0"/>
              <a:t>Audience Planner</a:t>
            </a:r>
          </a:p>
          <a:p>
            <a:r>
              <a:rPr kumimoji="1" lang="en-US" altLang="zh-TW" sz="2000" dirty="0"/>
              <a:t>In Used</a:t>
            </a:r>
            <a:endParaRPr kumimoji="1" lang="zh-TW" altLang="en-US" sz="2000" dirty="0"/>
          </a:p>
        </p:txBody>
      </p:sp>
      <p:sp>
        <p:nvSpPr>
          <p:cNvPr id="4" name="文字方塊 3">
            <a:extLst>
              <a:ext uri="{FF2B5EF4-FFF2-40B4-BE49-F238E27FC236}">
                <a16:creationId xmlns:a16="http://schemas.microsoft.com/office/drawing/2014/main" id="{CD754EFB-096F-3728-8007-C99CCF8FAB9E}"/>
              </a:ext>
            </a:extLst>
          </p:cNvPr>
          <p:cNvSpPr txBox="1"/>
          <p:nvPr/>
        </p:nvSpPr>
        <p:spPr>
          <a:xfrm>
            <a:off x="0" y="811219"/>
            <a:ext cx="5098623" cy="369332"/>
          </a:xfrm>
          <a:prstGeom prst="rect">
            <a:avLst/>
          </a:prstGeom>
          <a:noFill/>
        </p:spPr>
        <p:txBody>
          <a:bodyPr wrap="square" rtlCol="0">
            <a:spAutoFit/>
          </a:bodyPr>
          <a:lstStyle/>
          <a:p>
            <a:r>
              <a:rPr kumimoji="1" lang="zh-TW" altLang="en-US" dirty="0">
                <a:solidFill>
                  <a:srgbClr val="FF0000"/>
                </a:solidFill>
              </a:rPr>
              <a:t>原本</a:t>
            </a:r>
            <a:r>
              <a:rPr kumimoji="1" lang="en-US" altLang="zh-TW" dirty="0">
                <a:solidFill>
                  <a:srgbClr val="FF0000"/>
                </a:solidFill>
              </a:rPr>
              <a:t>Audience Pack List</a:t>
            </a:r>
            <a:r>
              <a:rPr kumimoji="1" lang="zh-TW" altLang="en-US" dirty="0">
                <a:solidFill>
                  <a:srgbClr val="FF0000"/>
                </a:solidFill>
              </a:rPr>
              <a:t>的</a:t>
            </a:r>
            <a:r>
              <a:rPr kumimoji="1" lang="en-US" altLang="zh-TW" dirty="0">
                <a:solidFill>
                  <a:srgbClr val="FF0000"/>
                </a:solidFill>
              </a:rPr>
              <a:t>In Used</a:t>
            </a:r>
            <a:r>
              <a:rPr kumimoji="1" lang="zh-TW" altLang="en-US" dirty="0">
                <a:solidFill>
                  <a:srgbClr val="FF0000"/>
                </a:solidFill>
              </a:rPr>
              <a:t>也改成此表格</a:t>
            </a:r>
          </a:p>
        </p:txBody>
      </p:sp>
    </p:spTree>
    <p:extLst>
      <p:ext uri="{BB962C8B-B14F-4D97-AF65-F5344CB8AC3E}">
        <p14:creationId xmlns:p14="http://schemas.microsoft.com/office/powerpoint/2010/main" val="17017838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內容版面配置區 2">
            <a:extLst>
              <a:ext uri="{FF2B5EF4-FFF2-40B4-BE49-F238E27FC236}">
                <a16:creationId xmlns:a16="http://schemas.microsoft.com/office/drawing/2014/main" id="{14A9870B-A43C-7B3A-1AE2-0519500065D3}"/>
              </a:ext>
            </a:extLst>
          </p:cNvPr>
          <p:cNvSpPr>
            <a:spLocks noGrp="1"/>
          </p:cNvSpPr>
          <p:nvPr>
            <p:ph idx="1"/>
          </p:nvPr>
        </p:nvSpPr>
        <p:spPr/>
        <p:txBody>
          <a:bodyPr/>
          <a:lstStyle/>
          <a:p>
            <a:r>
              <a:rPr kumimoji="1" lang="zh-TW" altLang="en-US" dirty="0"/>
              <a:t>多久更新清單</a:t>
            </a:r>
            <a:r>
              <a:rPr kumimoji="1" lang="en-US" altLang="zh-TW" dirty="0"/>
              <a:t>/UU</a:t>
            </a:r>
            <a:r>
              <a:rPr kumimoji="1" lang="zh-TW" altLang="en-US" dirty="0"/>
              <a:t>數</a:t>
            </a:r>
            <a:r>
              <a:rPr kumimoji="1" lang="en-US" altLang="zh-TW" dirty="0"/>
              <a:t>/status?</a:t>
            </a:r>
          </a:p>
          <a:p>
            <a:pPr lvl="1"/>
            <a:r>
              <a:rPr kumimoji="1" lang="zh-TW" altLang="en-US" dirty="0"/>
              <a:t>至少每天更新一次</a:t>
            </a:r>
            <a:endParaRPr kumimoji="1" lang="en-US" altLang="zh-TW" dirty="0"/>
          </a:p>
          <a:p>
            <a:r>
              <a:rPr kumimoji="1" lang="en-US" altLang="zh-TW" dirty="0"/>
              <a:t>In Used</a:t>
            </a:r>
            <a:r>
              <a:rPr kumimoji="1" lang="zh-TW" altLang="en-US" dirty="0"/>
              <a:t>更新</a:t>
            </a:r>
            <a:r>
              <a:rPr kumimoji="1" lang="en-US" altLang="zh-TW" dirty="0"/>
              <a:t>timing</a:t>
            </a:r>
          </a:p>
          <a:p>
            <a:pPr lvl="1"/>
            <a:r>
              <a:rPr kumimoji="1" lang="zh-TW" altLang="en-US" dirty="0"/>
              <a:t>每次</a:t>
            </a:r>
            <a:r>
              <a:rPr kumimoji="1" lang="en-US" altLang="zh-TW" dirty="0"/>
              <a:t>ad group save</a:t>
            </a:r>
            <a:r>
              <a:rPr kumimoji="1" lang="zh-TW" altLang="en-US" dirty="0"/>
              <a:t>時</a:t>
            </a:r>
          </a:p>
        </p:txBody>
      </p:sp>
      <p:sp>
        <p:nvSpPr>
          <p:cNvPr id="4" name="標題 1">
            <a:extLst>
              <a:ext uri="{FF2B5EF4-FFF2-40B4-BE49-F238E27FC236}">
                <a16:creationId xmlns:a16="http://schemas.microsoft.com/office/drawing/2014/main" id="{918CBAAD-DB28-FFB6-2916-5B85D76B908E}"/>
              </a:ext>
            </a:extLst>
          </p:cNvPr>
          <p:cNvSpPr txBox="1">
            <a:spLocks/>
          </p:cNvSpPr>
          <p:nvPr/>
        </p:nvSpPr>
        <p:spPr>
          <a:xfrm>
            <a:off x="0" y="0"/>
            <a:ext cx="10515600" cy="70560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kumimoji="1" lang="en-US" altLang="zh-TW" sz="2000" dirty="0"/>
              <a:t>Audience Planner</a:t>
            </a:r>
          </a:p>
          <a:p>
            <a:r>
              <a:rPr kumimoji="1" lang="en-US" altLang="zh-TW" sz="2000" dirty="0"/>
              <a:t>Update Information</a:t>
            </a:r>
            <a:endParaRPr kumimoji="1" lang="zh-TW" altLang="en-US" sz="2000" dirty="0"/>
          </a:p>
        </p:txBody>
      </p:sp>
    </p:spTree>
    <p:extLst>
      <p:ext uri="{BB962C8B-B14F-4D97-AF65-F5344CB8AC3E}">
        <p14:creationId xmlns:p14="http://schemas.microsoft.com/office/powerpoint/2010/main" val="149382248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標題 3">
            <a:extLst>
              <a:ext uri="{FF2B5EF4-FFF2-40B4-BE49-F238E27FC236}">
                <a16:creationId xmlns:a16="http://schemas.microsoft.com/office/drawing/2014/main" id="{1B83D522-A26F-257C-0F24-F7432E92AD1A}"/>
              </a:ext>
            </a:extLst>
          </p:cNvPr>
          <p:cNvSpPr>
            <a:spLocks noGrp="1"/>
          </p:cNvSpPr>
          <p:nvPr>
            <p:ph type="title"/>
          </p:nvPr>
        </p:nvSpPr>
        <p:spPr/>
        <p:txBody>
          <a:bodyPr/>
          <a:lstStyle/>
          <a:p>
            <a:r>
              <a:rPr kumimoji="1" lang="en-US" altLang="zh-TW"/>
              <a:t>Ad Group</a:t>
            </a:r>
            <a:endParaRPr lang="zh-TW" altLang="en-US"/>
          </a:p>
        </p:txBody>
      </p:sp>
      <p:sp>
        <p:nvSpPr>
          <p:cNvPr id="5" name="文字版面配置區 4">
            <a:extLst>
              <a:ext uri="{FF2B5EF4-FFF2-40B4-BE49-F238E27FC236}">
                <a16:creationId xmlns:a16="http://schemas.microsoft.com/office/drawing/2014/main" id="{59970486-7C19-ED04-2EE5-281BD0E32CB6}"/>
              </a:ext>
            </a:extLst>
          </p:cNvPr>
          <p:cNvSpPr>
            <a:spLocks noGrp="1"/>
          </p:cNvSpPr>
          <p:nvPr>
            <p:ph type="body" idx="1"/>
          </p:nvPr>
        </p:nvSpPr>
        <p:spPr/>
        <p:txBody>
          <a:bodyPr/>
          <a:lstStyle/>
          <a:p>
            <a:endParaRPr lang="zh-TW" altLang="en-US"/>
          </a:p>
        </p:txBody>
      </p:sp>
    </p:spTree>
    <p:extLst>
      <p:ext uri="{BB962C8B-B14F-4D97-AF65-F5344CB8AC3E}">
        <p14:creationId xmlns:p14="http://schemas.microsoft.com/office/powerpoint/2010/main" val="124637872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標題 1">
            <a:extLst>
              <a:ext uri="{FF2B5EF4-FFF2-40B4-BE49-F238E27FC236}">
                <a16:creationId xmlns:a16="http://schemas.microsoft.com/office/drawing/2014/main" id="{C7C50BA8-CA5E-3964-1A76-4011E3B00C66}"/>
              </a:ext>
            </a:extLst>
          </p:cNvPr>
          <p:cNvSpPr txBox="1">
            <a:spLocks/>
          </p:cNvSpPr>
          <p:nvPr/>
        </p:nvSpPr>
        <p:spPr>
          <a:xfrm>
            <a:off x="0" y="0"/>
            <a:ext cx="10515600" cy="70560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kumimoji="1" lang="en-US" altLang="zh-TW" sz="2000" dirty="0"/>
              <a:t>New Ad Group</a:t>
            </a:r>
          </a:p>
          <a:p>
            <a:r>
              <a:rPr kumimoji="1" lang="en-US" altLang="zh-TW" sz="2000" dirty="0"/>
              <a:t>Custom Audience UI</a:t>
            </a:r>
            <a:endParaRPr kumimoji="1" lang="zh-TW" altLang="en-US" sz="2000" dirty="0"/>
          </a:p>
        </p:txBody>
      </p:sp>
      <p:pic>
        <p:nvPicPr>
          <p:cNvPr id="12" name="圖片 11" descr="一張含有 文字, 螢幕擷取畫面 的圖片&#10;&#10;AI 產生的內容可能不正確。">
            <a:extLst>
              <a:ext uri="{FF2B5EF4-FFF2-40B4-BE49-F238E27FC236}">
                <a16:creationId xmlns:a16="http://schemas.microsoft.com/office/drawing/2014/main" id="{A30D10C9-AB33-8458-A2E0-725046411243}"/>
              </a:ext>
            </a:extLst>
          </p:cNvPr>
          <p:cNvPicPr>
            <a:picLocks noChangeAspect="1"/>
          </p:cNvPicPr>
          <p:nvPr/>
        </p:nvPicPr>
        <p:blipFill>
          <a:blip r:embed="rId2"/>
          <a:srcRect b="32699"/>
          <a:stretch>
            <a:fillRect/>
          </a:stretch>
        </p:blipFill>
        <p:spPr>
          <a:xfrm>
            <a:off x="2209800" y="882065"/>
            <a:ext cx="7772400" cy="3162300"/>
          </a:xfrm>
          <a:prstGeom prst="rect">
            <a:avLst/>
          </a:prstGeom>
        </p:spPr>
      </p:pic>
      <p:pic>
        <p:nvPicPr>
          <p:cNvPr id="13" name="圖片 12" descr="一張含有 文字, 螢幕擷取畫面 的圖片&#10;&#10;AI 產生的內容可能不正確。">
            <a:extLst>
              <a:ext uri="{FF2B5EF4-FFF2-40B4-BE49-F238E27FC236}">
                <a16:creationId xmlns:a16="http://schemas.microsoft.com/office/drawing/2014/main" id="{EA5C4BA2-2343-FD8E-1264-704916AF5DA3}"/>
              </a:ext>
            </a:extLst>
          </p:cNvPr>
          <p:cNvPicPr>
            <a:picLocks noChangeAspect="1"/>
          </p:cNvPicPr>
          <p:nvPr/>
        </p:nvPicPr>
        <p:blipFill>
          <a:blip r:embed="rId2"/>
          <a:srcRect t="68504"/>
          <a:stretch>
            <a:fillRect/>
          </a:stretch>
        </p:blipFill>
        <p:spPr>
          <a:xfrm>
            <a:off x="2209800" y="4347689"/>
            <a:ext cx="7772400" cy="1479951"/>
          </a:xfrm>
          <a:prstGeom prst="rect">
            <a:avLst/>
          </a:prstGeom>
        </p:spPr>
      </p:pic>
      <p:sp>
        <p:nvSpPr>
          <p:cNvPr id="15" name="圓角矩形 14">
            <a:extLst>
              <a:ext uri="{FF2B5EF4-FFF2-40B4-BE49-F238E27FC236}">
                <a16:creationId xmlns:a16="http://schemas.microsoft.com/office/drawing/2014/main" id="{795EC027-40F1-8E61-CA16-892212C1605B}"/>
              </a:ext>
            </a:extLst>
          </p:cNvPr>
          <p:cNvSpPr/>
          <p:nvPr/>
        </p:nvSpPr>
        <p:spPr>
          <a:xfrm>
            <a:off x="2475214" y="3927010"/>
            <a:ext cx="7257327" cy="393539"/>
          </a:xfrm>
          <a:prstGeom prst="roundRect">
            <a:avLst>
              <a:gd name="adj" fmla="val 13726"/>
            </a:avLst>
          </a:prstGeom>
          <a:solidFill>
            <a:schemeClr val="bg1"/>
          </a:solidFill>
          <a:ln w="6350">
            <a:solidFill>
              <a:srgbClr val="E4E8E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6" name="矩形 15">
            <a:extLst>
              <a:ext uri="{FF2B5EF4-FFF2-40B4-BE49-F238E27FC236}">
                <a16:creationId xmlns:a16="http://schemas.microsoft.com/office/drawing/2014/main" id="{2E821653-7449-A464-802B-D529BC61DE4C}"/>
              </a:ext>
            </a:extLst>
          </p:cNvPr>
          <p:cNvSpPr/>
          <p:nvPr/>
        </p:nvSpPr>
        <p:spPr>
          <a:xfrm>
            <a:off x="2475214" y="3846705"/>
            <a:ext cx="7236000" cy="10800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4" name="文字方塊 13">
            <a:extLst>
              <a:ext uri="{FF2B5EF4-FFF2-40B4-BE49-F238E27FC236}">
                <a16:creationId xmlns:a16="http://schemas.microsoft.com/office/drawing/2014/main" id="{05EBF1D2-4C4B-D974-8126-19778FA8BE69}"/>
              </a:ext>
            </a:extLst>
          </p:cNvPr>
          <p:cNvSpPr txBox="1"/>
          <p:nvPr/>
        </p:nvSpPr>
        <p:spPr>
          <a:xfrm>
            <a:off x="2539012" y="3925888"/>
            <a:ext cx="1993900" cy="261610"/>
          </a:xfrm>
          <a:prstGeom prst="rect">
            <a:avLst/>
          </a:prstGeom>
          <a:noFill/>
        </p:spPr>
        <p:txBody>
          <a:bodyPr wrap="square" rtlCol="0">
            <a:spAutoFit/>
          </a:bodyPr>
          <a:lstStyle/>
          <a:p>
            <a:r>
              <a:rPr kumimoji="1" lang="en-US" altLang="zh-TW" sz="1100">
                <a:solidFill>
                  <a:srgbClr val="1C1E20"/>
                </a:solidFill>
              </a:rPr>
              <a:t>Custom Audience</a:t>
            </a:r>
            <a:endParaRPr kumimoji="1" lang="zh-TW" altLang="en-US" sz="1100">
              <a:solidFill>
                <a:srgbClr val="1C1E20"/>
              </a:solidFill>
            </a:endParaRPr>
          </a:p>
        </p:txBody>
      </p:sp>
      <p:sp>
        <p:nvSpPr>
          <p:cNvPr id="17" name="圓角矩形 16">
            <a:extLst>
              <a:ext uri="{FF2B5EF4-FFF2-40B4-BE49-F238E27FC236}">
                <a16:creationId xmlns:a16="http://schemas.microsoft.com/office/drawing/2014/main" id="{1B210C83-ED93-4993-447C-B765CBA3BB23}"/>
              </a:ext>
            </a:extLst>
          </p:cNvPr>
          <p:cNvSpPr/>
          <p:nvPr/>
        </p:nvSpPr>
        <p:spPr>
          <a:xfrm>
            <a:off x="2477939" y="5507273"/>
            <a:ext cx="7257327" cy="393539"/>
          </a:xfrm>
          <a:prstGeom prst="roundRect">
            <a:avLst>
              <a:gd name="adj" fmla="val 13726"/>
            </a:avLst>
          </a:prstGeom>
          <a:solidFill>
            <a:schemeClr val="bg1"/>
          </a:solidFill>
          <a:ln w="6350">
            <a:solidFill>
              <a:srgbClr val="E4E8E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8" name="矩形 17">
            <a:extLst>
              <a:ext uri="{FF2B5EF4-FFF2-40B4-BE49-F238E27FC236}">
                <a16:creationId xmlns:a16="http://schemas.microsoft.com/office/drawing/2014/main" id="{3D7896D8-354C-08DA-9580-4684CADF22A2}"/>
              </a:ext>
            </a:extLst>
          </p:cNvPr>
          <p:cNvSpPr/>
          <p:nvPr/>
        </p:nvSpPr>
        <p:spPr>
          <a:xfrm>
            <a:off x="2477939" y="5426968"/>
            <a:ext cx="7236000" cy="10800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9" name="文字方塊 18">
            <a:extLst>
              <a:ext uri="{FF2B5EF4-FFF2-40B4-BE49-F238E27FC236}">
                <a16:creationId xmlns:a16="http://schemas.microsoft.com/office/drawing/2014/main" id="{7C244F26-4B6F-6253-35C2-6B63A1A0B936}"/>
              </a:ext>
            </a:extLst>
          </p:cNvPr>
          <p:cNvSpPr txBox="1"/>
          <p:nvPr/>
        </p:nvSpPr>
        <p:spPr>
          <a:xfrm>
            <a:off x="2541737" y="5506151"/>
            <a:ext cx="1993900" cy="261610"/>
          </a:xfrm>
          <a:prstGeom prst="rect">
            <a:avLst/>
          </a:prstGeom>
          <a:noFill/>
        </p:spPr>
        <p:txBody>
          <a:bodyPr wrap="square" rtlCol="0">
            <a:spAutoFit/>
          </a:bodyPr>
          <a:lstStyle/>
          <a:p>
            <a:r>
              <a:rPr kumimoji="1" lang="en-US" altLang="zh-TW" sz="1100">
                <a:solidFill>
                  <a:srgbClr val="1C1E20"/>
                </a:solidFill>
              </a:rPr>
              <a:t>Custom Audience</a:t>
            </a:r>
            <a:endParaRPr kumimoji="1" lang="zh-TW" altLang="en-US" sz="1100">
              <a:solidFill>
                <a:srgbClr val="1C1E20"/>
              </a:solidFill>
            </a:endParaRPr>
          </a:p>
        </p:txBody>
      </p:sp>
      <p:pic>
        <p:nvPicPr>
          <p:cNvPr id="21" name="圖片 20" descr="一張含有 白色, 設計 的圖片&#10;&#10;AI 產生的內容可能不正確。">
            <a:extLst>
              <a:ext uri="{FF2B5EF4-FFF2-40B4-BE49-F238E27FC236}">
                <a16:creationId xmlns:a16="http://schemas.microsoft.com/office/drawing/2014/main" id="{CEB1A5CB-A38C-A185-EE16-2A25F603ED3A}"/>
              </a:ext>
            </a:extLst>
          </p:cNvPr>
          <p:cNvPicPr>
            <a:picLocks noChangeAspect="1"/>
          </p:cNvPicPr>
          <p:nvPr/>
        </p:nvPicPr>
        <p:blipFill>
          <a:blip r:embed="rId3"/>
          <a:srcRect b="24767"/>
          <a:stretch>
            <a:fillRect/>
          </a:stretch>
        </p:blipFill>
        <p:spPr>
          <a:xfrm>
            <a:off x="2107788" y="4035010"/>
            <a:ext cx="361370" cy="470107"/>
          </a:xfrm>
          <a:prstGeom prst="rect">
            <a:avLst/>
          </a:prstGeom>
        </p:spPr>
      </p:pic>
      <p:pic>
        <p:nvPicPr>
          <p:cNvPr id="24" name="圖片 23" descr="一張含有 白色, 設計 的圖片&#10;&#10;AI 產生的內容可能不正確。">
            <a:extLst>
              <a:ext uri="{FF2B5EF4-FFF2-40B4-BE49-F238E27FC236}">
                <a16:creationId xmlns:a16="http://schemas.microsoft.com/office/drawing/2014/main" id="{C6F95542-2808-CCE2-7BE4-465B3B9D85BB}"/>
              </a:ext>
            </a:extLst>
          </p:cNvPr>
          <p:cNvPicPr>
            <a:picLocks noChangeAspect="1"/>
          </p:cNvPicPr>
          <p:nvPr/>
        </p:nvPicPr>
        <p:blipFill>
          <a:blip r:embed="rId4"/>
          <a:stretch>
            <a:fillRect/>
          </a:stretch>
        </p:blipFill>
        <p:spPr>
          <a:xfrm>
            <a:off x="9732541" y="4027697"/>
            <a:ext cx="376319" cy="477420"/>
          </a:xfrm>
          <a:prstGeom prst="rect">
            <a:avLst/>
          </a:prstGeom>
        </p:spPr>
      </p:pic>
      <p:sp>
        <p:nvSpPr>
          <p:cNvPr id="25" name="文字方塊 24">
            <a:extLst>
              <a:ext uri="{FF2B5EF4-FFF2-40B4-BE49-F238E27FC236}">
                <a16:creationId xmlns:a16="http://schemas.microsoft.com/office/drawing/2014/main" id="{4868901A-9DAF-C2B7-401A-03DBFAE7B716}"/>
              </a:ext>
            </a:extLst>
          </p:cNvPr>
          <p:cNvSpPr txBox="1"/>
          <p:nvPr/>
        </p:nvSpPr>
        <p:spPr>
          <a:xfrm>
            <a:off x="6319723" y="430515"/>
            <a:ext cx="5872277" cy="369332"/>
          </a:xfrm>
          <a:prstGeom prst="rect">
            <a:avLst/>
          </a:prstGeom>
          <a:noFill/>
        </p:spPr>
        <p:txBody>
          <a:bodyPr wrap="square" rtlCol="0">
            <a:spAutoFit/>
          </a:bodyPr>
          <a:lstStyle/>
          <a:p>
            <a:r>
              <a:rPr kumimoji="1" lang="en-US" altLang="zh-TW" dirty="0" err="1">
                <a:solidFill>
                  <a:srgbClr val="FF0000"/>
                </a:solidFill>
              </a:rPr>
              <a:t>InStream</a:t>
            </a:r>
            <a:r>
              <a:rPr kumimoji="1" lang="en-US" altLang="zh-TW" dirty="0">
                <a:solidFill>
                  <a:srgbClr val="FF0000"/>
                </a:solidFill>
              </a:rPr>
              <a:t>/</a:t>
            </a:r>
            <a:r>
              <a:rPr kumimoji="1" lang="en-US" altLang="zh-TW" dirty="0" err="1">
                <a:solidFill>
                  <a:srgbClr val="FF0000"/>
                </a:solidFill>
              </a:rPr>
              <a:t>RichMedia</a:t>
            </a:r>
            <a:r>
              <a:rPr kumimoji="1" lang="en-US" altLang="zh-TW" dirty="0">
                <a:solidFill>
                  <a:srgbClr val="FF0000"/>
                </a:solidFill>
              </a:rPr>
              <a:t>/Quality Traffic/Commerce Ad</a:t>
            </a:r>
            <a:r>
              <a:rPr kumimoji="1" lang="zh-TW" altLang="en-US" dirty="0">
                <a:solidFill>
                  <a:srgbClr val="FF0000"/>
                </a:solidFill>
              </a:rPr>
              <a:t>都支援</a:t>
            </a:r>
          </a:p>
        </p:txBody>
      </p:sp>
      <p:sp>
        <p:nvSpPr>
          <p:cNvPr id="26" name="矩形 25">
            <a:extLst>
              <a:ext uri="{FF2B5EF4-FFF2-40B4-BE49-F238E27FC236}">
                <a16:creationId xmlns:a16="http://schemas.microsoft.com/office/drawing/2014/main" id="{AB485049-9AFF-E36C-1150-334DFE7AC73D}"/>
              </a:ext>
            </a:extLst>
          </p:cNvPr>
          <p:cNvSpPr/>
          <p:nvPr/>
        </p:nvSpPr>
        <p:spPr>
          <a:xfrm>
            <a:off x="2412352" y="3847720"/>
            <a:ext cx="1534532" cy="465965"/>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27" name="矩形 26">
            <a:extLst>
              <a:ext uri="{FF2B5EF4-FFF2-40B4-BE49-F238E27FC236}">
                <a16:creationId xmlns:a16="http://schemas.microsoft.com/office/drawing/2014/main" id="{B5DEBC56-9771-76F6-9A2D-251A68AA3586}"/>
              </a:ext>
            </a:extLst>
          </p:cNvPr>
          <p:cNvSpPr/>
          <p:nvPr/>
        </p:nvSpPr>
        <p:spPr>
          <a:xfrm>
            <a:off x="2435346" y="5413581"/>
            <a:ext cx="1534532" cy="465965"/>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pic>
        <p:nvPicPr>
          <p:cNvPr id="29" name="圖片 28">
            <a:extLst>
              <a:ext uri="{FF2B5EF4-FFF2-40B4-BE49-F238E27FC236}">
                <a16:creationId xmlns:a16="http://schemas.microsoft.com/office/drawing/2014/main" id="{B1C7FCF0-CE69-9FD2-1773-600FD0BDCB78}"/>
              </a:ext>
            </a:extLst>
          </p:cNvPr>
          <p:cNvPicPr>
            <a:picLocks noChangeAspect="1"/>
          </p:cNvPicPr>
          <p:nvPr/>
        </p:nvPicPr>
        <p:blipFill>
          <a:blip r:embed="rId5"/>
          <a:stretch>
            <a:fillRect/>
          </a:stretch>
        </p:blipFill>
        <p:spPr>
          <a:xfrm>
            <a:off x="9188100" y="5473506"/>
            <a:ext cx="272510" cy="261610"/>
          </a:xfrm>
          <a:prstGeom prst="rect">
            <a:avLst/>
          </a:prstGeom>
        </p:spPr>
      </p:pic>
      <p:pic>
        <p:nvPicPr>
          <p:cNvPr id="3" name="圖片 2" descr="一張含有 符號, 圓形 的圖片&#10;&#10;AI 產生的內容可能不正確。">
            <a:extLst>
              <a:ext uri="{FF2B5EF4-FFF2-40B4-BE49-F238E27FC236}">
                <a16:creationId xmlns:a16="http://schemas.microsoft.com/office/drawing/2014/main" id="{18E2BA13-FC3C-735C-FE82-7A8940923FBA}"/>
              </a:ext>
            </a:extLst>
          </p:cNvPr>
          <p:cNvPicPr>
            <a:picLocks noChangeAspect="1"/>
          </p:cNvPicPr>
          <p:nvPr/>
        </p:nvPicPr>
        <p:blipFill>
          <a:blip r:embed="rId6"/>
          <a:stretch>
            <a:fillRect/>
          </a:stretch>
        </p:blipFill>
        <p:spPr>
          <a:xfrm>
            <a:off x="9177180" y="3905633"/>
            <a:ext cx="295005" cy="318605"/>
          </a:xfrm>
          <a:prstGeom prst="rect">
            <a:avLst/>
          </a:prstGeom>
        </p:spPr>
      </p:pic>
    </p:spTree>
    <p:extLst>
      <p:ext uri="{BB962C8B-B14F-4D97-AF65-F5344CB8AC3E}">
        <p14:creationId xmlns:p14="http://schemas.microsoft.com/office/powerpoint/2010/main" val="285477950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標題 1">
            <a:extLst>
              <a:ext uri="{FF2B5EF4-FFF2-40B4-BE49-F238E27FC236}">
                <a16:creationId xmlns:a16="http://schemas.microsoft.com/office/drawing/2014/main" id="{16C40FE3-F9C9-23CB-BF58-7C50657E749C}"/>
              </a:ext>
            </a:extLst>
          </p:cNvPr>
          <p:cNvSpPr txBox="1">
            <a:spLocks/>
          </p:cNvSpPr>
          <p:nvPr/>
        </p:nvSpPr>
        <p:spPr>
          <a:xfrm>
            <a:off x="0" y="16426"/>
            <a:ext cx="10515600" cy="70560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kumimoji="1" lang="en-US" altLang="zh-TW" sz="2000" dirty="0"/>
              <a:t>New Ad Group</a:t>
            </a:r>
          </a:p>
          <a:p>
            <a:r>
              <a:rPr kumimoji="1" lang="en-US" altLang="zh-TW" sz="2000" dirty="0"/>
              <a:t>Custom Audience UI</a:t>
            </a:r>
            <a:endParaRPr kumimoji="1" lang="zh-TW" altLang="en-US" sz="2000" dirty="0"/>
          </a:p>
        </p:txBody>
      </p:sp>
      <p:pic>
        <p:nvPicPr>
          <p:cNvPr id="6" name="圖片 5" descr="一張含有 文字, 軟體, 網頁, 網站 的圖片&#10;&#10;AI 產生的內容可能不正確。">
            <a:extLst>
              <a:ext uri="{FF2B5EF4-FFF2-40B4-BE49-F238E27FC236}">
                <a16:creationId xmlns:a16="http://schemas.microsoft.com/office/drawing/2014/main" id="{F3A7FC32-E11F-DA75-E3B0-B773E27D2DB4}"/>
              </a:ext>
            </a:extLst>
          </p:cNvPr>
          <p:cNvPicPr>
            <a:picLocks noChangeAspect="1"/>
          </p:cNvPicPr>
          <p:nvPr/>
        </p:nvPicPr>
        <p:blipFill>
          <a:blip r:embed="rId3"/>
          <a:stretch>
            <a:fillRect/>
          </a:stretch>
        </p:blipFill>
        <p:spPr>
          <a:xfrm>
            <a:off x="2368299" y="326272"/>
            <a:ext cx="7772400" cy="6205455"/>
          </a:xfrm>
          <a:prstGeom prst="rect">
            <a:avLst/>
          </a:prstGeom>
        </p:spPr>
      </p:pic>
      <p:sp>
        <p:nvSpPr>
          <p:cNvPr id="7" name="文字方塊 6">
            <a:extLst>
              <a:ext uri="{FF2B5EF4-FFF2-40B4-BE49-F238E27FC236}">
                <a16:creationId xmlns:a16="http://schemas.microsoft.com/office/drawing/2014/main" id="{CEEA66F9-3937-70FC-B2D4-4A2DDB2FD752}"/>
              </a:ext>
            </a:extLst>
          </p:cNvPr>
          <p:cNvSpPr txBox="1"/>
          <p:nvPr/>
        </p:nvSpPr>
        <p:spPr>
          <a:xfrm>
            <a:off x="4657268" y="411263"/>
            <a:ext cx="3194462" cy="307777"/>
          </a:xfrm>
          <a:prstGeom prst="rect">
            <a:avLst/>
          </a:prstGeom>
          <a:solidFill>
            <a:srgbClr val="F5F8FE"/>
          </a:solidFill>
        </p:spPr>
        <p:txBody>
          <a:bodyPr wrap="square" rtlCol="0">
            <a:spAutoFit/>
          </a:bodyPr>
          <a:lstStyle/>
          <a:p>
            <a:pPr algn="ctr"/>
            <a:r>
              <a:rPr kumimoji="1" lang="en-US" altLang="zh-TW" sz="1400">
                <a:solidFill>
                  <a:srgbClr val="1C1E20"/>
                </a:solidFill>
              </a:rPr>
              <a:t>Targeting - Custom Audience</a:t>
            </a:r>
            <a:endParaRPr kumimoji="1" lang="zh-TW" altLang="en-US" sz="1400">
              <a:solidFill>
                <a:srgbClr val="1C1E20"/>
              </a:solidFill>
            </a:endParaRPr>
          </a:p>
        </p:txBody>
      </p:sp>
      <p:sp>
        <p:nvSpPr>
          <p:cNvPr id="10" name="文字方塊 9">
            <a:extLst>
              <a:ext uri="{FF2B5EF4-FFF2-40B4-BE49-F238E27FC236}">
                <a16:creationId xmlns:a16="http://schemas.microsoft.com/office/drawing/2014/main" id="{1707FD99-518A-B8D4-29AE-711DEAA9F08E}"/>
              </a:ext>
            </a:extLst>
          </p:cNvPr>
          <p:cNvSpPr txBox="1"/>
          <p:nvPr/>
        </p:nvSpPr>
        <p:spPr>
          <a:xfrm>
            <a:off x="6356201" y="1552032"/>
            <a:ext cx="5835799" cy="1200329"/>
          </a:xfrm>
          <a:prstGeom prst="rect">
            <a:avLst/>
          </a:prstGeom>
          <a:noFill/>
        </p:spPr>
        <p:txBody>
          <a:bodyPr wrap="square" rtlCol="0">
            <a:spAutoFit/>
          </a:bodyPr>
          <a:lstStyle/>
          <a:p>
            <a:r>
              <a:rPr kumimoji="1" lang="zh-TW" altLang="en-US" dirty="0">
                <a:solidFill>
                  <a:srgbClr val="FF0000"/>
                </a:solidFill>
              </a:rPr>
              <a:t>左側可供選擇的項目</a:t>
            </a:r>
            <a:r>
              <a:rPr kumimoji="1" lang="en-US" altLang="zh-TW" dirty="0">
                <a:solidFill>
                  <a:srgbClr val="FF0000"/>
                </a:solidFill>
              </a:rPr>
              <a:t>:</a:t>
            </a:r>
          </a:p>
          <a:p>
            <a:r>
              <a:rPr kumimoji="1" lang="en-US" altLang="zh-TW" dirty="0">
                <a:solidFill>
                  <a:srgbClr val="FF0000"/>
                </a:solidFill>
              </a:rPr>
              <a:t>-Sort by “ID” </a:t>
            </a:r>
            <a:r>
              <a:rPr kumimoji="1" lang="zh-TW" altLang="en-US" dirty="0">
                <a:solidFill>
                  <a:srgbClr val="FF0000"/>
                </a:solidFill>
              </a:rPr>
              <a:t>遞減</a:t>
            </a:r>
            <a:r>
              <a:rPr kumimoji="1" lang="en-US" altLang="zh-TW" dirty="0">
                <a:solidFill>
                  <a:srgbClr val="FF0000"/>
                </a:solidFill>
              </a:rPr>
              <a:t>(</a:t>
            </a:r>
            <a:r>
              <a:rPr kumimoji="1" lang="zh-TW" altLang="en-US" dirty="0">
                <a:solidFill>
                  <a:srgbClr val="FF0000"/>
                </a:solidFill>
              </a:rPr>
              <a:t>隱含</a:t>
            </a:r>
            <a:r>
              <a:rPr kumimoji="1" lang="en-US" altLang="zh-TW" dirty="0">
                <a:solidFill>
                  <a:srgbClr val="FF0000"/>
                </a:solidFill>
              </a:rPr>
              <a:t>Created Date</a:t>
            </a:r>
            <a:r>
              <a:rPr kumimoji="1" lang="zh-TW" altLang="en-US" dirty="0">
                <a:solidFill>
                  <a:srgbClr val="FF0000"/>
                </a:solidFill>
              </a:rPr>
              <a:t>排序</a:t>
            </a:r>
            <a:r>
              <a:rPr kumimoji="1" lang="en-US" altLang="zh-TW" dirty="0">
                <a:solidFill>
                  <a:srgbClr val="FF0000"/>
                </a:solidFill>
              </a:rPr>
              <a:t>)</a:t>
            </a:r>
          </a:p>
          <a:p>
            <a:r>
              <a:rPr kumimoji="1" lang="en-US" altLang="zh-TW" dirty="0">
                <a:solidFill>
                  <a:srgbClr val="FF0000"/>
                </a:solidFill>
              </a:rPr>
              <a:t>-</a:t>
            </a:r>
            <a:r>
              <a:rPr kumimoji="1" lang="zh-TW" altLang="en-US" dirty="0">
                <a:solidFill>
                  <a:srgbClr val="FF0000"/>
                </a:solidFill>
              </a:rPr>
              <a:t>只顯示</a:t>
            </a:r>
            <a:r>
              <a:rPr kumimoji="1" lang="en-US" altLang="zh-TW" dirty="0">
                <a:solidFill>
                  <a:srgbClr val="FF0000"/>
                </a:solidFill>
              </a:rPr>
              <a:t>Status=Completed</a:t>
            </a:r>
            <a:endParaRPr kumimoji="1" lang="en-US" altLang="zh-TW" dirty="0">
              <a:solidFill>
                <a:schemeClr val="accent2"/>
              </a:solidFill>
            </a:endParaRPr>
          </a:p>
          <a:p>
            <a:r>
              <a:rPr kumimoji="1" lang="en-US" altLang="zh-TW" dirty="0">
                <a:solidFill>
                  <a:srgbClr val="FF0000"/>
                </a:solidFill>
              </a:rPr>
              <a:t>-UU=0, </a:t>
            </a:r>
            <a:r>
              <a:rPr kumimoji="1" lang="zh-TW" altLang="en-US" dirty="0">
                <a:solidFill>
                  <a:srgbClr val="FF0000"/>
                </a:solidFill>
              </a:rPr>
              <a:t>顯示                             </a:t>
            </a:r>
            <a:endParaRPr kumimoji="1" lang="zh-TW" altLang="en-US" dirty="0">
              <a:solidFill>
                <a:schemeClr val="accent2"/>
              </a:solidFill>
            </a:endParaRPr>
          </a:p>
        </p:txBody>
      </p:sp>
      <p:sp>
        <p:nvSpPr>
          <p:cNvPr id="13" name="文字方塊 12">
            <a:extLst>
              <a:ext uri="{FF2B5EF4-FFF2-40B4-BE49-F238E27FC236}">
                <a16:creationId xmlns:a16="http://schemas.microsoft.com/office/drawing/2014/main" id="{3CA9F0F1-D920-930F-7083-DE22F1D48403}"/>
              </a:ext>
            </a:extLst>
          </p:cNvPr>
          <p:cNvSpPr txBox="1"/>
          <p:nvPr/>
        </p:nvSpPr>
        <p:spPr>
          <a:xfrm>
            <a:off x="2757788" y="1346510"/>
            <a:ext cx="3432646" cy="261610"/>
          </a:xfrm>
          <a:prstGeom prst="rect">
            <a:avLst/>
          </a:prstGeom>
          <a:solidFill>
            <a:schemeClr val="bg1"/>
          </a:solidFill>
        </p:spPr>
        <p:txBody>
          <a:bodyPr wrap="square">
            <a:spAutoFit/>
          </a:bodyPr>
          <a:lstStyle/>
          <a:p>
            <a:pPr lvl="0">
              <a:defRPr/>
            </a:pPr>
            <a:r>
              <a:rPr kumimoji="1" lang="en-US" altLang="zh-TW" sz="1100">
                <a:solidFill>
                  <a:srgbClr val="4E4E4E"/>
                </a:solidFill>
              </a:rPr>
              <a:t>[</a:t>
            </a:r>
            <a:r>
              <a:rPr kumimoji="1" lang="zh-TW" altLang="en-US" sz="1100">
                <a:solidFill>
                  <a:srgbClr val="4E4E4E"/>
                </a:solidFill>
              </a:rPr>
              <a:t>線下</a:t>
            </a:r>
            <a:r>
              <a:rPr kumimoji="1" lang="en" altLang="zh-TW" sz="1100">
                <a:solidFill>
                  <a:srgbClr val="4E4E4E"/>
                </a:solidFill>
              </a:rPr>
              <a:t>POI] </a:t>
            </a:r>
            <a:r>
              <a:rPr kumimoji="1" lang="zh-TW" altLang="en-US" sz="1100">
                <a:solidFill>
                  <a:srgbClr val="4E4E4E"/>
                </a:solidFill>
              </a:rPr>
              <a:t>合利他命</a:t>
            </a:r>
            <a:r>
              <a:rPr kumimoji="1" lang="en" altLang="zh-TW" sz="1100">
                <a:solidFill>
                  <a:srgbClr val="4E4E4E"/>
                </a:solidFill>
              </a:rPr>
              <a:t>EXPLUS 10</a:t>
            </a:r>
            <a:r>
              <a:rPr kumimoji="1" lang="zh-TW" altLang="en-US" sz="1100">
                <a:solidFill>
                  <a:srgbClr val="4E4E4E"/>
                </a:solidFill>
              </a:rPr>
              <a:t>月</a:t>
            </a:r>
          </a:p>
        </p:txBody>
      </p:sp>
      <p:sp>
        <p:nvSpPr>
          <p:cNvPr id="14" name="文字方塊 13">
            <a:extLst>
              <a:ext uri="{FF2B5EF4-FFF2-40B4-BE49-F238E27FC236}">
                <a16:creationId xmlns:a16="http://schemas.microsoft.com/office/drawing/2014/main" id="{71FE209C-F4EA-50BA-DB5F-D9BF9CCDE386}"/>
              </a:ext>
            </a:extLst>
          </p:cNvPr>
          <p:cNvSpPr txBox="1"/>
          <p:nvPr/>
        </p:nvSpPr>
        <p:spPr>
          <a:xfrm>
            <a:off x="2764953" y="1555522"/>
            <a:ext cx="3432647" cy="215444"/>
          </a:xfrm>
          <a:prstGeom prst="rect">
            <a:avLst/>
          </a:prstGeom>
          <a:solidFill>
            <a:schemeClr val="bg1"/>
          </a:solidFill>
        </p:spPr>
        <p:txBody>
          <a:bodyPr wrap="square">
            <a:spAutoFit/>
          </a:bodyPr>
          <a:lstStyle/>
          <a:p>
            <a:pPr lvl="0">
              <a:defRPr/>
            </a:pPr>
            <a:r>
              <a:rPr kumimoji="1" lang="en" altLang="zh-TW" sz="800">
                <a:solidFill>
                  <a:schemeClr val="bg1">
                    <a:lumMod val="65000"/>
                  </a:schemeClr>
                </a:solidFill>
              </a:rPr>
              <a:t>Offline Point of Interest (POI)</a:t>
            </a:r>
          </a:p>
        </p:txBody>
      </p:sp>
      <p:sp>
        <p:nvSpPr>
          <p:cNvPr id="15" name="文字方塊 14">
            <a:extLst>
              <a:ext uri="{FF2B5EF4-FFF2-40B4-BE49-F238E27FC236}">
                <a16:creationId xmlns:a16="http://schemas.microsoft.com/office/drawing/2014/main" id="{9FEE8C00-AEB2-93A6-7CAA-1CE9A65C300E}"/>
              </a:ext>
            </a:extLst>
          </p:cNvPr>
          <p:cNvSpPr txBox="1"/>
          <p:nvPr/>
        </p:nvSpPr>
        <p:spPr>
          <a:xfrm>
            <a:off x="2764953" y="1878503"/>
            <a:ext cx="3432646" cy="261610"/>
          </a:xfrm>
          <a:prstGeom prst="rect">
            <a:avLst/>
          </a:prstGeom>
          <a:solidFill>
            <a:schemeClr val="bg1"/>
          </a:solidFill>
        </p:spPr>
        <p:txBody>
          <a:bodyPr wrap="square">
            <a:spAutoFit/>
          </a:bodyPr>
          <a:lstStyle/>
          <a:p>
            <a:pPr lvl="0">
              <a:defRPr/>
            </a:pPr>
            <a:r>
              <a:rPr kumimoji="1" lang="en" altLang="zh-TW" sz="1100">
                <a:solidFill>
                  <a:srgbClr val="4E4E4E"/>
                </a:solidFill>
              </a:rPr>
              <a:t>[Webb</a:t>
            </a:r>
            <a:r>
              <a:rPr kumimoji="1" lang="zh-TW" altLang="en-US" sz="1100">
                <a:solidFill>
                  <a:srgbClr val="4E4E4E"/>
                </a:solidFill>
              </a:rPr>
              <a:t>零售數據</a:t>
            </a:r>
            <a:r>
              <a:rPr kumimoji="1" lang="en-US" altLang="zh-TW" sz="1100">
                <a:solidFill>
                  <a:srgbClr val="4E4E4E"/>
                </a:solidFill>
              </a:rPr>
              <a:t>-</a:t>
            </a:r>
            <a:r>
              <a:rPr kumimoji="1" lang="zh-TW" altLang="en-US" sz="1100">
                <a:solidFill>
                  <a:srgbClr val="4E4E4E"/>
                </a:solidFill>
              </a:rPr>
              <a:t>購買</a:t>
            </a:r>
            <a:r>
              <a:rPr kumimoji="1" lang="en-US" altLang="zh-TW" sz="1100">
                <a:solidFill>
                  <a:srgbClr val="4E4E4E"/>
                </a:solidFill>
              </a:rPr>
              <a:t>] </a:t>
            </a:r>
            <a:r>
              <a:rPr kumimoji="1" lang="zh-TW" altLang="en-US" sz="1100">
                <a:solidFill>
                  <a:srgbClr val="4E4E4E"/>
                </a:solidFill>
              </a:rPr>
              <a:t>合利他命</a:t>
            </a:r>
            <a:r>
              <a:rPr kumimoji="1" lang="en" altLang="zh-TW" sz="1100">
                <a:solidFill>
                  <a:srgbClr val="4E4E4E"/>
                </a:solidFill>
              </a:rPr>
              <a:t>EXPLUS 10</a:t>
            </a:r>
            <a:r>
              <a:rPr kumimoji="1" lang="zh-TW" altLang="en-US" sz="1100">
                <a:solidFill>
                  <a:srgbClr val="4E4E4E"/>
                </a:solidFill>
              </a:rPr>
              <a:t>月</a:t>
            </a:r>
          </a:p>
        </p:txBody>
      </p:sp>
      <p:sp>
        <p:nvSpPr>
          <p:cNvPr id="16" name="文字方塊 15">
            <a:extLst>
              <a:ext uri="{FF2B5EF4-FFF2-40B4-BE49-F238E27FC236}">
                <a16:creationId xmlns:a16="http://schemas.microsoft.com/office/drawing/2014/main" id="{C5651A79-1B54-FFA2-FED7-E1C6FC24F238}"/>
              </a:ext>
            </a:extLst>
          </p:cNvPr>
          <p:cNvSpPr txBox="1"/>
          <p:nvPr/>
        </p:nvSpPr>
        <p:spPr>
          <a:xfrm>
            <a:off x="2772118" y="2087515"/>
            <a:ext cx="3432647" cy="215444"/>
          </a:xfrm>
          <a:prstGeom prst="rect">
            <a:avLst/>
          </a:prstGeom>
          <a:solidFill>
            <a:schemeClr val="bg1"/>
          </a:solidFill>
        </p:spPr>
        <p:txBody>
          <a:bodyPr wrap="square">
            <a:spAutoFit/>
          </a:bodyPr>
          <a:lstStyle/>
          <a:p>
            <a:pPr fontAlgn="base"/>
            <a:r>
              <a:rPr kumimoji="1" lang="en" altLang="zh-TW" sz="800">
                <a:solidFill>
                  <a:schemeClr val="bg1">
                    <a:lumMod val="65000"/>
                  </a:schemeClr>
                </a:solidFill>
              </a:rPr>
              <a:t>Webb Retail Data (Purchase)</a:t>
            </a:r>
          </a:p>
        </p:txBody>
      </p:sp>
      <p:sp>
        <p:nvSpPr>
          <p:cNvPr id="17" name="文字方塊 16">
            <a:extLst>
              <a:ext uri="{FF2B5EF4-FFF2-40B4-BE49-F238E27FC236}">
                <a16:creationId xmlns:a16="http://schemas.microsoft.com/office/drawing/2014/main" id="{0D55F709-5C81-2FF4-ADA3-FDACC51B0332}"/>
              </a:ext>
            </a:extLst>
          </p:cNvPr>
          <p:cNvSpPr txBox="1"/>
          <p:nvPr/>
        </p:nvSpPr>
        <p:spPr>
          <a:xfrm>
            <a:off x="2757787" y="2405106"/>
            <a:ext cx="3432646" cy="261610"/>
          </a:xfrm>
          <a:prstGeom prst="rect">
            <a:avLst/>
          </a:prstGeom>
          <a:solidFill>
            <a:schemeClr val="bg1"/>
          </a:solidFill>
        </p:spPr>
        <p:txBody>
          <a:bodyPr wrap="square">
            <a:spAutoFit/>
          </a:bodyPr>
          <a:lstStyle/>
          <a:p>
            <a:pPr lvl="0">
              <a:defRPr/>
            </a:pPr>
            <a:r>
              <a:rPr kumimoji="1" lang="en" altLang="zh-TW" sz="1100">
                <a:solidFill>
                  <a:srgbClr val="4E4E4E"/>
                </a:solidFill>
              </a:rPr>
              <a:t>[</a:t>
            </a:r>
            <a:r>
              <a:rPr kumimoji="1" lang="zh-TW" altLang="en-US" sz="1100">
                <a:solidFill>
                  <a:srgbClr val="4E4E4E"/>
                </a:solidFill>
              </a:rPr>
              <a:t>產業 </a:t>
            </a:r>
            <a:r>
              <a:rPr kumimoji="1" lang="en" altLang="zh-TW" sz="1100">
                <a:solidFill>
                  <a:srgbClr val="4E4E4E"/>
                </a:solidFill>
              </a:rPr>
              <a:t>Shopper Graph</a:t>
            </a:r>
            <a:r>
              <a:rPr kumimoji="1" lang="en-US" altLang="zh-TW" sz="1100">
                <a:solidFill>
                  <a:srgbClr val="4E4E4E"/>
                </a:solidFill>
              </a:rPr>
              <a:t>] </a:t>
            </a:r>
            <a:r>
              <a:rPr kumimoji="1" lang="zh-TW" altLang="en-US" sz="1100">
                <a:solidFill>
                  <a:srgbClr val="4E4E4E"/>
                </a:solidFill>
              </a:rPr>
              <a:t>合利他命</a:t>
            </a:r>
            <a:r>
              <a:rPr kumimoji="1" lang="en" altLang="zh-TW" sz="1100">
                <a:solidFill>
                  <a:srgbClr val="4E4E4E"/>
                </a:solidFill>
              </a:rPr>
              <a:t>EXPLUS 9-10</a:t>
            </a:r>
            <a:r>
              <a:rPr kumimoji="1" lang="zh-TW" altLang="en-US" sz="1100">
                <a:solidFill>
                  <a:srgbClr val="4E4E4E"/>
                </a:solidFill>
              </a:rPr>
              <a:t>月</a:t>
            </a:r>
          </a:p>
        </p:txBody>
      </p:sp>
      <p:sp>
        <p:nvSpPr>
          <p:cNvPr id="18" name="文字方塊 17">
            <a:extLst>
              <a:ext uri="{FF2B5EF4-FFF2-40B4-BE49-F238E27FC236}">
                <a16:creationId xmlns:a16="http://schemas.microsoft.com/office/drawing/2014/main" id="{57572C96-0A34-03B8-0363-8D41D4ABF713}"/>
              </a:ext>
            </a:extLst>
          </p:cNvPr>
          <p:cNvSpPr txBox="1"/>
          <p:nvPr/>
        </p:nvSpPr>
        <p:spPr>
          <a:xfrm>
            <a:off x="2764952" y="2614118"/>
            <a:ext cx="3432647" cy="215444"/>
          </a:xfrm>
          <a:prstGeom prst="rect">
            <a:avLst/>
          </a:prstGeom>
          <a:solidFill>
            <a:schemeClr val="bg1"/>
          </a:solidFill>
        </p:spPr>
        <p:txBody>
          <a:bodyPr wrap="square">
            <a:spAutoFit/>
          </a:bodyPr>
          <a:lstStyle/>
          <a:p>
            <a:pPr lvl="0">
              <a:defRPr/>
            </a:pPr>
            <a:r>
              <a:rPr kumimoji="1" lang="en" altLang="zh-TW" sz="800">
                <a:solidFill>
                  <a:schemeClr val="bg1">
                    <a:lumMod val="65000"/>
                  </a:schemeClr>
                </a:solidFill>
              </a:rPr>
              <a:t>Industry Shopper Graph</a:t>
            </a:r>
          </a:p>
        </p:txBody>
      </p:sp>
      <p:sp>
        <p:nvSpPr>
          <p:cNvPr id="19" name="文字方塊 18">
            <a:extLst>
              <a:ext uri="{FF2B5EF4-FFF2-40B4-BE49-F238E27FC236}">
                <a16:creationId xmlns:a16="http://schemas.microsoft.com/office/drawing/2014/main" id="{DE032984-AEE3-6123-5EDD-24832BEBF74B}"/>
              </a:ext>
            </a:extLst>
          </p:cNvPr>
          <p:cNvSpPr txBox="1"/>
          <p:nvPr/>
        </p:nvSpPr>
        <p:spPr>
          <a:xfrm>
            <a:off x="2772118" y="2921022"/>
            <a:ext cx="3432646" cy="261610"/>
          </a:xfrm>
          <a:prstGeom prst="rect">
            <a:avLst/>
          </a:prstGeom>
          <a:solidFill>
            <a:schemeClr val="bg1"/>
          </a:solid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zh-TW" sz="1100" kern="1200">
                <a:solidFill>
                  <a:srgbClr val="1C1E20"/>
                </a:solidFill>
                <a:latin typeface="+mn-lt"/>
                <a:ea typeface="+mn-ea"/>
                <a:cs typeface="+mn-cs"/>
              </a:rPr>
              <a:t>[</a:t>
            </a:r>
            <a:r>
              <a:rPr kumimoji="1" lang="zh-TW" altLang="en-US" sz="1100" kern="1200">
                <a:solidFill>
                  <a:srgbClr val="1C1E20"/>
                </a:solidFill>
                <a:latin typeface="+mn-lt"/>
                <a:ea typeface="+mn-ea"/>
                <a:cs typeface="+mn-cs"/>
              </a:rPr>
              <a:t>關鍵字</a:t>
            </a:r>
            <a:r>
              <a:rPr kumimoji="1" lang="en-US" altLang="zh-TW" sz="1100" kern="1200">
                <a:solidFill>
                  <a:srgbClr val="1C1E20"/>
                </a:solidFill>
                <a:latin typeface="+mn-lt"/>
                <a:ea typeface="+mn-ea"/>
                <a:cs typeface="+mn-cs"/>
              </a:rPr>
              <a:t>] </a:t>
            </a:r>
            <a:r>
              <a:rPr kumimoji="1" lang="zh-TW" altLang="en-US" sz="1100" kern="1200">
                <a:solidFill>
                  <a:srgbClr val="1C1E20"/>
                </a:solidFill>
                <a:latin typeface="+mn-lt"/>
                <a:ea typeface="+mn-ea"/>
                <a:cs typeface="+mn-cs"/>
              </a:rPr>
              <a:t>合利他命</a:t>
            </a:r>
            <a:r>
              <a:rPr kumimoji="1" lang="en" altLang="zh-TW" sz="1100" kern="1200">
                <a:solidFill>
                  <a:srgbClr val="1C1E20"/>
                </a:solidFill>
                <a:latin typeface="+mn-lt"/>
                <a:ea typeface="+mn-ea"/>
                <a:cs typeface="+mn-cs"/>
              </a:rPr>
              <a:t>EXPLUS 10</a:t>
            </a:r>
            <a:r>
              <a:rPr kumimoji="1" lang="zh-TW" altLang="en-US" sz="1100" kern="1200">
                <a:solidFill>
                  <a:srgbClr val="1C1E20"/>
                </a:solidFill>
                <a:latin typeface="+mn-lt"/>
                <a:ea typeface="+mn-ea"/>
                <a:cs typeface="+mn-cs"/>
              </a:rPr>
              <a:t>月</a:t>
            </a:r>
          </a:p>
        </p:txBody>
      </p:sp>
      <p:sp>
        <p:nvSpPr>
          <p:cNvPr id="20" name="文字方塊 19">
            <a:extLst>
              <a:ext uri="{FF2B5EF4-FFF2-40B4-BE49-F238E27FC236}">
                <a16:creationId xmlns:a16="http://schemas.microsoft.com/office/drawing/2014/main" id="{E1DE0F4C-7657-DD5C-A784-56B47D8AA96A}"/>
              </a:ext>
            </a:extLst>
          </p:cNvPr>
          <p:cNvSpPr txBox="1"/>
          <p:nvPr/>
        </p:nvSpPr>
        <p:spPr>
          <a:xfrm>
            <a:off x="2779283" y="3130034"/>
            <a:ext cx="3432647" cy="215444"/>
          </a:xfrm>
          <a:prstGeom prst="rect">
            <a:avLst/>
          </a:prstGeom>
          <a:solidFill>
            <a:schemeClr val="bg1"/>
          </a:solidFill>
        </p:spPr>
        <p:txBody>
          <a:bodyPr wrap="square">
            <a:spAutoFit/>
          </a:bodyPr>
          <a:lstStyle/>
          <a:p>
            <a:pPr lvl="0">
              <a:defRPr/>
            </a:pPr>
            <a:r>
              <a:rPr kumimoji="1" lang="en" altLang="zh-TW" sz="800">
                <a:solidFill>
                  <a:schemeClr val="bg1">
                    <a:lumMod val="65000"/>
                  </a:schemeClr>
                </a:solidFill>
              </a:rPr>
              <a:t>Brand Keyword AI Exploration</a:t>
            </a:r>
          </a:p>
        </p:txBody>
      </p:sp>
      <p:sp>
        <p:nvSpPr>
          <p:cNvPr id="21" name="文字方塊 20">
            <a:extLst>
              <a:ext uri="{FF2B5EF4-FFF2-40B4-BE49-F238E27FC236}">
                <a16:creationId xmlns:a16="http://schemas.microsoft.com/office/drawing/2014/main" id="{65DCCDBD-9547-BAFF-FE5F-82077980AA3D}"/>
              </a:ext>
            </a:extLst>
          </p:cNvPr>
          <p:cNvSpPr txBox="1"/>
          <p:nvPr/>
        </p:nvSpPr>
        <p:spPr>
          <a:xfrm>
            <a:off x="2779283" y="3439370"/>
            <a:ext cx="3432646" cy="261610"/>
          </a:xfrm>
          <a:prstGeom prst="rect">
            <a:avLst/>
          </a:prstGeom>
          <a:solidFill>
            <a:schemeClr val="bg1"/>
          </a:solid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zh-TW" sz="1100" kern="1200">
                <a:solidFill>
                  <a:srgbClr val="1C1E20"/>
                </a:solidFill>
                <a:latin typeface="+mn-lt"/>
                <a:ea typeface="+mn-ea"/>
                <a:cs typeface="+mn-cs"/>
              </a:rPr>
              <a:t>[</a:t>
            </a:r>
            <a:r>
              <a:rPr kumimoji="1" lang="zh-TW" altLang="en-US" sz="1100" kern="1200">
                <a:solidFill>
                  <a:srgbClr val="1C1E20"/>
                </a:solidFill>
                <a:latin typeface="+mn-lt"/>
                <a:ea typeface="+mn-ea"/>
                <a:cs typeface="+mn-cs"/>
              </a:rPr>
              <a:t>關鍵字</a:t>
            </a:r>
            <a:r>
              <a:rPr kumimoji="1" lang="en-US" altLang="zh-TW" sz="1100" kern="1200">
                <a:solidFill>
                  <a:srgbClr val="1C1E20"/>
                </a:solidFill>
                <a:latin typeface="+mn-lt"/>
                <a:ea typeface="+mn-ea"/>
                <a:cs typeface="+mn-cs"/>
              </a:rPr>
              <a:t>] </a:t>
            </a:r>
            <a:r>
              <a:rPr kumimoji="1" lang="zh-TW" altLang="en-US" sz="1100" kern="1200">
                <a:solidFill>
                  <a:srgbClr val="1C1E20"/>
                </a:solidFill>
                <a:latin typeface="+mn-lt"/>
                <a:ea typeface="+mn-ea"/>
                <a:cs typeface="+mn-cs"/>
              </a:rPr>
              <a:t>合利他命</a:t>
            </a:r>
            <a:r>
              <a:rPr kumimoji="1" lang="en" altLang="zh-TW" sz="1100" kern="1200">
                <a:solidFill>
                  <a:srgbClr val="1C1E20"/>
                </a:solidFill>
                <a:latin typeface="+mn-lt"/>
                <a:ea typeface="+mn-ea"/>
                <a:cs typeface="+mn-cs"/>
              </a:rPr>
              <a:t>EXPLUS 10</a:t>
            </a:r>
            <a:r>
              <a:rPr kumimoji="1" lang="zh-TW" altLang="en-US" sz="1100" kern="1200">
                <a:solidFill>
                  <a:srgbClr val="1C1E20"/>
                </a:solidFill>
                <a:latin typeface="+mn-lt"/>
                <a:ea typeface="+mn-ea"/>
                <a:cs typeface="+mn-cs"/>
              </a:rPr>
              <a:t>月</a:t>
            </a:r>
          </a:p>
        </p:txBody>
      </p:sp>
      <p:sp>
        <p:nvSpPr>
          <p:cNvPr id="22" name="文字方塊 21">
            <a:extLst>
              <a:ext uri="{FF2B5EF4-FFF2-40B4-BE49-F238E27FC236}">
                <a16:creationId xmlns:a16="http://schemas.microsoft.com/office/drawing/2014/main" id="{7D537704-7BE0-9C5B-BBA4-0F631EF563A0}"/>
              </a:ext>
            </a:extLst>
          </p:cNvPr>
          <p:cNvSpPr txBox="1"/>
          <p:nvPr/>
        </p:nvSpPr>
        <p:spPr>
          <a:xfrm>
            <a:off x="2786448" y="3648382"/>
            <a:ext cx="3432647" cy="215444"/>
          </a:xfrm>
          <a:prstGeom prst="rect">
            <a:avLst/>
          </a:prstGeom>
          <a:solidFill>
            <a:schemeClr val="bg1"/>
          </a:solidFill>
        </p:spPr>
        <p:txBody>
          <a:bodyPr wrap="square">
            <a:spAutoFit/>
          </a:bodyPr>
          <a:lstStyle/>
          <a:p>
            <a:pPr lvl="0">
              <a:defRPr/>
            </a:pPr>
            <a:r>
              <a:rPr kumimoji="1" lang="en" altLang="zh-TW" sz="800">
                <a:solidFill>
                  <a:schemeClr val="bg1">
                    <a:lumMod val="65000"/>
                  </a:schemeClr>
                </a:solidFill>
              </a:rPr>
              <a:t>Brand Keyword AI Exploration</a:t>
            </a:r>
          </a:p>
        </p:txBody>
      </p:sp>
      <p:sp>
        <p:nvSpPr>
          <p:cNvPr id="8" name="矩形 7">
            <a:extLst>
              <a:ext uri="{FF2B5EF4-FFF2-40B4-BE49-F238E27FC236}">
                <a16:creationId xmlns:a16="http://schemas.microsoft.com/office/drawing/2014/main" id="{EBE2D4DC-338D-B2C7-3F30-3638A59EFDBF}"/>
              </a:ext>
            </a:extLst>
          </p:cNvPr>
          <p:cNvSpPr/>
          <p:nvPr/>
        </p:nvSpPr>
        <p:spPr>
          <a:xfrm>
            <a:off x="2529365" y="2875728"/>
            <a:ext cx="3744000" cy="3019420"/>
          </a:xfrm>
          <a:prstGeom prst="rect">
            <a:avLst/>
          </a:prstGeom>
          <a:solidFill>
            <a:srgbClr val="F5F8F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23" name="矩形 22">
            <a:extLst>
              <a:ext uri="{FF2B5EF4-FFF2-40B4-BE49-F238E27FC236}">
                <a16:creationId xmlns:a16="http://schemas.microsoft.com/office/drawing/2014/main" id="{672AE91F-4959-AAC8-73B7-43FAE483B8DE}"/>
              </a:ext>
            </a:extLst>
          </p:cNvPr>
          <p:cNvSpPr/>
          <p:nvPr/>
        </p:nvSpPr>
        <p:spPr>
          <a:xfrm>
            <a:off x="6204764" y="1304175"/>
            <a:ext cx="68601" cy="620494"/>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graphicFrame>
        <p:nvGraphicFramePr>
          <p:cNvPr id="24" name="表格 23">
            <a:extLst>
              <a:ext uri="{FF2B5EF4-FFF2-40B4-BE49-F238E27FC236}">
                <a16:creationId xmlns:a16="http://schemas.microsoft.com/office/drawing/2014/main" id="{BF372292-DC8F-B8FF-6994-C0E69EF0F230}"/>
              </a:ext>
            </a:extLst>
          </p:cNvPr>
          <p:cNvGraphicFramePr>
            <a:graphicFrameLocks noGrp="1"/>
          </p:cNvGraphicFramePr>
          <p:nvPr>
            <p:extLst>
              <p:ext uri="{D42A27DB-BD31-4B8C-83A1-F6EECF244321}">
                <p14:modId xmlns:p14="http://schemas.microsoft.com/office/powerpoint/2010/main" val="2237907541"/>
              </p:ext>
            </p:extLst>
          </p:nvPr>
        </p:nvGraphicFramePr>
        <p:xfrm>
          <a:off x="5793507" y="3306246"/>
          <a:ext cx="6303928" cy="2118876"/>
        </p:xfrm>
        <a:graphic>
          <a:graphicData uri="http://schemas.openxmlformats.org/drawingml/2006/table">
            <a:tbl>
              <a:tblPr firstRow="1" bandRow="1">
                <a:tableStyleId>{5940675A-B579-460E-94D1-54222C63F5DA}</a:tableStyleId>
              </a:tblPr>
              <a:tblGrid>
                <a:gridCol w="737716">
                  <a:extLst>
                    <a:ext uri="{9D8B030D-6E8A-4147-A177-3AD203B41FA5}">
                      <a16:colId xmlns:a16="http://schemas.microsoft.com/office/drawing/2014/main" val="2132221474"/>
                    </a:ext>
                  </a:extLst>
                </a:gridCol>
                <a:gridCol w="1796516">
                  <a:extLst>
                    <a:ext uri="{9D8B030D-6E8A-4147-A177-3AD203B41FA5}">
                      <a16:colId xmlns:a16="http://schemas.microsoft.com/office/drawing/2014/main" val="4011186730"/>
                    </a:ext>
                  </a:extLst>
                </a:gridCol>
                <a:gridCol w="2594344">
                  <a:extLst>
                    <a:ext uri="{9D8B030D-6E8A-4147-A177-3AD203B41FA5}">
                      <a16:colId xmlns:a16="http://schemas.microsoft.com/office/drawing/2014/main" val="2814822502"/>
                    </a:ext>
                  </a:extLst>
                </a:gridCol>
                <a:gridCol w="1175352">
                  <a:extLst>
                    <a:ext uri="{9D8B030D-6E8A-4147-A177-3AD203B41FA5}">
                      <a16:colId xmlns:a16="http://schemas.microsoft.com/office/drawing/2014/main" val="2336893862"/>
                    </a:ext>
                  </a:extLst>
                </a:gridCol>
              </a:tblGrid>
              <a:tr h="331599">
                <a:tc>
                  <a:txBody>
                    <a:bodyPr/>
                    <a:lstStyle/>
                    <a:p>
                      <a:r>
                        <a:rPr kumimoji="1" lang="en-US" altLang="zh-TW" sz="1000" kern="1200">
                          <a:solidFill>
                            <a:srgbClr val="4E4E4E"/>
                          </a:solidFill>
                          <a:latin typeface="+mn-lt"/>
                          <a:ea typeface="+mn-ea"/>
                          <a:cs typeface="+mn-cs"/>
                        </a:rPr>
                        <a:t>ID</a:t>
                      </a:r>
                      <a:endParaRPr kumimoji="1" lang="zh-TW" altLang="en-US" sz="1000" kern="1200">
                        <a:solidFill>
                          <a:srgbClr val="4E4E4E"/>
                        </a:solidFill>
                        <a:latin typeface="+mn-lt"/>
                        <a:ea typeface="+mn-ea"/>
                        <a:cs typeface="+mn-cs"/>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FAFAFA"/>
                    </a:solidFill>
                  </a:tcPr>
                </a:tc>
                <a:tc>
                  <a:txBody>
                    <a:bodyPr/>
                    <a:lstStyle/>
                    <a:p>
                      <a:r>
                        <a:rPr kumimoji="1" lang="en-US" altLang="zh-TW" sz="1000" kern="1200">
                          <a:solidFill>
                            <a:srgbClr val="4E4E4E"/>
                          </a:solidFill>
                          <a:latin typeface="+mn-lt"/>
                          <a:ea typeface="+mn-ea"/>
                          <a:cs typeface="+mn-cs"/>
                        </a:rPr>
                        <a:t>Type</a:t>
                      </a:r>
                      <a:endParaRPr kumimoji="1" lang="zh-TW" altLang="en-US" sz="1000" kern="1200">
                        <a:solidFill>
                          <a:srgbClr val="4E4E4E"/>
                        </a:solidFill>
                        <a:latin typeface="+mn-lt"/>
                        <a:ea typeface="+mn-ea"/>
                        <a:cs typeface="+mn-cs"/>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FAFAFA"/>
                    </a:solidFill>
                  </a:tcPr>
                </a:tc>
                <a:tc>
                  <a:txBody>
                    <a:bodyPr/>
                    <a:lstStyle/>
                    <a:p>
                      <a:r>
                        <a:rPr kumimoji="1" lang="en-US" altLang="zh-TW" sz="1000" kern="1200">
                          <a:solidFill>
                            <a:srgbClr val="4E4E4E"/>
                          </a:solidFill>
                          <a:latin typeface="+mn-lt"/>
                          <a:ea typeface="+mn-ea"/>
                          <a:cs typeface="+mn-cs"/>
                        </a:rPr>
                        <a:t>Audience Pack Name</a:t>
                      </a:r>
                      <a:endParaRPr kumimoji="1" lang="zh-TW" altLang="en-US" sz="1000" kern="1200">
                        <a:solidFill>
                          <a:srgbClr val="4E4E4E"/>
                        </a:solidFill>
                        <a:latin typeface="+mn-lt"/>
                        <a:ea typeface="+mn-ea"/>
                        <a:cs typeface="+mn-cs"/>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FAFAFA"/>
                    </a:solidFill>
                  </a:tcPr>
                </a:tc>
                <a:tc>
                  <a:txBody>
                    <a:bodyPr/>
                    <a:lstStyle/>
                    <a:p>
                      <a:r>
                        <a:rPr kumimoji="1" lang="en-US" altLang="zh-TW" sz="1000" kern="1200">
                          <a:solidFill>
                            <a:srgbClr val="4E4E4E"/>
                          </a:solidFill>
                          <a:latin typeface="+mn-lt"/>
                          <a:ea typeface="+mn-ea"/>
                          <a:cs typeface="+mn-cs"/>
                        </a:rPr>
                        <a:t>Status</a:t>
                      </a:r>
                      <a:endParaRPr kumimoji="1" lang="zh-TW" altLang="en-US" sz="1000" kern="1200">
                        <a:solidFill>
                          <a:srgbClr val="4E4E4E"/>
                        </a:solidFill>
                        <a:latin typeface="+mn-lt"/>
                        <a:ea typeface="+mn-ea"/>
                        <a:cs typeface="+mn-cs"/>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FAFAFA"/>
                    </a:solidFill>
                  </a:tcPr>
                </a:tc>
                <a:extLst>
                  <a:ext uri="{0D108BD9-81ED-4DB2-BD59-A6C34878D82A}">
                    <a16:rowId xmlns:a16="http://schemas.microsoft.com/office/drawing/2014/main" val="382988244"/>
                  </a:ext>
                </a:extLst>
              </a:tr>
              <a:tr h="331599">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zh-TW" sz="1000" kern="1200">
                          <a:solidFill>
                            <a:srgbClr val="4E4E4E"/>
                          </a:solidFill>
                          <a:latin typeface="+mn-lt"/>
                          <a:ea typeface="+mn-ea"/>
                          <a:cs typeface="+mn-cs"/>
                        </a:rPr>
                        <a:t>12157</a:t>
                      </a:r>
                      <a:endParaRPr kumimoji="1" lang="zh-TW" altLang="en-US" sz="1000" kern="1200">
                        <a:solidFill>
                          <a:srgbClr val="4E4E4E"/>
                        </a:solidFill>
                        <a:latin typeface="+mn-lt"/>
                        <a:ea typeface="+mn-ea"/>
                        <a:cs typeface="+mn-cs"/>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 altLang="zh-TW" sz="1000" kern="1200">
                          <a:solidFill>
                            <a:srgbClr val="4E4E4E"/>
                          </a:solidFill>
                          <a:latin typeface="+mn-lt"/>
                          <a:ea typeface="+mn-ea"/>
                          <a:cs typeface="+mn-cs"/>
                        </a:rPr>
                        <a:t>Brand Keyword AI Exploration</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zh-TW" sz="1000" kern="1200">
                          <a:solidFill>
                            <a:srgbClr val="4E4E4E"/>
                          </a:solidFill>
                          <a:latin typeface="+mn-lt"/>
                          <a:ea typeface="+mn-ea"/>
                          <a:cs typeface="+mn-cs"/>
                        </a:rPr>
                        <a:t>[</a:t>
                      </a:r>
                      <a:r>
                        <a:rPr kumimoji="1" lang="zh-TW" altLang="en-US" sz="1000" kern="1200">
                          <a:solidFill>
                            <a:srgbClr val="4E4E4E"/>
                          </a:solidFill>
                          <a:latin typeface="+mn-lt"/>
                          <a:ea typeface="+mn-ea"/>
                          <a:cs typeface="+mn-cs"/>
                        </a:rPr>
                        <a:t>關鍵字</a:t>
                      </a:r>
                      <a:r>
                        <a:rPr kumimoji="1" lang="en-US" altLang="zh-TW" sz="1000" kern="1200">
                          <a:solidFill>
                            <a:srgbClr val="4E4E4E"/>
                          </a:solidFill>
                          <a:latin typeface="+mn-lt"/>
                          <a:ea typeface="+mn-ea"/>
                          <a:cs typeface="+mn-cs"/>
                        </a:rPr>
                        <a:t>] </a:t>
                      </a:r>
                      <a:r>
                        <a:rPr kumimoji="1" lang="zh-TW" altLang="en-US" sz="1000" kern="1200">
                          <a:solidFill>
                            <a:srgbClr val="4E4E4E"/>
                          </a:solidFill>
                          <a:latin typeface="+mn-lt"/>
                          <a:ea typeface="+mn-ea"/>
                          <a:cs typeface="+mn-cs"/>
                        </a:rPr>
                        <a:t>合利他命</a:t>
                      </a:r>
                      <a:r>
                        <a:rPr kumimoji="1" lang="en" altLang="zh-TW" sz="1000" kern="1200">
                          <a:solidFill>
                            <a:srgbClr val="4E4E4E"/>
                          </a:solidFill>
                          <a:latin typeface="+mn-lt"/>
                          <a:ea typeface="+mn-ea"/>
                          <a:cs typeface="+mn-cs"/>
                        </a:rPr>
                        <a:t>EXPLUS 10</a:t>
                      </a:r>
                      <a:r>
                        <a:rPr kumimoji="1" lang="zh-TW" altLang="en-US" sz="1000" kern="1200">
                          <a:solidFill>
                            <a:srgbClr val="4E4E4E"/>
                          </a:solidFill>
                          <a:latin typeface="+mn-lt"/>
                          <a:ea typeface="+mn-ea"/>
                          <a:cs typeface="+mn-cs"/>
                        </a:rPr>
                        <a:t>月</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zh-TW" sz="1000" kern="1200">
                          <a:solidFill>
                            <a:srgbClr val="4E4E4E"/>
                          </a:solidFill>
                          <a:latin typeface="+mn-lt"/>
                          <a:ea typeface="+mn-ea"/>
                          <a:cs typeface="+mn-cs"/>
                        </a:rPr>
                        <a:t>Processing</a:t>
                      </a:r>
                      <a:endParaRPr kumimoji="1" lang="zh-TW" altLang="en-US" sz="1000" kern="1200">
                        <a:solidFill>
                          <a:srgbClr val="4E4E4E"/>
                        </a:solidFill>
                        <a:latin typeface="+mn-lt"/>
                        <a:ea typeface="+mn-ea"/>
                        <a:cs typeface="+mn-cs"/>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3705966175"/>
                  </a:ext>
                </a:extLst>
              </a:tr>
              <a:tr h="331599">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zh-TW" sz="1000" kern="1200">
                          <a:solidFill>
                            <a:srgbClr val="4E4E4E"/>
                          </a:solidFill>
                          <a:latin typeface="+mn-lt"/>
                          <a:ea typeface="+mn-ea"/>
                          <a:cs typeface="+mn-cs"/>
                        </a:rPr>
                        <a:t>12146</a:t>
                      </a:r>
                      <a:endParaRPr kumimoji="1" lang="zh-TW" altLang="en-US" sz="1000" kern="1200">
                        <a:solidFill>
                          <a:srgbClr val="4E4E4E"/>
                        </a:solidFill>
                        <a:latin typeface="+mn-lt"/>
                        <a:ea typeface="+mn-ea"/>
                        <a:cs typeface="+mn-cs"/>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 altLang="zh-TW" sz="1000" kern="1200">
                          <a:solidFill>
                            <a:srgbClr val="4E4E4E"/>
                          </a:solidFill>
                          <a:latin typeface="+mn-lt"/>
                          <a:ea typeface="+mn-ea"/>
                          <a:cs typeface="+mn-cs"/>
                        </a:rPr>
                        <a:t>Offline Point of Interest (POI)</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zh-TW" sz="1000" kern="1200">
                          <a:solidFill>
                            <a:srgbClr val="4E4E4E"/>
                          </a:solidFill>
                          <a:latin typeface="+mn-lt"/>
                          <a:ea typeface="+mn-ea"/>
                          <a:cs typeface="+mn-cs"/>
                        </a:rPr>
                        <a:t>[</a:t>
                      </a:r>
                      <a:r>
                        <a:rPr kumimoji="1" lang="zh-TW" altLang="en-US" sz="1000" kern="1200">
                          <a:solidFill>
                            <a:srgbClr val="4E4E4E"/>
                          </a:solidFill>
                          <a:latin typeface="+mn-lt"/>
                          <a:ea typeface="+mn-ea"/>
                          <a:cs typeface="+mn-cs"/>
                        </a:rPr>
                        <a:t>線下</a:t>
                      </a:r>
                      <a:r>
                        <a:rPr kumimoji="1" lang="en" altLang="zh-TW" sz="1000" kern="1200">
                          <a:solidFill>
                            <a:srgbClr val="4E4E4E"/>
                          </a:solidFill>
                          <a:latin typeface="+mn-lt"/>
                          <a:ea typeface="+mn-ea"/>
                          <a:cs typeface="+mn-cs"/>
                        </a:rPr>
                        <a:t>POI] </a:t>
                      </a:r>
                      <a:r>
                        <a:rPr kumimoji="1" lang="zh-TW" altLang="en-US" sz="1000" kern="1200">
                          <a:solidFill>
                            <a:srgbClr val="4E4E4E"/>
                          </a:solidFill>
                          <a:latin typeface="+mn-lt"/>
                          <a:ea typeface="+mn-ea"/>
                          <a:cs typeface="+mn-cs"/>
                        </a:rPr>
                        <a:t>合利他命</a:t>
                      </a:r>
                      <a:r>
                        <a:rPr kumimoji="1" lang="en" altLang="zh-TW" sz="1000" kern="1200">
                          <a:solidFill>
                            <a:srgbClr val="4E4E4E"/>
                          </a:solidFill>
                          <a:latin typeface="+mn-lt"/>
                          <a:ea typeface="+mn-ea"/>
                          <a:cs typeface="+mn-cs"/>
                        </a:rPr>
                        <a:t>EXPLUS 10</a:t>
                      </a:r>
                      <a:r>
                        <a:rPr kumimoji="1" lang="zh-TW" altLang="en-US" sz="1000" kern="1200">
                          <a:solidFill>
                            <a:srgbClr val="4E4E4E"/>
                          </a:solidFill>
                          <a:latin typeface="+mn-lt"/>
                          <a:ea typeface="+mn-ea"/>
                          <a:cs typeface="+mn-cs"/>
                        </a:rPr>
                        <a:t>月</a:t>
                      </a:r>
                      <a:endParaRPr kumimoji="1" lang="zh-TW" altLang="en-US" sz="1000" kern="1200" noProof="0">
                        <a:solidFill>
                          <a:srgbClr val="4E4E4E"/>
                        </a:solidFill>
                        <a:latin typeface="+mn-lt"/>
                        <a:ea typeface="+mn-ea"/>
                        <a:cs typeface="+mn-cs"/>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zh-TW" sz="1000" b="0" i="0" u="none" strike="noStrike" kern="1200" cap="none" spc="0" normalizeH="0" baseline="0" noProof="0" dirty="0">
                          <a:ln>
                            <a:noFill/>
                          </a:ln>
                          <a:solidFill>
                            <a:srgbClr val="4E4E4E"/>
                          </a:solidFill>
                          <a:effectLst/>
                          <a:uLnTx/>
                          <a:uFillTx/>
                          <a:latin typeface="Aptos" panose="02110004020202020204"/>
                          <a:ea typeface="新細明體" panose="02020500000000000000" pitchFamily="18" charset="-120"/>
                          <a:cs typeface="+mn-cs"/>
                        </a:rPr>
                        <a:t>Completed</a:t>
                      </a:r>
                      <a:endParaRPr kumimoji="1" lang="zh-TW" altLang="en-US" sz="1000" b="0" i="0" u="none" strike="noStrike" kern="1200" cap="none" spc="0" normalizeH="0" baseline="0" noProof="0" dirty="0">
                        <a:ln>
                          <a:noFill/>
                        </a:ln>
                        <a:solidFill>
                          <a:srgbClr val="4E4E4E"/>
                        </a:solidFill>
                        <a:effectLst/>
                        <a:uLnTx/>
                        <a:uFillTx/>
                        <a:latin typeface="Aptos" panose="02110004020202020204"/>
                        <a:ea typeface="新細明體" panose="02020500000000000000" pitchFamily="18" charset="-120"/>
                        <a:cs typeface="+mn-cs"/>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3805930247"/>
                  </a:ext>
                </a:extLst>
              </a:tr>
              <a:tr h="331599">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zh-TW" sz="1000" kern="1200">
                          <a:solidFill>
                            <a:srgbClr val="4E4E4E"/>
                          </a:solidFill>
                          <a:latin typeface="+mn-lt"/>
                          <a:ea typeface="+mn-ea"/>
                          <a:cs typeface="+mn-cs"/>
                        </a:rPr>
                        <a:t>12130</a:t>
                      </a:r>
                      <a:endParaRPr kumimoji="1" lang="zh-TW" altLang="en-US" sz="1000" kern="1200">
                        <a:solidFill>
                          <a:srgbClr val="4E4E4E"/>
                        </a:solidFill>
                        <a:latin typeface="+mn-lt"/>
                        <a:ea typeface="+mn-ea"/>
                        <a:cs typeface="+mn-cs"/>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fontAlgn="base" latinLnBrk="0">
                        <a:buNone/>
                      </a:pPr>
                      <a:r>
                        <a:rPr kumimoji="1" lang="en" altLang="zh-TW" sz="1000" kern="1200">
                          <a:solidFill>
                            <a:srgbClr val="4E4E4E"/>
                          </a:solidFill>
                          <a:latin typeface="+mn-lt"/>
                          <a:ea typeface="+mn-ea"/>
                          <a:cs typeface="+mn-cs"/>
                        </a:rPr>
                        <a:t>Webb Retail Data (Purchase)</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 altLang="zh-TW" sz="1000" kern="1200" dirty="0">
                          <a:solidFill>
                            <a:srgbClr val="4E4E4E"/>
                          </a:solidFill>
                          <a:latin typeface="+mn-lt"/>
                          <a:ea typeface="+mn-ea"/>
                          <a:cs typeface="+mn-cs"/>
                        </a:rPr>
                        <a:t>[Webb</a:t>
                      </a:r>
                      <a:r>
                        <a:rPr kumimoji="1" lang="zh-TW" altLang="en-US" sz="1000" kern="1200" dirty="0">
                          <a:solidFill>
                            <a:srgbClr val="4E4E4E"/>
                          </a:solidFill>
                          <a:latin typeface="+mn-lt"/>
                          <a:ea typeface="+mn-ea"/>
                          <a:cs typeface="+mn-cs"/>
                        </a:rPr>
                        <a:t>零售數據</a:t>
                      </a:r>
                      <a:r>
                        <a:rPr kumimoji="1" lang="en-US" altLang="zh-TW" sz="1000" kern="1200" dirty="0">
                          <a:solidFill>
                            <a:srgbClr val="4E4E4E"/>
                          </a:solidFill>
                          <a:latin typeface="+mn-lt"/>
                          <a:ea typeface="+mn-ea"/>
                          <a:cs typeface="+mn-cs"/>
                        </a:rPr>
                        <a:t>-</a:t>
                      </a:r>
                      <a:r>
                        <a:rPr kumimoji="1" lang="zh-TW" altLang="en-US" sz="1000" kern="1200" dirty="0">
                          <a:solidFill>
                            <a:srgbClr val="4E4E4E"/>
                          </a:solidFill>
                          <a:latin typeface="+mn-lt"/>
                          <a:ea typeface="+mn-ea"/>
                          <a:cs typeface="+mn-cs"/>
                        </a:rPr>
                        <a:t>購買</a:t>
                      </a:r>
                      <a:r>
                        <a:rPr kumimoji="1" lang="en-US" altLang="zh-TW" sz="1000" kern="1200" dirty="0">
                          <a:solidFill>
                            <a:srgbClr val="4E4E4E"/>
                          </a:solidFill>
                          <a:latin typeface="+mn-lt"/>
                          <a:ea typeface="+mn-ea"/>
                          <a:cs typeface="+mn-cs"/>
                        </a:rPr>
                        <a:t>] </a:t>
                      </a:r>
                      <a:r>
                        <a:rPr kumimoji="1" lang="zh-TW" altLang="en-US" sz="1000" kern="1200" dirty="0">
                          <a:solidFill>
                            <a:srgbClr val="4E4E4E"/>
                          </a:solidFill>
                          <a:latin typeface="+mn-lt"/>
                          <a:ea typeface="+mn-ea"/>
                          <a:cs typeface="+mn-cs"/>
                        </a:rPr>
                        <a:t>合利他命</a:t>
                      </a:r>
                      <a:r>
                        <a:rPr kumimoji="1" lang="en" altLang="zh-TW" sz="1000" kern="1200" dirty="0">
                          <a:solidFill>
                            <a:srgbClr val="4E4E4E"/>
                          </a:solidFill>
                          <a:latin typeface="+mn-lt"/>
                          <a:ea typeface="+mn-ea"/>
                          <a:cs typeface="+mn-cs"/>
                        </a:rPr>
                        <a:t>EXPLUS 10</a:t>
                      </a:r>
                      <a:r>
                        <a:rPr kumimoji="1" lang="zh-TW" altLang="en-US" sz="1000" kern="1200" dirty="0">
                          <a:solidFill>
                            <a:srgbClr val="4E4E4E"/>
                          </a:solidFill>
                          <a:latin typeface="+mn-lt"/>
                          <a:ea typeface="+mn-ea"/>
                          <a:cs typeface="+mn-cs"/>
                        </a:rPr>
                        <a:t>月</a:t>
                      </a:r>
                      <a:endParaRPr kumimoji="1" lang="zh-TW" altLang="en-US" sz="1000" kern="1200" noProof="0" dirty="0">
                        <a:solidFill>
                          <a:srgbClr val="4E4E4E"/>
                        </a:solidFill>
                        <a:latin typeface="+mn-lt"/>
                        <a:ea typeface="+mn-ea"/>
                        <a:cs typeface="+mn-cs"/>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zh-TW" sz="1000" b="0" i="0" u="none" strike="noStrike" kern="1200" cap="none" spc="0" normalizeH="0" baseline="0" noProof="0" dirty="0">
                          <a:ln>
                            <a:noFill/>
                          </a:ln>
                          <a:solidFill>
                            <a:srgbClr val="4E4E4E"/>
                          </a:solidFill>
                          <a:effectLst/>
                          <a:uLnTx/>
                          <a:uFillTx/>
                          <a:latin typeface="Aptos" panose="02110004020202020204"/>
                          <a:ea typeface="新細明體" panose="02020500000000000000" pitchFamily="18" charset="-120"/>
                          <a:cs typeface="+mn-cs"/>
                        </a:rPr>
                        <a:t>Completed</a:t>
                      </a:r>
                      <a:endParaRPr kumimoji="1" lang="zh-TW" altLang="en-US" sz="1000" b="0" i="0" u="none" strike="noStrike" kern="1200" cap="none" spc="0" normalizeH="0" baseline="0" noProof="0" dirty="0">
                        <a:ln>
                          <a:noFill/>
                        </a:ln>
                        <a:solidFill>
                          <a:srgbClr val="4E4E4E"/>
                        </a:solidFill>
                        <a:effectLst/>
                        <a:uLnTx/>
                        <a:uFillTx/>
                        <a:latin typeface="Aptos" panose="02110004020202020204"/>
                        <a:ea typeface="新細明體" panose="02020500000000000000" pitchFamily="18" charset="-120"/>
                        <a:cs typeface="+mn-cs"/>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189279743"/>
                  </a:ext>
                </a:extLst>
              </a:tr>
              <a:tr h="331599">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zh-TW" sz="1000" kern="1200">
                          <a:solidFill>
                            <a:srgbClr val="4E4E4E"/>
                          </a:solidFill>
                          <a:latin typeface="+mn-lt"/>
                          <a:ea typeface="+mn-ea"/>
                          <a:cs typeface="+mn-cs"/>
                        </a:rPr>
                        <a:t>12120</a:t>
                      </a:r>
                      <a:endParaRPr kumimoji="1" lang="zh-TW" altLang="en-US" sz="1000" kern="1200">
                        <a:solidFill>
                          <a:srgbClr val="4E4E4E"/>
                        </a:solidFill>
                        <a:latin typeface="+mn-lt"/>
                        <a:ea typeface="+mn-ea"/>
                        <a:cs typeface="+mn-cs"/>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 altLang="zh-TW" sz="1000" kern="1200">
                          <a:solidFill>
                            <a:srgbClr val="4E4E4E"/>
                          </a:solidFill>
                          <a:latin typeface="+mn-lt"/>
                          <a:ea typeface="+mn-ea"/>
                          <a:cs typeface="+mn-cs"/>
                        </a:rPr>
                        <a:t>Industry Shopper Graph</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 altLang="zh-TW" sz="1000" kern="1200">
                          <a:solidFill>
                            <a:srgbClr val="4E4E4E"/>
                          </a:solidFill>
                          <a:latin typeface="+mn-lt"/>
                          <a:ea typeface="+mn-ea"/>
                          <a:cs typeface="+mn-cs"/>
                        </a:rPr>
                        <a:t>[</a:t>
                      </a:r>
                      <a:r>
                        <a:rPr kumimoji="1" lang="zh-TW" altLang="en-US" sz="1000" kern="1200">
                          <a:solidFill>
                            <a:srgbClr val="4E4E4E"/>
                          </a:solidFill>
                          <a:latin typeface="+mn-lt"/>
                          <a:ea typeface="+mn-ea"/>
                          <a:cs typeface="+mn-cs"/>
                        </a:rPr>
                        <a:t>產業 </a:t>
                      </a:r>
                      <a:r>
                        <a:rPr kumimoji="1" lang="en" altLang="zh-TW" sz="1000" kern="1200">
                          <a:solidFill>
                            <a:srgbClr val="4E4E4E"/>
                          </a:solidFill>
                          <a:latin typeface="+mn-lt"/>
                          <a:ea typeface="+mn-ea"/>
                          <a:cs typeface="+mn-cs"/>
                        </a:rPr>
                        <a:t>Shopper Graph</a:t>
                      </a:r>
                      <a:r>
                        <a:rPr kumimoji="1" lang="en-US" altLang="zh-TW" sz="1000" kern="1200">
                          <a:solidFill>
                            <a:srgbClr val="4E4E4E"/>
                          </a:solidFill>
                          <a:latin typeface="+mn-lt"/>
                          <a:ea typeface="+mn-ea"/>
                          <a:cs typeface="+mn-cs"/>
                        </a:rPr>
                        <a:t>] </a:t>
                      </a:r>
                      <a:r>
                        <a:rPr kumimoji="1" lang="zh-TW" altLang="en-US" sz="1000" kern="1200">
                          <a:solidFill>
                            <a:srgbClr val="4E4E4E"/>
                          </a:solidFill>
                          <a:latin typeface="+mn-lt"/>
                          <a:ea typeface="+mn-ea"/>
                          <a:cs typeface="+mn-cs"/>
                        </a:rPr>
                        <a:t>合利他命</a:t>
                      </a:r>
                      <a:r>
                        <a:rPr kumimoji="1" lang="en" altLang="zh-TW" sz="1000" kern="1200">
                          <a:solidFill>
                            <a:srgbClr val="4E4E4E"/>
                          </a:solidFill>
                          <a:latin typeface="+mn-lt"/>
                          <a:ea typeface="+mn-ea"/>
                          <a:cs typeface="+mn-cs"/>
                        </a:rPr>
                        <a:t>EXPLUS 9-10</a:t>
                      </a:r>
                      <a:r>
                        <a:rPr kumimoji="1" lang="zh-TW" altLang="en-US" sz="1000" kern="1200">
                          <a:solidFill>
                            <a:srgbClr val="4E4E4E"/>
                          </a:solidFill>
                          <a:latin typeface="+mn-lt"/>
                          <a:ea typeface="+mn-ea"/>
                          <a:cs typeface="+mn-cs"/>
                        </a:rPr>
                        <a:t>月</a:t>
                      </a:r>
                      <a:endParaRPr kumimoji="1" lang="zh-TW" altLang="en-US" sz="1000" kern="1200" noProof="0">
                        <a:solidFill>
                          <a:srgbClr val="4E4E4E"/>
                        </a:solidFill>
                        <a:latin typeface="+mn-lt"/>
                        <a:ea typeface="+mn-ea"/>
                        <a:cs typeface="+mn-cs"/>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zh-TW" sz="1000" b="0" i="0" u="none" strike="noStrike" kern="1200" cap="none" spc="0" normalizeH="0" baseline="0" noProof="0">
                          <a:ln>
                            <a:noFill/>
                          </a:ln>
                          <a:solidFill>
                            <a:srgbClr val="4E4E4E"/>
                          </a:solidFill>
                          <a:effectLst/>
                          <a:uLnTx/>
                          <a:uFillTx/>
                          <a:latin typeface="Aptos" panose="02110004020202020204"/>
                          <a:ea typeface="新細明體" panose="02020500000000000000" pitchFamily="18" charset="-120"/>
                          <a:cs typeface="+mn-cs"/>
                        </a:rPr>
                        <a:t>Completed</a:t>
                      </a:r>
                      <a:endParaRPr kumimoji="1" lang="zh-TW" altLang="en-US" sz="1000" b="0" i="0" u="none" strike="noStrike" kern="1200" cap="none" spc="0" normalizeH="0" baseline="0" noProof="0">
                        <a:ln>
                          <a:noFill/>
                        </a:ln>
                        <a:solidFill>
                          <a:srgbClr val="4E4E4E"/>
                        </a:solidFill>
                        <a:effectLst/>
                        <a:uLnTx/>
                        <a:uFillTx/>
                        <a:latin typeface="Aptos" panose="02110004020202020204"/>
                        <a:ea typeface="新細明體" panose="02020500000000000000" pitchFamily="18" charset="-120"/>
                        <a:cs typeface="+mn-cs"/>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2605622895"/>
                  </a:ext>
                </a:extLst>
              </a:tr>
              <a:tr h="331599">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zh-TW" sz="1000" kern="1200">
                          <a:solidFill>
                            <a:srgbClr val="4E4E4E"/>
                          </a:solidFill>
                          <a:latin typeface="+mn-lt"/>
                          <a:ea typeface="+mn-ea"/>
                          <a:cs typeface="+mn-cs"/>
                        </a:rPr>
                        <a:t>11111</a:t>
                      </a:r>
                      <a:endParaRPr kumimoji="1" lang="zh-TW" altLang="en-US" sz="1000" kern="1200">
                        <a:solidFill>
                          <a:srgbClr val="4E4E4E"/>
                        </a:solidFill>
                        <a:latin typeface="+mn-lt"/>
                        <a:ea typeface="+mn-ea"/>
                        <a:cs typeface="+mn-cs"/>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 altLang="zh-TW" sz="1000" kern="1200">
                          <a:solidFill>
                            <a:srgbClr val="4E4E4E"/>
                          </a:solidFill>
                          <a:latin typeface="+mn-lt"/>
                          <a:ea typeface="+mn-ea"/>
                          <a:cs typeface="+mn-cs"/>
                        </a:rPr>
                        <a:t>Industry Shopper Graph</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 altLang="zh-TW" sz="1000" kern="1200">
                          <a:solidFill>
                            <a:srgbClr val="4E4E4E"/>
                          </a:solidFill>
                          <a:latin typeface="+mn-lt"/>
                          <a:ea typeface="+mn-ea"/>
                          <a:cs typeface="+mn-cs"/>
                        </a:rPr>
                        <a:t>[</a:t>
                      </a:r>
                      <a:r>
                        <a:rPr kumimoji="1" lang="zh-TW" altLang="en-US" sz="1000" kern="1200">
                          <a:solidFill>
                            <a:srgbClr val="4E4E4E"/>
                          </a:solidFill>
                          <a:latin typeface="+mn-lt"/>
                          <a:ea typeface="+mn-ea"/>
                          <a:cs typeface="+mn-cs"/>
                        </a:rPr>
                        <a:t>產業 </a:t>
                      </a:r>
                      <a:r>
                        <a:rPr kumimoji="1" lang="en" altLang="zh-TW" sz="1000" kern="1200">
                          <a:solidFill>
                            <a:srgbClr val="4E4E4E"/>
                          </a:solidFill>
                          <a:latin typeface="+mn-lt"/>
                          <a:ea typeface="+mn-ea"/>
                          <a:cs typeface="+mn-cs"/>
                        </a:rPr>
                        <a:t>Shopper Graph</a:t>
                      </a:r>
                      <a:r>
                        <a:rPr kumimoji="1" lang="en-US" altLang="zh-TW" sz="1000" kern="1200">
                          <a:solidFill>
                            <a:srgbClr val="4E4E4E"/>
                          </a:solidFill>
                          <a:latin typeface="+mn-lt"/>
                          <a:ea typeface="+mn-ea"/>
                          <a:cs typeface="+mn-cs"/>
                        </a:rPr>
                        <a:t>] </a:t>
                      </a:r>
                      <a:r>
                        <a:rPr kumimoji="1" lang="zh-TW" altLang="en-US" sz="1000" kern="1200">
                          <a:solidFill>
                            <a:srgbClr val="4E4E4E"/>
                          </a:solidFill>
                          <a:latin typeface="+mn-lt"/>
                          <a:ea typeface="+mn-ea"/>
                          <a:cs typeface="+mn-cs"/>
                        </a:rPr>
                        <a:t>合利他命</a:t>
                      </a:r>
                      <a:r>
                        <a:rPr kumimoji="1" lang="en" altLang="zh-TW" sz="1000" kern="1200">
                          <a:solidFill>
                            <a:srgbClr val="4E4E4E"/>
                          </a:solidFill>
                          <a:latin typeface="+mn-lt"/>
                          <a:ea typeface="+mn-ea"/>
                          <a:cs typeface="+mn-cs"/>
                        </a:rPr>
                        <a:t>EXPLUS 7</a:t>
                      </a:r>
                      <a:r>
                        <a:rPr kumimoji="1" lang="zh-TW" altLang="en-US" sz="1000" kern="1200">
                          <a:solidFill>
                            <a:srgbClr val="4E4E4E"/>
                          </a:solidFill>
                          <a:latin typeface="+mn-lt"/>
                          <a:ea typeface="+mn-ea"/>
                          <a:cs typeface="+mn-cs"/>
                        </a:rPr>
                        <a:t>月</a:t>
                      </a:r>
                      <a:endParaRPr kumimoji="1" lang="zh-TW" altLang="en-US" sz="1000" kern="1200" noProof="0">
                        <a:solidFill>
                          <a:srgbClr val="4E4E4E"/>
                        </a:solidFill>
                        <a:latin typeface="+mn-lt"/>
                        <a:ea typeface="+mn-ea"/>
                        <a:cs typeface="+mn-cs"/>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zh-TW" sz="1000" b="0" i="0" u="none" strike="noStrike" kern="1200" cap="none" spc="0" normalizeH="0" baseline="0" noProof="0" dirty="0">
                          <a:ln>
                            <a:noFill/>
                          </a:ln>
                          <a:solidFill>
                            <a:srgbClr val="4E4E4E"/>
                          </a:solidFill>
                          <a:effectLst/>
                          <a:uLnTx/>
                          <a:uFillTx/>
                          <a:latin typeface="Aptos" panose="02110004020202020204"/>
                          <a:ea typeface="新細明體" panose="02020500000000000000" pitchFamily="18" charset="-120"/>
                          <a:cs typeface="+mn-cs"/>
                        </a:rPr>
                        <a:t>Expired</a:t>
                      </a:r>
                      <a:endParaRPr kumimoji="1" lang="zh-TW" altLang="en-US" sz="1000" b="0" i="0" u="none" strike="noStrike" kern="1200" cap="none" spc="0" normalizeH="0" baseline="0" noProof="0" dirty="0">
                        <a:ln>
                          <a:noFill/>
                        </a:ln>
                        <a:solidFill>
                          <a:srgbClr val="4E4E4E"/>
                        </a:solidFill>
                        <a:effectLst/>
                        <a:uLnTx/>
                        <a:uFillTx/>
                        <a:latin typeface="Aptos" panose="02110004020202020204"/>
                        <a:ea typeface="新細明體" panose="02020500000000000000" pitchFamily="18" charset="-120"/>
                        <a:cs typeface="+mn-cs"/>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3724327193"/>
                  </a:ext>
                </a:extLst>
              </a:tr>
            </a:tbl>
          </a:graphicData>
        </a:graphic>
      </p:graphicFrame>
      <p:pic>
        <p:nvPicPr>
          <p:cNvPr id="25" name="圖片 24">
            <a:extLst>
              <a:ext uri="{FF2B5EF4-FFF2-40B4-BE49-F238E27FC236}">
                <a16:creationId xmlns:a16="http://schemas.microsoft.com/office/drawing/2014/main" id="{8350BEAE-042C-AFEE-53EB-D8BF4E3ADAF5}"/>
              </a:ext>
            </a:extLst>
          </p:cNvPr>
          <p:cNvPicPr>
            <a:picLocks noChangeAspect="1"/>
          </p:cNvPicPr>
          <p:nvPr/>
        </p:nvPicPr>
        <p:blipFill>
          <a:blip r:embed="rId4"/>
          <a:stretch>
            <a:fillRect/>
          </a:stretch>
        </p:blipFill>
        <p:spPr>
          <a:xfrm>
            <a:off x="4137561" y="1574437"/>
            <a:ext cx="184348" cy="184348"/>
          </a:xfrm>
          <a:prstGeom prst="rect">
            <a:avLst/>
          </a:prstGeom>
        </p:spPr>
      </p:pic>
      <p:pic>
        <p:nvPicPr>
          <p:cNvPr id="26" name="圖片 25">
            <a:extLst>
              <a:ext uri="{FF2B5EF4-FFF2-40B4-BE49-F238E27FC236}">
                <a16:creationId xmlns:a16="http://schemas.microsoft.com/office/drawing/2014/main" id="{732C7036-D0AF-4A3F-C1EF-237B4EC7DB4A}"/>
              </a:ext>
            </a:extLst>
          </p:cNvPr>
          <p:cNvPicPr>
            <a:picLocks noChangeAspect="1"/>
          </p:cNvPicPr>
          <p:nvPr/>
        </p:nvPicPr>
        <p:blipFill>
          <a:blip r:embed="rId4"/>
          <a:stretch>
            <a:fillRect/>
          </a:stretch>
        </p:blipFill>
        <p:spPr>
          <a:xfrm>
            <a:off x="7442346" y="2792731"/>
            <a:ext cx="367307" cy="367307"/>
          </a:xfrm>
          <a:prstGeom prst="rect">
            <a:avLst/>
          </a:prstGeom>
        </p:spPr>
      </p:pic>
      <p:sp>
        <p:nvSpPr>
          <p:cNvPr id="27" name="圓角矩形圖說文字 26">
            <a:extLst>
              <a:ext uri="{FF2B5EF4-FFF2-40B4-BE49-F238E27FC236}">
                <a16:creationId xmlns:a16="http://schemas.microsoft.com/office/drawing/2014/main" id="{AC0AD98A-FB8D-A7BC-D166-94DCA5EA1111}"/>
              </a:ext>
            </a:extLst>
          </p:cNvPr>
          <p:cNvSpPr/>
          <p:nvPr/>
        </p:nvSpPr>
        <p:spPr>
          <a:xfrm>
            <a:off x="7668884" y="2439123"/>
            <a:ext cx="1112981" cy="310159"/>
          </a:xfrm>
          <a:prstGeom prst="wedgeRoundRectCallout">
            <a:avLst>
              <a:gd name="adj1" fmla="val -47230"/>
              <a:gd name="adj2" fmla="val 90609"/>
              <a:gd name="adj3" fmla="val 16667"/>
            </a:avLst>
          </a:prstGeom>
          <a:solidFill>
            <a:srgbClr val="2F313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fontAlgn="base"/>
            <a:r>
              <a:rPr lang="en-US" altLang="zh-TW" sz="1000" dirty="0">
                <a:solidFill>
                  <a:schemeClr val="bg1"/>
                </a:solidFill>
                <a:latin typeface="Google Sans Text"/>
              </a:rPr>
              <a:t>No unique users.</a:t>
            </a:r>
            <a:endParaRPr lang="en" altLang="zh-TW" sz="1000" dirty="0">
              <a:solidFill>
                <a:schemeClr val="bg1"/>
              </a:solidFill>
              <a:latin typeface="Google Sans Text"/>
            </a:endParaRPr>
          </a:p>
        </p:txBody>
      </p:sp>
      <p:cxnSp>
        <p:nvCxnSpPr>
          <p:cNvPr id="29" name="直線箭頭接點 28">
            <a:extLst>
              <a:ext uri="{FF2B5EF4-FFF2-40B4-BE49-F238E27FC236}">
                <a16:creationId xmlns:a16="http://schemas.microsoft.com/office/drawing/2014/main" id="{05D5F53A-AC80-B040-9B23-D62D2BA7226D}"/>
              </a:ext>
            </a:extLst>
          </p:cNvPr>
          <p:cNvCxnSpPr/>
          <p:nvPr/>
        </p:nvCxnSpPr>
        <p:spPr>
          <a:xfrm flipH="1" flipV="1">
            <a:off x="4876800" y="1574437"/>
            <a:ext cx="916707" cy="2547699"/>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30" name="直線箭頭接點 29">
            <a:extLst>
              <a:ext uri="{FF2B5EF4-FFF2-40B4-BE49-F238E27FC236}">
                <a16:creationId xmlns:a16="http://schemas.microsoft.com/office/drawing/2014/main" id="{0DF9C566-7F84-4E1C-E07D-6EEFBC30B877}"/>
              </a:ext>
            </a:extLst>
          </p:cNvPr>
          <p:cNvCxnSpPr>
            <a:cxnSpLocks/>
          </p:cNvCxnSpPr>
          <p:nvPr/>
        </p:nvCxnSpPr>
        <p:spPr>
          <a:xfrm flipH="1" flipV="1">
            <a:off x="4330092" y="2161347"/>
            <a:ext cx="1505709" cy="2385245"/>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33" name="矩形 32">
            <a:extLst>
              <a:ext uri="{FF2B5EF4-FFF2-40B4-BE49-F238E27FC236}">
                <a16:creationId xmlns:a16="http://schemas.microsoft.com/office/drawing/2014/main" id="{5B14F256-4FF9-ECAD-4BBC-981FEB3CEB95}"/>
              </a:ext>
            </a:extLst>
          </p:cNvPr>
          <p:cNvSpPr/>
          <p:nvPr/>
        </p:nvSpPr>
        <p:spPr>
          <a:xfrm>
            <a:off x="5806723" y="3975252"/>
            <a:ext cx="6290711" cy="1107305"/>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34" name="文字方塊 33">
            <a:extLst>
              <a:ext uri="{FF2B5EF4-FFF2-40B4-BE49-F238E27FC236}">
                <a16:creationId xmlns:a16="http://schemas.microsoft.com/office/drawing/2014/main" id="{43D2F0BE-C68B-0129-BF2F-7EC726DB1B86}"/>
              </a:ext>
            </a:extLst>
          </p:cNvPr>
          <p:cNvSpPr txBox="1"/>
          <p:nvPr/>
        </p:nvSpPr>
        <p:spPr>
          <a:xfrm>
            <a:off x="2368299" y="6675"/>
            <a:ext cx="2835001" cy="646331"/>
          </a:xfrm>
          <a:prstGeom prst="rect">
            <a:avLst/>
          </a:prstGeom>
          <a:noFill/>
        </p:spPr>
        <p:txBody>
          <a:bodyPr wrap="square" rtlCol="0">
            <a:spAutoFit/>
          </a:bodyPr>
          <a:lstStyle/>
          <a:p>
            <a:r>
              <a:rPr kumimoji="1" lang="en-US" altLang="zh-TW">
                <a:solidFill>
                  <a:srgbClr val="FF0000"/>
                </a:solidFill>
              </a:rPr>
              <a:t>Audience Pack Name/Type</a:t>
            </a:r>
          </a:p>
          <a:p>
            <a:r>
              <a:rPr kumimoji="1" lang="zh-TW" altLang="en-US">
                <a:solidFill>
                  <a:srgbClr val="FF0000"/>
                </a:solidFill>
              </a:rPr>
              <a:t>支援</a:t>
            </a:r>
            <a:r>
              <a:rPr lang="zh-TW" altLang="en-US">
                <a:solidFill>
                  <a:srgbClr val="FF0000"/>
                </a:solidFill>
              </a:rPr>
              <a:t>部分匹配</a:t>
            </a:r>
            <a:endParaRPr kumimoji="1" lang="zh-TW" altLang="en-US">
              <a:solidFill>
                <a:srgbClr val="FF0000"/>
              </a:solidFill>
            </a:endParaRPr>
          </a:p>
        </p:txBody>
      </p:sp>
      <p:cxnSp>
        <p:nvCxnSpPr>
          <p:cNvPr id="36" name="直線箭頭接點 35">
            <a:extLst>
              <a:ext uri="{FF2B5EF4-FFF2-40B4-BE49-F238E27FC236}">
                <a16:creationId xmlns:a16="http://schemas.microsoft.com/office/drawing/2014/main" id="{FD49901B-CDD6-D93C-5D98-66930BD9D724}"/>
              </a:ext>
            </a:extLst>
          </p:cNvPr>
          <p:cNvCxnSpPr>
            <a:stCxn id="34" idx="2"/>
          </p:cNvCxnSpPr>
          <p:nvPr/>
        </p:nvCxnSpPr>
        <p:spPr>
          <a:xfrm flipH="1">
            <a:off x="3785799" y="653006"/>
            <a:ext cx="1" cy="528094"/>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37" name="直線箭頭接點 36">
            <a:extLst>
              <a:ext uri="{FF2B5EF4-FFF2-40B4-BE49-F238E27FC236}">
                <a16:creationId xmlns:a16="http://schemas.microsoft.com/office/drawing/2014/main" id="{7EA33105-746D-3849-42AF-25B67598FD2F}"/>
              </a:ext>
            </a:extLst>
          </p:cNvPr>
          <p:cNvCxnSpPr>
            <a:cxnSpLocks/>
          </p:cNvCxnSpPr>
          <p:nvPr/>
        </p:nvCxnSpPr>
        <p:spPr>
          <a:xfrm flipH="1" flipV="1">
            <a:off x="4047056" y="2709759"/>
            <a:ext cx="1793335" cy="2275883"/>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5" name="矩形 4">
            <a:extLst>
              <a:ext uri="{FF2B5EF4-FFF2-40B4-BE49-F238E27FC236}">
                <a16:creationId xmlns:a16="http://schemas.microsoft.com/office/drawing/2014/main" id="{15EA1E3D-8258-8A14-BDAC-D87F3F31FCFB}"/>
              </a:ext>
            </a:extLst>
          </p:cNvPr>
          <p:cNvSpPr/>
          <p:nvPr/>
        </p:nvSpPr>
        <p:spPr>
          <a:xfrm>
            <a:off x="4091076" y="1545800"/>
            <a:ext cx="325725" cy="261610"/>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9" name="圓角矩形圖說文字 8">
            <a:extLst>
              <a:ext uri="{FF2B5EF4-FFF2-40B4-BE49-F238E27FC236}">
                <a16:creationId xmlns:a16="http://schemas.microsoft.com/office/drawing/2014/main" id="{31D53800-9C01-A37D-90FB-981A8DFE0877}"/>
              </a:ext>
            </a:extLst>
          </p:cNvPr>
          <p:cNvSpPr/>
          <p:nvPr/>
        </p:nvSpPr>
        <p:spPr>
          <a:xfrm>
            <a:off x="4242250" y="1088200"/>
            <a:ext cx="1112981" cy="310159"/>
          </a:xfrm>
          <a:prstGeom prst="wedgeRoundRectCallout">
            <a:avLst>
              <a:gd name="adj1" fmla="val -47230"/>
              <a:gd name="adj2" fmla="val 90609"/>
              <a:gd name="adj3" fmla="val 16667"/>
            </a:avLst>
          </a:prstGeom>
          <a:solidFill>
            <a:srgbClr val="2F313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fontAlgn="base"/>
            <a:r>
              <a:rPr lang="en-US" altLang="zh-TW" sz="1000" dirty="0">
                <a:solidFill>
                  <a:schemeClr val="bg1"/>
                </a:solidFill>
                <a:latin typeface="Google Sans Text"/>
              </a:rPr>
              <a:t>No unique users.</a:t>
            </a:r>
            <a:endParaRPr lang="en" altLang="zh-TW" sz="1000" dirty="0">
              <a:solidFill>
                <a:schemeClr val="bg1"/>
              </a:solidFill>
              <a:latin typeface="Google Sans Text"/>
            </a:endParaRPr>
          </a:p>
        </p:txBody>
      </p:sp>
      <p:sp>
        <p:nvSpPr>
          <p:cNvPr id="3" name="矩形 2">
            <a:extLst>
              <a:ext uri="{FF2B5EF4-FFF2-40B4-BE49-F238E27FC236}">
                <a16:creationId xmlns:a16="http://schemas.microsoft.com/office/drawing/2014/main" id="{5B0B3BAB-3856-9324-103E-814BAF645C34}"/>
              </a:ext>
            </a:extLst>
          </p:cNvPr>
          <p:cNvSpPr/>
          <p:nvPr/>
        </p:nvSpPr>
        <p:spPr>
          <a:xfrm>
            <a:off x="2368300" y="913038"/>
            <a:ext cx="3971916" cy="2363486"/>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Tree>
    <p:extLst>
      <p:ext uri="{BB962C8B-B14F-4D97-AF65-F5344CB8AC3E}">
        <p14:creationId xmlns:p14="http://schemas.microsoft.com/office/powerpoint/2010/main" val="166255982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標題 1">
            <a:extLst>
              <a:ext uri="{FF2B5EF4-FFF2-40B4-BE49-F238E27FC236}">
                <a16:creationId xmlns:a16="http://schemas.microsoft.com/office/drawing/2014/main" id="{63AF0FFE-A618-5AF9-8C89-D0E11D59ACEE}"/>
              </a:ext>
            </a:extLst>
          </p:cNvPr>
          <p:cNvSpPr txBox="1">
            <a:spLocks/>
          </p:cNvSpPr>
          <p:nvPr/>
        </p:nvSpPr>
        <p:spPr>
          <a:xfrm>
            <a:off x="0" y="-14949"/>
            <a:ext cx="10515600" cy="70560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kumimoji="1" lang="en-US" altLang="zh-TW" sz="2000" dirty="0"/>
              <a:t>New Ad Group</a:t>
            </a:r>
          </a:p>
          <a:p>
            <a:r>
              <a:rPr kumimoji="1" lang="en-US" altLang="zh-TW" sz="2000" dirty="0"/>
              <a:t>Custom Audience UI</a:t>
            </a:r>
            <a:endParaRPr kumimoji="1" lang="zh-TW" altLang="en-US" sz="2000" dirty="0"/>
          </a:p>
        </p:txBody>
      </p:sp>
      <p:pic>
        <p:nvPicPr>
          <p:cNvPr id="5" name="圖片 4" descr="一張含有 文字, 軟體, 網頁, 網站 的圖片&#10;&#10;AI 產生的內容可能不正確。">
            <a:extLst>
              <a:ext uri="{FF2B5EF4-FFF2-40B4-BE49-F238E27FC236}">
                <a16:creationId xmlns:a16="http://schemas.microsoft.com/office/drawing/2014/main" id="{13F97B82-CC2C-0549-E73B-B5F1F82ADD8B}"/>
              </a:ext>
            </a:extLst>
          </p:cNvPr>
          <p:cNvPicPr>
            <a:picLocks noChangeAspect="1"/>
          </p:cNvPicPr>
          <p:nvPr/>
        </p:nvPicPr>
        <p:blipFill>
          <a:blip r:embed="rId2"/>
          <a:stretch>
            <a:fillRect/>
          </a:stretch>
        </p:blipFill>
        <p:spPr>
          <a:xfrm>
            <a:off x="2368299" y="326272"/>
            <a:ext cx="7772400" cy="6205455"/>
          </a:xfrm>
          <a:prstGeom prst="rect">
            <a:avLst/>
          </a:prstGeom>
        </p:spPr>
      </p:pic>
      <p:sp>
        <p:nvSpPr>
          <p:cNvPr id="6" name="文字方塊 5">
            <a:extLst>
              <a:ext uri="{FF2B5EF4-FFF2-40B4-BE49-F238E27FC236}">
                <a16:creationId xmlns:a16="http://schemas.microsoft.com/office/drawing/2014/main" id="{B1F59B33-BAE8-CC60-1736-7CBF31E67FE5}"/>
              </a:ext>
            </a:extLst>
          </p:cNvPr>
          <p:cNvSpPr txBox="1"/>
          <p:nvPr/>
        </p:nvSpPr>
        <p:spPr>
          <a:xfrm>
            <a:off x="4657268" y="411263"/>
            <a:ext cx="3194462" cy="307777"/>
          </a:xfrm>
          <a:prstGeom prst="rect">
            <a:avLst/>
          </a:prstGeom>
          <a:solidFill>
            <a:srgbClr val="F5F8FE"/>
          </a:solidFill>
        </p:spPr>
        <p:txBody>
          <a:bodyPr wrap="square" rtlCol="0">
            <a:spAutoFit/>
          </a:bodyPr>
          <a:lstStyle/>
          <a:p>
            <a:pPr algn="ctr"/>
            <a:r>
              <a:rPr kumimoji="1" lang="en-US" altLang="zh-TW" sz="1400">
                <a:solidFill>
                  <a:srgbClr val="1C1E20"/>
                </a:solidFill>
              </a:rPr>
              <a:t>Targeting - Custom Audience</a:t>
            </a:r>
            <a:endParaRPr kumimoji="1" lang="zh-TW" altLang="en-US" sz="1400">
              <a:solidFill>
                <a:srgbClr val="1C1E20"/>
              </a:solidFill>
            </a:endParaRPr>
          </a:p>
        </p:txBody>
      </p:sp>
      <p:sp>
        <p:nvSpPr>
          <p:cNvPr id="7" name="文字方塊 6">
            <a:extLst>
              <a:ext uri="{FF2B5EF4-FFF2-40B4-BE49-F238E27FC236}">
                <a16:creationId xmlns:a16="http://schemas.microsoft.com/office/drawing/2014/main" id="{246DF3DE-CB4F-0908-B47C-482ADCBDCD55}"/>
              </a:ext>
            </a:extLst>
          </p:cNvPr>
          <p:cNvSpPr txBox="1"/>
          <p:nvPr/>
        </p:nvSpPr>
        <p:spPr>
          <a:xfrm>
            <a:off x="2757788" y="1346510"/>
            <a:ext cx="3432646" cy="261610"/>
          </a:xfrm>
          <a:prstGeom prst="rect">
            <a:avLst/>
          </a:prstGeom>
          <a:solidFill>
            <a:schemeClr val="bg1"/>
          </a:solidFill>
        </p:spPr>
        <p:txBody>
          <a:bodyPr wrap="square">
            <a:spAutoFit/>
          </a:bodyPr>
          <a:lstStyle/>
          <a:p>
            <a:pPr lvl="0">
              <a:defRPr/>
            </a:pPr>
            <a:r>
              <a:rPr kumimoji="1" lang="en" altLang="zh-TW" sz="1100">
                <a:solidFill>
                  <a:srgbClr val="4E4E4E"/>
                </a:solidFill>
              </a:rPr>
              <a:t>[</a:t>
            </a:r>
            <a:r>
              <a:rPr kumimoji="1" lang="zh-TW" altLang="en-US" sz="1100">
                <a:solidFill>
                  <a:srgbClr val="4E4E4E"/>
                </a:solidFill>
              </a:rPr>
              <a:t>產業 </a:t>
            </a:r>
            <a:r>
              <a:rPr kumimoji="1" lang="en" altLang="zh-TW" sz="1100">
                <a:solidFill>
                  <a:srgbClr val="4E4E4E"/>
                </a:solidFill>
              </a:rPr>
              <a:t>Shopper Graph</a:t>
            </a:r>
            <a:r>
              <a:rPr kumimoji="1" lang="en-US" altLang="zh-TW" sz="1100">
                <a:solidFill>
                  <a:srgbClr val="4E4E4E"/>
                </a:solidFill>
              </a:rPr>
              <a:t>] </a:t>
            </a:r>
            <a:r>
              <a:rPr kumimoji="1" lang="zh-TW" altLang="en-US" sz="1100">
                <a:solidFill>
                  <a:srgbClr val="4E4E4E"/>
                </a:solidFill>
              </a:rPr>
              <a:t>合利他命</a:t>
            </a:r>
            <a:r>
              <a:rPr kumimoji="1" lang="en" altLang="zh-TW" sz="1100">
                <a:solidFill>
                  <a:srgbClr val="4E4E4E"/>
                </a:solidFill>
              </a:rPr>
              <a:t>EXPLUS 9-10</a:t>
            </a:r>
            <a:r>
              <a:rPr kumimoji="1" lang="zh-TW" altLang="en-US" sz="1100">
                <a:solidFill>
                  <a:srgbClr val="4E4E4E"/>
                </a:solidFill>
              </a:rPr>
              <a:t>月</a:t>
            </a:r>
          </a:p>
        </p:txBody>
      </p:sp>
      <p:sp>
        <p:nvSpPr>
          <p:cNvPr id="8" name="文字方塊 7">
            <a:extLst>
              <a:ext uri="{FF2B5EF4-FFF2-40B4-BE49-F238E27FC236}">
                <a16:creationId xmlns:a16="http://schemas.microsoft.com/office/drawing/2014/main" id="{A8580771-5E5C-0C84-E849-56ACD5B5B4AC}"/>
              </a:ext>
            </a:extLst>
          </p:cNvPr>
          <p:cNvSpPr txBox="1"/>
          <p:nvPr/>
        </p:nvSpPr>
        <p:spPr>
          <a:xfrm>
            <a:off x="2764953" y="1555522"/>
            <a:ext cx="3432647" cy="215444"/>
          </a:xfrm>
          <a:prstGeom prst="rect">
            <a:avLst/>
          </a:prstGeom>
          <a:solidFill>
            <a:schemeClr val="bg1"/>
          </a:solidFill>
        </p:spPr>
        <p:txBody>
          <a:bodyPr wrap="square">
            <a:spAutoFit/>
          </a:bodyPr>
          <a:lstStyle/>
          <a:p>
            <a:pPr lvl="0">
              <a:defRPr/>
            </a:pPr>
            <a:r>
              <a:rPr kumimoji="1" lang="en" altLang="zh-TW" sz="800">
                <a:solidFill>
                  <a:schemeClr val="bg1">
                    <a:lumMod val="65000"/>
                  </a:schemeClr>
                </a:solidFill>
              </a:rPr>
              <a:t>Industry Shopper Graph</a:t>
            </a:r>
          </a:p>
        </p:txBody>
      </p:sp>
      <p:sp>
        <p:nvSpPr>
          <p:cNvPr id="9" name="文字方塊 8">
            <a:extLst>
              <a:ext uri="{FF2B5EF4-FFF2-40B4-BE49-F238E27FC236}">
                <a16:creationId xmlns:a16="http://schemas.microsoft.com/office/drawing/2014/main" id="{03D19A80-187D-EF5F-1ECC-EBF4C2EBDE77}"/>
              </a:ext>
            </a:extLst>
          </p:cNvPr>
          <p:cNvSpPr txBox="1"/>
          <p:nvPr/>
        </p:nvSpPr>
        <p:spPr>
          <a:xfrm>
            <a:off x="2764953" y="1878503"/>
            <a:ext cx="3432646" cy="261610"/>
          </a:xfrm>
          <a:prstGeom prst="rect">
            <a:avLst/>
          </a:prstGeom>
          <a:solidFill>
            <a:schemeClr val="bg1"/>
          </a:solidFill>
        </p:spPr>
        <p:txBody>
          <a:bodyPr wrap="square">
            <a:spAutoFit/>
          </a:bodyPr>
          <a:lstStyle/>
          <a:p>
            <a:pPr lvl="0">
              <a:defRPr/>
            </a:pPr>
            <a:r>
              <a:rPr kumimoji="1" lang="en" altLang="zh-TW" sz="1100">
                <a:solidFill>
                  <a:srgbClr val="4E4E4E"/>
                </a:solidFill>
              </a:rPr>
              <a:t>[Webb</a:t>
            </a:r>
            <a:r>
              <a:rPr kumimoji="1" lang="zh-TW" altLang="en-US" sz="1100">
                <a:solidFill>
                  <a:srgbClr val="4E4E4E"/>
                </a:solidFill>
              </a:rPr>
              <a:t>零售數據</a:t>
            </a:r>
            <a:r>
              <a:rPr kumimoji="1" lang="en-US" altLang="zh-TW" sz="1100">
                <a:solidFill>
                  <a:srgbClr val="4E4E4E"/>
                </a:solidFill>
              </a:rPr>
              <a:t>-</a:t>
            </a:r>
            <a:r>
              <a:rPr kumimoji="1" lang="zh-TW" altLang="en-US" sz="1100">
                <a:solidFill>
                  <a:srgbClr val="4E4E4E"/>
                </a:solidFill>
              </a:rPr>
              <a:t>購買</a:t>
            </a:r>
            <a:r>
              <a:rPr kumimoji="1" lang="en-US" altLang="zh-TW" sz="1100">
                <a:solidFill>
                  <a:srgbClr val="4E4E4E"/>
                </a:solidFill>
              </a:rPr>
              <a:t>] </a:t>
            </a:r>
            <a:r>
              <a:rPr kumimoji="1" lang="zh-TW" altLang="en-US" sz="1100">
                <a:solidFill>
                  <a:srgbClr val="4E4E4E"/>
                </a:solidFill>
              </a:rPr>
              <a:t>合利他命</a:t>
            </a:r>
            <a:r>
              <a:rPr kumimoji="1" lang="en" altLang="zh-TW" sz="1100">
                <a:solidFill>
                  <a:srgbClr val="4E4E4E"/>
                </a:solidFill>
              </a:rPr>
              <a:t>EXPLUS 10</a:t>
            </a:r>
            <a:r>
              <a:rPr kumimoji="1" lang="zh-TW" altLang="en-US" sz="1100">
                <a:solidFill>
                  <a:srgbClr val="4E4E4E"/>
                </a:solidFill>
              </a:rPr>
              <a:t>月</a:t>
            </a:r>
          </a:p>
        </p:txBody>
      </p:sp>
      <p:sp>
        <p:nvSpPr>
          <p:cNvPr id="10" name="文字方塊 9">
            <a:extLst>
              <a:ext uri="{FF2B5EF4-FFF2-40B4-BE49-F238E27FC236}">
                <a16:creationId xmlns:a16="http://schemas.microsoft.com/office/drawing/2014/main" id="{0BA49A80-B65E-12B8-08D7-8F4375B354C0}"/>
              </a:ext>
            </a:extLst>
          </p:cNvPr>
          <p:cNvSpPr txBox="1"/>
          <p:nvPr/>
        </p:nvSpPr>
        <p:spPr>
          <a:xfrm>
            <a:off x="2772118" y="2087515"/>
            <a:ext cx="3432647" cy="215444"/>
          </a:xfrm>
          <a:prstGeom prst="rect">
            <a:avLst/>
          </a:prstGeom>
          <a:solidFill>
            <a:schemeClr val="bg1"/>
          </a:solidFill>
        </p:spPr>
        <p:txBody>
          <a:bodyPr wrap="square">
            <a:spAutoFit/>
          </a:bodyPr>
          <a:lstStyle/>
          <a:p>
            <a:pPr fontAlgn="base"/>
            <a:r>
              <a:rPr kumimoji="1" lang="en" altLang="zh-TW" sz="800">
                <a:solidFill>
                  <a:schemeClr val="bg1">
                    <a:lumMod val="65000"/>
                  </a:schemeClr>
                </a:solidFill>
              </a:rPr>
              <a:t>Webb Retail Data (Purchase)</a:t>
            </a:r>
          </a:p>
        </p:txBody>
      </p:sp>
      <p:sp>
        <p:nvSpPr>
          <p:cNvPr id="11" name="文字方塊 10">
            <a:extLst>
              <a:ext uri="{FF2B5EF4-FFF2-40B4-BE49-F238E27FC236}">
                <a16:creationId xmlns:a16="http://schemas.microsoft.com/office/drawing/2014/main" id="{D1538120-5578-86BB-D026-9F48ED71BB6F}"/>
              </a:ext>
            </a:extLst>
          </p:cNvPr>
          <p:cNvSpPr txBox="1"/>
          <p:nvPr/>
        </p:nvSpPr>
        <p:spPr>
          <a:xfrm>
            <a:off x="2757787" y="2405106"/>
            <a:ext cx="3432646" cy="261610"/>
          </a:xfrm>
          <a:prstGeom prst="rect">
            <a:avLst/>
          </a:prstGeom>
          <a:solidFill>
            <a:schemeClr val="bg1"/>
          </a:solidFill>
        </p:spPr>
        <p:txBody>
          <a:bodyPr wrap="square">
            <a:spAutoFit/>
          </a:bodyPr>
          <a:lstStyle/>
          <a:p>
            <a:pPr lvl="0">
              <a:defRPr/>
            </a:pPr>
            <a:r>
              <a:rPr kumimoji="1" lang="en" altLang="zh-TW" sz="1100">
                <a:solidFill>
                  <a:srgbClr val="4E4E4E"/>
                </a:solidFill>
              </a:rPr>
              <a:t>[</a:t>
            </a:r>
            <a:r>
              <a:rPr kumimoji="1" lang="zh-TW" altLang="en-US" sz="1100">
                <a:solidFill>
                  <a:srgbClr val="4E4E4E"/>
                </a:solidFill>
              </a:rPr>
              <a:t>產業 </a:t>
            </a:r>
            <a:r>
              <a:rPr kumimoji="1" lang="en" altLang="zh-TW" sz="1100">
                <a:solidFill>
                  <a:srgbClr val="4E4E4E"/>
                </a:solidFill>
              </a:rPr>
              <a:t>Shopper Graph</a:t>
            </a:r>
            <a:r>
              <a:rPr kumimoji="1" lang="en-US" altLang="zh-TW" sz="1100">
                <a:solidFill>
                  <a:srgbClr val="4E4E4E"/>
                </a:solidFill>
              </a:rPr>
              <a:t>] </a:t>
            </a:r>
            <a:r>
              <a:rPr kumimoji="1" lang="zh-TW" altLang="en-US" sz="1100">
                <a:solidFill>
                  <a:srgbClr val="4E4E4E"/>
                </a:solidFill>
              </a:rPr>
              <a:t>合利他命</a:t>
            </a:r>
            <a:r>
              <a:rPr kumimoji="1" lang="en" altLang="zh-TW" sz="1100">
                <a:solidFill>
                  <a:srgbClr val="4E4E4E"/>
                </a:solidFill>
              </a:rPr>
              <a:t>EXPLUS 9-10</a:t>
            </a:r>
            <a:r>
              <a:rPr kumimoji="1" lang="zh-TW" altLang="en-US" sz="1100">
                <a:solidFill>
                  <a:srgbClr val="4E4E4E"/>
                </a:solidFill>
              </a:rPr>
              <a:t>月</a:t>
            </a:r>
          </a:p>
        </p:txBody>
      </p:sp>
      <p:sp>
        <p:nvSpPr>
          <p:cNvPr id="12" name="文字方塊 11">
            <a:extLst>
              <a:ext uri="{FF2B5EF4-FFF2-40B4-BE49-F238E27FC236}">
                <a16:creationId xmlns:a16="http://schemas.microsoft.com/office/drawing/2014/main" id="{AB06A376-4540-858B-BC3A-53AC90053F0E}"/>
              </a:ext>
            </a:extLst>
          </p:cNvPr>
          <p:cNvSpPr txBox="1"/>
          <p:nvPr/>
        </p:nvSpPr>
        <p:spPr>
          <a:xfrm>
            <a:off x="2764952" y="2614118"/>
            <a:ext cx="3432647" cy="215444"/>
          </a:xfrm>
          <a:prstGeom prst="rect">
            <a:avLst/>
          </a:prstGeom>
          <a:solidFill>
            <a:schemeClr val="bg1"/>
          </a:solidFill>
        </p:spPr>
        <p:txBody>
          <a:bodyPr wrap="square">
            <a:spAutoFit/>
          </a:bodyPr>
          <a:lstStyle/>
          <a:p>
            <a:pPr lvl="0">
              <a:defRPr/>
            </a:pPr>
            <a:r>
              <a:rPr kumimoji="1" lang="en" altLang="zh-TW" sz="800">
                <a:solidFill>
                  <a:schemeClr val="bg1">
                    <a:lumMod val="65000"/>
                  </a:schemeClr>
                </a:solidFill>
              </a:rPr>
              <a:t>Industry Shopper Graph</a:t>
            </a:r>
          </a:p>
        </p:txBody>
      </p:sp>
      <p:sp>
        <p:nvSpPr>
          <p:cNvPr id="13" name="文字方塊 12">
            <a:extLst>
              <a:ext uri="{FF2B5EF4-FFF2-40B4-BE49-F238E27FC236}">
                <a16:creationId xmlns:a16="http://schemas.microsoft.com/office/drawing/2014/main" id="{83C8E3D2-64AD-911A-6BFB-533C7DE46102}"/>
              </a:ext>
            </a:extLst>
          </p:cNvPr>
          <p:cNvSpPr txBox="1"/>
          <p:nvPr/>
        </p:nvSpPr>
        <p:spPr>
          <a:xfrm>
            <a:off x="2772118" y="2921022"/>
            <a:ext cx="3432646" cy="261610"/>
          </a:xfrm>
          <a:prstGeom prst="rect">
            <a:avLst/>
          </a:prstGeom>
          <a:solidFill>
            <a:schemeClr val="bg1"/>
          </a:solid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zh-TW" sz="1100" kern="1200">
                <a:solidFill>
                  <a:srgbClr val="1C1E20"/>
                </a:solidFill>
                <a:latin typeface="+mn-lt"/>
                <a:ea typeface="+mn-ea"/>
                <a:cs typeface="+mn-cs"/>
              </a:rPr>
              <a:t>[</a:t>
            </a:r>
            <a:r>
              <a:rPr kumimoji="1" lang="zh-TW" altLang="en-US" sz="1100" kern="1200">
                <a:solidFill>
                  <a:srgbClr val="1C1E20"/>
                </a:solidFill>
                <a:latin typeface="+mn-lt"/>
                <a:ea typeface="+mn-ea"/>
                <a:cs typeface="+mn-cs"/>
              </a:rPr>
              <a:t>關鍵字</a:t>
            </a:r>
            <a:r>
              <a:rPr kumimoji="1" lang="en-US" altLang="zh-TW" sz="1100" kern="1200">
                <a:solidFill>
                  <a:srgbClr val="1C1E20"/>
                </a:solidFill>
                <a:latin typeface="+mn-lt"/>
                <a:ea typeface="+mn-ea"/>
                <a:cs typeface="+mn-cs"/>
              </a:rPr>
              <a:t>] </a:t>
            </a:r>
            <a:r>
              <a:rPr kumimoji="1" lang="zh-TW" altLang="en-US" sz="1100" kern="1200">
                <a:solidFill>
                  <a:srgbClr val="1C1E20"/>
                </a:solidFill>
                <a:latin typeface="+mn-lt"/>
                <a:ea typeface="+mn-ea"/>
                <a:cs typeface="+mn-cs"/>
              </a:rPr>
              <a:t>合利他命</a:t>
            </a:r>
            <a:r>
              <a:rPr kumimoji="1" lang="en" altLang="zh-TW" sz="1100" kern="1200">
                <a:solidFill>
                  <a:srgbClr val="1C1E20"/>
                </a:solidFill>
                <a:latin typeface="+mn-lt"/>
                <a:ea typeface="+mn-ea"/>
                <a:cs typeface="+mn-cs"/>
              </a:rPr>
              <a:t>EXPLUS 10</a:t>
            </a:r>
            <a:r>
              <a:rPr kumimoji="1" lang="zh-TW" altLang="en-US" sz="1100" kern="1200">
                <a:solidFill>
                  <a:srgbClr val="1C1E20"/>
                </a:solidFill>
                <a:latin typeface="+mn-lt"/>
                <a:ea typeface="+mn-ea"/>
                <a:cs typeface="+mn-cs"/>
              </a:rPr>
              <a:t>月</a:t>
            </a:r>
          </a:p>
        </p:txBody>
      </p:sp>
      <p:sp>
        <p:nvSpPr>
          <p:cNvPr id="14" name="文字方塊 13">
            <a:extLst>
              <a:ext uri="{FF2B5EF4-FFF2-40B4-BE49-F238E27FC236}">
                <a16:creationId xmlns:a16="http://schemas.microsoft.com/office/drawing/2014/main" id="{D10E282A-9748-385B-F545-B61FC2B29C44}"/>
              </a:ext>
            </a:extLst>
          </p:cNvPr>
          <p:cNvSpPr txBox="1"/>
          <p:nvPr/>
        </p:nvSpPr>
        <p:spPr>
          <a:xfrm>
            <a:off x="2779283" y="3130034"/>
            <a:ext cx="3432647" cy="215444"/>
          </a:xfrm>
          <a:prstGeom prst="rect">
            <a:avLst/>
          </a:prstGeom>
          <a:solidFill>
            <a:schemeClr val="bg1"/>
          </a:solidFill>
        </p:spPr>
        <p:txBody>
          <a:bodyPr wrap="square">
            <a:spAutoFit/>
          </a:bodyPr>
          <a:lstStyle/>
          <a:p>
            <a:pPr lvl="0">
              <a:defRPr/>
            </a:pPr>
            <a:r>
              <a:rPr kumimoji="1" lang="en" altLang="zh-TW" sz="800">
                <a:solidFill>
                  <a:schemeClr val="bg1">
                    <a:lumMod val="65000"/>
                  </a:schemeClr>
                </a:solidFill>
              </a:rPr>
              <a:t>Brand Keyword AI Exploration</a:t>
            </a:r>
          </a:p>
        </p:txBody>
      </p:sp>
      <p:sp>
        <p:nvSpPr>
          <p:cNvPr id="15" name="文字方塊 14">
            <a:extLst>
              <a:ext uri="{FF2B5EF4-FFF2-40B4-BE49-F238E27FC236}">
                <a16:creationId xmlns:a16="http://schemas.microsoft.com/office/drawing/2014/main" id="{1C3FFFA4-6DB1-B4D6-7F66-F7CA8FFDB15F}"/>
              </a:ext>
            </a:extLst>
          </p:cNvPr>
          <p:cNvSpPr txBox="1"/>
          <p:nvPr/>
        </p:nvSpPr>
        <p:spPr>
          <a:xfrm>
            <a:off x="2779283" y="3439370"/>
            <a:ext cx="3432646" cy="261610"/>
          </a:xfrm>
          <a:prstGeom prst="rect">
            <a:avLst/>
          </a:prstGeom>
          <a:solidFill>
            <a:schemeClr val="bg1"/>
          </a:solid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zh-TW" sz="1100" kern="1200">
                <a:solidFill>
                  <a:srgbClr val="1C1E20"/>
                </a:solidFill>
                <a:latin typeface="+mn-lt"/>
                <a:ea typeface="+mn-ea"/>
                <a:cs typeface="+mn-cs"/>
              </a:rPr>
              <a:t>[</a:t>
            </a:r>
            <a:r>
              <a:rPr kumimoji="1" lang="zh-TW" altLang="en-US" sz="1100" kern="1200">
                <a:solidFill>
                  <a:srgbClr val="1C1E20"/>
                </a:solidFill>
                <a:latin typeface="+mn-lt"/>
                <a:ea typeface="+mn-ea"/>
                <a:cs typeface="+mn-cs"/>
              </a:rPr>
              <a:t>關鍵字</a:t>
            </a:r>
            <a:r>
              <a:rPr kumimoji="1" lang="en-US" altLang="zh-TW" sz="1100" kern="1200">
                <a:solidFill>
                  <a:srgbClr val="1C1E20"/>
                </a:solidFill>
                <a:latin typeface="+mn-lt"/>
                <a:ea typeface="+mn-ea"/>
                <a:cs typeface="+mn-cs"/>
              </a:rPr>
              <a:t>] </a:t>
            </a:r>
            <a:r>
              <a:rPr kumimoji="1" lang="zh-TW" altLang="en-US" sz="1100" kern="1200">
                <a:solidFill>
                  <a:srgbClr val="1C1E20"/>
                </a:solidFill>
                <a:latin typeface="+mn-lt"/>
                <a:ea typeface="+mn-ea"/>
                <a:cs typeface="+mn-cs"/>
              </a:rPr>
              <a:t>合利他命</a:t>
            </a:r>
            <a:r>
              <a:rPr kumimoji="1" lang="en" altLang="zh-TW" sz="1100" kern="1200">
                <a:solidFill>
                  <a:srgbClr val="1C1E20"/>
                </a:solidFill>
                <a:latin typeface="+mn-lt"/>
                <a:ea typeface="+mn-ea"/>
                <a:cs typeface="+mn-cs"/>
              </a:rPr>
              <a:t>EXPLUS 10</a:t>
            </a:r>
            <a:r>
              <a:rPr kumimoji="1" lang="zh-TW" altLang="en-US" sz="1100" kern="1200">
                <a:solidFill>
                  <a:srgbClr val="1C1E20"/>
                </a:solidFill>
                <a:latin typeface="+mn-lt"/>
                <a:ea typeface="+mn-ea"/>
                <a:cs typeface="+mn-cs"/>
              </a:rPr>
              <a:t>月</a:t>
            </a:r>
          </a:p>
        </p:txBody>
      </p:sp>
      <p:sp>
        <p:nvSpPr>
          <p:cNvPr id="16" name="文字方塊 15">
            <a:extLst>
              <a:ext uri="{FF2B5EF4-FFF2-40B4-BE49-F238E27FC236}">
                <a16:creationId xmlns:a16="http://schemas.microsoft.com/office/drawing/2014/main" id="{F2A72EF3-FBEB-B310-AC7C-6F692A64F365}"/>
              </a:ext>
            </a:extLst>
          </p:cNvPr>
          <p:cNvSpPr txBox="1"/>
          <p:nvPr/>
        </p:nvSpPr>
        <p:spPr>
          <a:xfrm>
            <a:off x="2786448" y="3648382"/>
            <a:ext cx="3432647" cy="215444"/>
          </a:xfrm>
          <a:prstGeom prst="rect">
            <a:avLst/>
          </a:prstGeom>
          <a:solidFill>
            <a:schemeClr val="bg1"/>
          </a:solidFill>
        </p:spPr>
        <p:txBody>
          <a:bodyPr wrap="square">
            <a:spAutoFit/>
          </a:bodyPr>
          <a:lstStyle/>
          <a:p>
            <a:pPr lvl="0">
              <a:defRPr/>
            </a:pPr>
            <a:r>
              <a:rPr kumimoji="1" lang="en" altLang="zh-TW" sz="800">
                <a:solidFill>
                  <a:schemeClr val="bg1">
                    <a:lumMod val="65000"/>
                  </a:schemeClr>
                </a:solidFill>
              </a:rPr>
              <a:t>Brand Keyword AI Exploration</a:t>
            </a:r>
          </a:p>
        </p:txBody>
      </p:sp>
      <p:sp>
        <p:nvSpPr>
          <p:cNvPr id="18" name="矩形 17">
            <a:extLst>
              <a:ext uri="{FF2B5EF4-FFF2-40B4-BE49-F238E27FC236}">
                <a16:creationId xmlns:a16="http://schemas.microsoft.com/office/drawing/2014/main" id="{C8F2E936-8E63-BB83-4D9D-F65FBB3428C4}"/>
              </a:ext>
            </a:extLst>
          </p:cNvPr>
          <p:cNvSpPr/>
          <p:nvPr/>
        </p:nvSpPr>
        <p:spPr>
          <a:xfrm>
            <a:off x="6204764" y="1304175"/>
            <a:ext cx="68601" cy="620494"/>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pic>
        <p:nvPicPr>
          <p:cNvPr id="25" name="圖片 24" descr="一張含有 文字, 字型, 螢幕擷取畫面 的圖片&#10;&#10;AI 產生的內容可能不正確。">
            <a:extLst>
              <a:ext uri="{FF2B5EF4-FFF2-40B4-BE49-F238E27FC236}">
                <a16:creationId xmlns:a16="http://schemas.microsoft.com/office/drawing/2014/main" id="{EA74BE50-9C14-464D-05B6-A79162FDBE25}"/>
              </a:ext>
            </a:extLst>
          </p:cNvPr>
          <p:cNvPicPr>
            <a:picLocks noChangeAspect="1"/>
          </p:cNvPicPr>
          <p:nvPr/>
        </p:nvPicPr>
        <p:blipFill>
          <a:blip r:embed="rId3"/>
          <a:stretch>
            <a:fillRect/>
          </a:stretch>
        </p:blipFill>
        <p:spPr>
          <a:xfrm>
            <a:off x="6312660" y="981404"/>
            <a:ext cx="3728570" cy="1384897"/>
          </a:xfrm>
          <a:prstGeom prst="rect">
            <a:avLst/>
          </a:prstGeom>
        </p:spPr>
      </p:pic>
      <p:sp>
        <p:nvSpPr>
          <p:cNvPr id="26" name="矩形 25">
            <a:extLst>
              <a:ext uri="{FF2B5EF4-FFF2-40B4-BE49-F238E27FC236}">
                <a16:creationId xmlns:a16="http://schemas.microsoft.com/office/drawing/2014/main" id="{383C0B03-7512-8C80-FE19-4897364A5B9A}"/>
              </a:ext>
            </a:extLst>
          </p:cNvPr>
          <p:cNvSpPr/>
          <p:nvPr/>
        </p:nvSpPr>
        <p:spPr>
          <a:xfrm>
            <a:off x="6312660" y="2354116"/>
            <a:ext cx="3744000" cy="352248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27" name="文字方塊 26">
            <a:extLst>
              <a:ext uri="{FF2B5EF4-FFF2-40B4-BE49-F238E27FC236}">
                <a16:creationId xmlns:a16="http://schemas.microsoft.com/office/drawing/2014/main" id="{C69D962D-6FEB-5356-76DA-2DD316F9504D}"/>
              </a:ext>
            </a:extLst>
          </p:cNvPr>
          <p:cNvSpPr txBox="1"/>
          <p:nvPr/>
        </p:nvSpPr>
        <p:spPr>
          <a:xfrm>
            <a:off x="6549947" y="1352358"/>
            <a:ext cx="3432646" cy="261610"/>
          </a:xfrm>
          <a:prstGeom prst="rect">
            <a:avLst/>
          </a:prstGeom>
          <a:solidFill>
            <a:schemeClr val="bg1"/>
          </a:solidFill>
        </p:spPr>
        <p:txBody>
          <a:bodyPr wrap="square">
            <a:spAutoFit/>
          </a:bodyPr>
          <a:lstStyle/>
          <a:p>
            <a:pPr lvl="0">
              <a:defRPr/>
            </a:pPr>
            <a:r>
              <a:rPr kumimoji="1" lang="en-US" altLang="zh-TW" sz="1100">
                <a:solidFill>
                  <a:srgbClr val="2993FF"/>
                </a:solidFill>
              </a:rPr>
              <a:t>[</a:t>
            </a:r>
            <a:r>
              <a:rPr kumimoji="1" lang="zh-TW" altLang="en-US" sz="1100">
                <a:solidFill>
                  <a:srgbClr val="2993FF"/>
                </a:solidFill>
              </a:rPr>
              <a:t>線下</a:t>
            </a:r>
            <a:r>
              <a:rPr kumimoji="1" lang="en" altLang="zh-TW" sz="1100">
                <a:solidFill>
                  <a:srgbClr val="2993FF"/>
                </a:solidFill>
              </a:rPr>
              <a:t>POI] </a:t>
            </a:r>
            <a:r>
              <a:rPr kumimoji="1" lang="zh-TW" altLang="en-US" sz="1100">
                <a:solidFill>
                  <a:srgbClr val="2993FF"/>
                </a:solidFill>
              </a:rPr>
              <a:t>合利他命</a:t>
            </a:r>
            <a:r>
              <a:rPr kumimoji="1" lang="en" altLang="zh-TW" sz="1100">
                <a:solidFill>
                  <a:srgbClr val="2993FF"/>
                </a:solidFill>
              </a:rPr>
              <a:t>EXPLUS 10</a:t>
            </a:r>
            <a:r>
              <a:rPr kumimoji="1" lang="zh-TW" altLang="en-US" sz="1100">
                <a:solidFill>
                  <a:srgbClr val="2993FF"/>
                </a:solidFill>
              </a:rPr>
              <a:t>月</a:t>
            </a:r>
          </a:p>
        </p:txBody>
      </p:sp>
      <p:sp>
        <p:nvSpPr>
          <p:cNvPr id="30" name="文字方塊 29">
            <a:extLst>
              <a:ext uri="{FF2B5EF4-FFF2-40B4-BE49-F238E27FC236}">
                <a16:creationId xmlns:a16="http://schemas.microsoft.com/office/drawing/2014/main" id="{303CB68B-7D64-3ED2-1774-D67B71FFEDE1}"/>
              </a:ext>
            </a:extLst>
          </p:cNvPr>
          <p:cNvSpPr txBox="1"/>
          <p:nvPr/>
        </p:nvSpPr>
        <p:spPr>
          <a:xfrm>
            <a:off x="6549946" y="1555522"/>
            <a:ext cx="3432647" cy="215444"/>
          </a:xfrm>
          <a:prstGeom prst="rect">
            <a:avLst/>
          </a:prstGeom>
          <a:solidFill>
            <a:schemeClr val="bg1"/>
          </a:solidFill>
        </p:spPr>
        <p:txBody>
          <a:bodyPr wrap="square">
            <a:spAutoFit/>
          </a:bodyPr>
          <a:lstStyle/>
          <a:p>
            <a:pPr lvl="0">
              <a:defRPr/>
            </a:pPr>
            <a:r>
              <a:rPr kumimoji="1" lang="en" altLang="zh-TW" sz="800">
                <a:solidFill>
                  <a:schemeClr val="bg1">
                    <a:lumMod val="65000"/>
                  </a:schemeClr>
                </a:solidFill>
              </a:rPr>
              <a:t>Offline Point of Interest (POI)</a:t>
            </a:r>
          </a:p>
        </p:txBody>
      </p:sp>
      <p:pic>
        <p:nvPicPr>
          <p:cNvPr id="31" name="圖片 30">
            <a:extLst>
              <a:ext uri="{FF2B5EF4-FFF2-40B4-BE49-F238E27FC236}">
                <a16:creationId xmlns:a16="http://schemas.microsoft.com/office/drawing/2014/main" id="{07900FE8-E5A9-5395-C911-448DFBD9F68E}"/>
              </a:ext>
            </a:extLst>
          </p:cNvPr>
          <p:cNvPicPr>
            <a:picLocks noChangeAspect="1"/>
          </p:cNvPicPr>
          <p:nvPr/>
        </p:nvPicPr>
        <p:blipFill>
          <a:blip r:embed="rId4"/>
          <a:stretch>
            <a:fillRect/>
          </a:stretch>
        </p:blipFill>
        <p:spPr>
          <a:xfrm>
            <a:off x="7922554" y="1574437"/>
            <a:ext cx="184348" cy="184348"/>
          </a:xfrm>
          <a:prstGeom prst="rect">
            <a:avLst/>
          </a:prstGeom>
        </p:spPr>
      </p:pic>
      <p:sp>
        <p:nvSpPr>
          <p:cNvPr id="33" name="文字方塊 32">
            <a:extLst>
              <a:ext uri="{FF2B5EF4-FFF2-40B4-BE49-F238E27FC236}">
                <a16:creationId xmlns:a16="http://schemas.microsoft.com/office/drawing/2014/main" id="{18CC8D46-A93F-A108-342A-42683A84603B}"/>
              </a:ext>
            </a:extLst>
          </p:cNvPr>
          <p:cNvSpPr txBox="1"/>
          <p:nvPr/>
        </p:nvSpPr>
        <p:spPr>
          <a:xfrm>
            <a:off x="6542781" y="1878503"/>
            <a:ext cx="3432646" cy="261610"/>
          </a:xfrm>
          <a:prstGeom prst="rect">
            <a:avLst/>
          </a:prstGeom>
          <a:solidFill>
            <a:schemeClr val="bg1"/>
          </a:solidFill>
        </p:spPr>
        <p:txBody>
          <a:bodyPr wrap="square">
            <a:spAutoFit/>
          </a:bodyPr>
          <a:lstStyle/>
          <a:p>
            <a:pPr lvl="0">
              <a:defRPr/>
            </a:pPr>
            <a:r>
              <a:rPr kumimoji="1" lang="en" altLang="zh-TW" sz="1100" dirty="0">
                <a:solidFill>
                  <a:srgbClr val="2993FF"/>
                </a:solidFill>
              </a:rPr>
              <a:t>[Webb</a:t>
            </a:r>
            <a:r>
              <a:rPr kumimoji="1" lang="zh-TW" altLang="en-US" sz="1100" dirty="0">
                <a:solidFill>
                  <a:srgbClr val="2993FF"/>
                </a:solidFill>
              </a:rPr>
              <a:t>零售數據</a:t>
            </a:r>
            <a:r>
              <a:rPr kumimoji="1" lang="en-US" altLang="zh-TW" sz="1100" dirty="0">
                <a:solidFill>
                  <a:srgbClr val="2993FF"/>
                </a:solidFill>
              </a:rPr>
              <a:t>-</a:t>
            </a:r>
            <a:r>
              <a:rPr kumimoji="1" lang="zh-TW" altLang="en-US" sz="1100" dirty="0">
                <a:solidFill>
                  <a:srgbClr val="2993FF"/>
                </a:solidFill>
              </a:rPr>
              <a:t>購買</a:t>
            </a:r>
            <a:r>
              <a:rPr kumimoji="1" lang="en-US" altLang="zh-TW" sz="1100" dirty="0">
                <a:solidFill>
                  <a:srgbClr val="2993FF"/>
                </a:solidFill>
              </a:rPr>
              <a:t>] </a:t>
            </a:r>
            <a:r>
              <a:rPr kumimoji="1" lang="zh-TW" altLang="en-US" sz="1100" dirty="0">
                <a:solidFill>
                  <a:srgbClr val="2993FF"/>
                </a:solidFill>
              </a:rPr>
              <a:t>合利他命</a:t>
            </a:r>
            <a:r>
              <a:rPr kumimoji="1" lang="en" altLang="zh-TW" sz="1100" dirty="0">
                <a:solidFill>
                  <a:srgbClr val="2993FF"/>
                </a:solidFill>
              </a:rPr>
              <a:t>EXPLUS 10</a:t>
            </a:r>
            <a:r>
              <a:rPr kumimoji="1" lang="zh-TW" altLang="en-US" sz="1100" dirty="0">
                <a:solidFill>
                  <a:srgbClr val="2993FF"/>
                </a:solidFill>
              </a:rPr>
              <a:t>月</a:t>
            </a:r>
          </a:p>
        </p:txBody>
      </p:sp>
      <p:sp>
        <p:nvSpPr>
          <p:cNvPr id="34" name="文字方塊 33">
            <a:extLst>
              <a:ext uri="{FF2B5EF4-FFF2-40B4-BE49-F238E27FC236}">
                <a16:creationId xmlns:a16="http://schemas.microsoft.com/office/drawing/2014/main" id="{6473042B-DF71-FE4E-B136-5795A0F9CB1A}"/>
              </a:ext>
            </a:extLst>
          </p:cNvPr>
          <p:cNvSpPr txBox="1"/>
          <p:nvPr/>
        </p:nvSpPr>
        <p:spPr>
          <a:xfrm>
            <a:off x="6549946" y="2087515"/>
            <a:ext cx="3432647" cy="215444"/>
          </a:xfrm>
          <a:prstGeom prst="rect">
            <a:avLst/>
          </a:prstGeom>
          <a:solidFill>
            <a:schemeClr val="bg1"/>
          </a:solidFill>
        </p:spPr>
        <p:txBody>
          <a:bodyPr wrap="square">
            <a:spAutoFit/>
          </a:bodyPr>
          <a:lstStyle/>
          <a:p>
            <a:pPr fontAlgn="base"/>
            <a:r>
              <a:rPr kumimoji="1" lang="en" altLang="zh-TW" sz="800">
                <a:solidFill>
                  <a:schemeClr val="bg1">
                    <a:lumMod val="65000"/>
                  </a:schemeClr>
                </a:solidFill>
              </a:rPr>
              <a:t>Webb Retail Data (Purchase)</a:t>
            </a:r>
          </a:p>
        </p:txBody>
      </p:sp>
      <p:sp>
        <p:nvSpPr>
          <p:cNvPr id="17" name="矩形 16">
            <a:extLst>
              <a:ext uri="{FF2B5EF4-FFF2-40B4-BE49-F238E27FC236}">
                <a16:creationId xmlns:a16="http://schemas.microsoft.com/office/drawing/2014/main" id="{A358F26A-DCF8-FE93-C0F8-C901ADFEC0D9}"/>
              </a:ext>
            </a:extLst>
          </p:cNvPr>
          <p:cNvSpPr/>
          <p:nvPr/>
        </p:nvSpPr>
        <p:spPr>
          <a:xfrm>
            <a:off x="2529365" y="1817132"/>
            <a:ext cx="3744000" cy="4078016"/>
          </a:xfrm>
          <a:prstGeom prst="rect">
            <a:avLst/>
          </a:prstGeom>
          <a:solidFill>
            <a:srgbClr val="F5F8F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2" name="矩形 1">
            <a:extLst>
              <a:ext uri="{FF2B5EF4-FFF2-40B4-BE49-F238E27FC236}">
                <a16:creationId xmlns:a16="http://schemas.microsoft.com/office/drawing/2014/main" id="{C3736083-43DA-2F27-5B23-96A48585995E}"/>
              </a:ext>
            </a:extLst>
          </p:cNvPr>
          <p:cNvSpPr/>
          <p:nvPr/>
        </p:nvSpPr>
        <p:spPr>
          <a:xfrm>
            <a:off x="6280529" y="958370"/>
            <a:ext cx="3829301" cy="1655748"/>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3" name="文字方塊 2">
            <a:extLst>
              <a:ext uri="{FF2B5EF4-FFF2-40B4-BE49-F238E27FC236}">
                <a16:creationId xmlns:a16="http://schemas.microsoft.com/office/drawing/2014/main" id="{09755BC0-6D76-CB95-957B-B81B9640C358}"/>
              </a:ext>
            </a:extLst>
          </p:cNvPr>
          <p:cNvSpPr txBox="1"/>
          <p:nvPr/>
        </p:nvSpPr>
        <p:spPr>
          <a:xfrm>
            <a:off x="6254499" y="2812380"/>
            <a:ext cx="5835799" cy="2031325"/>
          </a:xfrm>
          <a:prstGeom prst="rect">
            <a:avLst/>
          </a:prstGeom>
          <a:noFill/>
        </p:spPr>
        <p:txBody>
          <a:bodyPr wrap="square" rtlCol="0">
            <a:spAutoFit/>
          </a:bodyPr>
          <a:lstStyle/>
          <a:p>
            <a:r>
              <a:rPr kumimoji="1" lang="zh-TW" altLang="en-US" dirty="0">
                <a:solidFill>
                  <a:srgbClr val="FF0000"/>
                </a:solidFill>
              </a:rPr>
              <a:t>右側被選擇的項目</a:t>
            </a:r>
            <a:r>
              <a:rPr kumimoji="1" lang="en-US" altLang="zh-TW" dirty="0">
                <a:solidFill>
                  <a:srgbClr val="FF0000"/>
                </a:solidFill>
              </a:rPr>
              <a:t>:</a:t>
            </a:r>
          </a:p>
          <a:p>
            <a:r>
              <a:rPr kumimoji="1" lang="en-US" altLang="zh-TW" dirty="0">
                <a:solidFill>
                  <a:srgbClr val="FF0000"/>
                </a:solidFill>
              </a:rPr>
              <a:t>-Sort by “ID” </a:t>
            </a:r>
            <a:r>
              <a:rPr kumimoji="1" lang="zh-TW" altLang="en-US" dirty="0">
                <a:solidFill>
                  <a:srgbClr val="FF0000"/>
                </a:solidFill>
              </a:rPr>
              <a:t>遞減</a:t>
            </a:r>
            <a:r>
              <a:rPr kumimoji="1" lang="en-US" altLang="zh-TW" dirty="0">
                <a:solidFill>
                  <a:srgbClr val="FF0000"/>
                </a:solidFill>
              </a:rPr>
              <a:t>(</a:t>
            </a:r>
            <a:r>
              <a:rPr kumimoji="1" lang="zh-TW" altLang="en-US" dirty="0">
                <a:solidFill>
                  <a:srgbClr val="FF0000"/>
                </a:solidFill>
              </a:rPr>
              <a:t>隱含</a:t>
            </a:r>
            <a:r>
              <a:rPr kumimoji="1" lang="en-US" altLang="zh-TW" dirty="0">
                <a:solidFill>
                  <a:srgbClr val="FF0000"/>
                </a:solidFill>
              </a:rPr>
              <a:t>Created Date</a:t>
            </a:r>
            <a:r>
              <a:rPr kumimoji="1" lang="zh-TW" altLang="en-US" dirty="0">
                <a:solidFill>
                  <a:srgbClr val="FF0000"/>
                </a:solidFill>
              </a:rPr>
              <a:t>排序</a:t>
            </a:r>
            <a:r>
              <a:rPr kumimoji="1" lang="en-US" altLang="zh-TW" dirty="0">
                <a:solidFill>
                  <a:srgbClr val="FF0000"/>
                </a:solidFill>
              </a:rPr>
              <a:t>)-</a:t>
            </a:r>
            <a:r>
              <a:rPr kumimoji="1" lang="zh-TW" altLang="en-US" dirty="0">
                <a:solidFill>
                  <a:srgbClr val="FF0000"/>
                </a:solidFill>
              </a:rPr>
              <a:t>目前其他類型受眾在右側被選項目的排序邏輯也跟左側一樣</a:t>
            </a:r>
            <a:endParaRPr kumimoji="1" lang="en-US" altLang="zh-TW" dirty="0">
              <a:solidFill>
                <a:srgbClr val="FF0000"/>
              </a:solidFill>
            </a:endParaRPr>
          </a:p>
          <a:p>
            <a:r>
              <a:rPr kumimoji="1" lang="en-US" altLang="zh-TW" dirty="0">
                <a:solidFill>
                  <a:srgbClr val="FF0000"/>
                </a:solidFill>
              </a:rPr>
              <a:t>-</a:t>
            </a:r>
            <a:r>
              <a:rPr kumimoji="1" lang="zh-TW" altLang="en-US" dirty="0">
                <a:solidFill>
                  <a:srgbClr val="FF0000"/>
                </a:solidFill>
              </a:rPr>
              <a:t>由於當下可被選擇即是</a:t>
            </a:r>
            <a:r>
              <a:rPr kumimoji="1" lang="en-US" altLang="zh-TW" dirty="0">
                <a:solidFill>
                  <a:srgbClr val="FF0000"/>
                </a:solidFill>
              </a:rPr>
              <a:t>Status=Completed, </a:t>
            </a:r>
            <a:r>
              <a:rPr kumimoji="1" lang="zh-TW" altLang="en-US" dirty="0">
                <a:solidFill>
                  <a:srgbClr val="FF0000"/>
                </a:solidFill>
              </a:rPr>
              <a:t>所以這裡不做</a:t>
            </a:r>
            <a:r>
              <a:rPr kumimoji="1" lang="en-US" altLang="zh-TW" dirty="0">
                <a:solidFill>
                  <a:srgbClr val="FF0000"/>
                </a:solidFill>
              </a:rPr>
              <a:t>status filter (</a:t>
            </a:r>
            <a:r>
              <a:rPr kumimoji="1" lang="zh-TW" altLang="en-US" dirty="0">
                <a:solidFill>
                  <a:srgbClr val="FF0000"/>
                </a:solidFill>
              </a:rPr>
              <a:t>因應後續</a:t>
            </a:r>
            <a:r>
              <a:rPr kumimoji="1" lang="en-US" altLang="zh-TW" dirty="0">
                <a:solidFill>
                  <a:srgbClr val="FF0000"/>
                </a:solidFill>
              </a:rPr>
              <a:t>audience</a:t>
            </a:r>
            <a:r>
              <a:rPr kumimoji="1" lang="zh-TW" altLang="en-US" dirty="0">
                <a:solidFill>
                  <a:srgbClr val="FF0000"/>
                </a:solidFill>
              </a:rPr>
              <a:t>會從</a:t>
            </a:r>
            <a:r>
              <a:rPr kumimoji="1" lang="en-US" altLang="zh-TW" dirty="0">
                <a:solidFill>
                  <a:srgbClr val="FF0000"/>
                </a:solidFill>
              </a:rPr>
              <a:t>non-expired-&gt;expired</a:t>
            </a:r>
            <a:r>
              <a:rPr kumimoji="1" lang="zh-TW" altLang="en-US" dirty="0">
                <a:solidFill>
                  <a:srgbClr val="FF0000"/>
                </a:solidFill>
              </a:rPr>
              <a:t>的</a:t>
            </a:r>
            <a:r>
              <a:rPr kumimoji="1" lang="en-US" altLang="zh-TW" dirty="0">
                <a:solidFill>
                  <a:srgbClr val="FF0000"/>
                </a:solidFill>
              </a:rPr>
              <a:t>UI</a:t>
            </a:r>
            <a:r>
              <a:rPr kumimoji="1" lang="zh-TW" altLang="en-US" dirty="0">
                <a:solidFill>
                  <a:srgbClr val="FF0000"/>
                </a:solidFill>
              </a:rPr>
              <a:t>處理</a:t>
            </a:r>
            <a:r>
              <a:rPr kumimoji="1" lang="en-US" altLang="zh-TW" dirty="0">
                <a:solidFill>
                  <a:srgbClr val="FF0000"/>
                </a:solidFill>
              </a:rPr>
              <a:t>)</a:t>
            </a:r>
          </a:p>
          <a:p>
            <a:r>
              <a:rPr kumimoji="1" lang="en-US" altLang="zh-TW" dirty="0">
                <a:solidFill>
                  <a:srgbClr val="FF0000"/>
                </a:solidFill>
              </a:rPr>
              <a:t>- UU=0, </a:t>
            </a:r>
            <a:r>
              <a:rPr kumimoji="1" lang="zh-TW" altLang="en-US" dirty="0">
                <a:solidFill>
                  <a:srgbClr val="FF0000"/>
                </a:solidFill>
              </a:rPr>
              <a:t>顯示</a:t>
            </a:r>
            <a:endParaRPr kumimoji="1" lang="en-US" altLang="zh-TW" dirty="0">
              <a:solidFill>
                <a:schemeClr val="accent2"/>
              </a:solidFill>
            </a:endParaRPr>
          </a:p>
        </p:txBody>
      </p:sp>
      <p:pic>
        <p:nvPicPr>
          <p:cNvPr id="19" name="圖片 18">
            <a:extLst>
              <a:ext uri="{FF2B5EF4-FFF2-40B4-BE49-F238E27FC236}">
                <a16:creationId xmlns:a16="http://schemas.microsoft.com/office/drawing/2014/main" id="{856BF3F7-7E23-79D2-E4AB-AE5DC2B6A235}"/>
              </a:ext>
            </a:extLst>
          </p:cNvPr>
          <p:cNvPicPr>
            <a:picLocks noChangeAspect="1"/>
          </p:cNvPicPr>
          <p:nvPr/>
        </p:nvPicPr>
        <p:blipFill>
          <a:blip r:embed="rId4"/>
          <a:stretch>
            <a:fillRect/>
          </a:stretch>
        </p:blipFill>
        <p:spPr>
          <a:xfrm>
            <a:off x="7446845" y="4858313"/>
            <a:ext cx="367307" cy="367307"/>
          </a:xfrm>
          <a:prstGeom prst="rect">
            <a:avLst/>
          </a:prstGeom>
        </p:spPr>
      </p:pic>
      <p:sp>
        <p:nvSpPr>
          <p:cNvPr id="20" name="圓角矩形圖說文字 19">
            <a:extLst>
              <a:ext uri="{FF2B5EF4-FFF2-40B4-BE49-F238E27FC236}">
                <a16:creationId xmlns:a16="http://schemas.microsoft.com/office/drawing/2014/main" id="{9C46249E-4485-9559-1D3A-AD535C83C7A2}"/>
              </a:ext>
            </a:extLst>
          </p:cNvPr>
          <p:cNvSpPr/>
          <p:nvPr/>
        </p:nvSpPr>
        <p:spPr>
          <a:xfrm>
            <a:off x="7651686" y="4517805"/>
            <a:ext cx="1112981" cy="310159"/>
          </a:xfrm>
          <a:prstGeom prst="wedgeRoundRectCallout">
            <a:avLst>
              <a:gd name="adj1" fmla="val -47230"/>
              <a:gd name="adj2" fmla="val 90609"/>
              <a:gd name="adj3" fmla="val 16667"/>
            </a:avLst>
          </a:prstGeom>
          <a:solidFill>
            <a:srgbClr val="2F313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fontAlgn="base"/>
            <a:r>
              <a:rPr lang="en-US" altLang="zh-TW" sz="1000" dirty="0">
                <a:solidFill>
                  <a:schemeClr val="bg1"/>
                </a:solidFill>
                <a:latin typeface="Google Sans Text"/>
              </a:rPr>
              <a:t>No unique users.</a:t>
            </a:r>
            <a:endParaRPr lang="en" altLang="zh-TW" sz="1000" dirty="0">
              <a:solidFill>
                <a:schemeClr val="bg1"/>
              </a:solidFill>
              <a:latin typeface="Google Sans Text"/>
            </a:endParaRPr>
          </a:p>
        </p:txBody>
      </p:sp>
    </p:spTree>
    <p:extLst>
      <p:ext uri="{BB962C8B-B14F-4D97-AF65-F5344CB8AC3E}">
        <p14:creationId xmlns:p14="http://schemas.microsoft.com/office/powerpoint/2010/main" val="414236927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標題 1">
            <a:extLst>
              <a:ext uri="{FF2B5EF4-FFF2-40B4-BE49-F238E27FC236}">
                <a16:creationId xmlns:a16="http://schemas.microsoft.com/office/drawing/2014/main" id="{1892C1B5-EB4A-C9C5-05D7-69CD24AC7A03}"/>
              </a:ext>
            </a:extLst>
          </p:cNvPr>
          <p:cNvSpPr txBox="1">
            <a:spLocks/>
          </p:cNvSpPr>
          <p:nvPr/>
        </p:nvSpPr>
        <p:spPr>
          <a:xfrm>
            <a:off x="0" y="0"/>
            <a:ext cx="10515600" cy="70560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kumimoji="1" lang="en-US" altLang="zh-TW" sz="2000" dirty="0"/>
              <a:t>New Ad Group</a:t>
            </a:r>
          </a:p>
          <a:p>
            <a:r>
              <a:rPr kumimoji="1" lang="en-US" altLang="zh-TW" sz="2000" dirty="0"/>
              <a:t>Custom Audience UI</a:t>
            </a:r>
            <a:endParaRPr kumimoji="1" lang="zh-TW" altLang="en-US" sz="2000" dirty="0"/>
          </a:p>
        </p:txBody>
      </p:sp>
      <p:pic>
        <p:nvPicPr>
          <p:cNvPr id="5" name="圖片 4" descr="一張含有 文字, 數字, 字型, 螢幕擷取畫面 的圖片&#10;&#10;AI 產生的內容可能不正確。">
            <a:extLst>
              <a:ext uri="{FF2B5EF4-FFF2-40B4-BE49-F238E27FC236}">
                <a16:creationId xmlns:a16="http://schemas.microsoft.com/office/drawing/2014/main" id="{8FE3EB0A-C432-00DD-B3F5-44C0123D2E78}"/>
              </a:ext>
            </a:extLst>
          </p:cNvPr>
          <p:cNvPicPr>
            <a:picLocks noChangeAspect="1"/>
          </p:cNvPicPr>
          <p:nvPr/>
        </p:nvPicPr>
        <p:blipFill>
          <a:blip r:embed="rId2"/>
          <a:srcRect b="29706"/>
          <a:stretch>
            <a:fillRect/>
          </a:stretch>
        </p:blipFill>
        <p:spPr>
          <a:xfrm>
            <a:off x="930954" y="1165541"/>
            <a:ext cx="10330092" cy="4526918"/>
          </a:xfrm>
          <a:prstGeom prst="rect">
            <a:avLst/>
          </a:prstGeom>
        </p:spPr>
      </p:pic>
      <p:sp>
        <p:nvSpPr>
          <p:cNvPr id="6" name="文字方塊 5">
            <a:extLst>
              <a:ext uri="{FF2B5EF4-FFF2-40B4-BE49-F238E27FC236}">
                <a16:creationId xmlns:a16="http://schemas.microsoft.com/office/drawing/2014/main" id="{02EC61D3-A27A-DE7D-B66A-793D9F315A95}"/>
              </a:ext>
            </a:extLst>
          </p:cNvPr>
          <p:cNvSpPr txBox="1"/>
          <p:nvPr/>
        </p:nvSpPr>
        <p:spPr>
          <a:xfrm>
            <a:off x="1357912" y="2178928"/>
            <a:ext cx="1993900" cy="307777"/>
          </a:xfrm>
          <a:prstGeom prst="rect">
            <a:avLst/>
          </a:prstGeom>
          <a:solidFill>
            <a:schemeClr val="bg1"/>
          </a:solidFill>
        </p:spPr>
        <p:txBody>
          <a:bodyPr wrap="square" rtlCol="0">
            <a:spAutoFit/>
          </a:bodyPr>
          <a:lstStyle/>
          <a:p>
            <a:r>
              <a:rPr kumimoji="1" lang="en-US" altLang="zh-TW" sz="1400">
                <a:solidFill>
                  <a:srgbClr val="1C1E20"/>
                </a:solidFill>
              </a:rPr>
              <a:t>Custom Audience</a:t>
            </a:r>
            <a:endParaRPr kumimoji="1" lang="zh-TW" altLang="en-US" sz="1400">
              <a:solidFill>
                <a:srgbClr val="1C1E20"/>
              </a:solidFill>
            </a:endParaRPr>
          </a:p>
        </p:txBody>
      </p:sp>
      <p:sp>
        <p:nvSpPr>
          <p:cNvPr id="7" name="文字方塊 6">
            <a:extLst>
              <a:ext uri="{FF2B5EF4-FFF2-40B4-BE49-F238E27FC236}">
                <a16:creationId xmlns:a16="http://schemas.microsoft.com/office/drawing/2014/main" id="{E03DC7CC-9075-42E8-D135-9AE3EC6FCDFA}"/>
              </a:ext>
            </a:extLst>
          </p:cNvPr>
          <p:cNvSpPr txBox="1"/>
          <p:nvPr/>
        </p:nvSpPr>
        <p:spPr>
          <a:xfrm>
            <a:off x="1357912" y="4882539"/>
            <a:ext cx="1993900" cy="307777"/>
          </a:xfrm>
          <a:prstGeom prst="rect">
            <a:avLst/>
          </a:prstGeom>
          <a:solidFill>
            <a:schemeClr val="bg1"/>
          </a:solidFill>
        </p:spPr>
        <p:txBody>
          <a:bodyPr wrap="square" rtlCol="0">
            <a:spAutoFit/>
          </a:bodyPr>
          <a:lstStyle/>
          <a:p>
            <a:r>
              <a:rPr kumimoji="1" lang="en-US" altLang="zh-TW" sz="1400">
                <a:solidFill>
                  <a:srgbClr val="1C1E20"/>
                </a:solidFill>
              </a:rPr>
              <a:t>Campaign Audience</a:t>
            </a:r>
            <a:endParaRPr kumimoji="1" lang="zh-TW" altLang="en-US" sz="1400">
              <a:solidFill>
                <a:srgbClr val="1C1E20"/>
              </a:solidFill>
            </a:endParaRPr>
          </a:p>
        </p:txBody>
      </p:sp>
      <p:sp>
        <p:nvSpPr>
          <p:cNvPr id="8" name="矩形 7">
            <a:extLst>
              <a:ext uri="{FF2B5EF4-FFF2-40B4-BE49-F238E27FC236}">
                <a16:creationId xmlns:a16="http://schemas.microsoft.com/office/drawing/2014/main" id="{702F7130-9FFE-9C23-D8A7-DB438D5ECC1C}"/>
              </a:ext>
            </a:extLst>
          </p:cNvPr>
          <p:cNvSpPr/>
          <p:nvPr/>
        </p:nvSpPr>
        <p:spPr>
          <a:xfrm>
            <a:off x="1231899" y="5557176"/>
            <a:ext cx="9732433" cy="348324"/>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9" name="文字方塊 8">
            <a:extLst>
              <a:ext uri="{FF2B5EF4-FFF2-40B4-BE49-F238E27FC236}">
                <a16:creationId xmlns:a16="http://schemas.microsoft.com/office/drawing/2014/main" id="{D6E4D134-69B1-35C7-42DD-8BD3B3B9F594}"/>
              </a:ext>
            </a:extLst>
          </p:cNvPr>
          <p:cNvSpPr txBox="1"/>
          <p:nvPr/>
        </p:nvSpPr>
        <p:spPr>
          <a:xfrm>
            <a:off x="1357912" y="5329833"/>
            <a:ext cx="1993900" cy="307777"/>
          </a:xfrm>
          <a:prstGeom prst="rect">
            <a:avLst/>
          </a:prstGeom>
          <a:solidFill>
            <a:schemeClr val="bg1"/>
          </a:solidFill>
        </p:spPr>
        <p:txBody>
          <a:bodyPr wrap="square" rtlCol="0">
            <a:spAutoFit/>
          </a:bodyPr>
          <a:lstStyle/>
          <a:p>
            <a:r>
              <a:rPr kumimoji="1" lang="en-US" altLang="zh-TW" sz="1400">
                <a:solidFill>
                  <a:srgbClr val="1C1E20"/>
                </a:solidFill>
              </a:rPr>
              <a:t>Web Traffic Audience</a:t>
            </a:r>
            <a:endParaRPr kumimoji="1" lang="zh-TW" altLang="en-US" sz="1400">
              <a:solidFill>
                <a:srgbClr val="1C1E20"/>
              </a:solidFill>
            </a:endParaRPr>
          </a:p>
        </p:txBody>
      </p:sp>
      <p:sp>
        <p:nvSpPr>
          <p:cNvPr id="10" name="文字方塊 9">
            <a:extLst>
              <a:ext uri="{FF2B5EF4-FFF2-40B4-BE49-F238E27FC236}">
                <a16:creationId xmlns:a16="http://schemas.microsoft.com/office/drawing/2014/main" id="{E45EADE6-A661-B0DF-718D-5D07F7BEED47}"/>
              </a:ext>
            </a:extLst>
          </p:cNvPr>
          <p:cNvSpPr txBox="1"/>
          <p:nvPr/>
        </p:nvSpPr>
        <p:spPr>
          <a:xfrm>
            <a:off x="4456712" y="2178928"/>
            <a:ext cx="3658588" cy="538609"/>
          </a:xfrm>
          <a:prstGeom prst="rect">
            <a:avLst/>
          </a:prstGeom>
          <a:solidFill>
            <a:schemeClr val="bg1"/>
          </a:solidFill>
        </p:spPr>
        <p:txBody>
          <a:bodyPr wrap="square" rtlCol="0">
            <a:spAutoFit/>
          </a:bodyPr>
          <a:lstStyle/>
          <a:p>
            <a:pPr lvl="0">
              <a:defRPr/>
            </a:pPr>
            <a:r>
              <a:rPr kumimoji="1" lang="en-US" altLang="zh-TW" sz="1200" dirty="0">
                <a:solidFill>
                  <a:srgbClr val="4E4E4E"/>
                </a:solidFill>
              </a:rPr>
              <a:t>[</a:t>
            </a:r>
            <a:r>
              <a:rPr kumimoji="1" lang="zh-TW" altLang="en-US" sz="1200" dirty="0">
                <a:solidFill>
                  <a:srgbClr val="4E4E4E"/>
                </a:solidFill>
              </a:rPr>
              <a:t>線下</a:t>
            </a:r>
            <a:r>
              <a:rPr kumimoji="1" lang="en" altLang="zh-TW" sz="1200" dirty="0">
                <a:solidFill>
                  <a:srgbClr val="4E4E4E"/>
                </a:solidFill>
              </a:rPr>
              <a:t>POI] </a:t>
            </a:r>
            <a:r>
              <a:rPr kumimoji="1" lang="zh-TW" altLang="en-US" sz="1200" dirty="0">
                <a:solidFill>
                  <a:srgbClr val="4E4E4E"/>
                </a:solidFill>
              </a:rPr>
              <a:t>合利他命</a:t>
            </a:r>
            <a:r>
              <a:rPr kumimoji="1" lang="en" altLang="zh-TW" sz="1200" dirty="0">
                <a:solidFill>
                  <a:srgbClr val="4E4E4E"/>
                </a:solidFill>
              </a:rPr>
              <a:t>EXPLUS 10</a:t>
            </a:r>
            <a:r>
              <a:rPr kumimoji="1" lang="zh-TW" altLang="en-US" sz="1200" dirty="0">
                <a:solidFill>
                  <a:srgbClr val="4E4E4E"/>
                </a:solidFill>
              </a:rPr>
              <a:t>月</a:t>
            </a:r>
            <a:endParaRPr kumimoji="1" lang="en-US" altLang="zh-TW" sz="1200" dirty="0">
              <a:solidFill>
                <a:srgbClr val="4E4E4E"/>
              </a:solidFill>
            </a:endParaRPr>
          </a:p>
          <a:p>
            <a:pPr lvl="0">
              <a:defRPr/>
            </a:pPr>
            <a:endParaRPr kumimoji="1" lang="en-US" altLang="zh-TW" sz="500" dirty="0">
              <a:solidFill>
                <a:srgbClr val="4E4E4E"/>
              </a:solidFill>
            </a:endParaRPr>
          </a:p>
          <a:p>
            <a:pPr>
              <a:defRPr/>
            </a:pPr>
            <a:r>
              <a:rPr kumimoji="1" lang="en" altLang="zh-TW" sz="1200" dirty="0">
                <a:solidFill>
                  <a:srgbClr val="4E4E4E"/>
                </a:solidFill>
              </a:rPr>
              <a:t>[Webb</a:t>
            </a:r>
            <a:r>
              <a:rPr kumimoji="1" lang="zh-TW" altLang="en-US" sz="1200" dirty="0">
                <a:solidFill>
                  <a:srgbClr val="4E4E4E"/>
                </a:solidFill>
              </a:rPr>
              <a:t>零售數據</a:t>
            </a:r>
            <a:r>
              <a:rPr kumimoji="1" lang="en-US" altLang="zh-TW" sz="1200" dirty="0">
                <a:solidFill>
                  <a:srgbClr val="4E4E4E"/>
                </a:solidFill>
              </a:rPr>
              <a:t>-</a:t>
            </a:r>
            <a:r>
              <a:rPr kumimoji="1" lang="zh-TW" altLang="en-US" sz="1200" dirty="0">
                <a:solidFill>
                  <a:srgbClr val="4E4E4E"/>
                </a:solidFill>
              </a:rPr>
              <a:t>購買</a:t>
            </a:r>
            <a:r>
              <a:rPr kumimoji="1" lang="en-US" altLang="zh-TW" sz="1200" dirty="0">
                <a:solidFill>
                  <a:srgbClr val="4E4E4E"/>
                </a:solidFill>
              </a:rPr>
              <a:t>] </a:t>
            </a:r>
            <a:r>
              <a:rPr kumimoji="1" lang="zh-TW" altLang="en-US" sz="1200" dirty="0">
                <a:solidFill>
                  <a:srgbClr val="4E4E4E"/>
                </a:solidFill>
              </a:rPr>
              <a:t>合利他命</a:t>
            </a:r>
            <a:r>
              <a:rPr kumimoji="1" lang="en" altLang="zh-TW" sz="1200" dirty="0">
                <a:solidFill>
                  <a:srgbClr val="4E4E4E"/>
                </a:solidFill>
              </a:rPr>
              <a:t>EXPLUS 10</a:t>
            </a:r>
            <a:r>
              <a:rPr kumimoji="1" lang="zh-TW" altLang="en-US" sz="1200" dirty="0">
                <a:solidFill>
                  <a:srgbClr val="4E4E4E"/>
                </a:solidFill>
              </a:rPr>
              <a:t>月</a:t>
            </a:r>
            <a:endParaRPr kumimoji="1" lang="en-US" altLang="zh-TW" sz="1200" dirty="0">
              <a:solidFill>
                <a:srgbClr val="4E4E4E"/>
              </a:solidFill>
            </a:endParaRPr>
          </a:p>
        </p:txBody>
      </p:sp>
      <p:pic>
        <p:nvPicPr>
          <p:cNvPr id="11" name="圖片 10">
            <a:extLst>
              <a:ext uri="{FF2B5EF4-FFF2-40B4-BE49-F238E27FC236}">
                <a16:creationId xmlns:a16="http://schemas.microsoft.com/office/drawing/2014/main" id="{B12CBD01-B428-CC16-9781-209A90A4BEAD}"/>
              </a:ext>
            </a:extLst>
          </p:cNvPr>
          <p:cNvPicPr>
            <a:picLocks noChangeAspect="1"/>
          </p:cNvPicPr>
          <p:nvPr/>
        </p:nvPicPr>
        <p:blipFill>
          <a:blip r:embed="rId3"/>
          <a:stretch>
            <a:fillRect/>
          </a:stretch>
        </p:blipFill>
        <p:spPr>
          <a:xfrm>
            <a:off x="6692594" y="2192581"/>
            <a:ext cx="251999" cy="251999"/>
          </a:xfrm>
          <a:prstGeom prst="rect">
            <a:avLst/>
          </a:prstGeom>
        </p:spPr>
      </p:pic>
      <p:pic>
        <p:nvPicPr>
          <p:cNvPr id="20" name="圖片 19">
            <a:extLst>
              <a:ext uri="{FF2B5EF4-FFF2-40B4-BE49-F238E27FC236}">
                <a16:creationId xmlns:a16="http://schemas.microsoft.com/office/drawing/2014/main" id="{AFE56B10-2B94-654F-4222-4E4666071462}"/>
              </a:ext>
            </a:extLst>
          </p:cNvPr>
          <p:cNvPicPr>
            <a:picLocks noChangeAspect="1"/>
          </p:cNvPicPr>
          <p:nvPr/>
        </p:nvPicPr>
        <p:blipFill>
          <a:blip r:embed="rId4"/>
          <a:stretch>
            <a:fillRect/>
          </a:stretch>
        </p:blipFill>
        <p:spPr>
          <a:xfrm>
            <a:off x="10253124" y="5409583"/>
            <a:ext cx="358168" cy="343842"/>
          </a:xfrm>
          <a:prstGeom prst="rect">
            <a:avLst/>
          </a:prstGeom>
        </p:spPr>
      </p:pic>
      <p:pic>
        <p:nvPicPr>
          <p:cNvPr id="22" name="圖片 21" descr="一張含有 字型, 文字, 印刷術, 白色 的圖片&#10;&#10;AI 產生的內容可能不正確。">
            <a:extLst>
              <a:ext uri="{FF2B5EF4-FFF2-40B4-BE49-F238E27FC236}">
                <a16:creationId xmlns:a16="http://schemas.microsoft.com/office/drawing/2014/main" id="{2357BB29-879C-89E3-5E6E-A300BE659EDF}"/>
              </a:ext>
            </a:extLst>
          </p:cNvPr>
          <p:cNvPicPr>
            <a:picLocks noChangeAspect="1"/>
          </p:cNvPicPr>
          <p:nvPr/>
        </p:nvPicPr>
        <p:blipFill>
          <a:blip r:embed="rId5"/>
          <a:stretch>
            <a:fillRect/>
          </a:stretch>
        </p:blipFill>
        <p:spPr>
          <a:xfrm>
            <a:off x="5303156" y="1226735"/>
            <a:ext cx="1585687" cy="384409"/>
          </a:xfrm>
          <a:prstGeom prst="rect">
            <a:avLst/>
          </a:prstGeom>
        </p:spPr>
      </p:pic>
    </p:spTree>
    <p:extLst>
      <p:ext uri="{BB962C8B-B14F-4D97-AF65-F5344CB8AC3E}">
        <p14:creationId xmlns:p14="http://schemas.microsoft.com/office/powerpoint/2010/main" val="109780860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標題 1">
            <a:extLst>
              <a:ext uri="{FF2B5EF4-FFF2-40B4-BE49-F238E27FC236}">
                <a16:creationId xmlns:a16="http://schemas.microsoft.com/office/drawing/2014/main" id="{5D0509B9-AFB8-9465-FF08-BD46F6E35CDE}"/>
              </a:ext>
            </a:extLst>
          </p:cNvPr>
          <p:cNvSpPr txBox="1">
            <a:spLocks/>
          </p:cNvSpPr>
          <p:nvPr/>
        </p:nvSpPr>
        <p:spPr>
          <a:xfrm>
            <a:off x="0" y="0"/>
            <a:ext cx="10515600" cy="70560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kumimoji="1" lang="en-US" altLang="zh-TW" sz="2000" dirty="0"/>
              <a:t>Edit Ad Group</a:t>
            </a:r>
          </a:p>
          <a:p>
            <a:r>
              <a:rPr kumimoji="1" lang="en-US" altLang="zh-TW" sz="2000" dirty="0"/>
              <a:t>Selected Custom Audiences, Status=</a:t>
            </a:r>
            <a:r>
              <a:rPr kumimoji="1" lang="en-US" altLang="zh-TW" sz="2000" b="1" dirty="0"/>
              <a:t>Expired</a:t>
            </a:r>
            <a:r>
              <a:rPr kumimoji="1" lang="en-US" altLang="zh-TW" sz="2000" dirty="0"/>
              <a:t> or UU=0</a:t>
            </a:r>
          </a:p>
        </p:txBody>
      </p:sp>
      <p:pic>
        <p:nvPicPr>
          <p:cNvPr id="6" name="圖片 5" descr="一張含有 文字, 數字, 字型, 螢幕擷取畫面 的圖片&#10;&#10;AI 產生的內容可能不正確。">
            <a:extLst>
              <a:ext uri="{FF2B5EF4-FFF2-40B4-BE49-F238E27FC236}">
                <a16:creationId xmlns:a16="http://schemas.microsoft.com/office/drawing/2014/main" id="{0FC5CDE7-E5DE-0C92-D480-FAF0C5130549}"/>
              </a:ext>
            </a:extLst>
          </p:cNvPr>
          <p:cNvPicPr>
            <a:picLocks noChangeAspect="1"/>
          </p:cNvPicPr>
          <p:nvPr/>
        </p:nvPicPr>
        <p:blipFill>
          <a:blip r:embed="rId2"/>
          <a:srcRect b="29706"/>
          <a:stretch>
            <a:fillRect/>
          </a:stretch>
        </p:blipFill>
        <p:spPr>
          <a:xfrm>
            <a:off x="930954" y="1165541"/>
            <a:ext cx="10330092" cy="4526918"/>
          </a:xfrm>
          <a:prstGeom prst="rect">
            <a:avLst/>
          </a:prstGeom>
        </p:spPr>
      </p:pic>
      <p:sp>
        <p:nvSpPr>
          <p:cNvPr id="8" name="文字方塊 7">
            <a:extLst>
              <a:ext uri="{FF2B5EF4-FFF2-40B4-BE49-F238E27FC236}">
                <a16:creationId xmlns:a16="http://schemas.microsoft.com/office/drawing/2014/main" id="{977F5F27-B35C-A505-3457-1143BCAEF10B}"/>
              </a:ext>
            </a:extLst>
          </p:cNvPr>
          <p:cNvSpPr txBox="1"/>
          <p:nvPr/>
        </p:nvSpPr>
        <p:spPr>
          <a:xfrm>
            <a:off x="1357912" y="2178928"/>
            <a:ext cx="1993900" cy="307777"/>
          </a:xfrm>
          <a:prstGeom prst="rect">
            <a:avLst/>
          </a:prstGeom>
          <a:solidFill>
            <a:schemeClr val="bg1"/>
          </a:solidFill>
        </p:spPr>
        <p:txBody>
          <a:bodyPr wrap="square" rtlCol="0">
            <a:spAutoFit/>
          </a:bodyPr>
          <a:lstStyle/>
          <a:p>
            <a:r>
              <a:rPr kumimoji="1" lang="en-US" altLang="zh-TW" sz="1400">
                <a:solidFill>
                  <a:srgbClr val="1C1E20"/>
                </a:solidFill>
              </a:rPr>
              <a:t>Custom Audience</a:t>
            </a:r>
            <a:endParaRPr kumimoji="1" lang="zh-TW" altLang="en-US" sz="1400">
              <a:solidFill>
                <a:srgbClr val="1C1E20"/>
              </a:solidFill>
            </a:endParaRPr>
          </a:p>
        </p:txBody>
      </p:sp>
      <p:sp>
        <p:nvSpPr>
          <p:cNvPr id="9" name="文字方塊 8">
            <a:extLst>
              <a:ext uri="{FF2B5EF4-FFF2-40B4-BE49-F238E27FC236}">
                <a16:creationId xmlns:a16="http://schemas.microsoft.com/office/drawing/2014/main" id="{5612ADD6-A2FC-2984-4EA4-8AC58CF4EEDB}"/>
              </a:ext>
            </a:extLst>
          </p:cNvPr>
          <p:cNvSpPr txBox="1"/>
          <p:nvPr/>
        </p:nvSpPr>
        <p:spPr>
          <a:xfrm>
            <a:off x="1357912" y="4882539"/>
            <a:ext cx="1993900" cy="307777"/>
          </a:xfrm>
          <a:prstGeom prst="rect">
            <a:avLst/>
          </a:prstGeom>
          <a:solidFill>
            <a:schemeClr val="bg1"/>
          </a:solidFill>
        </p:spPr>
        <p:txBody>
          <a:bodyPr wrap="square" rtlCol="0">
            <a:spAutoFit/>
          </a:bodyPr>
          <a:lstStyle/>
          <a:p>
            <a:r>
              <a:rPr kumimoji="1" lang="en-US" altLang="zh-TW" sz="1400">
                <a:solidFill>
                  <a:srgbClr val="1C1E20"/>
                </a:solidFill>
              </a:rPr>
              <a:t>Campaign Audience</a:t>
            </a:r>
            <a:endParaRPr kumimoji="1" lang="zh-TW" altLang="en-US" sz="1400">
              <a:solidFill>
                <a:srgbClr val="1C1E20"/>
              </a:solidFill>
            </a:endParaRPr>
          </a:p>
        </p:txBody>
      </p:sp>
      <p:sp>
        <p:nvSpPr>
          <p:cNvPr id="11" name="矩形 10">
            <a:extLst>
              <a:ext uri="{FF2B5EF4-FFF2-40B4-BE49-F238E27FC236}">
                <a16:creationId xmlns:a16="http://schemas.microsoft.com/office/drawing/2014/main" id="{4D4CCFA6-C79A-721D-C928-3DD43DA8B19C}"/>
              </a:ext>
            </a:extLst>
          </p:cNvPr>
          <p:cNvSpPr/>
          <p:nvPr/>
        </p:nvSpPr>
        <p:spPr>
          <a:xfrm>
            <a:off x="1231899" y="5557176"/>
            <a:ext cx="9732433" cy="348324"/>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0" name="文字方塊 9">
            <a:extLst>
              <a:ext uri="{FF2B5EF4-FFF2-40B4-BE49-F238E27FC236}">
                <a16:creationId xmlns:a16="http://schemas.microsoft.com/office/drawing/2014/main" id="{5F8603E7-86E8-6BCC-556E-49E37AC7A5AC}"/>
              </a:ext>
            </a:extLst>
          </p:cNvPr>
          <p:cNvSpPr txBox="1"/>
          <p:nvPr/>
        </p:nvSpPr>
        <p:spPr>
          <a:xfrm>
            <a:off x="1357912" y="5329833"/>
            <a:ext cx="1993900" cy="307777"/>
          </a:xfrm>
          <a:prstGeom prst="rect">
            <a:avLst/>
          </a:prstGeom>
          <a:solidFill>
            <a:schemeClr val="bg1"/>
          </a:solidFill>
        </p:spPr>
        <p:txBody>
          <a:bodyPr wrap="square" rtlCol="0">
            <a:spAutoFit/>
          </a:bodyPr>
          <a:lstStyle/>
          <a:p>
            <a:r>
              <a:rPr kumimoji="1" lang="en-US" altLang="zh-TW" sz="1400">
                <a:solidFill>
                  <a:srgbClr val="1C1E20"/>
                </a:solidFill>
              </a:rPr>
              <a:t>Web Traffic Audience</a:t>
            </a:r>
            <a:endParaRPr kumimoji="1" lang="zh-TW" altLang="en-US" sz="1400">
              <a:solidFill>
                <a:srgbClr val="1C1E20"/>
              </a:solidFill>
            </a:endParaRPr>
          </a:p>
        </p:txBody>
      </p:sp>
      <p:sp>
        <p:nvSpPr>
          <p:cNvPr id="12" name="文字方塊 11">
            <a:extLst>
              <a:ext uri="{FF2B5EF4-FFF2-40B4-BE49-F238E27FC236}">
                <a16:creationId xmlns:a16="http://schemas.microsoft.com/office/drawing/2014/main" id="{9AA40C5A-B07F-E729-888B-51664202C4E1}"/>
              </a:ext>
            </a:extLst>
          </p:cNvPr>
          <p:cNvSpPr txBox="1"/>
          <p:nvPr/>
        </p:nvSpPr>
        <p:spPr>
          <a:xfrm>
            <a:off x="4456712" y="2178928"/>
            <a:ext cx="3658588" cy="538609"/>
          </a:xfrm>
          <a:prstGeom prst="rect">
            <a:avLst/>
          </a:prstGeom>
          <a:solidFill>
            <a:schemeClr val="bg1"/>
          </a:solidFill>
        </p:spPr>
        <p:txBody>
          <a:bodyPr wrap="square" rtlCol="0">
            <a:spAutoFit/>
          </a:bodyPr>
          <a:lstStyle/>
          <a:p>
            <a:pPr lvl="0">
              <a:defRPr/>
            </a:pPr>
            <a:r>
              <a:rPr kumimoji="1" lang="en-US" altLang="zh-TW" sz="1200" dirty="0">
                <a:solidFill>
                  <a:srgbClr val="4E4E4E"/>
                </a:solidFill>
              </a:rPr>
              <a:t>[</a:t>
            </a:r>
            <a:r>
              <a:rPr kumimoji="1" lang="zh-TW" altLang="en-US" sz="1200" dirty="0">
                <a:solidFill>
                  <a:srgbClr val="4E4E4E"/>
                </a:solidFill>
              </a:rPr>
              <a:t>線下</a:t>
            </a:r>
            <a:r>
              <a:rPr kumimoji="1" lang="en" altLang="zh-TW" sz="1200" dirty="0">
                <a:solidFill>
                  <a:srgbClr val="4E4E4E"/>
                </a:solidFill>
              </a:rPr>
              <a:t>POI] </a:t>
            </a:r>
            <a:r>
              <a:rPr kumimoji="1" lang="zh-TW" altLang="en-US" sz="1200" dirty="0">
                <a:solidFill>
                  <a:srgbClr val="4E4E4E"/>
                </a:solidFill>
              </a:rPr>
              <a:t>合利他命</a:t>
            </a:r>
            <a:r>
              <a:rPr kumimoji="1" lang="en" altLang="zh-TW" sz="1200" dirty="0">
                <a:solidFill>
                  <a:srgbClr val="4E4E4E"/>
                </a:solidFill>
              </a:rPr>
              <a:t>EXPLUS 10</a:t>
            </a:r>
            <a:r>
              <a:rPr kumimoji="1" lang="zh-TW" altLang="en-US" sz="1200" dirty="0">
                <a:solidFill>
                  <a:srgbClr val="4E4E4E"/>
                </a:solidFill>
              </a:rPr>
              <a:t>月</a:t>
            </a:r>
            <a:endParaRPr kumimoji="1" lang="en-US" altLang="zh-TW" sz="1200" dirty="0">
              <a:solidFill>
                <a:srgbClr val="4E4E4E"/>
              </a:solidFill>
            </a:endParaRPr>
          </a:p>
          <a:p>
            <a:pPr lvl="0">
              <a:defRPr/>
            </a:pPr>
            <a:endParaRPr kumimoji="1" lang="en-US" altLang="zh-TW" sz="500" dirty="0">
              <a:solidFill>
                <a:srgbClr val="4E4E4E"/>
              </a:solidFill>
            </a:endParaRPr>
          </a:p>
          <a:p>
            <a:pPr>
              <a:defRPr/>
            </a:pPr>
            <a:r>
              <a:rPr kumimoji="1" lang="en" altLang="zh-TW" sz="1200" dirty="0">
                <a:solidFill>
                  <a:srgbClr val="4E4E4E"/>
                </a:solidFill>
              </a:rPr>
              <a:t>[Webb</a:t>
            </a:r>
            <a:r>
              <a:rPr kumimoji="1" lang="zh-TW" altLang="en-US" sz="1200" dirty="0">
                <a:solidFill>
                  <a:srgbClr val="4E4E4E"/>
                </a:solidFill>
              </a:rPr>
              <a:t>零售數據</a:t>
            </a:r>
            <a:r>
              <a:rPr kumimoji="1" lang="en-US" altLang="zh-TW" sz="1200" dirty="0">
                <a:solidFill>
                  <a:srgbClr val="4E4E4E"/>
                </a:solidFill>
              </a:rPr>
              <a:t>-</a:t>
            </a:r>
            <a:r>
              <a:rPr kumimoji="1" lang="zh-TW" altLang="en-US" sz="1200" dirty="0">
                <a:solidFill>
                  <a:srgbClr val="4E4E4E"/>
                </a:solidFill>
              </a:rPr>
              <a:t>購買</a:t>
            </a:r>
            <a:r>
              <a:rPr kumimoji="1" lang="en-US" altLang="zh-TW" sz="1200" dirty="0">
                <a:solidFill>
                  <a:srgbClr val="4E4E4E"/>
                </a:solidFill>
              </a:rPr>
              <a:t>] </a:t>
            </a:r>
            <a:r>
              <a:rPr kumimoji="1" lang="zh-TW" altLang="en-US" sz="1200" dirty="0">
                <a:solidFill>
                  <a:srgbClr val="4E4E4E"/>
                </a:solidFill>
              </a:rPr>
              <a:t>合利他命</a:t>
            </a:r>
            <a:r>
              <a:rPr kumimoji="1" lang="en" altLang="zh-TW" sz="1200" dirty="0">
                <a:solidFill>
                  <a:srgbClr val="4E4E4E"/>
                </a:solidFill>
              </a:rPr>
              <a:t>EXPLUS 10</a:t>
            </a:r>
            <a:r>
              <a:rPr kumimoji="1" lang="zh-TW" altLang="en-US" sz="1200" dirty="0">
                <a:solidFill>
                  <a:srgbClr val="4E4E4E"/>
                </a:solidFill>
              </a:rPr>
              <a:t>月</a:t>
            </a:r>
            <a:endParaRPr kumimoji="1" lang="en-US" altLang="zh-TW" sz="1200" dirty="0">
              <a:solidFill>
                <a:srgbClr val="4E4E4E"/>
              </a:solidFill>
            </a:endParaRPr>
          </a:p>
        </p:txBody>
      </p:sp>
      <p:pic>
        <p:nvPicPr>
          <p:cNvPr id="13" name="圖片 12">
            <a:extLst>
              <a:ext uri="{FF2B5EF4-FFF2-40B4-BE49-F238E27FC236}">
                <a16:creationId xmlns:a16="http://schemas.microsoft.com/office/drawing/2014/main" id="{92B6BBBA-C773-B76F-AF75-ACE9478D18F2}"/>
              </a:ext>
            </a:extLst>
          </p:cNvPr>
          <p:cNvPicPr>
            <a:picLocks noChangeAspect="1"/>
          </p:cNvPicPr>
          <p:nvPr/>
        </p:nvPicPr>
        <p:blipFill>
          <a:blip r:embed="rId3"/>
          <a:stretch>
            <a:fillRect/>
          </a:stretch>
        </p:blipFill>
        <p:spPr>
          <a:xfrm>
            <a:off x="6692594" y="2192581"/>
            <a:ext cx="251999" cy="251999"/>
          </a:xfrm>
          <a:prstGeom prst="rect">
            <a:avLst/>
          </a:prstGeom>
        </p:spPr>
      </p:pic>
      <p:pic>
        <p:nvPicPr>
          <p:cNvPr id="7" name="圖片 6">
            <a:extLst>
              <a:ext uri="{FF2B5EF4-FFF2-40B4-BE49-F238E27FC236}">
                <a16:creationId xmlns:a16="http://schemas.microsoft.com/office/drawing/2014/main" id="{7C7CF970-AF64-1A62-B7A2-FE449B0B8477}"/>
              </a:ext>
            </a:extLst>
          </p:cNvPr>
          <p:cNvPicPr>
            <a:picLocks noChangeAspect="1"/>
          </p:cNvPicPr>
          <p:nvPr/>
        </p:nvPicPr>
        <p:blipFill>
          <a:blip r:embed="rId4"/>
          <a:stretch>
            <a:fillRect/>
          </a:stretch>
        </p:blipFill>
        <p:spPr>
          <a:xfrm flipH="1">
            <a:off x="7503924" y="2442144"/>
            <a:ext cx="254609" cy="254609"/>
          </a:xfrm>
          <a:prstGeom prst="rect">
            <a:avLst/>
          </a:prstGeom>
        </p:spPr>
      </p:pic>
      <p:sp>
        <p:nvSpPr>
          <p:cNvPr id="14" name="圓角矩形圖說文字 13">
            <a:extLst>
              <a:ext uri="{FF2B5EF4-FFF2-40B4-BE49-F238E27FC236}">
                <a16:creationId xmlns:a16="http://schemas.microsoft.com/office/drawing/2014/main" id="{36C6D462-823D-8275-D554-468CB5D6BA8B}"/>
              </a:ext>
            </a:extLst>
          </p:cNvPr>
          <p:cNvSpPr/>
          <p:nvPr/>
        </p:nvSpPr>
        <p:spPr>
          <a:xfrm>
            <a:off x="6661364" y="1685339"/>
            <a:ext cx="1112981" cy="310159"/>
          </a:xfrm>
          <a:prstGeom prst="wedgeRoundRectCallout">
            <a:avLst>
              <a:gd name="adj1" fmla="val -35819"/>
              <a:gd name="adj2" fmla="val 106988"/>
              <a:gd name="adj3" fmla="val 16667"/>
            </a:avLst>
          </a:prstGeom>
          <a:solidFill>
            <a:srgbClr val="2F313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fontAlgn="base"/>
            <a:r>
              <a:rPr lang="en-US" altLang="zh-TW" sz="1000">
                <a:solidFill>
                  <a:schemeClr val="bg1"/>
                </a:solidFill>
                <a:latin typeface="Google Sans Text"/>
              </a:rPr>
              <a:t>No unique users.</a:t>
            </a:r>
            <a:endParaRPr lang="en" altLang="zh-TW" sz="1000">
              <a:solidFill>
                <a:schemeClr val="bg1"/>
              </a:solidFill>
              <a:latin typeface="Google Sans Text"/>
            </a:endParaRPr>
          </a:p>
        </p:txBody>
      </p:sp>
      <p:sp>
        <p:nvSpPr>
          <p:cNvPr id="15" name="圓角矩形圖說文字 14">
            <a:extLst>
              <a:ext uri="{FF2B5EF4-FFF2-40B4-BE49-F238E27FC236}">
                <a16:creationId xmlns:a16="http://schemas.microsoft.com/office/drawing/2014/main" id="{BBD3A7B1-7EF8-A044-AE05-3DA2AEF29130}"/>
              </a:ext>
            </a:extLst>
          </p:cNvPr>
          <p:cNvSpPr/>
          <p:nvPr/>
        </p:nvSpPr>
        <p:spPr>
          <a:xfrm>
            <a:off x="7868788" y="1500000"/>
            <a:ext cx="2426867" cy="692581"/>
          </a:xfrm>
          <a:prstGeom prst="wedgeRoundRectCallout">
            <a:avLst>
              <a:gd name="adj1" fmla="val -54556"/>
              <a:gd name="adj2" fmla="val 97944"/>
              <a:gd name="adj3" fmla="val 16667"/>
            </a:avLst>
          </a:prstGeom>
          <a:solidFill>
            <a:srgbClr val="2F313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fontAlgn="base"/>
            <a:r>
              <a:rPr lang="en" altLang="zh-TW" sz="1000" dirty="0"/>
              <a:t>The audience pack has expired and will be automatically removed from the ad group upon saving.</a:t>
            </a:r>
            <a:endParaRPr lang="en" altLang="zh-TW" sz="1000" dirty="0">
              <a:solidFill>
                <a:schemeClr val="bg1"/>
              </a:solidFill>
              <a:latin typeface="Google Sans Text"/>
            </a:endParaRPr>
          </a:p>
        </p:txBody>
      </p:sp>
      <p:sp>
        <p:nvSpPr>
          <p:cNvPr id="16" name="文字方塊 15">
            <a:extLst>
              <a:ext uri="{FF2B5EF4-FFF2-40B4-BE49-F238E27FC236}">
                <a16:creationId xmlns:a16="http://schemas.microsoft.com/office/drawing/2014/main" id="{577FA2AB-F3AF-7FE2-B99E-D5775094C3B7}"/>
              </a:ext>
            </a:extLst>
          </p:cNvPr>
          <p:cNvSpPr txBox="1"/>
          <p:nvPr/>
        </p:nvSpPr>
        <p:spPr>
          <a:xfrm>
            <a:off x="9082221" y="790378"/>
            <a:ext cx="1765300" cy="369332"/>
          </a:xfrm>
          <a:prstGeom prst="rect">
            <a:avLst/>
          </a:prstGeom>
          <a:noFill/>
        </p:spPr>
        <p:txBody>
          <a:bodyPr wrap="square" rtlCol="0">
            <a:spAutoFit/>
          </a:bodyPr>
          <a:lstStyle/>
          <a:p>
            <a:r>
              <a:rPr kumimoji="1" lang="en-US" altLang="zh-TW">
                <a:solidFill>
                  <a:srgbClr val="FF0000"/>
                </a:solidFill>
              </a:rPr>
              <a:t>Status=Expired</a:t>
            </a:r>
            <a:endParaRPr kumimoji="1" lang="zh-TW" altLang="en-US">
              <a:solidFill>
                <a:srgbClr val="FF0000"/>
              </a:solidFill>
            </a:endParaRPr>
          </a:p>
        </p:txBody>
      </p:sp>
      <p:sp>
        <p:nvSpPr>
          <p:cNvPr id="17" name="文字方塊 16">
            <a:extLst>
              <a:ext uri="{FF2B5EF4-FFF2-40B4-BE49-F238E27FC236}">
                <a16:creationId xmlns:a16="http://schemas.microsoft.com/office/drawing/2014/main" id="{199407CE-FB6C-E0E3-300D-E8432AFFC548}"/>
              </a:ext>
            </a:extLst>
          </p:cNvPr>
          <p:cNvSpPr txBox="1"/>
          <p:nvPr/>
        </p:nvSpPr>
        <p:spPr>
          <a:xfrm>
            <a:off x="6988828" y="784150"/>
            <a:ext cx="785517" cy="369332"/>
          </a:xfrm>
          <a:prstGeom prst="rect">
            <a:avLst/>
          </a:prstGeom>
          <a:noFill/>
        </p:spPr>
        <p:txBody>
          <a:bodyPr wrap="square" rtlCol="0">
            <a:spAutoFit/>
          </a:bodyPr>
          <a:lstStyle/>
          <a:p>
            <a:r>
              <a:rPr kumimoji="1" lang="en-US" altLang="zh-TW" dirty="0">
                <a:solidFill>
                  <a:srgbClr val="FF0000"/>
                </a:solidFill>
              </a:rPr>
              <a:t>UU=0</a:t>
            </a:r>
            <a:endParaRPr kumimoji="1" lang="zh-TW" altLang="en-US" dirty="0">
              <a:solidFill>
                <a:srgbClr val="FF0000"/>
              </a:solidFill>
            </a:endParaRPr>
          </a:p>
        </p:txBody>
      </p:sp>
      <p:cxnSp>
        <p:nvCxnSpPr>
          <p:cNvPr id="19" name="直線箭頭接點 18">
            <a:extLst>
              <a:ext uri="{FF2B5EF4-FFF2-40B4-BE49-F238E27FC236}">
                <a16:creationId xmlns:a16="http://schemas.microsoft.com/office/drawing/2014/main" id="{0DCC7502-67A5-16CF-9DF0-5587B2A68BA7}"/>
              </a:ext>
            </a:extLst>
          </p:cNvPr>
          <p:cNvCxnSpPr/>
          <p:nvPr/>
        </p:nvCxnSpPr>
        <p:spPr>
          <a:xfrm flipH="1">
            <a:off x="7217854" y="1159710"/>
            <a:ext cx="147652" cy="525629"/>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0" name="直線箭頭接點 19">
            <a:extLst>
              <a:ext uri="{FF2B5EF4-FFF2-40B4-BE49-F238E27FC236}">
                <a16:creationId xmlns:a16="http://schemas.microsoft.com/office/drawing/2014/main" id="{B3549D23-29E8-248C-426B-6CFBA94596FF}"/>
              </a:ext>
            </a:extLst>
          </p:cNvPr>
          <p:cNvCxnSpPr>
            <a:cxnSpLocks/>
          </p:cNvCxnSpPr>
          <p:nvPr/>
        </p:nvCxnSpPr>
        <p:spPr>
          <a:xfrm flipH="1">
            <a:off x="9215482" y="1053756"/>
            <a:ext cx="695760" cy="368768"/>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22" name="矩形 21">
            <a:extLst>
              <a:ext uri="{FF2B5EF4-FFF2-40B4-BE49-F238E27FC236}">
                <a16:creationId xmlns:a16="http://schemas.microsoft.com/office/drawing/2014/main" id="{03141A8D-8467-E009-77AE-FC6432445F3D}"/>
              </a:ext>
            </a:extLst>
          </p:cNvPr>
          <p:cNvSpPr/>
          <p:nvPr/>
        </p:nvSpPr>
        <p:spPr>
          <a:xfrm>
            <a:off x="1074796" y="2085858"/>
            <a:ext cx="2211210" cy="538609"/>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pic>
        <p:nvPicPr>
          <p:cNvPr id="23" name="圖片 22">
            <a:extLst>
              <a:ext uri="{FF2B5EF4-FFF2-40B4-BE49-F238E27FC236}">
                <a16:creationId xmlns:a16="http://schemas.microsoft.com/office/drawing/2014/main" id="{95622041-B3FB-7262-01F3-D4DBBEF9C0F2}"/>
              </a:ext>
            </a:extLst>
          </p:cNvPr>
          <p:cNvPicPr>
            <a:picLocks noChangeAspect="1"/>
          </p:cNvPicPr>
          <p:nvPr/>
        </p:nvPicPr>
        <p:blipFill>
          <a:blip r:embed="rId5"/>
          <a:stretch>
            <a:fillRect/>
          </a:stretch>
        </p:blipFill>
        <p:spPr>
          <a:xfrm>
            <a:off x="10253124" y="5409583"/>
            <a:ext cx="358168" cy="343842"/>
          </a:xfrm>
          <a:prstGeom prst="rect">
            <a:avLst/>
          </a:prstGeom>
        </p:spPr>
      </p:pic>
    </p:spTree>
    <p:extLst>
      <p:ext uri="{BB962C8B-B14F-4D97-AF65-F5344CB8AC3E}">
        <p14:creationId xmlns:p14="http://schemas.microsoft.com/office/powerpoint/2010/main" val="26820164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標題 1">
            <a:extLst>
              <a:ext uri="{FF2B5EF4-FFF2-40B4-BE49-F238E27FC236}">
                <a16:creationId xmlns:a16="http://schemas.microsoft.com/office/drawing/2014/main" id="{B0041C85-56E6-213C-FE27-2973722A90C1}"/>
              </a:ext>
            </a:extLst>
          </p:cNvPr>
          <p:cNvSpPr txBox="1">
            <a:spLocks/>
          </p:cNvSpPr>
          <p:nvPr/>
        </p:nvSpPr>
        <p:spPr>
          <a:xfrm>
            <a:off x="0" y="0"/>
            <a:ext cx="10515600" cy="70560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kumimoji="1" lang="en-US" altLang="zh-TW" sz="2000" dirty="0"/>
              <a:t>Edit Ad Group</a:t>
            </a:r>
          </a:p>
          <a:p>
            <a:r>
              <a:rPr kumimoji="1" lang="en-US" altLang="zh-TW" sz="2000" dirty="0"/>
              <a:t>Selected Custom Audiences, Status=</a:t>
            </a:r>
            <a:r>
              <a:rPr kumimoji="1" lang="en-US" altLang="zh-TW" sz="2000" b="1" dirty="0"/>
              <a:t>Expired</a:t>
            </a:r>
            <a:r>
              <a:rPr kumimoji="1" lang="en-US" altLang="zh-TW" sz="2000" dirty="0"/>
              <a:t> </a:t>
            </a:r>
            <a:r>
              <a:rPr kumimoji="1" lang="en-US" altLang="zh-TW" sz="2000" b="1" dirty="0">
                <a:sym typeface="Wingdings" pitchFamily="2" charset="2"/>
              </a:rPr>
              <a:t>       </a:t>
            </a:r>
            <a:r>
              <a:rPr kumimoji="1" lang="en-US" altLang="zh-TW" sz="2000" dirty="0">
                <a:sym typeface="Wingdings" pitchFamily="2" charset="2"/>
              </a:rPr>
              <a:t>Deselect One Expired Audience</a:t>
            </a:r>
            <a:endParaRPr kumimoji="1" lang="en-US" altLang="zh-TW" sz="2000" dirty="0"/>
          </a:p>
        </p:txBody>
      </p:sp>
      <p:pic>
        <p:nvPicPr>
          <p:cNvPr id="24" name="圖片 23" descr="一張含有 文字, 軟體, 網頁, 網站 的圖片&#10;&#10;AI 產生的內容可能不正確。">
            <a:extLst>
              <a:ext uri="{FF2B5EF4-FFF2-40B4-BE49-F238E27FC236}">
                <a16:creationId xmlns:a16="http://schemas.microsoft.com/office/drawing/2014/main" id="{1BC02C03-68D1-D699-47AA-67A17C95DBE8}"/>
              </a:ext>
            </a:extLst>
          </p:cNvPr>
          <p:cNvPicPr>
            <a:picLocks noChangeAspect="1"/>
          </p:cNvPicPr>
          <p:nvPr/>
        </p:nvPicPr>
        <p:blipFill>
          <a:blip r:embed="rId2"/>
          <a:stretch>
            <a:fillRect/>
          </a:stretch>
        </p:blipFill>
        <p:spPr>
          <a:xfrm>
            <a:off x="2342899" y="652545"/>
            <a:ext cx="7772400" cy="6205455"/>
          </a:xfrm>
          <a:prstGeom prst="rect">
            <a:avLst/>
          </a:prstGeom>
        </p:spPr>
      </p:pic>
      <p:sp>
        <p:nvSpPr>
          <p:cNvPr id="25" name="文字方塊 24">
            <a:extLst>
              <a:ext uri="{FF2B5EF4-FFF2-40B4-BE49-F238E27FC236}">
                <a16:creationId xmlns:a16="http://schemas.microsoft.com/office/drawing/2014/main" id="{72C6BD79-0A9A-E6E3-F5F4-612B903881F0}"/>
              </a:ext>
            </a:extLst>
          </p:cNvPr>
          <p:cNvSpPr txBox="1"/>
          <p:nvPr/>
        </p:nvSpPr>
        <p:spPr>
          <a:xfrm>
            <a:off x="4631868" y="737536"/>
            <a:ext cx="3194462" cy="307777"/>
          </a:xfrm>
          <a:prstGeom prst="rect">
            <a:avLst/>
          </a:prstGeom>
          <a:solidFill>
            <a:srgbClr val="F5F8FE"/>
          </a:solidFill>
        </p:spPr>
        <p:txBody>
          <a:bodyPr wrap="square" rtlCol="0">
            <a:spAutoFit/>
          </a:bodyPr>
          <a:lstStyle/>
          <a:p>
            <a:pPr algn="ctr"/>
            <a:r>
              <a:rPr kumimoji="1" lang="en-US" altLang="zh-TW" sz="1400">
                <a:solidFill>
                  <a:srgbClr val="1C1E20"/>
                </a:solidFill>
              </a:rPr>
              <a:t>Targeting - Custom Audience</a:t>
            </a:r>
            <a:endParaRPr kumimoji="1" lang="zh-TW" altLang="en-US" sz="1400">
              <a:solidFill>
                <a:srgbClr val="1C1E20"/>
              </a:solidFill>
            </a:endParaRPr>
          </a:p>
        </p:txBody>
      </p:sp>
      <p:sp>
        <p:nvSpPr>
          <p:cNvPr id="26" name="文字方塊 25">
            <a:extLst>
              <a:ext uri="{FF2B5EF4-FFF2-40B4-BE49-F238E27FC236}">
                <a16:creationId xmlns:a16="http://schemas.microsoft.com/office/drawing/2014/main" id="{0418C174-91B1-F3E5-3CC2-7D7739020539}"/>
              </a:ext>
            </a:extLst>
          </p:cNvPr>
          <p:cNvSpPr txBox="1"/>
          <p:nvPr/>
        </p:nvSpPr>
        <p:spPr>
          <a:xfrm>
            <a:off x="2732388" y="1672783"/>
            <a:ext cx="3432646" cy="261610"/>
          </a:xfrm>
          <a:prstGeom prst="rect">
            <a:avLst/>
          </a:prstGeom>
          <a:solidFill>
            <a:schemeClr val="bg1"/>
          </a:solidFill>
        </p:spPr>
        <p:txBody>
          <a:bodyPr wrap="square">
            <a:spAutoFit/>
          </a:bodyPr>
          <a:lstStyle/>
          <a:p>
            <a:pPr lvl="0">
              <a:defRPr/>
            </a:pPr>
            <a:r>
              <a:rPr kumimoji="1" lang="en" altLang="zh-TW" sz="1100">
                <a:solidFill>
                  <a:srgbClr val="4E4E4E"/>
                </a:solidFill>
              </a:rPr>
              <a:t>[</a:t>
            </a:r>
            <a:r>
              <a:rPr kumimoji="1" lang="zh-TW" altLang="en-US" sz="1100">
                <a:solidFill>
                  <a:srgbClr val="4E4E4E"/>
                </a:solidFill>
              </a:rPr>
              <a:t>產業 </a:t>
            </a:r>
            <a:r>
              <a:rPr kumimoji="1" lang="en" altLang="zh-TW" sz="1100">
                <a:solidFill>
                  <a:srgbClr val="4E4E4E"/>
                </a:solidFill>
              </a:rPr>
              <a:t>Shopper Graph</a:t>
            </a:r>
            <a:r>
              <a:rPr kumimoji="1" lang="en-US" altLang="zh-TW" sz="1100">
                <a:solidFill>
                  <a:srgbClr val="4E4E4E"/>
                </a:solidFill>
              </a:rPr>
              <a:t>] </a:t>
            </a:r>
            <a:r>
              <a:rPr kumimoji="1" lang="zh-TW" altLang="en-US" sz="1100">
                <a:solidFill>
                  <a:srgbClr val="4E4E4E"/>
                </a:solidFill>
              </a:rPr>
              <a:t>合利他命</a:t>
            </a:r>
            <a:r>
              <a:rPr kumimoji="1" lang="en" altLang="zh-TW" sz="1100">
                <a:solidFill>
                  <a:srgbClr val="4E4E4E"/>
                </a:solidFill>
              </a:rPr>
              <a:t>EXPLUS 9-10</a:t>
            </a:r>
            <a:r>
              <a:rPr kumimoji="1" lang="zh-TW" altLang="en-US" sz="1100">
                <a:solidFill>
                  <a:srgbClr val="4E4E4E"/>
                </a:solidFill>
              </a:rPr>
              <a:t>月</a:t>
            </a:r>
          </a:p>
        </p:txBody>
      </p:sp>
      <p:sp>
        <p:nvSpPr>
          <p:cNvPr id="27" name="文字方塊 26">
            <a:extLst>
              <a:ext uri="{FF2B5EF4-FFF2-40B4-BE49-F238E27FC236}">
                <a16:creationId xmlns:a16="http://schemas.microsoft.com/office/drawing/2014/main" id="{9B80BCF8-8A12-3C9F-83CB-F750C3178344}"/>
              </a:ext>
            </a:extLst>
          </p:cNvPr>
          <p:cNvSpPr txBox="1"/>
          <p:nvPr/>
        </p:nvSpPr>
        <p:spPr>
          <a:xfrm>
            <a:off x="2739553" y="1881795"/>
            <a:ext cx="3432647" cy="215444"/>
          </a:xfrm>
          <a:prstGeom prst="rect">
            <a:avLst/>
          </a:prstGeom>
          <a:solidFill>
            <a:schemeClr val="bg1"/>
          </a:solidFill>
        </p:spPr>
        <p:txBody>
          <a:bodyPr wrap="square">
            <a:spAutoFit/>
          </a:bodyPr>
          <a:lstStyle/>
          <a:p>
            <a:pPr lvl="0">
              <a:defRPr/>
            </a:pPr>
            <a:r>
              <a:rPr kumimoji="1" lang="en" altLang="zh-TW" sz="800">
                <a:solidFill>
                  <a:schemeClr val="bg1">
                    <a:lumMod val="65000"/>
                  </a:schemeClr>
                </a:solidFill>
              </a:rPr>
              <a:t>Industry Shopper Graph</a:t>
            </a:r>
          </a:p>
        </p:txBody>
      </p:sp>
      <p:sp>
        <p:nvSpPr>
          <p:cNvPr id="28" name="文字方塊 27">
            <a:extLst>
              <a:ext uri="{FF2B5EF4-FFF2-40B4-BE49-F238E27FC236}">
                <a16:creationId xmlns:a16="http://schemas.microsoft.com/office/drawing/2014/main" id="{03D3AFD9-82AA-0A1C-F19A-09D7612BFDFA}"/>
              </a:ext>
            </a:extLst>
          </p:cNvPr>
          <p:cNvSpPr txBox="1"/>
          <p:nvPr/>
        </p:nvSpPr>
        <p:spPr>
          <a:xfrm>
            <a:off x="2739553" y="2204776"/>
            <a:ext cx="3432646" cy="261610"/>
          </a:xfrm>
          <a:prstGeom prst="rect">
            <a:avLst/>
          </a:prstGeom>
          <a:solidFill>
            <a:schemeClr val="bg1"/>
          </a:solidFill>
        </p:spPr>
        <p:txBody>
          <a:bodyPr wrap="square">
            <a:spAutoFit/>
          </a:bodyPr>
          <a:lstStyle/>
          <a:p>
            <a:pPr lvl="0">
              <a:defRPr/>
            </a:pPr>
            <a:r>
              <a:rPr kumimoji="1" lang="en" altLang="zh-TW" sz="1100">
                <a:solidFill>
                  <a:srgbClr val="4E4E4E"/>
                </a:solidFill>
              </a:rPr>
              <a:t>[Webb</a:t>
            </a:r>
            <a:r>
              <a:rPr kumimoji="1" lang="zh-TW" altLang="en-US" sz="1100">
                <a:solidFill>
                  <a:srgbClr val="4E4E4E"/>
                </a:solidFill>
              </a:rPr>
              <a:t>零售數據</a:t>
            </a:r>
            <a:r>
              <a:rPr kumimoji="1" lang="en-US" altLang="zh-TW" sz="1100">
                <a:solidFill>
                  <a:srgbClr val="4E4E4E"/>
                </a:solidFill>
              </a:rPr>
              <a:t>-</a:t>
            </a:r>
            <a:r>
              <a:rPr kumimoji="1" lang="zh-TW" altLang="en-US" sz="1100">
                <a:solidFill>
                  <a:srgbClr val="4E4E4E"/>
                </a:solidFill>
              </a:rPr>
              <a:t>購買</a:t>
            </a:r>
            <a:r>
              <a:rPr kumimoji="1" lang="en-US" altLang="zh-TW" sz="1100">
                <a:solidFill>
                  <a:srgbClr val="4E4E4E"/>
                </a:solidFill>
              </a:rPr>
              <a:t>] </a:t>
            </a:r>
            <a:r>
              <a:rPr kumimoji="1" lang="zh-TW" altLang="en-US" sz="1100">
                <a:solidFill>
                  <a:srgbClr val="4E4E4E"/>
                </a:solidFill>
              </a:rPr>
              <a:t>合利他命</a:t>
            </a:r>
            <a:r>
              <a:rPr kumimoji="1" lang="en" altLang="zh-TW" sz="1100">
                <a:solidFill>
                  <a:srgbClr val="4E4E4E"/>
                </a:solidFill>
              </a:rPr>
              <a:t>EXPLUS 10</a:t>
            </a:r>
            <a:r>
              <a:rPr kumimoji="1" lang="zh-TW" altLang="en-US" sz="1100">
                <a:solidFill>
                  <a:srgbClr val="4E4E4E"/>
                </a:solidFill>
              </a:rPr>
              <a:t>月</a:t>
            </a:r>
          </a:p>
        </p:txBody>
      </p:sp>
      <p:sp>
        <p:nvSpPr>
          <p:cNvPr id="29" name="文字方塊 28">
            <a:extLst>
              <a:ext uri="{FF2B5EF4-FFF2-40B4-BE49-F238E27FC236}">
                <a16:creationId xmlns:a16="http://schemas.microsoft.com/office/drawing/2014/main" id="{D6375143-03C0-2F60-79B3-369AD8D82DB6}"/>
              </a:ext>
            </a:extLst>
          </p:cNvPr>
          <p:cNvSpPr txBox="1"/>
          <p:nvPr/>
        </p:nvSpPr>
        <p:spPr>
          <a:xfrm>
            <a:off x="2746718" y="2413788"/>
            <a:ext cx="3432647" cy="215444"/>
          </a:xfrm>
          <a:prstGeom prst="rect">
            <a:avLst/>
          </a:prstGeom>
          <a:solidFill>
            <a:schemeClr val="bg1"/>
          </a:solidFill>
        </p:spPr>
        <p:txBody>
          <a:bodyPr wrap="square">
            <a:spAutoFit/>
          </a:bodyPr>
          <a:lstStyle/>
          <a:p>
            <a:pPr fontAlgn="base"/>
            <a:r>
              <a:rPr kumimoji="1" lang="en" altLang="zh-TW" sz="800">
                <a:solidFill>
                  <a:schemeClr val="bg1">
                    <a:lumMod val="65000"/>
                  </a:schemeClr>
                </a:solidFill>
              </a:rPr>
              <a:t>Webb Retail Data (Purchase)</a:t>
            </a:r>
          </a:p>
        </p:txBody>
      </p:sp>
      <p:sp>
        <p:nvSpPr>
          <p:cNvPr id="30" name="文字方塊 29">
            <a:extLst>
              <a:ext uri="{FF2B5EF4-FFF2-40B4-BE49-F238E27FC236}">
                <a16:creationId xmlns:a16="http://schemas.microsoft.com/office/drawing/2014/main" id="{A1371963-6E9F-3A50-34CF-B62646DCFD7D}"/>
              </a:ext>
            </a:extLst>
          </p:cNvPr>
          <p:cNvSpPr txBox="1"/>
          <p:nvPr/>
        </p:nvSpPr>
        <p:spPr>
          <a:xfrm>
            <a:off x="2732387" y="2731379"/>
            <a:ext cx="3432646" cy="261610"/>
          </a:xfrm>
          <a:prstGeom prst="rect">
            <a:avLst/>
          </a:prstGeom>
          <a:solidFill>
            <a:schemeClr val="bg1"/>
          </a:solidFill>
        </p:spPr>
        <p:txBody>
          <a:bodyPr wrap="square">
            <a:spAutoFit/>
          </a:bodyPr>
          <a:lstStyle/>
          <a:p>
            <a:pPr lvl="0">
              <a:defRPr/>
            </a:pPr>
            <a:r>
              <a:rPr kumimoji="1" lang="en" altLang="zh-TW" sz="1100">
                <a:solidFill>
                  <a:srgbClr val="4E4E4E"/>
                </a:solidFill>
              </a:rPr>
              <a:t>[</a:t>
            </a:r>
            <a:r>
              <a:rPr kumimoji="1" lang="zh-TW" altLang="en-US" sz="1100">
                <a:solidFill>
                  <a:srgbClr val="4E4E4E"/>
                </a:solidFill>
              </a:rPr>
              <a:t>產業 </a:t>
            </a:r>
            <a:r>
              <a:rPr kumimoji="1" lang="en" altLang="zh-TW" sz="1100">
                <a:solidFill>
                  <a:srgbClr val="4E4E4E"/>
                </a:solidFill>
              </a:rPr>
              <a:t>Shopper Graph</a:t>
            </a:r>
            <a:r>
              <a:rPr kumimoji="1" lang="en-US" altLang="zh-TW" sz="1100">
                <a:solidFill>
                  <a:srgbClr val="4E4E4E"/>
                </a:solidFill>
              </a:rPr>
              <a:t>] </a:t>
            </a:r>
            <a:r>
              <a:rPr kumimoji="1" lang="zh-TW" altLang="en-US" sz="1100">
                <a:solidFill>
                  <a:srgbClr val="4E4E4E"/>
                </a:solidFill>
              </a:rPr>
              <a:t>合利他命</a:t>
            </a:r>
            <a:r>
              <a:rPr kumimoji="1" lang="en" altLang="zh-TW" sz="1100">
                <a:solidFill>
                  <a:srgbClr val="4E4E4E"/>
                </a:solidFill>
              </a:rPr>
              <a:t>EXPLUS 9-10</a:t>
            </a:r>
            <a:r>
              <a:rPr kumimoji="1" lang="zh-TW" altLang="en-US" sz="1100">
                <a:solidFill>
                  <a:srgbClr val="4E4E4E"/>
                </a:solidFill>
              </a:rPr>
              <a:t>月</a:t>
            </a:r>
          </a:p>
        </p:txBody>
      </p:sp>
      <p:sp>
        <p:nvSpPr>
          <p:cNvPr id="31" name="文字方塊 30">
            <a:extLst>
              <a:ext uri="{FF2B5EF4-FFF2-40B4-BE49-F238E27FC236}">
                <a16:creationId xmlns:a16="http://schemas.microsoft.com/office/drawing/2014/main" id="{D42094E8-76A2-E92A-96A9-93A37909EBFB}"/>
              </a:ext>
            </a:extLst>
          </p:cNvPr>
          <p:cNvSpPr txBox="1"/>
          <p:nvPr/>
        </p:nvSpPr>
        <p:spPr>
          <a:xfrm>
            <a:off x="2739552" y="2940391"/>
            <a:ext cx="3432647" cy="215444"/>
          </a:xfrm>
          <a:prstGeom prst="rect">
            <a:avLst/>
          </a:prstGeom>
          <a:solidFill>
            <a:schemeClr val="bg1"/>
          </a:solidFill>
        </p:spPr>
        <p:txBody>
          <a:bodyPr wrap="square">
            <a:spAutoFit/>
          </a:bodyPr>
          <a:lstStyle/>
          <a:p>
            <a:pPr lvl="0">
              <a:defRPr/>
            </a:pPr>
            <a:r>
              <a:rPr kumimoji="1" lang="en" altLang="zh-TW" sz="800">
                <a:solidFill>
                  <a:schemeClr val="bg1">
                    <a:lumMod val="65000"/>
                  </a:schemeClr>
                </a:solidFill>
              </a:rPr>
              <a:t>Industry Shopper Graph</a:t>
            </a:r>
          </a:p>
        </p:txBody>
      </p:sp>
      <p:sp>
        <p:nvSpPr>
          <p:cNvPr id="32" name="文字方塊 31">
            <a:extLst>
              <a:ext uri="{FF2B5EF4-FFF2-40B4-BE49-F238E27FC236}">
                <a16:creationId xmlns:a16="http://schemas.microsoft.com/office/drawing/2014/main" id="{B88A229C-B5D1-E71A-71CB-EBD2CD0A6E21}"/>
              </a:ext>
            </a:extLst>
          </p:cNvPr>
          <p:cNvSpPr txBox="1"/>
          <p:nvPr/>
        </p:nvSpPr>
        <p:spPr>
          <a:xfrm>
            <a:off x="2746718" y="3247295"/>
            <a:ext cx="3432646" cy="261610"/>
          </a:xfrm>
          <a:prstGeom prst="rect">
            <a:avLst/>
          </a:prstGeom>
          <a:solidFill>
            <a:schemeClr val="bg1"/>
          </a:solid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zh-TW" sz="1100" kern="1200">
                <a:solidFill>
                  <a:srgbClr val="1C1E20"/>
                </a:solidFill>
                <a:latin typeface="+mn-lt"/>
                <a:ea typeface="+mn-ea"/>
                <a:cs typeface="+mn-cs"/>
              </a:rPr>
              <a:t>[</a:t>
            </a:r>
            <a:r>
              <a:rPr kumimoji="1" lang="zh-TW" altLang="en-US" sz="1100" kern="1200">
                <a:solidFill>
                  <a:srgbClr val="1C1E20"/>
                </a:solidFill>
                <a:latin typeface="+mn-lt"/>
                <a:ea typeface="+mn-ea"/>
                <a:cs typeface="+mn-cs"/>
              </a:rPr>
              <a:t>關鍵字</a:t>
            </a:r>
            <a:r>
              <a:rPr kumimoji="1" lang="en-US" altLang="zh-TW" sz="1100" kern="1200">
                <a:solidFill>
                  <a:srgbClr val="1C1E20"/>
                </a:solidFill>
                <a:latin typeface="+mn-lt"/>
                <a:ea typeface="+mn-ea"/>
                <a:cs typeface="+mn-cs"/>
              </a:rPr>
              <a:t>] </a:t>
            </a:r>
            <a:r>
              <a:rPr kumimoji="1" lang="zh-TW" altLang="en-US" sz="1100" kern="1200">
                <a:solidFill>
                  <a:srgbClr val="1C1E20"/>
                </a:solidFill>
                <a:latin typeface="+mn-lt"/>
                <a:ea typeface="+mn-ea"/>
                <a:cs typeface="+mn-cs"/>
              </a:rPr>
              <a:t>合利他命</a:t>
            </a:r>
            <a:r>
              <a:rPr kumimoji="1" lang="en" altLang="zh-TW" sz="1100" kern="1200">
                <a:solidFill>
                  <a:srgbClr val="1C1E20"/>
                </a:solidFill>
                <a:latin typeface="+mn-lt"/>
                <a:ea typeface="+mn-ea"/>
                <a:cs typeface="+mn-cs"/>
              </a:rPr>
              <a:t>EXPLUS 10</a:t>
            </a:r>
            <a:r>
              <a:rPr kumimoji="1" lang="zh-TW" altLang="en-US" sz="1100" kern="1200">
                <a:solidFill>
                  <a:srgbClr val="1C1E20"/>
                </a:solidFill>
                <a:latin typeface="+mn-lt"/>
                <a:ea typeface="+mn-ea"/>
                <a:cs typeface="+mn-cs"/>
              </a:rPr>
              <a:t>月</a:t>
            </a:r>
          </a:p>
        </p:txBody>
      </p:sp>
      <p:sp>
        <p:nvSpPr>
          <p:cNvPr id="33" name="文字方塊 32">
            <a:extLst>
              <a:ext uri="{FF2B5EF4-FFF2-40B4-BE49-F238E27FC236}">
                <a16:creationId xmlns:a16="http://schemas.microsoft.com/office/drawing/2014/main" id="{CF2716F6-A655-3FC8-5BB7-D7DB909D5923}"/>
              </a:ext>
            </a:extLst>
          </p:cNvPr>
          <p:cNvSpPr txBox="1"/>
          <p:nvPr/>
        </p:nvSpPr>
        <p:spPr>
          <a:xfrm>
            <a:off x="2753883" y="3456307"/>
            <a:ext cx="3432647" cy="215444"/>
          </a:xfrm>
          <a:prstGeom prst="rect">
            <a:avLst/>
          </a:prstGeom>
          <a:solidFill>
            <a:schemeClr val="bg1"/>
          </a:solidFill>
        </p:spPr>
        <p:txBody>
          <a:bodyPr wrap="square">
            <a:spAutoFit/>
          </a:bodyPr>
          <a:lstStyle/>
          <a:p>
            <a:pPr lvl="0">
              <a:defRPr/>
            </a:pPr>
            <a:r>
              <a:rPr kumimoji="1" lang="en" altLang="zh-TW" sz="800">
                <a:solidFill>
                  <a:schemeClr val="bg1">
                    <a:lumMod val="65000"/>
                  </a:schemeClr>
                </a:solidFill>
              </a:rPr>
              <a:t>Brand Keyword AI Exploration</a:t>
            </a:r>
          </a:p>
        </p:txBody>
      </p:sp>
      <p:sp>
        <p:nvSpPr>
          <p:cNvPr id="34" name="文字方塊 33">
            <a:extLst>
              <a:ext uri="{FF2B5EF4-FFF2-40B4-BE49-F238E27FC236}">
                <a16:creationId xmlns:a16="http://schemas.microsoft.com/office/drawing/2014/main" id="{92654678-5908-D9D3-7725-33D3A6F89E5D}"/>
              </a:ext>
            </a:extLst>
          </p:cNvPr>
          <p:cNvSpPr txBox="1"/>
          <p:nvPr/>
        </p:nvSpPr>
        <p:spPr>
          <a:xfrm>
            <a:off x="2753883" y="3765643"/>
            <a:ext cx="3432646" cy="261610"/>
          </a:xfrm>
          <a:prstGeom prst="rect">
            <a:avLst/>
          </a:prstGeom>
          <a:solidFill>
            <a:schemeClr val="bg1"/>
          </a:solid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zh-TW" sz="1100" kern="1200">
                <a:solidFill>
                  <a:srgbClr val="1C1E20"/>
                </a:solidFill>
                <a:latin typeface="+mn-lt"/>
                <a:ea typeface="+mn-ea"/>
                <a:cs typeface="+mn-cs"/>
              </a:rPr>
              <a:t>[</a:t>
            </a:r>
            <a:r>
              <a:rPr kumimoji="1" lang="zh-TW" altLang="en-US" sz="1100" kern="1200">
                <a:solidFill>
                  <a:srgbClr val="1C1E20"/>
                </a:solidFill>
                <a:latin typeface="+mn-lt"/>
                <a:ea typeface="+mn-ea"/>
                <a:cs typeface="+mn-cs"/>
              </a:rPr>
              <a:t>關鍵字</a:t>
            </a:r>
            <a:r>
              <a:rPr kumimoji="1" lang="en-US" altLang="zh-TW" sz="1100" kern="1200">
                <a:solidFill>
                  <a:srgbClr val="1C1E20"/>
                </a:solidFill>
                <a:latin typeface="+mn-lt"/>
                <a:ea typeface="+mn-ea"/>
                <a:cs typeface="+mn-cs"/>
              </a:rPr>
              <a:t>] </a:t>
            </a:r>
            <a:r>
              <a:rPr kumimoji="1" lang="zh-TW" altLang="en-US" sz="1100" kern="1200">
                <a:solidFill>
                  <a:srgbClr val="1C1E20"/>
                </a:solidFill>
                <a:latin typeface="+mn-lt"/>
                <a:ea typeface="+mn-ea"/>
                <a:cs typeface="+mn-cs"/>
              </a:rPr>
              <a:t>合利他命</a:t>
            </a:r>
            <a:r>
              <a:rPr kumimoji="1" lang="en" altLang="zh-TW" sz="1100" kern="1200">
                <a:solidFill>
                  <a:srgbClr val="1C1E20"/>
                </a:solidFill>
                <a:latin typeface="+mn-lt"/>
                <a:ea typeface="+mn-ea"/>
                <a:cs typeface="+mn-cs"/>
              </a:rPr>
              <a:t>EXPLUS 10</a:t>
            </a:r>
            <a:r>
              <a:rPr kumimoji="1" lang="zh-TW" altLang="en-US" sz="1100" kern="1200">
                <a:solidFill>
                  <a:srgbClr val="1C1E20"/>
                </a:solidFill>
                <a:latin typeface="+mn-lt"/>
                <a:ea typeface="+mn-ea"/>
                <a:cs typeface="+mn-cs"/>
              </a:rPr>
              <a:t>月</a:t>
            </a:r>
          </a:p>
        </p:txBody>
      </p:sp>
      <p:sp>
        <p:nvSpPr>
          <p:cNvPr id="35" name="文字方塊 34">
            <a:extLst>
              <a:ext uri="{FF2B5EF4-FFF2-40B4-BE49-F238E27FC236}">
                <a16:creationId xmlns:a16="http://schemas.microsoft.com/office/drawing/2014/main" id="{953AB6E3-0177-4DAB-BBB3-8100876DD2CF}"/>
              </a:ext>
            </a:extLst>
          </p:cNvPr>
          <p:cNvSpPr txBox="1"/>
          <p:nvPr/>
        </p:nvSpPr>
        <p:spPr>
          <a:xfrm>
            <a:off x="2761048" y="3974655"/>
            <a:ext cx="3432647" cy="215444"/>
          </a:xfrm>
          <a:prstGeom prst="rect">
            <a:avLst/>
          </a:prstGeom>
          <a:solidFill>
            <a:schemeClr val="bg1"/>
          </a:solidFill>
        </p:spPr>
        <p:txBody>
          <a:bodyPr wrap="square">
            <a:spAutoFit/>
          </a:bodyPr>
          <a:lstStyle/>
          <a:p>
            <a:pPr lvl="0">
              <a:defRPr/>
            </a:pPr>
            <a:r>
              <a:rPr kumimoji="1" lang="en" altLang="zh-TW" sz="800">
                <a:solidFill>
                  <a:schemeClr val="bg1">
                    <a:lumMod val="65000"/>
                  </a:schemeClr>
                </a:solidFill>
              </a:rPr>
              <a:t>Brand Keyword AI Exploration</a:t>
            </a:r>
          </a:p>
        </p:txBody>
      </p:sp>
      <p:sp>
        <p:nvSpPr>
          <p:cNvPr id="36" name="矩形 35">
            <a:extLst>
              <a:ext uri="{FF2B5EF4-FFF2-40B4-BE49-F238E27FC236}">
                <a16:creationId xmlns:a16="http://schemas.microsoft.com/office/drawing/2014/main" id="{A8B27BB9-E527-4C78-519F-FCE0A2BDD547}"/>
              </a:ext>
            </a:extLst>
          </p:cNvPr>
          <p:cNvSpPr/>
          <p:nvPr/>
        </p:nvSpPr>
        <p:spPr>
          <a:xfrm>
            <a:off x="6179364" y="1630448"/>
            <a:ext cx="68601" cy="620494"/>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pic>
        <p:nvPicPr>
          <p:cNvPr id="37" name="圖片 36" descr="一張含有 文字, 字型, 螢幕擷取畫面 的圖片&#10;&#10;AI 產生的內容可能不正確。">
            <a:extLst>
              <a:ext uri="{FF2B5EF4-FFF2-40B4-BE49-F238E27FC236}">
                <a16:creationId xmlns:a16="http://schemas.microsoft.com/office/drawing/2014/main" id="{698A2576-15CD-6048-7A2C-6146AE8BD9D6}"/>
              </a:ext>
            </a:extLst>
          </p:cNvPr>
          <p:cNvPicPr>
            <a:picLocks noChangeAspect="1"/>
          </p:cNvPicPr>
          <p:nvPr/>
        </p:nvPicPr>
        <p:blipFill>
          <a:blip r:embed="rId3"/>
          <a:stretch>
            <a:fillRect/>
          </a:stretch>
        </p:blipFill>
        <p:spPr>
          <a:xfrm>
            <a:off x="6287260" y="1307677"/>
            <a:ext cx="3728570" cy="1384897"/>
          </a:xfrm>
          <a:prstGeom prst="rect">
            <a:avLst/>
          </a:prstGeom>
        </p:spPr>
      </p:pic>
      <p:sp>
        <p:nvSpPr>
          <p:cNvPr id="38" name="矩形 37">
            <a:extLst>
              <a:ext uri="{FF2B5EF4-FFF2-40B4-BE49-F238E27FC236}">
                <a16:creationId xmlns:a16="http://schemas.microsoft.com/office/drawing/2014/main" id="{3201C073-07D2-91A9-49ED-CC042D780369}"/>
              </a:ext>
            </a:extLst>
          </p:cNvPr>
          <p:cNvSpPr/>
          <p:nvPr/>
        </p:nvSpPr>
        <p:spPr>
          <a:xfrm>
            <a:off x="6287260" y="2680389"/>
            <a:ext cx="3744000" cy="352248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39" name="文字方塊 38">
            <a:extLst>
              <a:ext uri="{FF2B5EF4-FFF2-40B4-BE49-F238E27FC236}">
                <a16:creationId xmlns:a16="http://schemas.microsoft.com/office/drawing/2014/main" id="{613DCD1B-498E-0601-1B7B-035796D85271}"/>
              </a:ext>
            </a:extLst>
          </p:cNvPr>
          <p:cNvSpPr txBox="1"/>
          <p:nvPr/>
        </p:nvSpPr>
        <p:spPr>
          <a:xfrm>
            <a:off x="6524547" y="1678631"/>
            <a:ext cx="3432646" cy="261610"/>
          </a:xfrm>
          <a:prstGeom prst="rect">
            <a:avLst/>
          </a:prstGeom>
          <a:solidFill>
            <a:schemeClr val="bg1"/>
          </a:solidFill>
        </p:spPr>
        <p:txBody>
          <a:bodyPr wrap="square">
            <a:spAutoFit/>
          </a:bodyPr>
          <a:lstStyle/>
          <a:p>
            <a:pPr lvl="0">
              <a:defRPr/>
            </a:pPr>
            <a:r>
              <a:rPr kumimoji="1" lang="en-US" altLang="zh-TW" sz="1100">
                <a:solidFill>
                  <a:srgbClr val="2993FF"/>
                </a:solidFill>
              </a:rPr>
              <a:t>[</a:t>
            </a:r>
            <a:r>
              <a:rPr kumimoji="1" lang="zh-TW" altLang="en-US" sz="1100">
                <a:solidFill>
                  <a:srgbClr val="2993FF"/>
                </a:solidFill>
              </a:rPr>
              <a:t>線下</a:t>
            </a:r>
            <a:r>
              <a:rPr kumimoji="1" lang="en" altLang="zh-TW" sz="1100">
                <a:solidFill>
                  <a:srgbClr val="2993FF"/>
                </a:solidFill>
              </a:rPr>
              <a:t>POI] </a:t>
            </a:r>
            <a:r>
              <a:rPr kumimoji="1" lang="zh-TW" altLang="en-US" sz="1100">
                <a:solidFill>
                  <a:srgbClr val="2993FF"/>
                </a:solidFill>
              </a:rPr>
              <a:t>合利他命</a:t>
            </a:r>
            <a:r>
              <a:rPr kumimoji="1" lang="en" altLang="zh-TW" sz="1100">
                <a:solidFill>
                  <a:srgbClr val="2993FF"/>
                </a:solidFill>
              </a:rPr>
              <a:t>EXPLUS 10</a:t>
            </a:r>
            <a:r>
              <a:rPr kumimoji="1" lang="zh-TW" altLang="en-US" sz="1100">
                <a:solidFill>
                  <a:srgbClr val="2993FF"/>
                </a:solidFill>
              </a:rPr>
              <a:t>月</a:t>
            </a:r>
          </a:p>
        </p:txBody>
      </p:sp>
      <p:sp>
        <p:nvSpPr>
          <p:cNvPr id="40" name="文字方塊 39">
            <a:extLst>
              <a:ext uri="{FF2B5EF4-FFF2-40B4-BE49-F238E27FC236}">
                <a16:creationId xmlns:a16="http://schemas.microsoft.com/office/drawing/2014/main" id="{7E207DCE-7F2E-D2E0-3AA7-BE9CC9F3C816}"/>
              </a:ext>
            </a:extLst>
          </p:cNvPr>
          <p:cNvSpPr txBox="1"/>
          <p:nvPr/>
        </p:nvSpPr>
        <p:spPr>
          <a:xfrm>
            <a:off x="6524546" y="1881795"/>
            <a:ext cx="3432647" cy="215444"/>
          </a:xfrm>
          <a:prstGeom prst="rect">
            <a:avLst/>
          </a:prstGeom>
          <a:solidFill>
            <a:schemeClr val="bg1"/>
          </a:solidFill>
        </p:spPr>
        <p:txBody>
          <a:bodyPr wrap="square">
            <a:spAutoFit/>
          </a:bodyPr>
          <a:lstStyle/>
          <a:p>
            <a:pPr lvl="0">
              <a:defRPr/>
            </a:pPr>
            <a:r>
              <a:rPr kumimoji="1" lang="en" altLang="zh-TW" sz="800">
                <a:solidFill>
                  <a:schemeClr val="bg1">
                    <a:lumMod val="65000"/>
                  </a:schemeClr>
                </a:solidFill>
              </a:rPr>
              <a:t>Offline Point of Interest (POI)</a:t>
            </a:r>
          </a:p>
        </p:txBody>
      </p:sp>
      <p:pic>
        <p:nvPicPr>
          <p:cNvPr id="41" name="圖片 40">
            <a:extLst>
              <a:ext uri="{FF2B5EF4-FFF2-40B4-BE49-F238E27FC236}">
                <a16:creationId xmlns:a16="http://schemas.microsoft.com/office/drawing/2014/main" id="{ADED8A8A-F47C-1ADA-3EB4-3BBD13C03306}"/>
              </a:ext>
            </a:extLst>
          </p:cNvPr>
          <p:cNvPicPr>
            <a:picLocks noChangeAspect="1"/>
          </p:cNvPicPr>
          <p:nvPr/>
        </p:nvPicPr>
        <p:blipFill>
          <a:blip r:embed="rId4"/>
          <a:stretch>
            <a:fillRect/>
          </a:stretch>
        </p:blipFill>
        <p:spPr>
          <a:xfrm>
            <a:off x="7897154" y="1900710"/>
            <a:ext cx="184348" cy="184348"/>
          </a:xfrm>
          <a:prstGeom prst="rect">
            <a:avLst/>
          </a:prstGeom>
        </p:spPr>
      </p:pic>
      <p:sp>
        <p:nvSpPr>
          <p:cNvPr id="42" name="文字方塊 41">
            <a:extLst>
              <a:ext uri="{FF2B5EF4-FFF2-40B4-BE49-F238E27FC236}">
                <a16:creationId xmlns:a16="http://schemas.microsoft.com/office/drawing/2014/main" id="{081A303E-BD25-E5B9-F23D-FC9C436A3D1D}"/>
              </a:ext>
            </a:extLst>
          </p:cNvPr>
          <p:cNvSpPr txBox="1"/>
          <p:nvPr/>
        </p:nvSpPr>
        <p:spPr>
          <a:xfrm>
            <a:off x="6517381" y="2204776"/>
            <a:ext cx="3432646" cy="261610"/>
          </a:xfrm>
          <a:prstGeom prst="rect">
            <a:avLst/>
          </a:prstGeom>
          <a:solidFill>
            <a:schemeClr val="bg1"/>
          </a:solidFill>
        </p:spPr>
        <p:txBody>
          <a:bodyPr wrap="square">
            <a:spAutoFit/>
          </a:bodyPr>
          <a:lstStyle/>
          <a:p>
            <a:pPr lvl="0">
              <a:defRPr/>
            </a:pPr>
            <a:r>
              <a:rPr kumimoji="1" lang="en" altLang="zh-TW" sz="1100" dirty="0">
                <a:solidFill>
                  <a:srgbClr val="2993FF"/>
                </a:solidFill>
              </a:rPr>
              <a:t>[Webb</a:t>
            </a:r>
            <a:r>
              <a:rPr kumimoji="1" lang="zh-TW" altLang="en-US" sz="1100" dirty="0">
                <a:solidFill>
                  <a:srgbClr val="2993FF"/>
                </a:solidFill>
              </a:rPr>
              <a:t>零售數據</a:t>
            </a:r>
            <a:r>
              <a:rPr kumimoji="1" lang="en-US" altLang="zh-TW" sz="1100" dirty="0">
                <a:solidFill>
                  <a:srgbClr val="2993FF"/>
                </a:solidFill>
              </a:rPr>
              <a:t>-</a:t>
            </a:r>
            <a:r>
              <a:rPr kumimoji="1" lang="zh-TW" altLang="en-US" sz="1100" dirty="0">
                <a:solidFill>
                  <a:srgbClr val="2993FF"/>
                </a:solidFill>
              </a:rPr>
              <a:t>購買</a:t>
            </a:r>
            <a:r>
              <a:rPr kumimoji="1" lang="en-US" altLang="zh-TW" sz="1100" dirty="0">
                <a:solidFill>
                  <a:srgbClr val="2993FF"/>
                </a:solidFill>
              </a:rPr>
              <a:t>] </a:t>
            </a:r>
            <a:r>
              <a:rPr kumimoji="1" lang="zh-TW" altLang="en-US" sz="1100" dirty="0">
                <a:solidFill>
                  <a:srgbClr val="2993FF"/>
                </a:solidFill>
              </a:rPr>
              <a:t>合利他命</a:t>
            </a:r>
            <a:r>
              <a:rPr kumimoji="1" lang="en" altLang="zh-TW" sz="1100" dirty="0">
                <a:solidFill>
                  <a:srgbClr val="2993FF"/>
                </a:solidFill>
              </a:rPr>
              <a:t>EXPLUS 10</a:t>
            </a:r>
            <a:r>
              <a:rPr kumimoji="1" lang="zh-TW" altLang="en-US" sz="1100" dirty="0">
                <a:solidFill>
                  <a:srgbClr val="2993FF"/>
                </a:solidFill>
              </a:rPr>
              <a:t>月</a:t>
            </a:r>
          </a:p>
        </p:txBody>
      </p:sp>
      <p:sp>
        <p:nvSpPr>
          <p:cNvPr id="43" name="文字方塊 42">
            <a:extLst>
              <a:ext uri="{FF2B5EF4-FFF2-40B4-BE49-F238E27FC236}">
                <a16:creationId xmlns:a16="http://schemas.microsoft.com/office/drawing/2014/main" id="{FA2FB98E-A337-0E98-7946-19B2E530AF7A}"/>
              </a:ext>
            </a:extLst>
          </p:cNvPr>
          <p:cNvSpPr txBox="1"/>
          <p:nvPr/>
        </p:nvSpPr>
        <p:spPr>
          <a:xfrm>
            <a:off x="6524546" y="2413788"/>
            <a:ext cx="3432647" cy="215444"/>
          </a:xfrm>
          <a:prstGeom prst="rect">
            <a:avLst/>
          </a:prstGeom>
          <a:solidFill>
            <a:schemeClr val="bg1"/>
          </a:solidFill>
        </p:spPr>
        <p:txBody>
          <a:bodyPr wrap="square">
            <a:spAutoFit/>
          </a:bodyPr>
          <a:lstStyle/>
          <a:p>
            <a:pPr fontAlgn="base"/>
            <a:r>
              <a:rPr kumimoji="1" lang="en" altLang="zh-TW" sz="800" dirty="0">
                <a:solidFill>
                  <a:schemeClr val="bg1">
                    <a:lumMod val="65000"/>
                  </a:schemeClr>
                </a:solidFill>
              </a:rPr>
              <a:t>Webb Retail Data (Purchase)</a:t>
            </a:r>
          </a:p>
        </p:txBody>
      </p:sp>
      <p:sp>
        <p:nvSpPr>
          <p:cNvPr id="44" name="矩形 43">
            <a:extLst>
              <a:ext uri="{FF2B5EF4-FFF2-40B4-BE49-F238E27FC236}">
                <a16:creationId xmlns:a16="http://schemas.microsoft.com/office/drawing/2014/main" id="{C8EB58C4-C3F1-F9F7-9E0B-20379EB7F412}"/>
              </a:ext>
            </a:extLst>
          </p:cNvPr>
          <p:cNvSpPr/>
          <p:nvPr/>
        </p:nvSpPr>
        <p:spPr>
          <a:xfrm>
            <a:off x="2503965" y="2143405"/>
            <a:ext cx="3744000" cy="4078016"/>
          </a:xfrm>
          <a:prstGeom prst="rect">
            <a:avLst/>
          </a:prstGeom>
          <a:solidFill>
            <a:srgbClr val="F5F8F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pic>
        <p:nvPicPr>
          <p:cNvPr id="5" name="圖片 4" descr="一張含有 寫生, 設計, 工具 的圖片&#10;&#10;AI 產生的內容可能不正確。">
            <a:extLst>
              <a:ext uri="{FF2B5EF4-FFF2-40B4-BE49-F238E27FC236}">
                <a16:creationId xmlns:a16="http://schemas.microsoft.com/office/drawing/2014/main" id="{69A2F590-0B72-2187-52FB-88073DA121C9}"/>
              </a:ext>
            </a:extLst>
          </p:cNvPr>
          <p:cNvPicPr>
            <a:picLocks noChangeAspect="1"/>
          </p:cNvPicPr>
          <p:nvPr/>
        </p:nvPicPr>
        <p:blipFill>
          <a:blip r:embed="rId5"/>
          <a:stretch>
            <a:fillRect/>
          </a:stretch>
        </p:blipFill>
        <p:spPr>
          <a:xfrm>
            <a:off x="4996196" y="316046"/>
            <a:ext cx="355600" cy="330200"/>
          </a:xfrm>
          <a:prstGeom prst="rect">
            <a:avLst/>
          </a:prstGeom>
        </p:spPr>
      </p:pic>
      <p:pic>
        <p:nvPicPr>
          <p:cNvPr id="7" name="圖片 6">
            <a:extLst>
              <a:ext uri="{FF2B5EF4-FFF2-40B4-BE49-F238E27FC236}">
                <a16:creationId xmlns:a16="http://schemas.microsoft.com/office/drawing/2014/main" id="{5A809AFB-35AB-1BDB-CAB0-6ECE84E685E1}"/>
              </a:ext>
            </a:extLst>
          </p:cNvPr>
          <p:cNvPicPr>
            <a:picLocks noChangeAspect="1"/>
          </p:cNvPicPr>
          <p:nvPr/>
        </p:nvPicPr>
        <p:blipFill>
          <a:blip r:embed="rId6"/>
          <a:stretch>
            <a:fillRect/>
          </a:stretch>
        </p:blipFill>
        <p:spPr>
          <a:xfrm flipH="1">
            <a:off x="7881314" y="2392968"/>
            <a:ext cx="254609" cy="254609"/>
          </a:xfrm>
          <a:prstGeom prst="rect">
            <a:avLst/>
          </a:prstGeom>
        </p:spPr>
      </p:pic>
      <p:sp>
        <p:nvSpPr>
          <p:cNvPr id="8" name="圓角矩形圖說文字 7">
            <a:extLst>
              <a:ext uri="{FF2B5EF4-FFF2-40B4-BE49-F238E27FC236}">
                <a16:creationId xmlns:a16="http://schemas.microsoft.com/office/drawing/2014/main" id="{36BEF748-FBFF-21B3-E7B3-2D4F530D4678}"/>
              </a:ext>
            </a:extLst>
          </p:cNvPr>
          <p:cNvSpPr/>
          <p:nvPr/>
        </p:nvSpPr>
        <p:spPr>
          <a:xfrm>
            <a:off x="8246178" y="1450824"/>
            <a:ext cx="2426867" cy="692581"/>
          </a:xfrm>
          <a:prstGeom prst="wedgeRoundRectCallout">
            <a:avLst>
              <a:gd name="adj1" fmla="val -54556"/>
              <a:gd name="adj2" fmla="val 97944"/>
              <a:gd name="adj3" fmla="val 16667"/>
            </a:avLst>
          </a:prstGeom>
          <a:solidFill>
            <a:srgbClr val="2F313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fontAlgn="base"/>
            <a:r>
              <a:rPr lang="en" altLang="zh-TW" sz="1000" dirty="0"/>
              <a:t>The audience pack has expired and will be automatically removed from the ad group upon saving.</a:t>
            </a:r>
            <a:endParaRPr lang="en" altLang="zh-TW" sz="1000" dirty="0">
              <a:solidFill>
                <a:schemeClr val="bg1"/>
              </a:solidFill>
              <a:latin typeface="Google Sans Text"/>
            </a:endParaRPr>
          </a:p>
        </p:txBody>
      </p:sp>
      <p:sp>
        <p:nvSpPr>
          <p:cNvPr id="10" name="矩形 9">
            <a:extLst>
              <a:ext uri="{FF2B5EF4-FFF2-40B4-BE49-F238E27FC236}">
                <a16:creationId xmlns:a16="http://schemas.microsoft.com/office/drawing/2014/main" id="{A20BDA49-2F19-3687-612C-CD09C883266B}"/>
              </a:ext>
            </a:extLst>
          </p:cNvPr>
          <p:cNvSpPr/>
          <p:nvPr/>
        </p:nvSpPr>
        <p:spPr>
          <a:xfrm>
            <a:off x="6209301" y="2198928"/>
            <a:ext cx="372397" cy="387569"/>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1" name="文字方塊 10">
            <a:extLst>
              <a:ext uri="{FF2B5EF4-FFF2-40B4-BE49-F238E27FC236}">
                <a16:creationId xmlns:a16="http://schemas.microsoft.com/office/drawing/2014/main" id="{23D3790F-EEB2-05F3-0FF2-49E359AD1553}"/>
              </a:ext>
            </a:extLst>
          </p:cNvPr>
          <p:cNvSpPr txBox="1"/>
          <p:nvPr/>
        </p:nvSpPr>
        <p:spPr>
          <a:xfrm>
            <a:off x="6165032" y="2689008"/>
            <a:ext cx="5027266" cy="923330"/>
          </a:xfrm>
          <a:prstGeom prst="rect">
            <a:avLst/>
          </a:prstGeom>
          <a:noFill/>
        </p:spPr>
        <p:txBody>
          <a:bodyPr wrap="square" rtlCol="0">
            <a:spAutoFit/>
          </a:bodyPr>
          <a:lstStyle/>
          <a:p>
            <a:r>
              <a:rPr kumimoji="1" lang="en-US" altLang="zh-TW" dirty="0">
                <a:solidFill>
                  <a:srgbClr val="FF0000"/>
                </a:solidFill>
              </a:rPr>
              <a:t>Deselect</a:t>
            </a:r>
          </a:p>
          <a:p>
            <a:r>
              <a:rPr kumimoji="1" lang="en-US" altLang="zh-TW" dirty="0">
                <a:solidFill>
                  <a:srgbClr val="FF0000"/>
                </a:solidFill>
              </a:rPr>
              <a:t>(</a:t>
            </a:r>
            <a:r>
              <a:rPr kumimoji="1" lang="zh-TW" altLang="en-US" dirty="0">
                <a:solidFill>
                  <a:srgbClr val="FF0000"/>
                </a:solidFill>
              </a:rPr>
              <a:t>在操作當下</a:t>
            </a:r>
            <a:r>
              <a:rPr kumimoji="1" lang="en-US" altLang="zh-TW" dirty="0">
                <a:solidFill>
                  <a:srgbClr val="FF0000"/>
                </a:solidFill>
              </a:rPr>
              <a:t>deselect</a:t>
            </a:r>
            <a:r>
              <a:rPr kumimoji="1" lang="zh-TW" altLang="en-US" dirty="0">
                <a:solidFill>
                  <a:srgbClr val="FF0000"/>
                </a:solidFill>
              </a:rPr>
              <a:t>後會出現在左邊可選清單並且</a:t>
            </a:r>
            <a:r>
              <a:rPr kumimoji="1" lang="en-US" altLang="zh-TW" dirty="0">
                <a:solidFill>
                  <a:srgbClr val="FF0000"/>
                </a:solidFill>
              </a:rPr>
              <a:t>disable</a:t>
            </a:r>
            <a:r>
              <a:rPr kumimoji="1" lang="zh-TW" altLang="en-US" dirty="0">
                <a:solidFill>
                  <a:srgbClr val="FF0000"/>
                </a:solidFill>
              </a:rPr>
              <a:t>無法再被選取</a:t>
            </a:r>
            <a:r>
              <a:rPr kumimoji="1" lang="en-US" altLang="zh-TW" dirty="0">
                <a:solidFill>
                  <a:srgbClr val="FF0000"/>
                </a:solidFill>
              </a:rPr>
              <a:t>)</a:t>
            </a:r>
            <a:endParaRPr kumimoji="1" lang="zh-TW" altLang="en-US" dirty="0">
              <a:solidFill>
                <a:srgbClr val="FF0000"/>
              </a:solidFill>
            </a:endParaRPr>
          </a:p>
        </p:txBody>
      </p:sp>
    </p:spTree>
    <p:extLst>
      <p:ext uri="{BB962C8B-B14F-4D97-AF65-F5344CB8AC3E}">
        <p14:creationId xmlns:p14="http://schemas.microsoft.com/office/powerpoint/2010/main" val="133364281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標題 1">
            <a:extLst>
              <a:ext uri="{FF2B5EF4-FFF2-40B4-BE49-F238E27FC236}">
                <a16:creationId xmlns:a16="http://schemas.microsoft.com/office/drawing/2014/main" id="{48F2C2AF-7667-AF26-E415-0D98023EA41B}"/>
              </a:ext>
            </a:extLst>
          </p:cNvPr>
          <p:cNvSpPr txBox="1">
            <a:spLocks/>
          </p:cNvSpPr>
          <p:nvPr/>
        </p:nvSpPr>
        <p:spPr>
          <a:xfrm>
            <a:off x="0" y="0"/>
            <a:ext cx="12192000" cy="70560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kumimoji="1" lang="en-US" altLang="zh-TW" sz="2000" dirty="0"/>
              <a:t>Edit Ad Group</a:t>
            </a:r>
          </a:p>
          <a:p>
            <a:r>
              <a:rPr kumimoji="1" lang="en-US" altLang="zh-TW" sz="2000" dirty="0"/>
              <a:t>Selected Custom Audiences, Status=</a:t>
            </a:r>
            <a:r>
              <a:rPr kumimoji="1" lang="en-US" altLang="zh-TW" sz="2000" b="1" dirty="0"/>
              <a:t>Expired</a:t>
            </a:r>
            <a:r>
              <a:rPr kumimoji="1" lang="en-US" altLang="zh-TW" sz="2000" dirty="0"/>
              <a:t> </a:t>
            </a:r>
            <a:r>
              <a:rPr kumimoji="1" lang="en-US" altLang="zh-TW" sz="2000" b="1" dirty="0">
                <a:sym typeface="Wingdings" pitchFamily="2" charset="2"/>
              </a:rPr>
              <a:t>       </a:t>
            </a:r>
            <a:r>
              <a:rPr kumimoji="1" lang="en-US" altLang="zh-TW" sz="2000" dirty="0">
                <a:sym typeface="Wingdings" pitchFamily="2" charset="2"/>
              </a:rPr>
              <a:t>Deselect One Expired Audience</a:t>
            </a:r>
            <a:endParaRPr kumimoji="1" lang="en-US" altLang="zh-TW" sz="2000" dirty="0"/>
          </a:p>
        </p:txBody>
      </p:sp>
      <p:pic>
        <p:nvPicPr>
          <p:cNvPr id="5" name="圖片 4" descr="一張含有 寫生, 設計, 工具 的圖片&#10;&#10;AI 產生的內容可能不正確。">
            <a:extLst>
              <a:ext uri="{FF2B5EF4-FFF2-40B4-BE49-F238E27FC236}">
                <a16:creationId xmlns:a16="http://schemas.microsoft.com/office/drawing/2014/main" id="{9DCA5C6C-7F4F-5C78-2490-BF0DF1411BAA}"/>
              </a:ext>
            </a:extLst>
          </p:cNvPr>
          <p:cNvPicPr>
            <a:picLocks noChangeAspect="1"/>
          </p:cNvPicPr>
          <p:nvPr/>
        </p:nvPicPr>
        <p:blipFill>
          <a:blip r:embed="rId2"/>
          <a:stretch>
            <a:fillRect/>
          </a:stretch>
        </p:blipFill>
        <p:spPr>
          <a:xfrm>
            <a:off x="4996196" y="316046"/>
            <a:ext cx="355600" cy="330200"/>
          </a:xfrm>
          <a:prstGeom prst="rect">
            <a:avLst/>
          </a:prstGeom>
        </p:spPr>
      </p:pic>
      <p:pic>
        <p:nvPicPr>
          <p:cNvPr id="34" name="圖片 33" descr="一張含有 文字, 軟體, 網頁, 網站 的圖片&#10;&#10;AI 產生的內容可能不正確。">
            <a:extLst>
              <a:ext uri="{FF2B5EF4-FFF2-40B4-BE49-F238E27FC236}">
                <a16:creationId xmlns:a16="http://schemas.microsoft.com/office/drawing/2014/main" id="{06F71F1A-7380-A6FF-D24B-623FB94B5381}"/>
              </a:ext>
            </a:extLst>
          </p:cNvPr>
          <p:cNvPicPr>
            <a:picLocks noChangeAspect="1"/>
          </p:cNvPicPr>
          <p:nvPr/>
        </p:nvPicPr>
        <p:blipFill>
          <a:blip r:embed="rId3"/>
          <a:stretch>
            <a:fillRect/>
          </a:stretch>
        </p:blipFill>
        <p:spPr>
          <a:xfrm>
            <a:off x="2342899" y="652545"/>
            <a:ext cx="7772400" cy="6205455"/>
          </a:xfrm>
          <a:prstGeom prst="rect">
            <a:avLst/>
          </a:prstGeom>
        </p:spPr>
      </p:pic>
      <p:sp>
        <p:nvSpPr>
          <p:cNvPr id="35" name="文字方塊 34">
            <a:extLst>
              <a:ext uri="{FF2B5EF4-FFF2-40B4-BE49-F238E27FC236}">
                <a16:creationId xmlns:a16="http://schemas.microsoft.com/office/drawing/2014/main" id="{A85A0193-34FB-37A0-2A25-45FDDAA07F7F}"/>
              </a:ext>
            </a:extLst>
          </p:cNvPr>
          <p:cNvSpPr txBox="1"/>
          <p:nvPr/>
        </p:nvSpPr>
        <p:spPr>
          <a:xfrm>
            <a:off x="4631868" y="737536"/>
            <a:ext cx="3194462" cy="307777"/>
          </a:xfrm>
          <a:prstGeom prst="rect">
            <a:avLst/>
          </a:prstGeom>
          <a:solidFill>
            <a:srgbClr val="F5F8FE"/>
          </a:solidFill>
        </p:spPr>
        <p:txBody>
          <a:bodyPr wrap="square" rtlCol="0">
            <a:spAutoFit/>
          </a:bodyPr>
          <a:lstStyle/>
          <a:p>
            <a:pPr algn="ctr"/>
            <a:r>
              <a:rPr kumimoji="1" lang="en-US" altLang="zh-TW" sz="1400">
                <a:solidFill>
                  <a:srgbClr val="1C1E20"/>
                </a:solidFill>
              </a:rPr>
              <a:t>Targeting - Custom Audience</a:t>
            </a:r>
            <a:endParaRPr kumimoji="1" lang="zh-TW" altLang="en-US" sz="1400">
              <a:solidFill>
                <a:srgbClr val="1C1E20"/>
              </a:solidFill>
            </a:endParaRPr>
          </a:p>
        </p:txBody>
      </p:sp>
      <p:sp>
        <p:nvSpPr>
          <p:cNvPr id="36" name="文字方塊 35">
            <a:extLst>
              <a:ext uri="{FF2B5EF4-FFF2-40B4-BE49-F238E27FC236}">
                <a16:creationId xmlns:a16="http://schemas.microsoft.com/office/drawing/2014/main" id="{2595066B-456C-B806-3734-E46192B8EF81}"/>
              </a:ext>
            </a:extLst>
          </p:cNvPr>
          <p:cNvSpPr txBox="1"/>
          <p:nvPr/>
        </p:nvSpPr>
        <p:spPr>
          <a:xfrm>
            <a:off x="2732388" y="1672783"/>
            <a:ext cx="3432646" cy="261610"/>
          </a:xfrm>
          <a:prstGeom prst="rect">
            <a:avLst/>
          </a:prstGeom>
          <a:solidFill>
            <a:schemeClr val="bg1"/>
          </a:solidFill>
        </p:spPr>
        <p:txBody>
          <a:bodyPr wrap="square">
            <a:spAutoFit/>
          </a:bodyPr>
          <a:lstStyle/>
          <a:p>
            <a:pPr>
              <a:defRPr/>
            </a:pPr>
            <a:r>
              <a:rPr kumimoji="1" lang="en" altLang="zh-TW" sz="1100" dirty="0">
                <a:solidFill>
                  <a:srgbClr val="4E4E4E"/>
                </a:solidFill>
              </a:rPr>
              <a:t>[Webb</a:t>
            </a:r>
            <a:r>
              <a:rPr kumimoji="1" lang="zh-TW" altLang="en-US" sz="1100" dirty="0">
                <a:solidFill>
                  <a:srgbClr val="4E4E4E"/>
                </a:solidFill>
              </a:rPr>
              <a:t>零售數據</a:t>
            </a:r>
            <a:r>
              <a:rPr kumimoji="1" lang="en-US" altLang="zh-TW" sz="1100" dirty="0">
                <a:solidFill>
                  <a:srgbClr val="4E4E4E"/>
                </a:solidFill>
              </a:rPr>
              <a:t>-</a:t>
            </a:r>
            <a:r>
              <a:rPr kumimoji="1" lang="zh-TW" altLang="en-US" sz="1100" dirty="0">
                <a:solidFill>
                  <a:srgbClr val="4E4E4E"/>
                </a:solidFill>
              </a:rPr>
              <a:t>購買</a:t>
            </a:r>
            <a:r>
              <a:rPr kumimoji="1" lang="en-US" altLang="zh-TW" sz="1100" dirty="0">
                <a:solidFill>
                  <a:srgbClr val="4E4E4E"/>
                </a:solidFill>
              </a:rPr>
              <a:t>] </a:t>
            </a:r>
            <a:r>
              <a:rPr kumimoji="1" lang="zh-TW" altLang="en-US" sz="1100" dirty="0">
                <a:solidFill>
                  <a:srgbClr val="4E4E4E"/>
                </a:solidFill>
              </a:rPr>
              <a:t>合利他命</a:t>
            </a:r>
            <a:r>
              <a:rPr kumimoji="1" lang="en" altLang="zh-TW" sz="1100" dirty="0">
                <a:solidFill>
                  <a:srgbClr val="4E4E4E"/>
                </a:solidFill>
              </a:rPr>
              <a:t>EXPLUS 10</a:t>
            </a:r>
            <a:r>
              <a:rPr kumimoji="1" lang="zh-TW" altLang="en-US" sz="1100" dirty="0">
                <a:solidFill>
                  <a:srgbClr val="4E4E4E"/>
                </a:solidFill>
              </a:rPr>
              <a:t>月</a:t>
            </a:r>
            <a:endParaRPr kumimoji="1" lang="en-US" altLang="zh-TW" sz="1100" dirty="0">
              <a:solidFill>
                <a:srgbClr val="4E4E4E"/>
              </a:solidFill>
            </a:endParaRPr>
          </a:p>
        </p:txBody>
      </p:sp>
      <p:sp>
        <p:nvSpPr>
          <p:cNvPr id="37" name="文字方塊 36">
            <a:extLst>
              <a:ext uri="{FF2B5EF4-FFF2-40B4-BE49-F238E27FC236}">
                <a16:creationId xmlns:a16="http://schemas.microsoft.com/office/drawing/2014/main" id="{2032D969-D56B-82B7-67B7-EF1DDC7E8D61}"/>
              </a:ext>
            </a:extLst>
          </p:cNvPr>
          <p:cNvSpPr txBox="1"/>
          <p:nvPr/>
        </p:nvSpPr>
        <p:spPr>
          <a:xfrm>
            <a:off x="2739553" y="1881795"/>
            <a:ext cx="3432647" cy="215444"/>
          </a:xfrm>
          <a:prstGeom prst="rect">
            <a:avLst/>
          </a:prstGeom>
          <a:solidFill>
            <a:schemeClr val="bg1"/>
          </a:solidFill>
        </p:spPr>
        <p:txBody>
          <a:bodyPr wrap="square">
            <a:spAutoFit/>
          </a:bodyPr>
          <a:lstStyle/>
          <a:p>
            <a:pPr fontAlgn="base"/>
            <a:r>
              <a:rPr kumimoji="1" lang="en" altLang="zh-TW" sz="800" dirty="0">
                <a:solidFill>
                  <a:schemeClr val="bg1">
                    <a:lumMod val="65000"/>
                  </a:schemeClr>
                </a:solidFill>
              </a:rPr>
              <a:t>Webb Retail Data (Purchase)</a:t>
            </a:r>
          </a:p>
        </p:txBody>
      </p:sp>
      <p:sp>
        <p:nvSpPr>
          <p:cNvPr id="38" name="文字方塊 37">
            <a:extLst>
              <a:ext uri="{FF2B5EF4-FFF2-40B4-BE49-F238E27FC236}">
                <a16:creationId xmlns:a16="http://schemas.microsoft.com/office/drawing/2014/main" id="{E0F05EFD-B999-857C-CC19-B85E7C6D67D0}"/>
              </a:ext>
            </a:extLst>
          </p:cNvPr>
          <p:cNvSpPr txBox="1"/>
          <p:nvPr/>
        </p:nvSpPr>
        <p:spPr>
          <a:xfrm>
            <a:off x="2739553" y="2204776"/>
            <a:ext cx="3432646" cy="430887"/>
          </a:xfrm>
          <a:prstGeom prst="rect">
            <a:avLst/>
          </a:prstGeom>
          <a:solidFill>
            <a:schemeClr val="bg1"/>
          </a:solidFill>
        </p:spPr>
        <p:txBody>
          <a:bodyPr wrap="square">
            <a:spAutoFit/>
          </a:bodyPr>
          <a:lstStyle/>
          <a:p>
            <a:pPr>
              <a:defRPr/>
            </a:pPr>
            <a:r>
              <a:rPr kumimoji="1" lang="en" altLang="zh-TW" sz="1100" dirty="0">
                <a:solidFill>
                  <a:srgbClr val="4E4E4E"/>
                </a:solidFill>
              </a:rPr>
              <a:t>[</a:t>
            </a:r>
            <a:r>
              <a:rPr kumimoji="1" lang="zh-TW" altLang="en-US" sz="1100" dirty="0">
                <a:solidFill>
                  <a:srgbClr val="4E4E4E"/>
                </a:solidFill>
              </a:rPr>
              <a:t>產業 </a:t>
            </a:r>
            <a:r>
              <a:rPr kumimoji="1" lang="en" altLang="zh-TW" sz="1100" dirty="0">
                <a:solidFill>
                  <a:srgbClr val="4E4E4E"/>
                </a:solidFill>
              </a:rPr>
              <a:t>Shopper Graph</a:t>
            </a:r>
            <a:r>
              <a:rPr kumimoji="1" lang="en-US" altLang="zh-TW" sz="1100" dirty="0">
                <a:solidFill>
                  <a:srgbClr val="4E4E4E"/>
                </a:solidFill>
              </a:rPr>
              <a:t>] </a:t>
            </a:r>
            <a:r>
              <a:rPr kumimoji="1" lang="zh-TW" altLang="en-US" sz="1100" dirty="0">
                <a:solidFill>
                  <a:srgbClr val="4E4E4E"/>
                </a:solidFill>
              </a:rPr>
              <a:t>合利他命</a:t>
            </a:r>
            <a:r>
              <a:rPr kumimoji="1" lang="en" altLang="zh-TW" sz="1100" dirty="0">
                <a:solidFill>
                  <a:srgbClr val="4E4E4E"/>
                </a:solidFill>
              </a:rPr>
              <a:t>EXPLUS 9-10</a:t>
            </a:r>
            <a:r>
              <a:rPr kumimoji="1" lang="zh-TW" altLang="en-US" sz="1100" dirty="0">
                <a:solidFill>
                  <a:srgbClr val="4E4E4E"/>
                </a:solidFill>
              </a:rPr>
              <a:t>月</a:t>
            </a:r>
          </a:p>
          <a:p>
            <a:pPr lvl="0">
              <a:defRPr/>
            </a:pPr>
            <a:endParaRPr kumimoji="1" lang="zh-TW" altLang="en-US" sz="1100" dirty="0">
              <a:solidFill>
                <a:srgbClr val="4E4E4E"/>
              </a:solidFill>
            </a:endParaRPr>
          </a:p>
        </p:txBody>
      </p:sp>
      <p:sp>
        <p:nvSpPr>
          <p:cNvPr id="39" name="文字方塊 38">
            <a:extLst>
              <a:ext uri="{FF2B5EF4-FFF2-40B4-BE49-F238E27FC236}">
                <a16:creationId xmlns:a16="http://schemas.microsoft.com/office/drawing/2014/main" id="{7B2F761A-FBD8-3DB6-934D-63A8AD10AB58}"/>
              </a:ext>
            </a:extLst>
          </p:cNvPr>
          <p:cNvSpPr txBox="1"/>
          <p:nvPr/>
        </p:nvSpPr>
        <p:spPr>
          <a:xfrm>
            <a:off x="2746718" y="2413788"/>
            <a:ext cx="3432647" cy="215444"/>
          </a:xfrm>
          <a:prstGeom prst="rect">
            <a:avLst/>
          </a:prstGeom>
          <a:solidFill>
            <a:schemeClr val="bg1"/>
          </a:solidFill>
        </p:spPr>
        <p:txBody>
          <a:bodyPr wrap="square">
            <a:spAutoFit/>
          </a:bodyPr>
          <a:lstStyle/>
          <a:p>
            <a:pPr lvl="0">
              <a:defRPr/>
            </a:pPr>
            <a:r>
              <a:rPr kumimoji="1" lang="en" altLang="zh-TW" sz="800" dirty="0">
                <a:solidFill>
                  <a:schemeClr val="bg1">
                    <a:lumMod val="65000"/>
                  </a:schemeClr>
                </a:solidFill>
              </a:rPr>
              <a:t>Industry Shopper Graph</a:t>
            </a:r>
          </a:p>
        </p:txBody>
      </p:sp>
      <p:sp>
        <p:nvSpPr>
          <p:cNvPr id="40" name="文字方塊 39">
            <a:extLst>
              <a:ext uri="{FF2B5EF4-FFF2-40B4-BE49-F238E27FC236}">
                <a16:creationId xmlns:a16="http://schemas.microsoft.com/office/drawing/2014/main" id="{D8E0EA97-BC84-3F06-9B54-28A6CAF1AB28}"/>
              </a:ext>
            </a:extLst>
          </p:cNvPr>
          <p:cNvSpPr txBox="1"/>
          <p:nvPr/>
        </p:nvSpPr>
        <p:spPr>
          <a:xfrm>
            <a:off x="2732387" y="2731379"/>
            <a:ext cx="3432646" cy="261610"/>
          </a:xfrm>
          <a:prstGeom prst="rect">
            <a:avLst/>
          </a:prstGeom>
          <a:solidFill>
            <a:schemeClr val="bg1"/>
          </a:solidFill>
        </p:spPr>
        <p:txBody>
          <a:bodyPr wrap="square">
            <a:spAutoFit/>
          </a:bodyPr>
          <a:lstStyle/>
          <a:p>
            <a:pPr lvl="0">
              <a:defRPr/>
            </a:pPr>
            <a:r>
              <a:rPr kumimoji="1" lang="en" altLang="zh-TW" sz="1100">
                <a:solidFill>
                  <a:srgbClr val="4E4E4E"/>
                </a:solidFill>
              </a:rPr>
              <a:t>[</a:t>
            </a:r>
            <a:r>
              <a:rPr kumimoji="1" lang="zh-TW" altLang="en-US" sz="1100">
                <a:solidFill>
                  <a:srgbClr val="4E4E4E"/>
                </a:solidFill>
              </a:rPr>
              <a:t>產業 </a:t>
            </a:r>
            <a:r>
              <a:rPr kumimoji="1" lang="en" altLang="zh-TW" sz="1100">
                <a:solidFill>
                  <a:srgbClr val="4E4E4E"/>
                </a:solidFill>
              </a:rPr>
              <a:t>Shopper Graph</a:t>
            </a:r>
            <a:r>
              <a:rPr kumimoji="1" lang="en-US" altLang="zh-TW" sz="1100">
                <a:solidFill>
                  <a:srgbClr val="4E4E4E"/>
                </a:solidFill>
              </a:rPr>
              <a:t>] </a:t>
            </a:r>
            <a:r>
              <a:rPr kumimoji="1" lang="zh-TW" altLang="en-US" sz="1100">
                <a:solidFill>
                  <a:srgbClr val="4E4E4E"/>
                </a:solidFill>
              </a:rPr>
              <a:t>合利他命</a:t>
            </a:r>
            <a:r>
              <a:rPr kumimoji="1" lang="en" altLang="zh-TW" sz="1100">
                <a:solidFill>
                  <a:srgbClr val="4E4E4E"/>
                </a:solidFill>
              </a:rPr>
              <a:t>EXPLUS 9-10</a:t>
            </a:r>
            <a:r>
              <a:rPr kumimoji="1" lang="zh-TW" altLang="en-US" sz="1100">
                <a:solidFill>
                  <a:srgbClr val="4E4E4E"/>
                </a:solidFill>
              </a:rPr>
              <a:t>月</a:t>
            </a:r>
          </a:p>
        </p:txBody>
      </p:sp>
      <p:sp>
        <p:nvSpPr>
          <p:cNvPr id="41" name="文字方塊 40">
            <a:extLst>
              <a:ext uri="{FF2B5EF4-FFF2-40B4-BE49-F238E27FC236}">
                <a16:creationId xmlns:a16="http://schemas.microsoft.com/office/drawing/2014/main" id="{12D5A5DC-E9D3-5098-2418-ACC0787A522A}"/>
              </a:ext>
            </a:extLst>
          </p:cNvPr>
          <p:cNvSpPr txBox="1"/>
          <p:nvPr/>
        </p:nvSpPr>
        <p:spPr>
          <a:xfrm>
            <a:off x="2739552" y="2940391"/>
            <a:ext cx="3432647" cy="215444"/>
          </a:xfrm>
          <a:prstGeom prst="rect">
            <a:avLst/>
          </a:prstGeom>
          <a:solidFill>
            <a:schemeClr val="bg1"/>
          </a:solidFill>
        </p:spPr>
        <p:txBody>
          <a:bodyPr wrap="square">
            <a:spAutoFit/>
          </a:bodyPr>
          <a:lstStyle/>
          <a:p>
            <a:pPr lvl="0">
              <a:defRPr/>
            </a:pPr>
            <a:r>
              <a:rPr kumimoji="1" lang="en" altLang="zh-TW" sz="800">
                <a:solidFill>
                  <a:schemeClr val="bg1">
                    <a:lumMod val="65000"/>
                  </a:schemeClr>
                </a:solidFill>
              </a:rPr>
              <a:t>Industry Shopper Graph</a:t>
            </a:r>
          </a:p>
        </p:txBody>
      </p:sp>
      <p:sp>
        <p:nvSpPr>
          <p:cNvPr id="42" name="文字方塊 41">
            <a:extLst>
              <a:ext uri="{FF2B5EF4-FFF2-40B4-BE49-F238E27FC236}">
                <a16:creationId xmlns:a16="http://schemas.microsoft.com/office/drawing/2014/main" id="{5797765E-AE49-B196-48C2-756571EB8D8A}"/>
              </a:ext>
            </a:extLst>
          </p:cNvPr>
          <p:cNvSpPr txBox="1"/>
          <p:nvPr/>
        </p:nvSpPr>
        <p:spPr>
          <a:xfrm>
            <a:off x="2746718" y="3247295"/>
            <a:ext cx="3432646" cy="261610"/>
          </a:xfrm>
          <a:prstGeom prst="rect">
            <a:avLst/>
          </a:prstGeom>
          <a:solidFill>
            <a:schemeClr val="bg1"/>
          </a:solid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zh-TW" sz="1100" kern="1200">
                <a:solidFill>
                  <a:srgbClr val="1C1E20"/>
                </a:solidFill>
                <a:latin typeface="+mn-lt"/>
                <a:ea typeface="+mn-ea"/>
                <a:cs typeface="+mn-cs"/>
              </a:rPr>
              <a:t>[</a:t>
            </a:r>
            <a:r>
              <a:rPr kumimoji="1" lang="zh-TW" altLang="en-US" sz="1100" kern="1200">
                <a:solidFill>
                  <a:srgbClr val="1C1E20"/>
                </a:solidFill>
                <a:latin typeface="+mn-lt"/>
                <a:ea typeface="+mn-ea"/>
                <a:cs typeface="+mn-cs"/>
              </a:rPr>
              <a:t>關鍵字</a:t>
            </a:r>
            <a:r>
              <a:rPr kumimoji="1" lang="en-US" altLang="zh-TW" sz="1100" kern="1200">
                <a:solidFill>
                  <a:srgbClr val="1C1E20"/>
                </a:solidFill>
                <a:latin typeface="+mn-lt"/>
                <a:ea typeface="+mn-ea"/>
                <a:cs typeface="+mn-cs"/>
              </a:rPr>
              <a:t>] </a:t>
            </a:r>
            <a:r>
              <a:rPr kumimoji="1" lang="zh-TW" altLang="en-US" sz="1100" kern="1200">
                <a:solidFill>
                  <a:srgbClr val="1C1E20"/>
                </a:solidFill>
                <a:latin typeface="+mn-lt"/>
                <a:ea typeface="+mn-ea"/>
                <a:cs typeface="+mn-cs"/>
              </a:rPr>
              <a:t>合利他命</a:t>
            </a:r>
            <a:r>
              <a:rPr kumimoji="1" lang="en" altLang="zh-TW" sz="1100" kern="1200">
                <a:solidFill>
                  <a:srgbClr val="1C1E20"/>
                </a:solidFill>
                <a:latin typeface="+mn-lt"/>
                <a:ea typeface="+mn-ea"/>
                <a:cs typeface="+mn-cs"/>
              </a:rPr>
              <a:t>EXPLUS 10</a:t>
            </a:r>
            <a:r>
              <a:rPr kumimoji="1" lang="zh-TW" altLang="en-US" sz="1100" kern="1200">
                <a:solidFill>
                  <a:srgbClr val="1C1E20"/>
                </a:solidFill>
                <a:latin typeface="+mn-lt"/>
                <a:ea typeface="+mn-ea"/>
                <a:cs typeface="+mn-cs"/>
              </a:rPr>
              <a:t>月</a:t>
            </a:r>
          </a:p>
        </p:txBody>
      </p:sp>
      <p:sp>
        <p:nvSpPr>
          <p:cNvPr id="43" name="文字方塊 42">
            <a:extLst>
              <a:ext uri="{FF2B5EF4-FFF2-40B4-BE49-F238E27FC236}">
                <a16:creationId xmlns:a16="http://schemas.microsoft.com/office/drawing/2014/main" id="{F4266E53-BE86-5ACC-88B6-16FEA9771288}"/>
              </a:ext>
            </a:extLst>
          </p:cNvPr>
          <p:cNvSpPr txBox="1"/>
          <p:nvPr/>
        </p:nvSpPr>
        <p:spPr>
          <a:xfrm>
            <a:off x="2753883" y="3456307"/>
            <a:ext cx="3432647" cy="215444"/>
          </a:xfrm>
          <a:prstGeom prst="rect">
            <a:avLst/>
          </a:prstGeom>
          <a:solidFill>
            <a:schemeClr val="bg1"/>
          </a:solidFill>
        </p:spPr>
        <p:txBody>
          <a:bodyPr wrap="square">
            <a:spAutoFit/>
          </a:bodyPr>
          <a:lstStyle/>
          <a:p>
            <a:pPr lvl="0">
              <a:defRPr/>
            </a:pPr>
            <a:r>
              <a:rPr kumimoji="1" lang="en" altLang="zh-TW" sz="800">
                <a:solidFill>
                  <a:schemeClr val="bg1">
                    <a:lumMod val="65000"/>
                  </a:schemeClr>
                </a:solidFill>
              </a:rPr>
              <a:t>Brand Keyword AI Exploration</a:t>
            </a:r>
          </a:p>
        </p:txBody>
      </p:sp>
      <p:sp>
        <p:nvSpPr>
          <p:cNvPr id="44" name="文字方塊 43">
            <a:extLst>
              <a:ext uri="{FF2B5EF4-FFF2-40B4-BE49-F238E27FC236}">
                <a16:creationId xmlns:a16="http://schemas.microsoft.com/office/drawing/2014/main" id="{4FF202F7-D999-B88F-28EF-CB7E0E69270E}"/>
              </a:ext>
            </a:extLst>
          </p:cNvPr>
          <p:cNvSpPr txBox="1"/>
          <p:nvPr/>
        </p:nvSpPr>
        <p:spPr>
          <a:xfrm>
            <a:off x="2753883" y="3765643"/>
            <a:ext cx="3432646" cy="261610"/>
          </a:xfrm>
          <a:prstGeom prst="rect">
            <a:avLst/>
          </a:prstGeom>
          <a:solidFill>
            <a:schemeClr val="bg1"/>
          </a:solid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zh-TW" sz="1100" kern="1200">
                <a:solidFill>
                  <a:srgbClr val="1C1E20"/>
                </a:solidFill>
                <a:latin typeface="+mn-lt"/>
                <a:ea typeface="+mn-ea"/>
                <a:cs typeface="+mn-cs"/>
              </a:rPr>
              <a:t>[</a:t>
            </a:r>
            <a:r>
              <a:rPr kumimoji="1" lang="zh-TW" altLang="en-US" sz="1100" kern="1200">
                <a:solidFill>
                  <a:srgbClr val="1C1E20"/>
                </a:solidFill>
                <a:latin typeface="+mn-lt"/>
                <a:ea typeface="+mn-ea"/>
                <a:cs typeface="+mn-cs"/>
              </a:rPr>
              <a:t>關鍵字</a:t>
            </a:r>
            <a:r>
              <a:rPr kumimoji="1" lang="en-US" altLang="zh-TW" sz="1100" kern="1200">
                <a:solidFill>
                  <a:srgbClr val="1C1E20"/>
                </a:solidFill>
                <a:latin typeface="+mn-lt"/>
                <a:ea typeface="+mn-ea"/>
                <a:cs typeface="+mn-cs"/>
              </a:rPr>
              <a:t>] </a:t>
            </a:r>
            <a:r>
              <a:rPr kumimoji="1" lang="zh-TW" altLang="en-US" sz="1100" kern="1200">
                <a:solidFill>
                  <a:srgbClr val="1C1E20"/>
                </a:solidFill>
                <a:latin typeface="+mn-lt"/>
                <a:ea typeface="+mn-ea"/>
                <a:cs typeface="+mn-cs"/>
              </a:rPr>
              <a:t>合利他命</a:t>
            </a:r>
            <a:r>
              <a:rPr kumimoji="1" lang="en" altLang="zh-TW" sz="1100" kern="1200">
                <a:solidFill>
                  <a:srgbClr val="1C1E20"/>
                </a:solidFill>
                <a:latin typeface="+mn-lt"/>
                <a:ea typeface="+mn-ea"/>
                <a:cs typeface="+mn-cs"/>
              </a:rPr>
              <a:t>EXPLUS 10</a:t>
            </a:r>
            <a:r>
              <a:rPr kumimoji="1" lang="zh-TW" altLang="en-US" sz="1100" kern="1200">
                <a:solidFill>
                  <a:srgbClr val="1C1E20"/>
                </a:solidFill>
                <a:latin typeface="+mn-lt"/>
                <a:ea typeface="+mn-ea"/>
                <a:cs typeface="+mn-cs"/>
              </a:rPr>
              <a:t>月</a:t>
            </a:r>
          </a:p>
        </p:txBody>
      </p:sp>
      <p:sp>
        <p:nvSpPr>
          <p:cNvPr id="45" name="文字方塊 44">
            <a:extLst>
              <a:ext uri="{FF2B5EF4-FFF2-40B4-BE49-F238E27FC236}">
                <a16:creationId xmlns:a16="http://schemas.microsoft.com/office/drawing/2014/main" id="{DDD2B83C-A2C6-21EC-1667-A0618E97B2D9}"/>
              </a:ext>
            </a:extLst>
          </p:cNvPr>
          <p:cNvSpPr txBox="1"/>
          <p:nvPr/>
        </p:nvSpPr>
        <p:spPr>
          <a:xfrm>
            <a:off x="2761048" y="3974655"/>
            <a:ext cx="3432647" cy="215444"/>
          </a:xfrm>
          <a:prstGeom prst="rect">
            <a:avLst/>
          </a:prstGeom>
          <a:solidFill>
            <a:schemeClr val="bg1"/>
          </a:solidFill>
        </p:spPr>
        <p:txBody>
          <a:bodyPr wrap="square">
            <a:spAutoFit/>
          </a:bodyPr>
          <a:lstStyle/>
          <a:p>
            <a:pPr lvl="0">
              <a:defRPr/>
            </a:pPr>
            <a:r>
              <a:rPr kumimoji="1" lang="en" altLang="zh-TW" sz="800">
                <a:solidFill>
                  <a:schemeClr val="bg1">
                    <a:lumMod val="65000"/>
                  </a:schemeClr>
                </a:solidFill>
              </a:rPr>
              <a:t>Brand Keyword AI Exploration</a:t>
            </a:r>
          </a:p>
        </p:txBody>
      </p:sp>
      <p:sp>
        <p:nvSpPr>
          <p:cNvPr id="46" name="矩形 45">
            <a:extLst>
              <a:ext uri="{FF2B5EF4-FFF2-40B4-BE49-F238E27FC236}">
                <a16:creationId xmlns:a16="http://schemas.microsoft.com/office/drawing/2014/main" id="{3E9BD80B-F9FC-3329-D8EC-B84705B0D3F2}"/>
              </a:ext>
            </a:extLst>
          </p:cNvPr>
          <p:cNvSpPr/>
          <p:nvPr/>
        </p:nvSpPr>
        <p:spPr>
          <a:xfrm>
            <a:off x="6179364" y="1630448"/>
            <a:ext cx="68601" cy="620494"/>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pic>
        <p:nvPicPr>
          <p:cNvPr id="47" name="圖片 46" descr="一張含有 文字, 字型, 螢幕擷取畫面 的圖片&#10;&#10;AI 產生的內容可能不正確。">
            <a:extLst>
              <a:ext uri="{FF2B5EF4-FFF2-40B4-BE49-F238E27FC236}">
                <a16:creationId xmlns:a16="http://schemas.microsoft.com/office/drawing/2014/main" id="{51224C41-38E9-C9FC-2B34-58DCBE312B39}"/>
              </a:ext>
            </a:extLst>
          </p:cNvPr>
          <p:cNvPicPr>
            <a:picLocks noChangeAspect="1"/>
          </p:cNvPicPr>
          <p:nvPr/>
        </p:nvPicPr>
        <p:blipFill>
          <a:blip r:embed="rId4"/>
          <a:stretch>
            <a:fillRect/>
          </a:stretch>
        </p:blipFill>
        <p:spPr>
          <a:xfrm>
            <a:off x="6287260" y="1307677"/>
            <a:ext cx="3728570" cy="1384897"/>
          </a:xfrm>
          <a:prstGeom prst="rect">
            <a:avLst/>
          </a:prstGeom>
        </p:spPr>
      </p:pic>
      <p:sp>
        <p:nvSpPr>
          <p:cNvPr id="48" name="矩形 47">
            <a:extLst>
              <a:ext uri="{FF2B5EF4-FFF2-40B4-BE49-F238E27FC236}">
                <a16:creationId xmlns:a16="http://schemas.microsoft.com/office/drawing/2014/main" id="{AF7E65BC-9530-8ACF-BE23-DD0014CF1A01}"/>
              </a:ext>
            </a:extLst>
          </p:cNvPr>
          <p:cNvSpPr/>
          <p:nvPr/>
        </p:nvSpPr>
        <p:spPr>
          <a:xfrm>
            <a:off x="6287260" y="2143405"/>
            <a:ext cx="3744000" cy="4059464"/>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49" name="文字方塊 48">
            <a:extLst>
              <a:ext uri="{FF2B5EF4-FFF2-40B4-BE49-F238E27FC236}">
                <a16:creationId xmlns:a16="http://schemas.microsoft.com/office/drawing/2014/main" id="{DC27EF30-56D5-9535-F87A-539EB35D158A}"/>
              </a:ext>
            </a:extLst>
          </p:cNvPr>
          <p:cNvSpPr txBox="1"/>
          <p:nvPr/>
        </p:nvSpPr>
        <p:spPr>
          <a:xfrm>
            <a:off x="6524547" y="1678631"/>
            <a:ext cx="3432646" cy="261610"/>
          </a:xfrm>
          <a:prstGeom prst="rect">
            <a:avLst/>
          </a:prstGeom>
          <a:solidFill>
            <a:schemeClr val="bg1"/>
          </a:solidFill>
        </p:spPr>
        <p:txBody>
          <a:bodyPr wrap="square">
            <a:spAutoFit/>
          </a:bodyPr>
          <a:lstStyle/>
          <a:p>
            <a:pPr lvl="0">
              <a:defRPr/>
            </a:pPr>
            <a:r>
              <a:rPr kumimoji="1" lang="en-US" altLang="zh-TW" sz="1100">
                <a:solidFill>
                  <a:srgbClr val="2993FF"/>
                </a:solidFill>
              </a:rPr>
              <a:t>[</a:t>
            </a:r>
            <a:r>
              <a:rPr kumimoji="1" lang="zh-TW" altLang="en-US" sz="1100">
                <a:solidFill>
                  <a:srgbClr val="2993FF"/>
                </a:solidFill>
              </a:rPr>
              <a:t>線下</a:t>
            </a:r>
            <a:r>
              <a:rPr kumimoji="1" lang="en" altLang="zh-TW" sz="1100">
                <a:solidFill>
                  <a:srgbClr val="2993FF"/>
                </a:solidFill>
              </a:rPr>
              <a:t>POI] </a:t>
            </a:r>
            <a:r>
              <a:rPr kumimoji="1" lang="zh-TW" altLang="en-US" sz="1100">
                <a:solidFill>
                  <a:srgbClr val="2993FF"/>
                </a:solidFill>
              </a:rPr>
              <a:t>合利他命</a:t>
            </a:r>
            <a:r>
              <a:rPr kumimoji="1" lang="en" altLang="zh-TW" sz="1100">
                <a:solidFill>
                  <a:srgbClr val="2993FF"/>
                </a:solidFill>
              </a:rPr>
              <a:t>EXPLUS 10</a:t>
            </a:r>
            <a:r>
              <a:rPr kumimoji="1" lang="zh-TW" altLang="en-US" sz="1100">
                <a:solidFill>
                  <a:srgbClr val="2993FF"/>
                </a:solidFill>
              </a:rPr>
              <a:t>月</a:t>
            </a:r>
          </a:p>
        </p:txBody>
      </p:sp>
      <p:sp>
        <p:nvSpPr>
          <p:cNvPr id="50" name="文字方塊 49">
            <a:extLst>
              <a:ext uri="{FF2B5EF4-FFF2-40B4-BE49-F238E27FC236}">
                <a16:creationId xmlns:a16="http://schemas.microsoft.com/office/drawing/2014/main" id="{CE4E5761-ACAC-22E9-F942-39A076D4386C}"/>
              </a:ext>
            </a:extLst>
          </p:cNvPr>
          <p:cNvSpPr txBox="1"/>
          <p:nvPr/>
        </p:nvSpPr>
        <p:spPr>
          <a:xfrm>
            <a:off x="6524546" y="1881795"/>
            <a:ext cx="3432647" cy="215444"/>
          </a:xfrm>
          <a:prstGeom prst="rect">
            <a:avLst/>
          </a:prstGeom>
          <a:solidFill>
            <a:schemeClr val="bg1"/>
          </a:solidFill>
        </p:spPr>
        <p:txBody>
          <a:bodyPr wrap="square">
            <a:spAutoFit/>
          </a:bodyPr>
          <a:lstStyle/>
          <a:p>
            <a:pPr lvl="0">
              <a:defRPr/>
            </a:pPr>
            <a:r>
              <a:rPr kumimoji="1" lang="en" altLang="zh-TW" sz="800">
                <a:solidFill>
                  <a:schemeClr val="bg1">
                    <a:lumMod val="65000"/>
                  </a:schemeClr>
                </a:solidFill>
              </a:rPr>
              <a:t>Offline Point of Interest (POI)</a:t>
            </a:r>
          </a:p>
        </p:txBody>
      </p:sp>
      <p:pic>
        <p:nvPicPr>
          <p:cNvPr id="51" name="圖片 50">
            <a:extLst>
              <a:ext uri="{FF2B5EF4-FFF2-40B4-BE49-F238E27FC236}">
                <a16:creationId xmlns:a16="http://schemas.microsoft.com/office/drawing/2014/main" id="{A0AB7E60-8FD2-BFAA-979A-F7A21924F73A}"/>
              </a:ext>
            </a:extLst>
          </p:cNvPr>
          <p:cNvPicPr>
            <a:picLocks noChangeAspect="1"/>
          </p:cNvPicPr>
          <p:nvPr/>
        </p:nvPicPr>
        <p:blipFill>
          <a:blip r:embed="rId5"/>
          <a:stretch>
            <a:fillRect/>
          </a:stretch>
        </p:blipFill>
        <p:spPr>
          <a:xfrm>
            <a:off x="7897154" y="1900710"/>
            <a:ext cx="184348" cy="184348"/>
          </a:xfrm>
          <a:prstGeom prst="rect">
            <a:avLst/>
          </a:prstGeom>
        </p:spPr>
      </p:pic>
      <p:sp>
        <p:nvSpPr>
          <p:cNvPr id="54" name="矩形 53">
            <a:extLst>
              <a:ext uri="{FF2B5EF4-FFF2-40B4-BE49-F238E27FC236}">
                <a16:creationId xmlns:a16="http://schemas.microsoft.com/office/drawing/2014/main" id="{AB294078-85D1-2C69-C8D8-AF07915A87D1}"/>
              </a:ext>
            </a:extLst>
          </p:cNvPr>
          <p:cNvSpPr/>
          <p:nvPr/>
        </p:nvSpPr>
        <p:spPr>
          <a:xfrm>
            <a:off x="2503965" y="2692573"/>
            <a:ext cx="3744000" cy="3528847"/>
          </a:xfrm>
          <a:prstGeom prst="rect">
            <a:avLst/>
          </a:prstGeom>
          <a:solidFill>
            <a:srgbClr val="F5F8F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2" name="矩形 1">
            <a:extLst>
              <a:ext uri="{FF2B5EF4-FFF2-40B4-BE49-F238E27FC236}">
                <a16:creationId xmlns:a16="http://schemas.microsoft.com/office/drawing/2014/main" id="{7F471D24-6D64-B4FD-49DE-8272949C296C}"/>
              </a:ext>
            </a:extLst>
          </p:cNvPr>
          <p:cNvSpPr/>
          <p:nvPr/>
        </p:nvSpPr>
        <p:spPr>
          <a:xfrm>
            <a:off x="2503965" y="1630448"/>
            <a:ext cx="3744000" cy="512957"/>
          </a:xfrm>
          <a:prstGeom prst="rect">
            <a:avLst/>
          </a:prstGeom>
          <a:solidFill>
            <a:schemeClr val="bg1">
              <a:lumMod val="50000"/>
              <a:alpha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pic>
        <p:nvPicPr>
          <p:cNvPr id="3" name="圖片 2">
            <a:extLst>
              <a:ext uri="{FF2B5EF4-FFF2-40B4-BE49-F238E27FC236}">
                <a16:creationId xmlns:a16="http://schemas.microsoft.com/office/drawing/2014/main" id="{D49ADA8E-FF23-450C-35CF-4D8F802E73A6}"/>
              </a:ext>
            </a:extLst>
          </p:cNvPr>
          <p:cNvPicPr>
            <a:picLocks noChangeAspect="1"/>
          </p:cNvPicPr>
          <p:nvPr/>
        </p:nvPicPr>
        <p:blipFill>
          <a:blip r:embed="rId6"/>
          <a:stretch>
            <a:fillRect/>
          </a:stretch>
        </p:blipFill>
        <p:spPr>
          <a:xfrm flipH="1">
            <a:off x="4079879" y="1873214"/>
            <a:ext cx="254609" cy="254609"/>
          </a:xfrm>
          <a:prstGeom prst="rect">
            <a:avLst/>
          </a:prstGeom>
        </p:spPr>
      </p:pic>
      <p:sp>
        <p:nvSpPr>
          <p:cNvPr id="6" name="圓角矩形圖說文字 5">
            <a:extLst>
              <a:ext uri="{FF2B5EF4-FFF2-40B4-BE49-F238E27FC236}">
                <a16:creationId xmlns:a16="http://schemas.microsoft.com/office/drawing/2014/main" id="{22A70696-9389-DB94-DE93-7C7A9CD73573}"/>
              </a:ext>
            </a:extLst>
          </p:cNvPr>
          <p:cNvSpPr/>
          <p:nvPr/>
        </p:nvSpPr>
        <p:spPr>
          <a:xfrm>
            <a:off x="4375965" y="979869"/>
            <a:ext cx="2426867" cy="692581"/>
          </a:xfrm>
          <a:prstGeom prst="wedgeRoundRectCallout">
            <a:avLst>
              <a:gd name="adj1" fmla="val -54556"/>
              <a:gd name="adj2" fmla="val 97944"/>
              <a:gd name="adj3" fmla="val 16667"/>
            </a:avLst>
          </a:prstGeom>
          <a:solidFill>
            <a:srgbClr val="2F313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 altLang="zh-TW" sz="1000" dirty="0">
                <a:solidFill>
                  <a:schemeClr val="bg1"/>
                </a:solidFill>
              </a:rPr>
              <a:t>The audience pack has expired. It can no longer be selected in the audience pack list.﻿</a:t>
            </a:r>
            <a:endParaRPr lang="zh-TW" altLang="en-US" sz="1000" dirty="0">
              <a:solidFill>
                <a:schemeClr val="bg1"/>
              </a:solidFill>
            </a:endParaRPr>
          </a:p>
        </p:txBody>
      </p:sp>
      <p:sp>
        <p:nvSpPr>
          <p:cNvPr id="8" name="文字方塊 7">
            <a:extLst>
              <a:ext uri="{FF2B5EF4-FFF2-40B4-BE49-F238E27FC236}">
                <a16:creationId xmlns:a16="http://schemas.microsoft.com/office/drawing/2014/main" id="{14FC55B7-BFB1-5BCA-4FD5-B141C64FD1AF}"/>
              </a:ext>
            </a:extLst>
          </p:cNvPr>
          <p:cNvSpPr txBox="1"/>
          <p:nvPr/>
        </p:nvSpPr>
        <p:spPr>
          <a:xfrm>
            <a:off x="2532381" y="3086670"/>
            <a:ext cx="5882570" cy="1754326"/>
          </a:xfrm>
          <a:prstGeom prst="rect">
            <a:avLst/>
          </a:prstGeom>
          <a:noFill/>
        </p:spPr>
        <p:txBody>
          <a:bodyPr wrap="square" rtlCol="0">
            <a:spAutoFit/>
          </a:bodyPr>
          <a:lstStyle/>
          <a:p>
            <a:r>
              <a:rPr kumimoji="1" lang="en-US" altLang="zh-TW" dirty="0">
                <a:solidFill>
                  <a:srgbClr val="FF0000"/>
                </a:solidFill>
              </a:rPr>
              <a:t>-</a:t>
            </a:r>
            <a:r>
              <a:rPr kumimoji="1" lang="zh-TW" altLang="en-US" dirty="0">
                <a:solidFill>
                  <a:srgbClr val="FF0000"/>
                </a:solidFill>
              </a:rPr>
              <a:t>此時所有受眾包一樣</a:t>
            </a:r>
            <a:r>
              <a:rPr kumimoji="1" lang="en-US" altLang="zh-TW" dirty="0">
                <a:solidFill>
                  <a:srgbClr val="FF0000"/>
                </a:solidFill>
              </a:rPr>
              <a:t>Sort by “ID” </a:t>
            </a:r>
            <a:r>
              <a:rPr kumimoji="1" lang="zh-TW" altLang="en-US" dirty="0">
                <a:solidFill>
                  <a:srgbClr val="FF0000"/>
                </a:solidFill>
              </a:rPr>
              <a:t>遞減</a:t>
            </a:r>
            <a:endParaRPr kumimoji="1" lang="en-US" altLang="zh-TW" dirty="0">
              <a:solidFill>
                <a:srgbClr val="FF0000"/>
              </a:solidFill>
            </a:endParaRPr>
          </a:p>
          <a:p>
            <a:r>
              <a:rPr kumimoji="1" lang="en-US" altLang="zh-TW" dirty="0">
                <a:solidFill>
                  <a:srgbClr val="FF0000"/>
                </a:solidFill>
              </a:rPr>
              <a:t>-</a:t>
            </a:r>
            <a:r>
              <a:rPr kumimoji="1" lang="zh-TW" altLang="en-US" dirty="0">
                <a:solidFill>
                  <a:srgbClr val="FF0000"/>
                </a:solidFill>
              </a:rPr>
              <a:t>已被</a:t>
            </a:r>
            <a:r>
              <a:rPr kumimoji="1" lang="en-US" altLang="zh-TW" dirty="0">
                <a:solidFill>
                  <a:srgbClr val="FF0000"/>
                </a:solidFill>
              </a:rPr>
              <a:t>ad group</a:t>
            </a:r>
            <a:r>
              <a:rPr kumimoji="1" lang="zh-TW" altLang="en-US" dirty="0">
                <a:solidFill>
                  <a:srgbClr val="FF0000"/>
                </a:solidFill>
              </a:rPr>
              <a:t>綁定</a:t>
            </a:r>
            <a:r>
              <a:rPr kumimoji="1" lang="en-US" altLang="zh-TW" dirty="0">
                <a:solidFill>
                  <a:srgbClr val="FF0000"/>
                </a:solidFill>
              </a:rPr>
              <a:t>&amp;</a:t>
            </a:r>
            <a:r>
              <a:rPr kumimoji="1" lang="en-US" altLang="zh-TW" dirty="0" err="1">
                <a:solidFill>
                  <a:srgbClr val="FF0000"/>
                </a:solidFill>
              </a:rPr>
              <a:t>expired&amp;deselect</a:t>
            </a:r>
            <a:r>
              <a:rPr kumimoji="1" lang="en-US" altLang="zh-TW" dirty="0">
                <a:solidFill>
                  <a:srgbClr val="FF0000"/>
                </a:solidFill>
              </a:rPr>
              <a:t>, disable</a:t>
            </a:r>
            <a:r>
              <a:rPr kumimoji="1" lang="zh-TW" altLang="en-US" dirty="0">
                <a:solidFill>
                  <a:srgbClr val="FF0000"/>
                </a:solidFill>
              </a:rPr>
              <a:t>受眾包項目並顯示</a:t>
            </a:r>
            <a:r>
              <a:rPr kumimoji="1" lang="en-US" altLang="zh-TW" dirty="0">
                <a:solidFill>
                  <a:srgbClr val="FF0000"/>
                </a:solidFill>
              </a:rPr>
              <a:t>warning icon</a:t>
            </a:r>
          </a:p>
          <a:p>
            <a:r>
              <a:rPr kumimoji="1" lang="en-US" altLang="zh-TW" dirty="0">
                <a:solidFill>
                  <a:srgbClr val="FF0000"/>
                </a:solidFill>
              </a:rPr>
              <a:t>-</a:t>
            </a:r>
            <a:r>
              <a:rPr kumimoji="1" lang="zh-TW" altLang="en-US" dirty="0">
                <a:solidFill>
                  <a:srgbClr val="FF0000"/>
                </a:solidFill>
              </a:rPr>
              <a:t>如果此時</a:t>
            </a:r>
            <a:r>
              <a:rPr kumimoji="1" lang="en-US" altLang="zh-TW" dirty="0">
                <a:solidFill>
                  <a:srgbClr val="FF0000"/>
                </a:solidFill>
              </a:rPr>
              <a:t>Save, </a:t>
            </a:r>
            <a:r>
              <a:rPr kumimoji="1" lang="zh-TW" altLang="en-US" dirty="0">
                <a:solidFill>
                  <a:srgbClr val="FF0000"/>
                </a:solidFill>
              </a:rPr>
              <a:t>下次再進來這個設定</a:t>
            </a:r>
            <a:r>
              <a:rPr kumimoji="1" lang="en-US" altLang="zh-TW" dirty="0">
                <a:solidFill>
                  <a:srgbClr val="FF0000"/>
                </a:solidFill>
              </a:rPr>
              <a:t>, </a:t>
            </a:r>
            <a:r>
              <a:rPr kumimoji="1" lang="zh-TW" altLang="en-US" dirty="0">
                <a:solidFill>
                  <a:srgbClr val="FF0000"/>
                </a:solidFill>
              </a:rPr>
              <a:t>由於只顯示</a:t>
            </a:r>
            <a:r>
              <a:rPr kumimoji="1" lang="en-US" altLang="zh-TW" dirty="0">
                <a:solidFill>
                  <a:srgbClr val="FF0000"/>
                </a:solidFill>
              </a:rPr>
              <a:t>Completed, </a:t>
            </a:r>
            <a:r>
              <a:rPr kumimoji="1" lang="zh-TW" altLang="en-US" dirty="0">
                <a:solidFill>
                  <a:srgbClr val="FF0000"/>
                </a:solidFill>
              </a:rPr>
              <a:t>此受眾包不會出現在可選清單</a:t>
            </a:r>
            <a:endParaRPr kumimoji="1" lang="en-US" altLang="zh-TW" dirty="0">
              <a:solidFill>
                <a:srgbClr val="FF0000"/>
              </a:solidFill>
            </a:endParaRPr>
          </a:p>
          <a:p>
            <a:r>
              <a:rPr kumimoji="1" lang="en-US" altLang="zh-TW" dirty="0">
                <a:solidFill>
                  <a:srgbClr val="FF0000"/>
                </a:solidFill>
              </a:rPr>
              <a:t>-</a:t>
            </a:r>
            <a:r>
              <a:rPr kumimoji="1" lang="zh-TW" altLang="en-US" dirty="0">
                <a:solidFill>
                  <a:srgbClr val="FF0000"/>
                </a:solidFill>
              </a:rPr>
              <a:t>如果此時</a:t>
            </a:r>
            <a:r>
              <a:rPr kumimoji="1" lang="en-US" altLang="zh-TW" dirty="0">
                <a:solidFill>
                  <a:srgbClr val="FF0000"/>
                </a:solidFill>
              </a:rPr>
              <a:t>Cancel</a:t>
            </a:r>
            <a:r>
              <a:rPr kumimoji="1" lang="zh-TW" altLang="en-US" dirty="0">
                <a:solidFill>
                  <a:srgbClr val="FF0000"/>
                </a:solidFill>
              </a:rPr>
              <a:t>等於沒有執行</a:t>
            </a:r>
            <a:r>
              <a:rPr kumimoji="1" lang="en-US" altLang="zh-TW" dirty="0">
                <a:solidFill>
                  <a:srgbClr val="FF0000"/>
                </a:solidFill>
              </a:rPr>
              <a:t>deselect</a:t>
            </a:r>
            <a:endParaRPr kumimoji="1" lang="zh-TW" altLang="en-US" dirty="0">
              <a:solidFill>
                <a:srgbClr val="FF0000"/>
              </a:solidFill>
            </a:endParaRPr>
          </a:p>
        </p:txBody>
      </p:sp>
    </p:spTree>
    <p:extLst>
      <p:ext uri="{BB962C8B-B14F-4D97-AF65-F5344CB8AC3E}">
        <p14:creationId xmlns:p14="http://schemas.microsoft.com/office/powerpoint/2010/main" val="113232000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標題 1">
            <a:extLst>
              <a:ext uri="{FF2B5EF4-FFF2-40B4-BE49-F238E27FC236}">
                <a16:creationId xmlns:a16="http://schemas.microsoft.com/office/drawing/2014/main" id="{3BAAD95F-EB80-EC22-D9F2-D229DDAC3672}"/>
              </a:ext>
            </a:extLst>
          </p:cNvPr>
          <p:cNvSpPr txBox="1">
            <a:spLocks/>
          </p:cNvSpPr>
          <p:nvPr/>
        </p:nvSpPr>
        <p:spPr>
          <a:xfrm>
            <a:off x="0" y="0"/>
            <a:ext cx="12192000" cy="70560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kumimoji="1" lang="en-US" altLang="zh-TW" sz="2000" dirty="0"/>
              <a:t>Edit Ad Group</a:t>
            </a:r>
          </a:p>
          <a:p>
            <a:r>
              <a:rPr kumimoji="1" lang="en-US" altLang="zh-TW" sz="2000" dirty="0"/>
              <a:t>Selected Custom Audiences, Status=</a:t>
            </a:r>
            <a:r>
              <a:rPr kumimoji="1" lang="en-US" altLang="zh-TW" sz="2000" b="1" dirty="0"/>
              <a:t>Expired</a:t>
            </a:r>
            <a:r>
              <a:rPr kumimoji="1" lang="en-US" altLang="zh-TW" sz="2000" dirty="0"/>
              <a:t> </a:t>
            </a:r>
            <a:r>
              <a:rPr kumimoji="1" lang="en-US" altLang="zh-TW" sz="2000" b="1" dirty="0">
                <a:sym typeface="Wingdings" pitchFamily="2" charset="2"/>
              </a:rPr>
              <a:t>       </a:t>
            </a:r>
            <a:r>
              <a:rPr kumimoji="1" lang="en-US" altLang="zh-TW" sz="2000" dirty="0">
                <a:sym typeface="Wingdings" pitchFamily="2" charset="2"/>
              </a:rPr>
              <a:t>Deselect One Expired Audience</a:t>
            </a:r>
            <a:r>
              <a:rPr kumimoji="1" lang="zh-TW" altLang="en-US" sz="2000" dirty="0">
                <a:sym typeface="Wingdings" pitchFamily="2" charset="2"/>
              </a:rPr>
              <a:t> </a:t>
            </a:r>
            <a:r>
              <a:rPr kumimoji="1" lang="en-US" altLang="zh-TW" sz="2000" dirty="0">
                <a:sym typeface="Wingdings" pitchFamily="2" charset="2"/>
              </a:rPr>
              <a:t>                     re-enter</a:t>
            </a:r>
            <a:endParaRPr kumimoji="1" lang="en-US" altLang="zh-TW" sz="2000" dirty="0"/>
          </a:p>
        </p:txBody>
      </p:sp>
      <p:pic>
        <p:nvPicPr>
          <p:cNvPr id="5" name="圖片 4" descr="一張含有 寫生, 設計, 工具 的圖片&#10;&#10;AI 產生的內容可能不正確。">
            <a:extLst>
              <a:ext uri="{FF2B5EF4-FFF2-40B4-BE49-F238E27FC236}">
                <a16:creationId xmlns:a16="http://schemas.microsoft.com/office/drawing/2014/main" id="{FD68823C-7C04-1EB0-F95C-B0A8403AA2BB}"/>
              </a:ext>
            </a:extLst>
          </p:cNvPr>
          <p:cNvPicPr>
            <a:picLocks noChangeAspect="1"/>
          </p:cNvPicPr>
          <p:nvPr/>
        </p:nvPicPr>
        <p:blipFill>
          <a:blip r:embed="rId2"/>
          <a:stretch>
            <a:fillRect/>
          </a:stretch>
        </p:blipFill>
        <p:spPr>
          <a:xfrm>
            <a:off x="4996196" y="316046"/>
            <a:ext cx="355600" cy="330200"/>
          </a:xfrm>
          <a:prstGeom prst="rect">
            <a:avLst/>
          </a:prstGeom>
        </p:spPr>
      </p:pic>
      <p:pic>
        <p:nvPicPr>
          <p:cNvPr id="7" name="圖片 6" descr="一張含有 電子藍, 字型, 文字, 標誌 的圖片&#10;&#10;AI 產生的內容可能不正確。">
            <a:extLst>
              <a:ext uri="{FF2B5EF4-FFF2-40B4-BE49-F238E27FC236}">
                <a16:creationId xmlns:a16="http://schemas.microsoft.com/office/drawing/2014/main" id="{C80FD5D2-D82D-F0B9-6071-D5C3DB5F1C09}"/>
              </a:ext>
            </a:extLst>
          </p:cNvPr>
          <p:cNvPicPr>
            <a:picLocks noChangeAspect="1"/>
          </p:cNvPicPr>
          <p:nvPr/>
        </p:nvPicPr>
        <p:blipFill>
          <a:blip r:embed="rId3"/>
          <a:stretch>
            <a:fillRect/>
          </a:stretch>
        </p:blipFill>
        <p:spPr>
          <a:xfrm>
            <a:off x="9198232" y="223343"/>
            <a:ext cx="863600" cy="469900"/>
          </a:xfrm>
          <a:prstGeom prst="rect">
            <a:avLst/>
          </a:prstGeom>
        </p:spPr>
      </p:pic>
      <p:pic>
        <p:nvPicPr>
          <p:cNvPr id="8" name="圖片 7" descr="一張含有 文字, 軟體, 網頁, 網站 的圖片&#10;&#10;AI 產生的內容可能不正確。">
            <a:extLst>
              <a:ext uri="{FF2B5EF4-FFF2-40B4-BE49-F238E27FC236}">
                <a16:creationId xmlns:a16="http://schemas.microsoft.com/office/drawing/2014/main" id="{E3CD7D46-167A-FB77-2D3C-E872C9BEF0C8}"/>
              </a:ext>
            </a:extLst>
          </p:cNvPr>
          <p:cNvPicPr>
            <a:picLocks noChangeAspect="1"/>
          </p:cNvPicPr>
          <p:nvPr/>
        </p:nvPicPr>
        <p:blipFill>
          <a:blip r:embed="rId4"/>
          <a:stretch>
            <a:fillRect/>
          </a:stretch>
        </p:blipFill>
        <p:spPr>
          <a:xfrm>
            <a:off x="2342899" y="652545"/>
            <a:ext cx="7772400" cy="6205455"/>
          </a:xfrm>
          <a:prstGeom prst="rect">
            <a:avLst/>
          </a:prstGeom>
        </p:spPr>
      </p:pic>
      <p:sp>
        <p:nvSpPr>
          <p:cNvPr id="9" name="文字方塊 8">
            <a:extLst>
              <a:ext uri="{FF2B5EF4-FFF2-40B4-BE49-F238E27FC236}">
                <a16:creationId xmlns:a16="http://schemas.microsoft.com/office/drawing/2014/main" id="{0EC13909-56D5-F083-1A7C-29EED16B52F2}"/>
              </a:ext>
            </a:extLst>
          </p:cNvPr>
          <p:cNvSpPr txBox="1"/>
          <p:nvPr/>
        </p:nvSpPr>
        <p:spPr>
          <a:xfrm>
            <a:off x="4631868" y="737536"/>
            <a:ext cx="3194462" cy="307777"/>
          </a:xfrm>
          <a:prstGeom prst="rect">
            <a:avLst/>
          </a:prstGeom>
          <a:solidFill>
            <a:srgbClr val="F5F8FE"/>
          </a:solidFill>
        </p:spPr>
        <p:txBody>
          <a:bodyPr wrap="square" rtlCol="0">
            <a:spAutoFit/>
          </a:bodyPr>
          <a:lstStyle/>
          <a:p>
            <a:pPr algn="ctr"/>
            <a:r>
              <a:rPr kumimoji="1" lang="en-US" altLang="zh-TW" sz="1400">
                <a:solidFill>
                  <a:srgbClr val="1C1E20"/>
                </a:solidFill>
              </a:rPr>
              <a:t>Targeting - Custom Audience</a:t>
            </a:r>
            <a:endParaRPr kumimoji="1" lang="zh-TW" altLang="en-US" sz="1400">
              <a:solidFill>
                <a:srgbClr val="1C1E20"/>
              </a:solidFill>
            </a:endParaRPr>
          </a:p>
        </p:txBody>
      </p:sp>
      <p:sp>
        <p:nvSpPr>
          <p:cNvPr id="10" name="文字方塊 9">
            <a:extLst>
              <a:ext uri="{FF2B5EF4-FFF2-40B4-BE49-F238E27FC236}">
                <a16:creationId xmlns:a16="http://schemas.microsoft.com/office/drawing/2014/main" id="{C2E3BF9F-02B6-3C71-9DC5-342CA3E961D8}"/>
              </a:ext>
            </a:extLst>
          </p:cNvPr>
          <p:cNvSpPr txBox="1"/>
          <p:nvPr/>
        </p:nvSpPr>
        <p:spPr>
          <a:xfrm>
            <a:off x="2732388" y="1672783"/>
            <a:ext cx="3432646" cy="261610"/>
          </a:xfrm>
          <a:prstGeom prst="rect">
            <a:avLst/>
          </a:prstGeom>
          <a:solidFill>
            <a:schemeClr val="bg1"/>
          </a:solidFill>
        </p:spPr>
        <p:txBody>
          <a:bodyPr wrap="square">
            <a:spAutoFit/>
          </a:bodyPr>
          <a:lstStyle/>
          <a:p>
            <a:pPr>
              <a:defRPr/>
            </a:pPr>
            <a:r>
              <a:rPr kumimoji="1" lang="en" altLang="zh-TW" sz="1100" dirty="0">
                <a:solidFill>
                  <a:srgbClr val="4E4E4E"/>
                </a:solidFill>
              </a:rPr>
              <a:t>[</a:t>
            </a:r>
            <a:r>
              <a:rPr kumimoji="1" lang="zh-TW" altLang="en-US" sz="1100" dirty="0">
                <a:solidFill>
                  <a:srgbClr val="4E4E4E"/>
                </a:solidFill>
              </a:rPr>
              <a:t>產業 </a:t>
            </a:r>
            <a:r>
              <a:rPr kumimoji="1" lang="en" altLang="zh-TW" sz="1100" dirty="0">
                <a:solidFill>
                  <a:srgbClr val="4E4E4E"/>
                </a:solidFill>
              </a:rPr>
              <a:t>Shopper Graph</a:t>
            </a:r>
            <a:r>
              <a:rPr kumimoji="1" lang="en-US" altLang="zh-TW" sz="1100" dirty="0">
                <a:solidFill>
                  <a:srgbClr val="4E4E4E"/>
                </a:solidFill>
              </a:rPr>
              <a:t>] </a:t>
            </a:r>
            <a:r>
              <a:rPr kumimoji="1" lang="zh-TW" altLang="en-US" sz="1100" dirty="0">
                <a:solidFill>
                  <a:srgbClr val="4E4E4E"/>
                </a:solidFill>
              </a:rPr>
              <a:t>合利他命</a:t>
            </a:r>
            <a:r>
              <a:rPr kumimoji="1" lang="en" altLang="zh-TW" sz="1100" dirty="0">
                <a:solidFill>
                  <a:srgbClr val="4E4E4E"/>
                </a:solidFill>
              </a:rPr>
              <a:t>EXPLUS 9-10</a:t>
            </a:r>
            <a:r>
              <a:rPr kumimoji="1" lang="zh-TW" altLang="en-US" sz="1100" dirty="0">
                <a:solidFill>
                  <a:srgbClr val="4E4E4E"/>
                </a:solidFill>
              </a:rPr>
              <a:t>月</a:t>
            </a:r>
          </a:p>
        </p:txBody>
      </p:sp>
      <p:sp>
        <p:nvSpPr>
          <p:cNvPr id="11" name="文字方塊 10">
            <a:extLst>
              <a:ext uri="{FF2B5EF4-FFF2-40B4-BE49-F238E27FC236}">
                <a16:creationId xmlns:a16="http://schemas.microsoft.com/office/drawing/2014/main" id="{DC93AFF9-9FA1-C721-8717-B3354EF36F6E}"/>
              </a:ext>
            </a:extLst>
          </p:cNvPr>
          <p:cNvSpPr txBox="1"/>
          <p:nvPr/>
        </p:nvSpPr>
        <p:spPr>
          <a:xfrm>
            <a:off x="2739553" y="1881795"/>
            <a:ext cx="3432647" cy="215444"/>
          </a:xfrm>
          <a:prstGeom prst="rect">
            <a:avLst/>
          </a:prstGeom>
          <a:solidFill>
            <a:schemeClr val="bg1"/>
          </a:solidFill>
        </p:spPr>
        <p:txBody>
          <a:bodyPr wrap="square">
            <a:spAutoFit/>
          </a:bodyPr>
          <a:lstStyle/>
          <a:p>
            <a:pPr lvl="0">
              <a:defRPr/>
            </a:pPr>
            <a:r>
              <a:rPr kumimoji="1" lang="en" altLang="zh-TW" sz="800" dirty="0">
                <a:solidFill>
                  <a:schemeClr val="bg1">
                    <a:lumMod val="65000"/>
                  </a:schemeClr>
                </a:solidFill>
              </a:rPr>
              <a:t>Industry Shopper Graph</a:t>
            </a:r>
          </a:p>
        </p:txBody>
      </p:sp>
      <p:sp>
        <p:nvSpPr>
          <p:cNvPr id="12" name="文字方塊 11">
            <a:extLst>
              <a:ext uri="{FF2B5EF4-FFF2-40B4-BE49-F238E27FC236}">
                <a16:creationId xmlns:a16="http://schemas.microsoft.com/office/drawing/2014/main" id="{84B6E0C5-311E-09F9-CD24-5666AF307D5F}"/>
              </a:ext>
            </a:extLst>
          </p:cNvPr>
          <p:cNvSpPr txBox="1"/>
          <p:nvPr/>
        </p:nvSpPr>
        <p:spPr>
          <a:xfrm>
            <a:off x="2739553" y="2204776"/>
            <a:ext cx="3432646" cy="430887"/>
          </a:xfrm>
          <a:prstGeom prst="rect">
            <a:avLst/>
          </a:prstGeom>
          <a:solidFill>
            <a:schemeClr val="bg1"/>
          </a:solidFill>
        </p:spPr>
        <p:txBody>
          <a:bodyPr wrap="square">
            <a:spAutoFit/>
          </a:bodyPr>
          <a:lstStyle/>
          <a:p>
            <a:pPr>
              <a:defRPr/>
            </a:pPr>
            <a:r>
              <a:rPr kumimoji="1" lang="en" altLang="zh-TW" sz="1100" dirty="0">
                <a:solidFill>
                  <a:srgbClr val="4E4E4E"/>
                </a:solidFill>
              </a:rPr>
              <a:t>[</a:t>
            </a:r>
            <a:r>
              <a:rPr kumimoji="1" lang="zh-TW" altLang="en-US" sz="1100" dirty="0">
                <a:solidFill>
                  <a:srgbClr val="4E4E4E"/>
                </a:solidFill>
              </a:rPr>
              <a:t>產業 </a:t>
            </a:r>
            <a:r>
              <a:rPr kumimoji="1" lang="en" altLang="zh-TW" sz="1100" dirty="0">
                <a:solidFill>
                  <a:srgbClr val="4E4E4E"/>
                </a:solidFill>
              </a:rPr>
              <a:t>Shopper Graph</a:t>
            </a:r>
            <a:r>
              <a:rPr kumimoji="1" lang="en-US" altLang="zh-TW" sz="1100" dirty="0">
                <a:solidFill>
                  <a:srgbClr val="4E4E4E"/>
                </a:solidFill>
              </a:rPr>
              <a:t>] </a:t>
            </a:r>
            <a:r>
              <a:rPr kumimoji="1" lang="zh-TW" altLang="en-US" sz="1100" dirty="0">
                <a:solidFill>
                  <a:srgbClr val="4E4E4E"/>
                </a:solidFill>
              </a:rPr>
              <a:t>合利他命</a:t>
            </a:r>
            <a:r>
              <a:rPr kumimoji="1" lang="en" altLang="zh-TW" sz="1100" dirty="0">
                <a:solidFill>
                  <a:srgbClr val="4E4E4E"/>
                </a:solidFill>
              </a:rPr>
              <a:t>EXPLUS 9-10</a:t>
            </a:r>
            <a:r>
              <a:rPr kumimoji="1" lang="zh-TW" altLang="en-US" sz="1100" dirty="0">
                <a:solidFill>
                  <a:srgbClr val="4E4E4E"/>
                </a:solidFill>
              </a:rPr>
              <a:t>月</a:t>
            </a:r>
          </a:p>
          <a:p>
            <a:pPr lvl="0">
              <a:defRPr/>
            </a:pPr>
            <a:endParaRPr kumimoji="1" lang="zh-TW" altLang="en-US" sz="1100" dirty="0">
              <a:solidFill>
                <a:srgbClr val="4E4E4E"/>
              </a:solidFill>
            </a:endParaRPr>
          </a:p>
        </p:txBody>
      </p:sp>
      <p:sp>
        <p:nvSpPr>
          <p:cNvPr id="13" name="文字方塊 12">
            <a:extLst>
              <a:ext uri="{FF2B5EF4-FFF2-40B4-BE49-F238E27FC236}">
                <a16:creationId xmlns:a16="http://schemas.microsoft.com/office/drawing/2014/main" id="{6D39225F-9DFA-660E-80AA-DA034E1139BA}"/>
              </a:ext>
            </a:extLst>
          </p:cNvPr>
          <p:cNvSpPr txBox="1"/>
          <p:nvPr/>
        </p:nvSpPr>
        <p:spPr>
          <a:xfrm>
            <a:off x="2746718" y="2413788"/>
            <a:ext cx="3432647" cy="215444"/>
          </a:xfrm>
          <a:prstGeom prst="rect">
            <a:avLst/>
          </a:prstGeom>
          <a:solidFill>
            <a:schemeClr val="bg1"/>
          </a:solidFill>
        </p:spPr>
        <p:txBody>
          <a:bodyPr wrap="square">
            <a:spAutoFit/>
          </a:bodyPr>
          <a:lstStyle/>
          <a:p>
            <a:pPr lvl="0">
              <a:defRPr/>
            </a:pPr>
            <a:r>
              <a:rPr kumimoji="1" lang="en" altLang="zh-TW" sz="800" dirty="0">
                <a:solidFill>
                  <a:schemeClr val="bg1">
                    <a:lumMod val="65000"/>
                  </a:schemeClr>
                </a:solidFill>
              </a:rPr>
              <a:t>Industry Shopper Graph</a:t>
            </a:r>
          </a:p>
        </p:txBody>
      </p:sp>
      <p:sp>
        <p:nvSpPr>
          <p:cNvPr id="14" name="文字方塊 13">
            <a:extLst>
              <a:ext uri="{FF2B5EF4-FFF2-40B4-BE49-F238E27FC236}">
                <a16:creationId xmlns:a16="http://schemas.microsoft.com/office/drawing/2014/main" id="{306CB907-4AB9-15ED-B2D5-8CA1ABA028EB}"/>
              </a:ext>
            </a:extLst>
          </p:cNvPr>
          <p:cNvSpPr txBox="1"/>
          <p:nvPr/>
        </p:nvSpPr>
        <p:spPr>
          <a:xfrm>
            <a:off x="2732387" y="2731379"/>
            <a:ext cx="3432646" cy="261610"/>
          </a:xfrm>
          <a:prstGeom prst="rect">
            <a:avLst/>
          </a:prstGeom>
          <a:solidFill>
            <a:schemeClr val="bg1"/>
          </a:solidFill>
        </p:spPr>
        <p:txBody>
          <a:bodyPr wrap="square">
            <a:spAutoFit/>
          </a:bodyPr>
          <a:lstStyle/>
          <a:p>
            <a:pPr lvl="0">
              <a:defRPr/>
            </a:pPr>
            <a:r>
              <a:rPr kumimoji="1" lang="en" altLang="zh-TW" sz="1100">
                <a:solidFill>
                  <a:srgbClr val="4E4E4E"/>
                </a:solidFill>
              </a:rPr>
              <a:t>[</a:t>
            </a:r>
            <a:r>
              <a:rPr kumimoji="1" lang="zh-TW" altLang="en-US" sz="1100">
                <a:solidFill>
                  <a:srgbClr val="4E4E4E"/>
                </a:solidFill>
              </a:rPr>
              <a:t>產業 </a:t>
            </a:r>
            <a:r>
              <a:rPr kumimoji="1" lang="en" altLang="zh-TW" sz="1100">
                <a:solidFill>
                  <a:srgbClr val="4E4E4E"/>
                </a:solidFill>
              </a:rPr>
              <a:t>Shopper Graph</a:t>
            </a:r>
            <a:r>
              <a:rPr kumimoji="1" lang="en-US" altLang="zh-TW" sz="1100">
                <a:solidFill>
                  <a:srgbClr val="4E4E4E"/>
                </a:solidFill>
              </a:rPr>
              <a:t>] </a:t>
            </a:r>
            <a:r>
              <a:rPr kumimoji="1" lang="zh-TW" altLang="en-US" sz="1100">
                <a:solidFill>
                  <a:srgbClr val="4E4E4E"/>
                </a:solidFill>
              </a:rPr>
              <a:t>合利他命</a:t>
            </a:r>
            <a:r>
              <a:rPr kumimoji="1" lang="en" altLang="zh-TW" sz="1100">
                <a:solidFill>
                  <a:srgbClr val="4E4E4E"/>
                </a:solidFill>
              </a:rPr>
              <a:t>EXPLUS 9-10</a:t>
            </a:r>
            <a:r>
              <a:rPr kumimoji="1" lang="zh-TW" altLang="en-US" sz="1100">
                <a:solidFill>
                  <a:srgbClr val="4E4E4E"/>
                </a:solidFill>
              </a:rPr>
              <a:t>月</a:t>
            </a:r>
          </a:p>
        </p:txBody>
      </p:sp>
      <p:sp>
        <p:nvSpPr>
          <p:cNvPr id="15" name="文字方塊 14">
            <a:extLst>
              <a:ext uri="{FF2B5EF4-FFF2-40B4-BE49-F238E27FC236}">
                <a16:creationId xmlns:a16="http://schemas.microsoft.com/office/drawing/2014/main" id="{CCBA447A-72E6-7446-83E3-45EA0E762E14}"/>
              </a:ext>
            </a:extLst>
          </p:cNvPr>
          <p:cNvSpPr txBox="1"/>
          <p:nvPr/>
        </p:nvSpPr>
        <p:spPr>
          <a:xfrm>
            <a:off x="2739552" y="2940391"/>
            <a:ext cx="3432647" cy="215444"/>
          </a:xfrm>
          <a:prstGeom prst="rect">
            <a:avLst/>
          </a:prstGeom>
          <a:solidFill>
            <a:schemeClr val="bg1"/>
          </a:solidFill>
        </p:spPr>
        <p:txBody>
          <a:bodyPr wrap="square">
            <a:spAutoFit/>
          </a:bodyPr>
          <a:lstStyle/>
          <a:p>
            <a:pPr lvl="0">
              <a:defRPr/>
            </a:pPr>
            <a:r>
              <a:rPr kumimoji="1" lang="en" altLang="zh-TW" sz="800">
                <a:solidFill>
                  <a:schemeClr val="bg1">
                    <a:lumMod val="65000"/>
                  </a:schemeClr>
                </a:solidFill>
              </a:rPr>
              <a:t>Industry Shopper Graph</a:t>
            </a:r>
          </a:p>
        </p:txBody>
      </p:sp>
      <p:sp>
        <p:nvSpPr>
          <p:cNvPr id="16" name="文字方塊 15">
            <a:extLst>
              <a:ext uri="{FF2B5EF4-FFF2-40B4-BE49-F238E27FC236}">
                <a16:creationId xmlns:a16="http://schemas.microsoft.com/office/drawing/2014/main" id="{25FD0F19-0259-DBE1-7211-9F1251EF84B1}"/>
              </a:ext>
            </a:extLst>
          </p:cNvPr>
          <p:cNvSpPr txBox="1"/>
          <p:nvPr/>
        </p:nvSpPr>
        <p:spPr>
          <a:xfrm>
            <a:off x="2746718" y="3247295"/>
            <a:ext cx="3432646" cy="261610"/>
          </a:xfrm>
          <a:prstGeom prst="rect">
            <a:avLst/>
          </a:prstGeom>
          <a:solidFill>
            <a:schemeClr val="bg1"/>
          </a:solid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zh-TW" sz="1100" kern="1200">
                <a:solidFill>
                  <a:srgbClr val="1C1E20"/>
                </a:solidFill>
                <a:latin typeface="+mn-lt"/>
                <a:ea typeface="+mn-ea"/>
                <a:cs typeface="+mn-cs"/>
              </a:rPr>
              <a:t>[</a:t>
            </a:r>
            <a:r>
              <a:rPr kumimoji="1" lang="zh-TW" altLang="en-US" sz="1100" kern="1200">
                <a:solidFill>
                  <a:srgbClr val="1C1E20"/>
                </a:solidFill>
                <a:latin typeface="+mn-lt"/>
                <a:ea typeface="+mn-ea"/>
                <a:cs typeface="+mn-cs"/>
              </a:rPr>
              <a:t>關鍵字</a:t>
            </a:r>
            <a:r>
              <a:rPr kumimoji="1" lang="en-US" altLang="zh-TW" sz="1100" kern="1200">
                <a:solidFill>
                  <a:srgbClr val="1C1E20"/>
                </a:solidFill>
                <a:latin typeface="+mn-lt"/>
                <a:ea typeface="+mn-ea"/>
                <a:cs typeface="+mn-cs"/>
              </a:rPr>
              <a:t>] </a:t>
            </a:r>
            <a:r>
              <a:rPr kumimoji="1" lang="zh-TW" altLang="en-US" sz="1100" kern="1200">
                <a:solidFill>
                  <a:srgbClr val="1C1E20"/>
                </a:solidFill>
                <a:latin typeface="+mn-lt"/>
                <a:ea typeface="+mn-ea"/>
                <a:cs typeface="+mn-cs"/>
              </a:rPr>
              <a:t>合利他命</a:t>
            </a:r>
            <a:r>
              <a:rPr kumimoji="1" lang="en" altLang="zh-TW" sz="1100" kern="1200">
                <a:solidFill>
                  <a:srgbClr val="1C1E20"/>
                </a:solidFill>
                <a:latin typeface="+mn-lt"/>
                <a:ea typeface="+mn-ea"/>
                <a:cs typeface="+mn-cs"/>
              </a:rPr>
              <a:t>EXPLUS 10</a:t>
            </a:r>
            <a:r>
              <a:rPr kumimoji="1" lang="zh-TW" altLang="en-US" sz="1100" kern="1200">
                <a:solidFill>
                  <a:srgbClr val="1C1E20"/>
                </a:solidFill>
                <a:latin typeface="+mn-lt"/>
                <a:ea typeface="+mn-ea"/>
                <a:cs typeface="+mn-cs"/>
              </a:rPr>
              <a:t>月</a:t>
            </a:r>
          </a:p>
        </p:txBody>
      </p:sp>
      <p:sp>
        <p:nvSpPr>
          <p:cNvPr id="17" name="文字方塊 16">
            <a:extLst>
              <a:ext uri="{FF2B5EF4-FFF2-40B4-BE49-F238E27FC236}">
                <a16:creationId xmlns:a16="http://schemas.microsoft.com/office/drawing/2014/main" id="{180802B0-0A75-82D9-0105-A033E8515C01}"/>
              </a:ext>
            </a:extLst>
          </p:cNvPr>
          <p:cNvSpPr txBox="1"/>
          <p:nvPr/>
        </p:nvSpPr>
        <p:spPr>
          <a:xfrm>
            <a:off x="2753883" y="3456307"/>
            <a:ext cx="3432647" cy="215444"/>
          </a:xfrm>
          <a:prstGeom prst="rect">
            <a:avLst/>
          </a:prstGeom>
          <a:solidFill>
            <a:schemeClr val="bg1"/>
          </a:solidFill>
        </p:spPr>
        <p:txBody>
          <a:bodyPr wrap="square">
            <a:spAutoFit/>
          </a:bodyPr>
          <a:lstStyle/>
          <a:p>
            <a:pPr lvl="0">
              <a:defRPr/>
            </a:pPr>
            <a:r>
              <a:rPr kumimoji="1" lang="en" altLang="zh-TW" sz="800">
                <a:solidFill>
                  <a:schemeClr val="bg1">
                    <a:lumMod val="65000"/>
                  </a:schemeClr>
                </a:solidFill>
              </a:rPr>
              <a:t>Brand Keyword AI Exploration</a:t>
            </a:r>
          </a:p>
        </p:txBody>
      </p:sp>
      <p:sp>
        <p:nvSpPr>
          <p:cNvPr id="18" name="文字方塊 17">
            <a:extLst>
              <a:ext uri="{FF2B5EF4-FFF2-40B4-BE49-F238E27FC236}">
                <a16:creationId xmlns:a16="http://schemas.microsoft.com/office/drawing/2014/main" id="{6E96C125-0066-7B44-F3A4-205E40B231A7}"/>
              </a:ext>
            </a:extLst>
          </p:cNvPr>
          <p:cNvSpPr txBox="1"/>
          <p:nvPr/>
        </p:nvSpPr>
        <p:spPr>
          <a:xfrm>
            <a:off x="2753883" y="3765643"/>
            <a:ext cx="3432646" cy="261610"/>
          </a:xfrm>
          <a:prstGeom prst="rect">
            <a:avLst/>
          </a:prstGeom>
          <a:solidFill>
            <a:schemeClr val="bg1"/>
          </a:solid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zh-TW" sz="1100" kern="1200">
                <a:solidFill>
                  <a:srgbClr val="1C1E20"/>
                </a:solidFill>
                <a:latin typeface="+mn-lt"/>
                <a:ea typeface="+mn-ea"/>
                <a:cs typeface="+mn-cs"/>
              </a:rPr>
              <a:t>[</a:t>
            </a:r>
            <a:r>
              <a:rPr kumimoji="1" lang="zh-TW" altLang="en-US" sz="1100" kern="1200">
                <a:solidFill>
                  <a:srgbClr val="1C1E20"/>
                </a:solidFill>
                <a:latin typeface="+mn-lt"/>
                <a:ea typeface="+mn-ea"/>
                <a:cs typeface="+mn-cs"/>
              </a:rPr>
              <a:t>關鍵字</a:t>
            </a:r>
            <a:r>
              <a:rPr kumimoji="1" lang="en-US" altLang="zh-TW" sz="1100" kern="1200">
                <a:solidFill>
                  <a:srgbClr val="1C1E20"/>
                </a:solidFill>
                <a:latin typeface="+mn-lt"/>
                <a:ea typeface="+mn-ea"/>
                <a:cs typeface="+mn-cs"/>
              </a:rPr>
              <a:t>] </a:t>
            </a:r>
            <a:r>
              <a:rPr kumimoji="1" lang="zh-TW" altLang="en-US" sz="1100" kern="1200">
                <a:solidFill>
                  <a:srgbClr val="1C1E20"/>
                </a:solidFill>
                <a:latin typeface="+mn-lt"/>
                <a:ea typeface="+mn-ea"/>
                <a:cs typeface="+mn-cs"/>
              </a:rPr>
              <a:t>合利他命</a:t>
            </a:r>
            <a:r>
              <a:rPr kumimoji="1" lang="en" altLang="zh-TW" sz="1100" kern="1200">
                <a:solidFill>
                  <a:srgbClr val="1C1E20"/>
                </a:solidFill>
                <a:latin typeface="+mn-lt"/>
                <a:ea typeface="+mn-ea"/>
                <a:cs typeface="+mn-cs"/>
              </a:rPr>
              <a:t>EXPLUS 10</a:t>
            </a:r>
            <a:r>
              <a:rPr kumimoji="1" lang="zh-TW" altLang="en-US" sz="1100" kern="1200">
                <a:solidFill>
                  <a:srgbClr val="1C1E20"/>
                </a:solidFill>
                <a:latin typeface="+mn-lt"/>
                <a:ea typeface="+mn-ea"/>
                <a:cs typeface="+mn-cs"/>
              </a:rPr>
              <a:t>月</a:t>
            </a:r>
          </a:p>
        </p:txBody>
      </p:sp>
      <p:sp>
        <p:nvSpPr>
          <p:cNvPr id="19" name="文字方塊 18">
            <a:extLst>
              <a:ext uri="{FF2B5EF4-FFF2-40B4-BE49-F238E27FC236}">
                <a16:creationId xmlns:a16="http://schemas.microsoft.com/office/drawing/2014/main" id="{5E066382-C2FE-2473-B2AA-EBCC8D92FD0A}"/>
              </a:ext>
            </a:extLst>
          </p:cNvPr>
          <p:cNvSpPr txBox="1"/>
          <p:nvPr/>
        </p:nvSpPr>
        <p:spPr>
          <a:xfrm>
            <a:off x="2761048" y="3974655"/>
            <a:ext cx="3432647" cy="215444"/>
          </a:xfrm>
          <a:prstGeom prst="rect">
            <a:avLst/>
          </a:prstGeom>
          <a:solidFill>
            <a:schemeClr val="bg1"/>
          </a:solidFill>
        </p:spPr>
        <p:txBody>
          <a:bodyPr wrap="square">
            <a:spAutoFit/>
          </a:bodyPr>
          <a:lstStyle/>
          <a:p>
            <a:pPr lvl="0">
              <a:defRPr/>
            </a:pPr>
            <a:r>
              <a:rPr kumimoji="1" lang="en" altLang="zh-TW" sz="800">
                <a:solidFill>
                  <a:schemeClr val="bg1">
                    <a:lumMod val="65000"/>
                  </a:schemeClr>
                </a:solidFill>
              </a:rPr>
              <a:t>Brand Keyword AI Exploration</a:t>
            </a:r>
          </a:p>
        </p:txBody>
      </p:sp>
      <p:sp>
        <p:nvSpPr>
          <p:cNvPr id="20" name="矩形 19">
            <a:extLst>
              <a:ext uri="{FF2B5EF4-FFF2-40B4-BE49-F238E27FC236}">
                <a16:creationId xmlns:a16="http://schemas.microsoft.com/office/drawing/2014/main" id="{CD6B9B7D-FB55-ABE0-8BBD-3C922A88CC36}"/>
              </a:ext>
            </a:extLst>
          </p:cNvPr>
          <p:cNvSpPr/>
          <p:nvPr/>
        </p:nvSpPr>
        <p:spPr>
          <a:xfrm>
            <a:off x="6179364" y="1630448"/>
            <a:ext cx="68601" cy="620494"/>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pic>
        <p:nvPicPr>
          <p:cNvPr id="21" name="圖片 20" descr="一張含有 文字, 字型, 螢幕擷取畫面 的圖片&#10;&#10;AI 產生的內容可能不正確。">
            <a:extLst>
              <a:ext uri="{FF2B5EF4-FFF2-40B4-BE49-F238E27FC236}">
                <a16:creationId xmlns:a16="http://schemas.microsoft.com/office/drawing/2014/main" id="{5FFF9AE1-1808-C8CB-E4D8-FBE2F81B28C9}"/>
              </a:ext>
            </a:extLst>
          </p:cNvPr>
          <p:cNvPicPr>
            <a:picLocks noChangeAspect="1"/>
          </p:cNvPicPr>
          <p:nvPr/>
        </p:nvPicPr>
        <p:blipFill>
          <a:blip r:embed="rId5"/>
          <a:stretch>
            <a:fillRect/>
          </a:stretch>
        </p:blipFill>
        <p:spPr>
          <a:xfrm>
            <a:off x="6287260" y="1307677"/>
            <a:ext cx="3728570" cy="1384897"/>
          </a:xfrm>
          <a:prstGeom prst="rect">
            <a:avLst/>
          </a:prstGeom>
        </p:spPr>
      </p:pic>
      <p:sp>
        <p:nvSpPr>
          <p:cNvPr id="22" name="矩形 21">
            <a:extLst>
              <a:ext uri="{FF2B5EF4-FFF2-40B4-BE49-F238E27FC236}">
                <a16:creationId xmlns:a16="http://schemas.microsoft.com/office/drawing/2014/main" id="{A4E85951-1DCD-EAEC-711B-DA3480AE2093}"/>
              </a:ext>
            </a:extLst>
          </p:cNvPr>
          <p:cNvSpPr/>
          <p:nvPr/>
        </p:nvSpPr>
        <p:spPr>
          <a:xfrm>
            <a:off x="6287260" y="2143405"/>
            <a:ext cx="3744000" cy="4059464"/>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23" name="文字方塊 22">
            <a:extLst>
              <a:ext uri="{FF2B5EF4-FFF2-40B4-BE49-F238E27FC236}">
                <a16:creationId xmlns:a16="http://schemas.microsoft.com/office/drawing/2014/main" id="{8FF24F50-052E-F18F-3FE4-4788C13C028D}"/>
              </a:ext>
            </a:extLst>
          </p:cNvPr>
          <p:cNvSpPr txBox="1"/>
          <p:nvPr/>
        </p:nvSpPr>
        <p:spPr>
          <a:xfrm>
            <a:off x="6524547" y="1678631"/>
            <a:ext cx="3432646" cy="261610"/>
          </a:xfrm>
          <a:prstGeom prst="rect">
            <a:avLst/>
          </a:prstGeom>
          <a:solidFill>
            <a:schemeClr val="bg1"/>
          </a:solidFill>
        </p:spPr>
        <p:txBody>
          <a:bodyPr wrap="square">
            <a:spAutoFit/>
          </a:bodyPr>
          <a:lstStyle/>
          <a:p>
            <a:pPr lvl="0">
              <a:defRPr/>
            </a:pPr>
            <a:r>
              <a:rPr kumimoji="1" lang="en-US" altLang="zh-TW" sz="1100">
                <a:solidFill>
                  <a:srgbClr val="2993FF"/>
                </a:solidFill>
              </a:rPr>
              <a:t>[</a:t>
            </a:r>
            <a:r>
              <a:rPr kumimoji="1" lang="zh-TW" altLang="en-US" sz="1100">
                <a:solidFill>
                  <a:srgbClr val="2993FF"/>
                </a:solidFill>
              </a:rPr>
              <a:t>線下</a:t>
            </a:r>
            <a:r>
              <a:rPr kumimoji="1" lang="en" altLang="zh-TW" sz="1100">
                <a:solidFill>
                  <a:srgbClr val="2993FF"/>
                </a:solidFill>
              </a:rPr>
              <a:t>POI] </a:t>
            </a:r>
            <a:r>
              <a:rPr kumimoji="1" lang="zh-TW" altLang="en-US" sz="1100">
                <a:solidFill>
                  <a:srgbClr val="2993FF"/>
                </a:solidFill>
              </a:rPr>
              <a:t>合利他命</a:t>
            </a:r>
            <a:r>
              <a:rPr kumimoji="1" lang="en" altLang="zh-TW" sz="1100">
                <a:solidFill>
                  <a:srgbClr val="2993FF"/>
                </a:solidFill>
              </a:rPr>
              <a:t>EXPLUS 10</a:t>
            </a:r>
            <a:r>
              <a:rPr kumimoji="1" lang="zh-TW" altLang="en-US" sz="1100">
                <a:solidFill>
                  <a:srgbClr val="2993FF"/>
                </a:solidFill>
              </a:rPr>
              <a:t>月</a:t>
            </a:r>
          </a:p>
        </p:txBody>
      </p:sp>
      <p:sp>
        <p:nvSpPr>
          <p:cNvPr id="24" name="文字方塊 23">
            <a:extLst>
              <a:ext uri="{FF2B5EF4-FFF2-40B4-BE49-F238E27FC236}">
                <a16:creationId xmlns:a16="http://schemas.microsoft.com/office/drawing/2014/main" id="{8D267B08-9EF8-8231-6BF8-A6647A08BF8D}"/>
              </a:ext>
            </a:extLst>
          </p:cNvPr>
          <p:cNvSpPr txBox="1"/>
          <p:nvPr/>
        </p:nvSpPr>
        <p:spPr>
          <a:xfrm>
            <a:off x="6524546" y="1881795"/>
            <a:ext cx="3432647" cy="215444"/>
          </a:xfrm>
          <a:prstGeom prst="rect">
            <a:avLst/>
          </a:prstGeom>
          <a:solidFill>
            <a:schemeClr val="bg1"/>
          </a:solidFill>
        </p:spPr>
        <p:txBody>
          <a:bodyPr wrap="square">
            <a:spAutoFit/>
          </a:bodyPr>
          <a:lstStyle/>
          <a:p>
            <a:pPr lvl="0">
              <a:defRPr/>
            </a:pPr>
            <a:r>
              <a:rPr kumimoji="1" lang="en" altLang="zh-TW" sz="800">
                <a:solidFill>
                  <a:schemeClr val="bg1">
                    <a:lumMod val="65000"/>
                  </a:schemeClr>
                </a:solidFill>
              </a:rPr>
              <a:t>Offline Point of Interest (POI)</a:t>
            </a:r>
          </a:p>
        </p:txBody>
      </p:sp>
      <p:pic>
        <p:nvPicPr>
          <p:cNvPr id="25" name="圖片 24">
            <a:extLst>
              <a:ext uri="{FF2B5EF4-FFF2-40B4-BE49-F238E27FC236}">
                <a16:creationId xmlns:a16="http://schemas.microsoft.com/office/drawing/2014/main" id="{1F6E9753-2EB1-0545-3C6A-D2FA17DD91BA}"/>
              </a:ext>
            </a:extLst>
          </p:cNvPr>
          <p:cNvPicPr>
            <a:picLocks noChangeAspect="1"/>
          </p:cNvPicPr>
          <p:nvPr/>
        </p:nvPicPr>
        <p:blipFill>
          <a:blip r:embed="rId6"/>
          <a:stretch>
            <a:fillRect/>
          </a:stretch>
        </p:blipFill>
        <p:spPr>
          <a:xfrm>
            <a:off x="7897154" y="1900710"/>
            <a:ext cx="184348" cy="184348"/>
          </a:xfrm>
          <a:prstGeom prst="rect">
            <a:avLst/>
          </a:prstGeom>
        </p:spPr>
      </p:pic>
      <p:sp>
        <p:nvSpPr>
          <p:cNvPr id="26" name="矩形 25">
            <a:extLst>
              <a:ext uri="{FF2B5EF4-FFF2-40B4-BE49-F238E27FC236}">
                <a16:creationId xmlns:a16="http://schemas.microsoft.com/office/drawing/2014/main" id="{628F4FB7-C279-DCB8-0D00-EA1FF0622C04}"/>
              </a:ext>
            </a:extLst>
          </p:cNvPr>
          <p:cNvSpPr/>
          <p:nvPr/>
        </p:nvSpPr>
        <p:spPr>
          <a:xfrm>
            <a:off x="2503965" y="2204777"/>
            <a:ext cx="3744000" cy="4016644"/>
          </a:xfrm>
          <a:prstGeom prst="rect">
            <a:avLst/>
          </a:prstGeom>
          <a:solidFill>
            <a:srgbClr val="F5F8F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Tree>
    <p:extLst>
      <p:ext uri="{BB962C8B-B14F-4D97-AF65-F5344CB8AC3E}">
        <p14:creationId xmlns:p14="http://schemas.microsoft.com/office/powerpoint/2010/main" val="335411854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3B768F-FBF8-E90B-4D17-00DFEC5481AD}"/>
            </a:ext>
          </a:extLst>
        </p:cNvPr>
        <p:cNvGrpSpPr/>
        <p:nvPr/>
      </p:nvGrpSpPr>
      <p:grpSpPr>
        <a:xfrm>
          <a:off x="0" y="0"/>
          <a:ext cx="0" cy="0"/>
          <a:chOff x="0" y="0"/>
          <a:chExt cx="0" cy="0"/>
        </a:xfrm>
      </p:grpSpPr>
      <p:pic>
        <p:nvPicPr>
          <p:cNvPr id="14" name="圖片 13" descr="一張含有 字型, 文字, 白色, 設計 的圖片&#10;&#10;AI 產生的內容可能不正確。">
            <a:extLst>
              <a:ext uri="{FF2B5EF4-FFF2-40B4-BE49-F238E27FC236}">
                <a16:creationId xmlns:a16="http://schemas.microsoft.com/office/drawing/2014/main" id="{DC5A4EB7-ECF2-73FA-801B-C5B17AA9CD11}"/>
              </a:ext>
            </a:extLst>
          </p:cNvPr>
          <p:cNvPicPr>
            <a:picLocks noChangeAspect="1"/>
          </p:cNvPicPr>
          <p:nvPr/>
        </p:nvPicPr>
        <p:blipFill>
          <a:blip r:embed="rId2"/>
          <a:stretch>
            <a:fillRect/>
          </a:stretch>
        </p:blipFill>
        <p:spPr>
          <a:xfrm>
            <a:off x="5636881" y="271724"/>
            <a:ext cx="568729" cy="406235"/>
          </a:xfrm>
          <a:prstGeom prst="rect">
            <a:avLst/>
          </a:prstGeom>
        </p:spPr>
      </p:pic>
      <p:sp>
        <p:nvSpPr>
          <p:cNvPr id="4" name="標題 1">
            <a:extLst>
              <a:ext uri="{FF2B5EF4-FFF2-40B4-BE49-F238E27FC236}">
                <a16:creationId xmlns:a16="http://schemas.microsoft.com/office/drawing/2014/main" id="{027D51C1-6F1C-4971-7806-0887F8EAA79C}"/>
              </a:ext>
            </a:extLst>
          </p:cNvPr>
          <p:cNvSpPr txBox="1">
            <a:spLocks/>
          </p:cNvSpPr>
          <p:nvPr/>
        </p:nvSpPr>
        <p:spPr>
          <a:xfrm>
            <a:off x="0" y="0"/>
            <a:ext cx="10515600" cy="70560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kumimoji="1" lang="en-US" altLang="zh-TW" sz="2000" dirty="0"/>
              <a:t>Edit Ad Group</a:t>
            </a:r>
          </a:p>
          <a:p>
            <a:r>
              <a:rPr kumimoji="1" lang="en-US" altLang="zh-TW" sz="2000" dirty="0"/>
              <a:t>Selected Custom Audiences, Status=</a:t>
            </a:r>
            <a:r>
              <a:rPr kumimoji="1" lang="en-US" altLang="zh-TW" sz="2000" b="1" dirty="0"/>
              <a:t>Expired </a:t>
            </a:r>
            <a:r>
              <a:rPr kumimoji="1" lang="en-US" altLang="zh-TW" sz="2000" b="1" dirty="0">
                <a:sym typeface="Wingdings" pitchFamily="2" charset="2"/>
              </a:rPr>
              <a:t></a:t>
            </a:r>
            <a:r>
              <a:rPr kumimoji="1" lang="zh-TW" altLang="en-US" sz="2000" b="1" dirty="0">
                <a:sym typeface="Wingdings" pitchFamily="2" charset="2"/>
              </a:rPr>
              <a:t>      </a:t>
            </a:r>
            <a:r>
              <a:rPr kumimoji="1" lang="en-US" altLang="zh-TW" sz="2000" b="1" dirty="0">
                <a:sym typeface="Wingdings" pitchFamily="2" charset="2"/>
              </a:rPr>
              <a:t> </a:t>
            </a:r>
            <a:endParaRPr kumimoji="1" lang="en-US" altLang="zh-TW" sz="2000" dirty="0"/>
          </a:p>
        </p:txBody>
      </p:sp>
      <p:pic>
        <p:nvPicPr>
          <p:cNvPr id="24" name="圖片 23" descr="一張含有 文字, 軟體, 網頁, 網站 的圖片&#10;&#10;AI 產生的內容可能不正確。">
            <a:extLst>
              <a:ext uri="{FF2B5EF4-FFF2-40B4-BE49-F238E27FC236}">
                <a16:creationId xmlns:a16="http://schemas.microsoft.com/office/drawing/2014/main" id="{BCEF1467-18E6-5150-A547-0FF8E5613FBE}"/>
              </a:ext>
            </a:extLst>
          </p:cNvPr>
          <p:cNvPicPr>
            <a:picLocks noChangeAspect="1"/>
          </p:cNvPicPr>
          <p:nvPr/>
        </p:nvPicPr>
        <p:blipFill>
          <a:blip r:embed="rId3"/>
          <a:stretch>
            <a:fillRect/>
          </a:stretch>
        </p:blipFill>
        <p:spPr>
          <a:xfrm>
            <a:off x="2342899" y="652545"/>
            <a:ext cx="7772400" cy="6205455"/>
          </a:xfrm>
          <a:prstGeom prst="rect">
            <a:avLst/>
          </a:prstGeom>
        </p:spPr>
      </p:pic>
      <p:sp>
        <p:nvSpPr>
          <p:cNvPr id="25" name="文字方塊 24">
            <a:extLst>
              <a:ext uri="{FF2B5EF4-FFF2-40B4-BE49-F238E27FC236}">
                <a16:creationId xmlns:a16="http://schemas.microsoft.com/office/drawing/2014/main" id="{A2A557FB-B859-46F5-25EC-08CD2862B573}"/>
              </a:ext>
            </a:extLst>
          </p:cNvPr>
          <p:cNvSpPr txBox="1"/>
          <p:nvPr/>
        </p:nvSpPr>
        <p:spPr>
          <a:xfrm>
            <a:off x="4631868" y="737536"/>
            <a:ext cx="3194462" cy="307777"/>
          </a:xfrm>
          <a:prstGeom prst="rect">
            <a:avLst/>
          </a:prstGeom>
          <a:solidFill>
            <a:srgbClr val="F5F8FE"/>
          </a:solidFill>
        </p:spPr>
        <p:txBody>
          <a:bodyPr wrap="square" rtlCol="0">
            <a:spAutoFit/>
          </a:bodyPr>
          <a:lstStyle/>
          <a:p>
            <a:pPr algn="ctr"/>
            <a:r>
              <a:rPr kumimoji="1" lang="en-US" altLang="zh-TW" sz="1400">
                <a:solidFill>
                  <a:srgbClr val="1C1E20"/>
                </a:solidFill>
              </a:rPr>
              <a:t>Targeting - Custom Audience</a:t>
            </a:r>
            <a:endParaRPr kumimoji="1" lang="zh-TW" altLang="en-US" sz="1400">
              <a:solidFill>
                <a:srgbClr val="1C1E20"/>
              </a:solidFill>
            </a:endParaRPr>
          </a:p>
        </p:txBody>
      </p:sp>
      <p:sp>
        <p:nvSpPr>
          <p:cNvPr id="26" name="文字方塊 25">
            <a:extLst>
              <a:ext uri="{FF2B5EF4-FFF2-40B4-BE49-F238E27FC236}">
                <a16:creationId xmlns:a16="http://schemas.microsoft.com/office/drawing/2014/main" id="{4629B42B-1C6C-4D46-621F-217F48A821AB}"/>
              </a:ext>
            </a:extLst>
          </p:cNvPr>
          <p:cNvSpPr txBox="1"/>
          <p:nvPr/>
        </p:nvSpPr>
        <p:spPr>
          <a:xfrm>
            <a:off x="2732388" y="1672783"/>
            <a:ext cx="3432646" cy="261610"/>
          </a:xfrm>
          <a:prstGeom prst="rect">
            <a:avLst/>
          </a:prstGeom>
          <a:solidFill>
            <a:schemeClr val="bg1"/>
          </a:solidFill>
        </p:spPr>
        <p:txBody>
          <a:bodyPr wrap="square">
            <a:spAutoFit/>
          </a:bodyPr>
          <a:lstStyle/>
          <a:p>
            <a:pPr lvl="0">
              <a:defRPr/>
            </a:pPr>
            <a:r>
              <a:rPr kumimoji="1" lang="en" altLang="zh-TW" sz="1100">
                <a:solidFill>
                  <a:srgbClr val="4E4E4E"/>
                </a:solidFill>
              </a:rPr>
              <a:t>[</a:t>
            </a:r>
            <a:r>
              <a:rPr kumimoji="1" lang="zh-TW" altLang="en-US" sz="1100">
                <a:solidFill>
                  <a:srgbClr val="4E4E4E"/>
                </a:solidFill>
              </a:rPr>
              <a:t>產業 </a:t>
            </a:r>
            <a:r>
              <a:rPr kumimoji="1" lang="en" altLang="zh-TW" sz="1100">
                <a:solidFill>
                  <a:srgbClr val="4E4E4E"/>
                </a:solidFill>
              </a:rPr>
              <a:t>Shopper Graph</a:t>
            </a:r>
            <a:r>
              <a:rPr kumimoji="1" lang="en-US" altLang="zh-TW" sz="1100">
                <a:solidFill>
                  <a:srgbClr val="4E4E4E"/>
                </a:solidFill>
              </a:rPr>
              <a:t>] </a:t>
            </a:r>
            <a:r>
              <a:rPr kumimoji="1" lang="zh-TW" altLang="en-US" sz="1100">
                <a:solidFill>
                  <a:srgbClr val="4E4E4E"/>
                </a:solidFill>
              </a:rPr>
              <a:t>合利他命</a:t>
            </a:r>
            <a:r>
              <a:rPr kumimoji="1" lang="en" altLang="zh-TW" sz="1100">
                <a:solidFill>
                  <a:srgbClr val="4E4E4E"/>
                </a:solidFill>
              </a:rPr>
              <a:t>EXPLUS 9-10</a:t>
            </a:r>
            <a:r>
              <a:rPr kumimoji="1" lang="zh-TW" altLang="en-US" sz="1100">
                <a:solidFill>
                  <a:srgbClr val="4E4E4E"/>
                </a:solidFill>
              </a:rPr>
              <a:t>月</a:t>
            </a:r>
          </a:p>
        </p:txBody>
      </p:sp>
      <p:sp>
        <p:nvSpPr>
          <p:cNvPr id="27" name="文字方塊 26">
            <a:extLst>
              <a:ext uri="{FF2B5EF4-FFF2-40B4-BE49-F238E27FC236}">
                <a16:creationId xmlns:a16="http://schemas.microsoft.com/office/drawing/2014/main" id="{A8C93605-B9EB-DEA3-7F61-AC4952C6F249}"/>
              </a:ext>
            </a:extLst>
          </p:cNvPr>
          <p:cNvSpPr txBox="1"/>
          <p:nvPr/>
        </p:nvSpPr>
        <p:spPr>
          <a:xfrm>
            <a:off x="2739553" y="1881795"/>
            <a:ext cx="3432647" cy="215444"/>
          </a:xfrm>
          <a:prstGeom prst="rect">
            <a:avLst/>
          </a:prstGeom>
          <a:solidFill>
            <a:schemeClr val="bg1"/>
          </a:solidFill>
        </p:spPr>
        <p:txBody>
          <a:bodyPr wrap="square">
            <a:spAutoFit/>
          </a:bodyPr>
          <a:lstStyle/>
          <a:p>
            <a:pPr lvl="0">
              <a:defRPr/>
            </a:pPr>
            <a:r>
              <a:rPr kumimoji="1" lang="en" altLang="zh-TW" sz="800">
                <a:solidFill>
                  <a:schemeClr val="bg1">
                    <a:lumMod val="65000"/>
                  </a:schemeClr>
                </a:solidFill>
              </a:rPr>
              <a:t>Industry Shopper Graph</a:t>
            </a:r>
          </a:p>
        </p:txBody>
      </p:sp>
      <p:sp>
        <p:nvSpPr>
          <p:cNvPr id="28" name="文字方塊 27">
            <a:extLst>
              <a:ext uri="{FF2B5EF4-FFF2-40B4-BE49-F238E27FC236}">
                <a16:creationId xmlns:a16="http://schemas.microsoft.com/office/drawing/2014/main" id="{FFB2B004-4D65-CC34-A7A2-FB1525ACABA8}"/>
              </a:ext>
            </a:extLst>
          </p:cNvPr>
          <p:cNvSpPr txBox="1"/>
          <p:nvPr/>
        </p:nvSpPr>
        <p:spPr>
          <a:xfrm>
            <a:off x="2739553" y="2204776"/>
            <a:ext cx="3432646" cy="261610"/>
          </a:xfrm>
          <a:prstGeom prst="rect">
            <a:avLst/>
          </a:prstGeom>
          <a:solidFill>
            <a:schemeClr val="bg1"/>
          </a:solidFill>
        </p:spPr>
        <p:txBody>
          <a:bodyPr wrap="square">
            <a:spAutoFit/>
          </a:bodyPr>
          <a:lstStyle/>
          <a:p>
            <a:pPr lvl="0">
              <a:defRPr/>
            </a:pPr>
            <a:r>
              <a:rPr kumimoji="1" lang="en" altLang="zh-TW" sz="1100">
                <a:solidFill>
                  <a:srgbClr val="4E4E4E"/>
                </a:solidFill>
              </a:rPr>
              <a:t>[Webb</a:t>
            </a:r>
            <a:r>
              <a:rPr kumimoji="1" lang="zh-TW" altLang="en-US" sz="1100">
                <a:solidFill>
                  <a:srgbClr val="4E4E4E"/>
                </a:solidFill>
              </a:rPr>
              <a:t>零售數據</a:t>
            </a:r>
            <a:r>
              <a:rPr kumimoji="1" lang="en-US" altLang="zh-TW" sz="1100">
                <a:solidFill>
                  <a:srgbClr val="4E4E4E"/>
                </a:solidFill>
              </a:rPr>
              <a:t>-</a:t>
            </a:r>
            <a:r>
              <a:rPr kumimoji="1" lang="zh-TW" altLang="en-US" sz="1100">
                <a:solidFill>
                  <a:srgbClr val="4E4E4E"/>
                </a:solidFill>
              </a:rPr>
              <a:t>購買</a:t>
            </a:r>
            <a:r>
              <a:rPr kumimoji="1" lang="en-US" altLang="zh-TW" sz="1100">
                <a:solidFill>
                  <a:srgbClr val="4E4E4E"/>
                </a:solidFill>
              </a:rPr>
              <a:t>] </a:t>
            </a:r>
            <a:r>
              <a:rPr kumimoji="1" lang="zh-TW" altLang="en-US" sz="1100">
                <a:solidFill>
                  <a:srgbClr val="4E4E4E"/>
                </a:solidFill>
              </a:rPr>
              <a:t>合利他命</a:t>
            </a:r>
            <a:r>
              <a:rPr kumimoji="1" lang="en" altLang="zh-TW" sz="1100">
                <a:solidFill>
                  <a:srgbClr val="4E4E4E"/>
                </a:solidFill>
              </a:rPr>
              <a:t>EXPLUS 10</a:t>
            </a:r>
            <a:r>
              <a:rPr kumimoji="1" lang="zh-TW" altLang="en-US" sz="1100">
                <a:solidFill>
                  <a:srgbClr val="4E4E4E"/>
                </a:solidFill>
              </a:rPr>
              <a:t>月</a:t>
            </a:r>
          </a:p>
        </p:txBody>
      </p:sp>
      <p:sp>
        <p:nvSpPr>
          <p:cNvPr id="29" name="文字方塊 28">
            <a:extLst>
              <a:ext uri="{FF2B5EF4-FFF2-40B4-BE49-F238E27FC236}">
                <a16:creationId xmlns:a16="http://schemas.microsoft.com/office/drawing/2014/main" id="{09B0530A-EABE-9A78-7D93-7CFCB40E8307}"/>
              </a:ext>
            </a:extLst>
          </p:cNvPr>
          <p:cNvSpPr txBox="1"/>
          <p:nvPr/>
        </p:nvSpPr>
        <p:spPr>
          <a:xfrm>
            <a:off x="2746718" y="2413788"/>
            <a:ext cx="3432647" cy="215444"/>
          </a:xfrm>
          <a:prstGeom prst="rect">
            <a:avLst/>
          </a:prstGeom>
          <a:solidFill>
            <a:schemeClr val="bg1"/>
          </a:solidFill>
        </p:spPr>
        <p:txBody>
          <a:bodyPr wrap="square">
            <a:spAutoFit/>
          </a:bodyPr>
          <a:lstStyle/>
          <a:p>
            <a:pPr fontAlgn="base"/>
            <a:r>
              <a:rPr kumimoji="1" lang="en" altLang="zh-TW" sz="800" dirty="0">
                <a:solidFill>
                  <a:schemeClr val="bg1">
                    <a:lumMod val="65000"/>
                  </a:schemeClr>
                </a:solidFill>
              </a:rPr>
              <a:t>Webb Retail Data (Purchase)</a:t>
            </a:r>
          </a:p>
        </p:txBody>
      </p:sp>
      <p:sp>
        <p:nvSpPr>
          <p:cNvPr id="30" name="文字方塊 29">
            <a:extLst>
              <a:ext uri="{FF2B5EF4-FFF2-40B4-BE49-F238E27FC236}">
                <a16:creationId xmlns:a16="http://schemas.microsoft.com/office/drawing/2014/main" id="{103649A2-D191-1CF1-F330-B7C33780C905}"/>
              </a:ext>
            </a:extLst>
          </p:cNvPr>
          <p:cNvSpPr txBox="1"/>
          <p:nvPr/>
        </p:nvSpPr>
        <p:spPr>
          <a:xfrm>
            <a:off x="2732387" y="2731379"/>
            <a:ext cx="3432646" cy="261610"/>
          </a:xfrm>
          <a:prstGeom prst="rect">
            <a:avLst/>
          </a:prstGeom>
          <a:solidFill>
            <a:schemeClr val="bg1"/>
          </a:solidFill>
        </p:spPr>
        <p:txBody>
          <a:bodyPr wrap="square">
            <a:spAutoFit/>
          </a:bodyPr>
          <a:lstStyle/>
          <a:p>
            <a:pPr lvl="0">
              <a:defRPr/>
            </a:pPr>
            <a:r>
              <a:rPr kumimoji="1" lang="en" altLang="zh-TW" sz="1100">
                <a:solidFill>
                  <a:srgbClr val="4E4E4E"/>
                </a:solidFill>
              </a:rPr>
              <a:t>[</a:t>
            </a:r>
            <a:r>
              <a:rPr kumimoji="1" lang="zh-TW" altLang="en-US" sz="1100">
                <a:solidFill>
                  <a:srgbClr val="4E4E4E"/>
                </a:solidFill>
              </a:rPr>
              <a:t>產業 </a:t>
            </a:r>
            <a:r>
              <a:rPr kumimoji="1" lang="en" altLang="zh-TW" sz="1100">
                <a:solidFill>
                  <a:srgbClr val="4E4E4E"/>
                </a:solidFill>
              </a:rPr>
              <a:t>Shopper Graph</a:t>
            </a:r>
            <a:r>
              <a:rPr kumimoji="1" lang="en-US" altLang="zh-TW" sz="1100">
                <a:solidFill>
                  <a:srgbClr val="4E4E4E"/>
                </a:solidFill>
              </a:rPr>
              <a:t>] </a:t>
            </a:r>
            <a:r>
              <a:rPr kumimoji="1" lang="zh-TW" altLang="en-US" sz="1100">
                <a:solidFill>
                  <a:srgbClr val="4E4E4E"/>
                </a:solidFill>
              </a:rPr>
              <a:t>合利他命</a:t>
            </a:r>
            <a:r>
              <a:rPr kumimoji="1" lang="en" altLang="zh-TW" sz="1100">
                <a:solidFill>
                  <a:srgbClr val="4E4E4E"/>
                </a:solidFill>
              </a:rPr>
              <a:t>EXPLUS 9-10</a:t>
            </a:r>
            <a:r>
              <a:rPr kumimoji="1" lang="zh-TW" altLang="en-US" sz="1100">
                <a:solidFill>
                  <a:srgbClr val="4E4E4E"/>
                </a:solidFill>
              </a:rPr>
              <a:t>月</a:t>
            </a:r>
          </a:p>
        </p:txBody>
      </p:sp>
      <p:sp>
        <p:nvSpPr>
          <p:cNvPr id="31" name="文字方塊 30">
            <a:extLst>
              <a:ext uri="{FF2B5EF4-FFF2-40B4-BE49-F238E27FC236}">
                <a16:creationId xmlns:a16="http://schemas.microsoft.com/office/drawing/2014/main" id="{C8CD9155-DF22-A380-5A17-682EB956E4AB}"/>
              </a:ext>
            </a:extLst>
          </p:cNvPr>
          <p:cNvSpPr txBox="1"/>
          <p:nvPr/>
        </p:nvSpPr>
        <p:spPr>
          <a:xfrm>
            <a:off x="2739552" y="2940391"/>
            <a:ext cx="3432647" cy="215444"/>
          </a:xfrm>
          <a:prstGeom prst="rect">
            <a:avLst/>
          </a:prstGeom>
          <a:solidFill>
            <a:schemeClr val="bg1"/>
          </a:solidFill>
        </p:spPr>
        <p:txBody>
          <a:bodyPr wrap="square">
            <a:spAutoFit/>
          </a:bodyPr>
          <a:lstStyle/>
          <a:p>
            <a:pPr lvl="0">
              <a:defRPr/>
            </a:pPr>
            <a:r>
              <a:rPr kumimoji="1" lang="en" altLang="zh-TW" sz="800">
                <a:solidFill>
                  <a:schemeClr val="bg1">
                    <a:lumMod val="65000"/>
                  </a:schemeClr>
                </a:solidFill>
              </a:rPr>
              <a:t>Industry Shopper Graph</a:t>
            </a:r>
          </a:p>
        </p:txBody>
      </p:sp>
      <p:sp>
        <p:nvSpPr>
          <p:cNvPr id="32" name="文字方塊 31">
            <a:extLst>
              <a:ext uri="{FF2B5EF4-FFF2-40B4-BE49-F238E27FC236}">
                <a16:creationId xmlns:a16="http://schemas.microsoft.com/office/drawing/2014/main" id="{3A51E934-121C-F0B4-A3D3-FFDC42AC2089}"/>
              </a:ext>
            </a:extLst>
          </p:cNvPr>
          <p:cNvSpPr txBox="1"/>
          <p:nvPr/>
        </p:nvSpPr>
        <p:spPr>
          <a:xfrm>
            <a:off x="2746718" y="3247295"/>
            <a:ext cx="3432646" cy="261610"/>
          </a:xfrm>
          <a:prstGeom prst="rect">
            <a:avLst/>
          </a:prstGeom>
          <a:solidFill>
            <a:schemeClr val="bg1"/>
          </a:solid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zh-TW" sz="1100" kern="1200">
                <a:solidFill>
                  <a:srgbClr val="1C1E20"/>
                </a:solidFill>
                <a:latin typeface="+mn-lt"/>
                <a:ea typeface="+mn-ea"/>
                <a:cs typeface="+mn-cs"/>
              </a:rPr>
              <a:t>[</a:t>
            </a:r>
            <a:r>
              <a:rPr kumimoji="1" lang="zh-TW" altLang="en-US" sz="1100" kern="1200">
                <a:solidFill>
                  <a:srgbClr val="1C1E20"/>
                </a:solidFill>
                <a:latin typeface="+mn-lt"/>
                <a:ea typeface="+mn-ea"/>
                <a:cs typeface="+mn-cs"/>
              </a:rPr>
              <a:t>關鍵字</a:t>
            </a:r>
            <a:r>
              <a:rPr kumimoji="1" lang="en-US" altLang="zh-TW" sz="1100" kern="1200">
                <a:solidFill>
                  <a:srgbClr val="1C1E20"/>
                </a:solidFill>
                <a:latin typeface="+mn-lt"/>
                <a:ea typeface="+mn-ea"/>
                <a:cs typeface="+mn-cs"/>
              </a:rPr>
              <a:t>] </a:t>
            </a:r>
            <a:r>
              <a:rPr kumimoji="1" lang="zh-TW" altLang="en-US" sz="1100" kern="1200">
                <a:solidFill>
                  <a:srgbClr val="1C1E20"/>
                </a:solidFill>
                <a:latin typeface="+mn-lt"/>
                <a:ea typeface="+mn-ea"/>
                <a:cs typeface="+mn-cs"/>
              </a:rPr>
              <a:t>合利他命</a:t>
            </a:r>
            <a:r>
              <a:rPr kumimoji="1" lang="en" altLang="zh-TW" sz="1100" kern="1200">
                <a:solidFill>
                  <a:srgbClr val="1C1E20"/>
                </a:solidFill>
                <a:latin typeface="+mn-lt"/>
                <a:ea typeface="+mn-ea"/>
                <a:cs typeface="+mn-cs"/>
              </a:rPr>
              <a:t>EXPLUS 10</a:t>
            </a:r>
            <a:r>
              <a:rPr kumimoji="1" lang="zh-TW" altLang="en-US" sz="1100" kern="1200">
                <a:solidFill>
                  <a:srgbClr val="1C1E20"/>
                </a:solidFill>
                <a:latin typeface="+mn-lt"/>
                <a:ea typeface="+mn-ea"/>
                <a:cs typeface="+mn-cs"/>
              </a:rPr>
              <a:t>月</a:t>
            </a:r>
          </a:p>
        </p:txBody>
      </p:sp>
      <p:sp>
        <p:nvSpPr>
          <p:cNvPr id="33" name="文字方塊 32">
            <a:extLst>
              <a:ext uri="{FF2B5EF4-FFF2-40B4-BE49-F238E27FC236}">
                <a16:creationId xmlns:a16="http://schemas.microsoft.com/office/drawing/2014/main" id="{270A9750-7ECF-F150-3694-B839B6833895}"/>
              </a:ext>
            </a:extLst>
          </p:cNvPr>
          <p:cNvSpPr txBox="1"/>
          <p:nvPr/>
        </p:nvSpPr>
        <p:spPr>
          <a:xfrm>
            <a:off x="2753883" y="3456307"/>
            <a:ext cx="3432647" cy="215444"/>
          </a:xfrm>
          <a:prstGeom prst="rect">
            <a:avLst/>
          </a:prstGeom>
          <a:solidFill>
            <a:schemeClr val="bg1"/>
          </a:solidFill>
        </p:spPr>
        <p:txBody>
          <a:bodyPr wrap="square">
            <a:spAutoFit/>
          </a:bodyPr>
          <a:lstStyle/>
          <a:p>
            <a:pPr lvl="0">
              <a:defRPr/>
            </a:pPr>
            <a:r>
              <a:rPr kumimoji="1" lang="en" altLang="zh-TW" sz="800">
                <a:solidFill>
                  <a:schemeClr val="bg1">
                    <a:lumMod val="65000"/>
                  </a:schemeClr>
                </a:solidFill>
              </a:rPr>
              <a:t>Brand Keyword AI Exploration</a:t>
            </a:r>
          </a:p>
        </p:txBody>
      </p:sp>
      <p:sp>
        <p:nvSpPr>
          <p:cNvPr id="34" name="文字方塊 33">
            <a:extLst>
              <a:ext uri="{FF2B5EF4-FFF2-40B4-BE49-F238E27FC236}">
                <a16:creationId xmlns:a16="http://schemas.microsoft.com/office/drawing/2014/main" id="{4887B255-EA33-6FFA-F425-E2FDED1B31D4}"/>
              </a:ext>
            </a:extLst>
          </p:cNvPr>
          <p:cNvSpPr txBox="1"/>
          <p:nvPr/>
        </p:nvSpPr>
        <p:spPr>
          <a:xfrm>
            <a:off x="2753883" y="3765643"/>
            <a:ext cx="3432646" cy="261610"/>
          </a:xfrm>
          <a:prstGeom prst="rect">
            <a:avLst/>
          </a:prstGeom>
          <a:solidFill>
            <a:schemeClr val="bg1"/>
          </a:solid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zh-TW" sz="1100" kern="1200">
                <a:solidFill>
                  <a:srgbClr val="1C1E20"/>
                </a:solidFill>
                <a:latin typeface="+mn-lt"/>
                <a:ea typeface="+mn-ea"/>
                <a:cs typeface="+mn-cs"/>
              </a:rPr>
              <a:t>[</a:t>
            </a:r>
            <a:r>
              <a:rPr kumimoji="1" lang="zh-TW" altLang="en-US" sz="1100" kern="1200">
                <a:solidFill>
                  <a:srgbClr val="1C1E20"/>
                </a:solidFill>
                <a:latin typeface="+mn-lt"/>
                <a:ea typeface="+mn-ea"/>
                <a:cs typeface="+mn-cs"/>
              </a:rPr>
              <a:t>關鍵字</a:t>
            </a:r>
            <a:r>
              <a:rPr kumimoji="1" lang="en-US" altLang="zh-TW" sz="1100" kern="1200">
                <a:solidFill>
                  <a:srgbClr val="1C1E20"/>
                </a:solidFill>
                <a:latin typeface="+mn-lt"/>
                <a:ea typeface="+mn-ea"/>
                <a:cs typeface="+mn-cs"/>
              </a:rPr>
              <a:t>] </a:t>
            </a:r>
            <a:r>
              <a:rPr kumimoji="1" lang="zh-TW" altLang="en-US" sz="1100" kern="1200">
                <a:solidFill>
                  <a:srgbClr val="1C1E20"/>
                </a:solidFill>
                <a:latin typeface="+mn-lt"/>
                <a:ea typeface="+mn-ea"/>
                <a:cs typeface="+mn-cs"/>
              </a:rPr>
              <a:t>合利他命</a:t>
            </a:r>
            <a:r>
              <a:rPr kumimoji="1" lang="en" altLang="zh-TW" sz="1100" kern="1200">
                <a:solidFill>
                  <a:srgbClr val="1C1E20"/>
                </a:solidFill>
                <a:latin typeface="+mn-lt"/>
                <a:ea typeface="+mn-ea"/>
                <a:cs typeface="+mn-cs"/>
              </a:rPr>
              <a:t>EXPLUS 10</a:t>
            </a:r>
            <a:r>
              <a:rPr kumimoji="1" lang="zh-TW" altLang="en-US" sz="1100" kern="1200">
                <a:solidFill>
                  <a:srgbClr val="1C1E20"/>
                </a:solidFill>
                <a:latin typeface="+mn-lt"/>
                <a:ea typeface="+mn-ea"/>
                <a:cs typeface="+mn-cs"/>
              </a:rPr>
              <a:t>月</a:t>
            </a:r>
          </a:p>
        </p:txBody>
      </p:sp>
      <p:sp>
        <p:nvSpPr>
          <p:cNvPr id="35" name="文字方塊 34">
            <a:extLst>
              <a:ext uri="{FF2B5EF4-FFF2-40B4-BE49-F238E27FC236}">
                <a16:creationId xmlns:a16="http://schemas.microsoft.com/office/drawing/2014/main" id="{52C59A55-DEDF-CE36-2B69-481246BCAB68}"/>
              </a:ext>
            </a:extLst>
          </p:cNvPr>
          <p:cNvSpPr txBox="1"/>
          <p:nvPr/>
        </p:nvSpPr>
        <p:spPr>
          <a:xfrm>
            <a:off x="2761048" y="3974655"/>
            <a:ext cx="3432647" cy="215444"/>
          </a:xfrm>
          <a:prstGeom prst="rect">
            <a:avLst/>
          </a:prstGeom>
          <a:solidFill>
            <a:schemeClr val="bg1"/>
          </a:solidFill>
        </p:spPr>
        <p:txBody>
          <a:bodyPr wrap="square">
            <a:spAutoFit/>
          </a:bodyPr>
          <a:lstStyle/>
          <a:p>
            <a:pPr lvl="0">
              <a:defRPr/>
            </a:pPr>
            <a:r>
              <a:rPr kumimoji="1" lang="en" altLang="zh-TW" sz="800">
                <a:solidFill>
                  <a:schemeClr val="bg1">
                    <a:lumMod val="65000"/>
                  </a:schemeClr>
                </a:solidFill>
              </a:rPr>
              <a:t>Brand Keyword AI Exploration</a:t>
            </a:r>
          </a:p>
        </p:txBody>
      </p:sp>
      <p:sp>
        <p:nvSpPr>
          <p:cNvPr id="36" name="矩形 35">
            <a:extLst>
              <a:ext uri="{FF2B5EF4-FFF2-40B4-BE49-F238E27FC236}">
                <a16:creationId xmlns:a16="http://schemas.microsoft.com/office/drawing/2014/main" id="{05673244-BA41-8543-AE10-AD563C1D2AE3}"/>
              </a:ext>
            </a:extLst>
          </p:cNvPr>
          <p:cNvSpPr/>
          <p:nvPr/>
        </p:nvSpPr>
        <p:spPr>
          <a:xfrm>
            <a:off x="6179364" y="1630448"/>
            <a:ext cx="68601" cy="620494"/>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pic>
        <p:nvPicPr>
          <p:cNvPr id="37" name="圖片 36" descr="一張含有 文字, 字型, 螢幕擷取畫面 的圖片&#10;&#10;AI 產生的內容可能不正確。">
            <a:extLst>
              <a:ext uri="{FF2B5EF4-FFF2-40B4-BE49-F238E27FC236}">
                <a16:creationId xmlns:a16="http://schemas.microsoft.com/office/drawing/2014/main" id="{26D1D8C1-C226-93FC-8671-05D79F144CD3}"/>
              </a:ext>
            </a:extLst>
          </p:cNvPr>
          <p:cNvPicPr>
            <a:picLocks noChangeAspect="1"/>
          </p:cNvPicPr>
          <p:nvPr/>
        </p:nvPicPr>
        <p:blipFill>
          <a:blip r:embed="rId4"/>
          <a:stretch>
            <a:fillRect/>
          </a:stretch>
        </p:blipFill>
        <p:spPr>
          <a:xfrm>
            <a:off x="6287260" y="1307677"/>
            <a:ext cx="3728570" cy="1384897"/>
          </a:xfrm>
          <a:prstGeom prst="rect">
            <a:avLst/>
          </a:prstGeom>
        </p:spPr>
      </p:pic>
      <p:sp>
        <p:nvSpPr>
          <p:cNvPr id="38" name="矩形 37">
            <a:extLst>
              <a:ext uri="{FF2B5EF4-FFF2-40B4-BE49-F238E27FC236}">
                <a16:creationId xmlns:a16="http://schemas.microsoft.com/office/drawing/2014/main" id="{CBD7A6D6-1FEC-3705-49F0-C1B6E9A611D2}"/>
              </a:ext>
            </a:extLst>
          </p:cNvPr>
          <p:cNvSpPr/>
          <p:nvPr/>
        </p:nvSpPr>
        <p:spPr>
          <a:xfrm>
            <a:off x="6287260" y="2680389"/>
            <a:ext cx="3744000" cy="352248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39" name="文字方塊 38">
            <a:extLst>
              <a:ext uri="{FF2B5EF4-FFF2-40B4-BE49-F238E27FC236}">
                <a16:creationId xmlns:a16="http://schemas.microsoft.com/office/drawing/2014/main" id="{64C95231-B891-0F40-4C33-D898949C0AD0}"/>
              </a:ext>
            </a:extLst>
          </p:cNvPr>
          <p:cNvSpPr txBox="1"/>
          <p:nvPr/>
        </p:nvSpPr>
        <p:spPr>
          <a:xfrm>
            <a:off x="6524547" y="1678631"/>
            <a:ext cx="3432646" cy="261610"/>
          </a:xfrm>
          <a:prstGeom prst="rect">
            <a:avLst/>
          </a:prstGeom>
          <a:solidFill>
            <a:schemeClr val="bg1"/>
          </a:solidFill>
        </p:spPr>
        <p:txBody>
          <a:bodyPr wrap="square">
            <a:spAutoFit/>
          </a:bodyPr>
          <a:lstStyle/>
          <a:p>
            <a:pPr lvl="0">
              <a:defRPr/>
            </a:pPr>
            <a:r>
              <a:rPr kumimoji="1" lang="en-US" altLang="zh-TW" sz="1100">
                <a:solidFill>
                  <a:srgbClr val="2993FF"/>
                </a:solidFill>
              </a:rPr>
              <a:t>[</a:t>
            </a:r>
            <a:r>
              <a:rPr kumimoji="1" lang="zh-TW" altLang="en-US" sz="1100">
                <a:solidFill>
                  <a:srgbClr val="2993FF"/>
                </a:solidFill>
              </a:rPr>
              <a:t>線下</a:t>
            </a:r>
            <a:r>
              <a:rPr kumimoji="1" lang="en" altLang="zh-TW" sz="1100">
                <a:solidFill>
                  <a:srgbClr val="2993FF"/>
                </a:solidFill>
              </a:rPr>
              <a:t>POI] </a:t>
            </a:r>
            <a:r>
              <a:rPr kumimoji="1" lang="zh-TW" altLang="en-US" sz="1100">
                <a:solidFill>
                  <a:srgbClr val="2993FF"/>
                </a:solidFill>
              </a:rPr>
              <a:t>合利他命</a:t>
            </a:r>
            <a:r>
              <a:rPr kumimoji="1" lang="en" altLang="zh-TW" sz="1100">
                <a:solidFill>
                  <a:srgbClr val="2993FF"/>
                </a:solidFill>
              </a:rPr>
              <a:t>EXPLUS 10</a:t>
            </a:r>
            <a:r>
              <a:rPr kumimoji="1" lang="zh-TW" altLang="en-US" sz="1100">
                <a:solidFill>
                  <a:srgbClr val="2993FF"/>
                </a:solidFill>
              </a:rPr>
              <a:t>月</a:t>
            </a:r>
          </a:p>
        </p:txBody>
      </p:sp>
      <p:sp>
        <p:nvSpPr>
          <p:cNvPr id="40" name="文字方塊 39">
            <a:extLst>
              <a:ext uri="{FF2B5EF4-FFF2-40B4-BE49-F238E27FC236}">
                <a16:creationId xmlns:a16="http://schemas.microsoft.com/office/drawing/2014/main" id="{1583285F-45A1-A9FA-AA8C-7AC4CC920AFF}"/>
              </a:ext>
            </a:extLst>
          </p:cNvPr>
          <p:cNvSpPr txBox="1"/>
          <p:nvPr/>
        </p:nvSpPr>
        <p:spPr>
          <a:xfrm>
            <a:off x="6524546" y="1881795"/>
            <a:ext cx="3432647" cy="215444"/>
          </a:xfrm>
          <a:prstGeom prst="rect">
            <a:avLst/>
          </a:prstGeom>
          <a:solidFill>
            <a:schemeClr val="bg1"/>
          </a:solidFill>
        </p:spPr>
        <p:txBody>
          <a:bodyPr wrap="square">
            <a:spAutoFit/>
          </a:bodyPr>
          <a:lstStyle/>
          <a:p>
            <a:pPr lvl="0">
              <a:defRPr/>
            </a:pPr>
            <a:r>
              <a:rPr kumimoji="1" lang="en" altLang="zh-TW" sz="800">
                <a:solidFill>
                  <a:schemeClr val="bg1">
                    <a:lumMod val="65000"/>
                  </a:schemeClr>
                </a:solidFill>
              </a:rPr>
              <a:t>Offline Point of Interest (POI)</a:t>
            </a:r>
          </a:p>
        </p:txBody>
      </p:sp>
      <p:pic>
        <p:nvPicPr>
          <p:cNvPr id="41" name="圖片 40">
            <a:extLst>
              <a:ext uri="{FF2B5EF4-FFF2-40B4-BE49-F238E27FC236}">
                <a16:creationId xmlns:a16="http://schemas.microsoft.com/office/drawing/2014/main" id="{7673F21A-6F29-50A9-B3DC-9FC58F22CA57}"/>
              </a:ext>
            </a:extLst>
          </p:cNvPr>
          <p:cNvPicPr>
            <a:picLocks noChangeAspect="1"/>
          </p:cNvPicPr>
          <p:nvPr/>
        </p:nvPicPr>
        <p:blipFill>
          <a:blip r:embed="rId5"/>
          <a:stretch>
            <a:fillRect/>
          </a:stretch>
        </p:blipFill>
        <p:spPr>
          <a:xfrm>
            <a:off x="7897154" y="1900710"/>
            <a:ext cx="184348" cy="184348"/>
          </a:xfrm>
          <a:prstGeom prst="rect">
            <a:avLst/>
          </a:prstGeom>
        </p:spPr>
      </p:pic>
      <p:sp>
        <p:nvSpPr>
          <p:cNvPr id="42" name="文字方塊 41">
            <a:extLst>
              <a:ext uri="{FF2B5EF4-FFF2-40B4-BE49-F238E27FC236}">
                <a16:creationId xmlns:a16="http://schemas.microsoft.com/office/drawing/2014/main" id="{C6E602FC-A9AA-6E7A-23D1-714967054282}"/>
              </a:ext>
            </a:extLst>
          </p:cNvPr>
          <p:cNvSpPr txBox="1"/>
          <p:nvPr/>
        </p:nvSpPr>
        <p:spPr>
          <a:xfrm>
            <a:off x="6517381" y="2204776"/>
            <a:ext cx="3432646" cy="261610"/>
          </a:xfrm>
          <a:prstGeom prst="rect">
            <a:avLst/>
          </a:prstGeom>
          <a:solidFill>
            <a:schemeClr val="bg1"/>
          </a:solidFill>
        </p:spPr>
        <p:txBody>
          <a:bodyPr wrap="square">
            <a:spAutoFit/>
          </a:bodyPr>
          <a:lstStyle/>
          <a:p>
            <a:pPr lvl="0">
              <a:defRPr/>
            </a:pPr>
            <a:r>
              <a:rPr kumimoji="1" lang="en" altLang="zh-TW" sz="1100">
                <a:solidFill>
                  <a:srgbClr val="2993FF"/>
                </a:solidFill>
              </a:rPr>
              <a:t>[Webb</a:t>
            </a:r>
            <a:r>
              <a:rPr kumimoji="1" lang="zh-TW" altLang="en-US" sz="1100">
                <a:solidFill>
                  <a:srgbClr val="2993FF"/>
                </a:solidFill>
              </a:rPr>
              <a:t>零售數據</a:t>
            </a:r>
            <a:r>
              <a:rPr kumimoji="1" lang="en-US" altLang="zh-TW" sz="1100">
                <a:solidFill>
                  <a:srgbClr val="2993FF"/>
                </a:solidFill>
              </a:rPr>
              <a:t>-</a:t>
            </a:r>
            <a:r>
              <a:rPr kumimoji="1" lang="zh-TW" altLang="en-US" sz="1100">
                <a:solidFill>
                  <a:srgbClr val="2993FF"/>
                </a:solidFill>
              </a:rPr>
              <a:t>購買</a:t>
            </a:r>
            <a:r>
              <a:rPr kumimoji="1" lang="en-US" altLang="zh-TW" sz="1100">
                <a:solidFill>
                  <a:srgbClr val="2993FF"/>
                </a:solidFill>
              </a:rPr>
              <a:t>] </a:t>
            </a:r>
            <a:r>
              <a:rPr kumimoji="1" lang="zh-TW" altLang="en-US" sz="1100">
                <a:solidFill>
                  <a:srgbClr val="2993FF"/>
                </a:solidFill>
              </a:rPr>
              <a:t>合利他命</a:t>
            </a:r>
            <a:r>
              <a:rPr kumimoji="1" lang="en" altLang="zh-TW" sz="1100">
                <a:solidFill>
                  <a:srgbClr val="2993FF"/>
                </a:solidFill>
              </a:rPr>
              <a:t>EXPLUS 10</a:t>
            </a:r>
            <a:r>
              <a:rPr kumimoji="1" lang="zh-TW" altLang="en-US" sz="1100">
                <a:solidFill>
                  <a:srgbClr val="2993FF"/>
                </a:solidFill>
              </a:rPr>
              <a:t>月</a:t>
            </a:r>
          </a:p>
        </p:txBody>
      </p:sp>
      <p:sp>
        <p:nvSpPr>
          <p:cNvPr id="43" name="文字方塊 42">
            <a:extLst>
              <a:ext uri="{FF2B5EF4-FFF2-40B4-BE49-F238E27FC236}">
                <a16:creationId xmlns:a16="http://schemas.microsoft.com/office/drawing/2014/main" id="{20DE3943-996B-79D5-9048-A6EBB9200FB4}"/>
              </a:ext>
            </a:extLst>
          </p:cNvPr>
          <p:cNvSpPr txBox="1"/>
          <p:nvPr/>
        </p:nvSpPr>
        <p:spPr>
          <a:xfrm>
            <a:off x="6524546" y="2413788"/>
            <a:ext cx="3432647" cy="215444"/>
          </a:xfrm>
          <a:prstGeom prst="rect">
            <a:avLst/>
          </a:prstGeom>
          <a:solidFill>
            <a:schemeClr val="bg1"/>
          </a:solidFill>
        </p:spPr>
        <p:txBody>
          <a:bodyPr wrap="square">
            <a:spAutoFit/>
          </a:bodyPr>
          <a:lstStyle/>
          <a:p>
            <a:pPr fontAlgn="base"/>
            <a:r>
              <a:rPr kumimoji="1" lang="en" altLang="zh-TW" sz="800">
                <a:solidFill>
                  <a:schemeClr val="bg1">
                    <a:lumMod val="65000"/>
                  </a:schemeClr>
                </a:solidFill>
              </a:rPr>
              <a:t>Webb Retail Data (Purchase)</a:t>
            </a:r>
          </a:p>
        </p:txBody>
      </p:sp>
      <p:sp>
        <p:nvSpPr>
          <p:cNvPr id="44" name="矩形 43">
            <a:extLst>
              <a:ext uri="{FF2B5EF4-FFF2-40B4-BE49-F238E27FC236}">
                <a16:creationId xmlns:a16="http://schemas.microsoft.com/office/drawing/2014/main" id="{5B3499C1-F039-289C-49D2-1886DEB93569}"/>
              </a:ext>
            </a:extLst>
          </p:cNvPr>
          <p:cNvSpPr/>
          <p:nvPr/>
        </p:nvSpPr>
        <p:spPr>
          <a:xfrm>
            <a:off x="2503965" y="2143405"/>
            <a:ext cx="3744000" cy="4078016"/>
          </a:xfrm>
          <a:prstGeom prst="rect">
            <a:avLst/>
          </a:prstGeom>
          <a:solidFill>
            <a:srgbClr val="F5F8F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pic>
        <p:nvPicPr>
          <p:cNvPr id="7" name="圖片 6">
            <a:extLst>
              <a:ext uri="{FF2B5EF4-FFF2-40B4-BE49-F238E27FC236}">
                <a16:creationId xmlns:a16="http://schemas.microsoft.com/office/drawing/2014/main" id="{BCE60588-4EFF-0F8C-5E4E-86D19BF3A3FF}"/>
              </a:ext>
            </a:extLst>
          </p:cNvPr>
          <p:cNvPicPr>
            <a:picLocks noChangeAspect="1"/>
          </p:cNvPicPr>
          <p:nvPr/>
        </p:nvPicPr>
        <p:blipFill>
          <a:blip r:embed="rId6"/>
          <a:stretch>
            <a:fillRect/>
          </a:stretch>
        </p:blipFill>
        <p:spPr>
          <a:xfrm flipH="1">
            <a:off x="7881314" y="2392968"/>
            <a:ext cx="254609" cy="254609"/>
          </a:xfrm>
          <a:prstGeom prst="rect">
            <a:avLst/>
          </a:prstGeom>
        </p:spPr>
      </p:pic>
      <p:sp>
        <p:nvSpPr>
          <p:cNvPr id="9" name="矩形 8">
            <a:extLst>
              <a:ext uri="{FF2B5EF4-FFF2-40B4-BE49-F238E27FC236}">
                <a16:creationId xmlns:a16="http://schemas.microsoft.com/office/drawing/2014/main" id="{4D8DC3D5-8B04-55E8-8AE7-9EADC8316B2C}"/>
              </a:ext>
            </a:extLst>
          </p:cNvPr>
          <p:cNvSpPr/>
          <p:nvPr/>
        </p:nvSpPr>
        <p:spPr>
          <a:xfrm>
            <a:off x="9493435" y="1272717"/>
            <a:ext cx="572130" cy="387569"/>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pic>
        <p:nvPicPr>
          <p:cNvPr id="6" name="圖片 5" descr="一張含有 寫生, 設計, 工具 的圖片&#10;&#10;AI 產生的內容可能不正確。">
            <a:extLst>
              <a:ext uri="{FF2B5EF4-FFF2-40B4-BE49-F238E27FC236}">
                <a16:creationId xmlns:a16="http://schemas.microsoft.com/office/drawing/2014/main" id="{5E6ABE82-E705-6C09-1F54-FDF0B4ECB634}"/>
              </a:ext>
            </a:extLst>
          </p:cNvPr>
          <p:cNvPicPr>
            <a:picLocks noChangeAspect="1"/>
          </p:cNvPicPr>
          <p:nvPr/>
        </p:nvPicPr>
        <p:blipFill>
          <a:blip r:embed="rId7"/>
          <a:stretch>
            <a:fillRect/>
          </a:stretch>
        </p:blipFill>
        <p:spPr>
          <a:xfrm>
            <a:off x="4996196" y="316046"/>
            <a:ext cx="355600" cy="330200"/>
          </a:xfrm>
          <a:prstGeom prst="rect">
            <a:avLst/>
          </a:prstGeom>
        </p:spPr>
      </p:pic>
    </p:spTree>
    <p:extLst>
      <p:ext uri="{BB962C8B-B14F-4D97-AF65-F5344CB8AC3E}">
        <p14:creationId xmlns:p14="http://schemas.microsoft.com/office/powerpoint/2010/main" val="404692247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0EF063-1B52-68BB-33CE-4C223CA483BA}"/>
            </a:ext>
          </a:extLst>
        </p:cNvPr>
        <p:cNvGrpSpPr/>
        <p:nvPr/>
      </p:nvGrpSpPr>
      <p:grpSpPr>
        <a:xfrm>
          <a:off x="0" y="0"/>
          <a:ext cx="0" cy="0"/>
          <a:chOff x="0" y="0"/>
          <a:chExt cx="0" cy="0"/>
        </a:xfrm>
      </p:grpSpPr>
      <p:pic>
        <p:nvPicPr>
          <p:cNvPr id="14" name="圖片 13" descr="一張含有 字型, 文字, 白色, 設計 的圖片&#10;&#10;AI 產生的內容可能不正確。">
            <a:extLst>
              <a:ext uri="{FF2B5EF4-FFF2-40B4-BE49-F238E27FC236}">
                <a16:creationId xmlns:a16="http://schemas.microsoft.com/office/drawing/2014/main" id="{B345E963-4FA6-2D09-58CC-84C0763EB510}"/>
              </a:ext>
            </a:extLst>
          </p:cNvPr>
          <p:cNvPicPr>
            <a:picLocks noChangeAspect="1"/>
          </p:cNvPicPr>
          <p:nvPr/>
        </p:nvPicPr>
        <p:blipFill>
          <a:blip r:embed="rId2"/>
          <a:stretch>
            <a:fillRect/>
          </a:stretch>
        </p:blipFill>
        <p:spPr>
          <a:xfrm>
            <a:off x="5636881" y="271724"/>
            <a:ext cx="568729" cy="406235"/>
          </a:xfrm>
          <a:prstGeom prst="rect">
            <a:avLst/>
          </a:prstGeom>
        </p:spPr>
      </p:pic>
      <p:sp>
        <p:nvSpPr>
          <p:cNvPr id="4" name="標題 1">
            <a:extLst>
              <a:ext uri="{FF2B5EF4-FFF2-40B4-BE49-F238E27FC236}">
                <a16:creationId xmlns:a16="http://schemas.microsoft.com/office/drawing/2014/main" id="{AB80AE9D-4C9F-7C40-DCA3-CCF168133240}"/>
              </a:ext>
            </a:extLst>
          </p:cNvPr>
          <p:cNvSpPr txBox="1">
            <a:spLocks/>
          </p:cNvSpPr>
          <p:nvPr/>
        </p:nvSpPr>
        <p:spPr>
          <a:xfrm>
            <a:off x="0" y="0"/>
            <a:ext cx="10515600" cy="70560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kumimoji="1" lang="en-US" altLang="zh-TW" sz="2000" dirty="0"/>
              <a:t>Edit Ad Group</a:t>
            </a:r>
          </a:p>
          <a:p>
            <a:r>
              <a:rPr kumimoji="1" lang="en-US" altLang="zh-TW" sz="2000" dirty="0"/>
              <a:t>Selected Custom Audiences, Status=</a:t>
            </a:r>
            <a:r>
              <a:rPr kumimoji="1" lang="en-US" altLang="zh-TW" sz="2000" b="1" dirty="0"/>
              <a:t>Expired </a:t>
            </a:r>
            <a:r>
              <a:rPr kumimoji="1" lang="en-US" altLang="zh-TW" sz="2000" b="1" dirty="0">
                <a:sym typeface="Wingdings" pitchFamily="2" charset="2"/>
              </a:rPr>
              <a:t></a:t>
            </a:r>
            <a:r>
              <a:rPr kumimoji="1" lang="zh-TW" altLang="en-US" sz="2000" b="1" dirty="0">
                <a:sym typeface="Wingdings" pitchFamily="2" charset="2"/>
              </a:rPr>
              <a:t>      </a:t>
            </a:r>
            <a:r>
              <a:rPr kumimoji="1" lang="en-US" altLang="zh-TW" sz="2000" b="1" dirty="0">
                <a:sym typeface="Wingdings" pitchFamily="2" charset="2"/>
              </a:rPr>
              <a:t> </a:t>
            </a:r>
            <a:endParaRPr kumimoji="1" lang="en-US" altLang="zh-TW" sz="2000" dirty="0"/>
          </a:p>
        </p:txBody>
      </p:sp>
      <p:pic>
        <p:nvPicPr>
          <p:cNvPr id="24" name="圖片 23" descr="一張含有 文字, 軟體, 網頁, 網站 的圖片&#10;&#10;AI 產生的內容可能不正確。">
            <a:extLst>
              <a:ext uri="{FF2B5EF4-FFF2-40B4-BE49-F238E27FC236}">
                <a16:creationId xmlns:a16="http://schemas.microsoft.com/office/drawing/2014/main" id="{DA80A99D-EC10-F4E6-0107-9E77A6FAB851}"/>
              </a:ext>
            </a:extLst>
          </p:cNvPr>
          <p:cNvPicPr>
            <a:picLocks noChangeAspect="1"/>
          </p:cNvPicPr>
          <p:nvPr/>
        </p:nvPicPr>
        <p:blipFill>
          <a:blip r:embed="rId3"/>
          <a:stretch>
            <a:fillRect/>
          </a:stretch>
        </p:blipFill>
        <p:spPr>
          <a:xfrm>
            <a:off x="2342899" y="652545"/>
            <a:ext cx="7772400" cy="6205455"/>
          </a:xfrm>
          <a:prstGeom prst="rect">
            <a:avLst/>
          </a:prstGeom>
        </p:spPr>
      </p:pic>
      <p:sp>
        <p:nvSpPr>
          <p:cNvPr id="25" name="文字方塊 24">
            <a:extLst>
              <a:ext uri="{FF2B5EF4-FFF2-40B4-BE49-F238E27FC236}">
                <a16:creationId xmlns:a16="http://schemas.microsoft.com/office/drawing/2014/main" id="{410C02C7-D457-CA0E-BD1B-722E95229057}"/>
              </a:ext>
            </a:extLst>
          </p:cNvPr>
          <p:cNvSpPr txBox="1"/>
          <p:nvPr/>
        </p:nvSpPr>
        <p:spPr>
          <a:xfrm>
            <a:off x="4631868" y="737536"/>
            <a:ext cx="3194462" cy="307777"/>
          </a:xfrm>
          <a:prstGeom prst="rect">
            <a:avLst/>
          </a:prstGeom>
          <a:solidFill>
            <a:srgbClr val="F5F8FE"/>
          </a:solidFill>
        </p:spPr>
        <p:txBody>
          <a:bodyPr wrap="square" rtlCol="0">
            <a:spAutoFit/>
          </a:bodyPr>
          <a:lstStyle/>
          <a:p>
            <a:pPr algn="ctr"/>
            <a:r>
              <a:rPr kumimoji="1" lang="en-US" altLang="zh-TW" sz="1400">
                <a:solidFill>
                  <a:srgbClr val="1C1E20"/>
                </a:solidFill>
              </a:rPr>
              <a:t>Targeting - Custom Audience</a:t>
            </a:r>
            <a:endParaRPr kumimoji="1" lang="zh-TW" altLang="en-US" sz="1400">
              <a:solidFill>
                <a:srgbClr val="1C1E20"/>
              </a:solidFill>
            </a:endParaRPr>
          </a:p>
        </p:txBody>
      </p:sp>
      <p:sp>
        <p:nvSpPr>
          <p:cNvPr id="26" name="文字方塊 25">
            <a:extLst>
              <a:ext uri="{FF2B5EF4-FFF2-40B4-BE49-F238E27FC236}">
                <a16:creationId xmlns:a16="http://schemas.microsoft.com/office/drawing/2014/main" id="{7EAB3425-83F0-250B-F79F-D3C63DD5EE70}"/>
              </a:ext>
            </a:extLst>
          </p:cNvPr>
          <p:cNvSpPr txBox="1"/>
          <p:nvPr/>
        </p:nvSpPr>
        <p:spPr>
          <a:xfrm>
            <a:off x="2732388" y="1672783"/>
            <a:ext cx="3432646" cy="261610"/>
          </a:xfrm>
          <a:prstGeom prst="rect">
            <a:avLst/>
          </a:prstGeom>
          <a:solidFill>
            <a:schemeClr val="bg1"/>
          </a:solidFill>
        </p:spPr>
        <p:txBody>
          <a:bodyPr wrap="square">
            <a:spAutoFit/>
          </a:bodyPr>
          <a:lstStyle/>
          <a:p>
            <a:pPr lvl="0">
              <a:defRPr/>
            </a:pPr>
            <a:r>
              <a:rPr kumimoji="1" lang="en" altLang="zh-TW" sz="1100">
                <a:solidFill>
                  <a:srgbClr val="4E4E4E"/>
                </a:solidFill>
              </a:rPr>
              <a:t>[</a:t>
            </a:r>
            <a:r>
              <a:rPr kumimoji="1" lang="zh-TW" altLang="en-US" sz="1100">
                <a:solidFill>
                  <a:srgbClr val="4E4E4E"/>
                </a:solidFill>
              </a:rPr>
              <a:t>產業 </a:t>
            </a:r>
            <a:r>
              <a:rPr kumimoji="1" lang="en" altLang="zh-TW" sz="1100">
                <a:solidFill>
                  <a:srgbClr val="4E4E4E"/>
                </a:solidFill>
              </a:rPr>
              <a:t>Shopper Graph</a:t>
            </a:r>
            <a:r>
              <a:rPr kumimoji="1" lang="en-US" altLang="zh-TW" sz="1100">
                <a:solidFill>
                  <a:srgbClr val="4E4E4E"/>
                </a:solidFill>
              </a:rPr>
              <a:t>] </a:t>
            </a:r>
            <a:r>
              <a:rPr kumimoji="1" lang="zh-TW" altLang="en-US" sz="1100">
                <a:solidFill>
                  <a:srgbClr val="4E4E4E"/>
                </a:solidFill>
              </a:rPr>
              <a:t>合利他命</a:t>
            </a:r>
            <a:r>
              <a:rPr kumimoji="1" lang="en" altLang="zh-TW" sz="1100">
                <a:solidFill>
                  <a:srgbClr val="4E4E4E"/>
                </a:solidFill>
              </a:rPr>
              <a:t>EXPLUS 9-10</a:t>
            </a:r>
            <a:r>
              <a:rPr kumimoji="1" lang="zh-TW" altLang="en-US" sz="1100">
                <a:solidFill>
                  <a:srgbClr val="4E4E4E"/>
                </a:solidFill>
              </a:rPr>
              <a:t>月</a:t>
            </a:r>
          </a:p>
        </p:txBody>
      </p:sp>
      <p:sp>
        <p:nvSpPr>
          <p:cNvPr id="27" name="文字方塊 26">
            <a:extLst>
              <a:ext uri="{FF2B5EF4-FFF2-40B4-BE49-F238E27FC236}">
                <a16:creationId xmlns:a16="http://schemas.microsoft.com/office/drawing/2014/main" id="{CD60055E-AF55-FEEC-4D67-06FB7E1F4C53}"/>
              </a:ext>
            </a:extLst>
          </p:cNvPr>
          <p:cNvSpPr txBox="1"/>
          <p:nvPr/>
        </p:nvSpPr>
        <p:spPr>
          <a:xfrm>
            <a:off x="2739553" y="1881795"/>
            <a:ext cx="3432647" cy="215444"/>
          </a:xfrm>
          <a:prstGeom prst="rect">
            <a:avLst/>
          </a:prstGeom>
          <a:solidFill>
            <a:schemeClr val="bg1"/>
          </a:solidFill>
        </p:spPr>
        <p:txBody>
          <a:bodyPr wrap="square">
            <a:spAutoFit/>
          </a:bodyPr>
          <a:lstStyle/>
          <a:p>
            <a:pPr lvl="0">
              <a:defRPr/>
            </a:pPr>
            <a:r>
              <a:rPr kumimoji="1" lang="en" altLang="zh-TW" sz="800">
                <a:solidFill>
                  <a:schemeClr val="bg1">
                    <a:lumMod val="65000"/>
                  </a:schemeClr>
                </a:solidFill>
              </a:rPr>
              <a:t>Industry Shopper Graph</a:t>
            </a:r>
          </a:p>
        </p:txBody>
      </p:sp>
      <p:sp>
        <p:nvSpPr>
          <p:cNvPr id="28" name="文字方塊 27">
            <a:extLst>
              <a:ext uri="{FF2B5EF4-FFF2-40B4-BE49-F238E27FC236}">
                <a16:creationId xmlns:a16="http://schemas.microsoft.com/office/drawing/2014/main" id="{63963D1F-E6DF-A603-876A-B99A86AF1460}"/>
              </a:ext>
            </a:extLst>
          </p:cNvPr>
          <p:cNvSpPr txBox="1"/>
          <p:nvPr/>
        </p:nvSpPr>
        <p:spPr>
          <a:xfrm>
            <a:off x="2739553" y="2204776"/>
            <a:ext cx="3432646" cy="261610"/>
          </a:xfrm>
          <a:prstGeom prst="rect">
            <a:avLst/>
          </a:prstGeom>
          <a:solidFill>
            <a:schemeClr val="bg1"/>
          </a:solidFill>
        </p:spPr>
        <p:txBody>
          <a:bodyPr wrap="square">
            <a:spAutoFit/>
          </a:bodyPr>
          <a:lstStyle/>
          <a:p>
            <a:pPr lvl="0">
              <a:defRPr/>
            </a:pPr>
            <a:r>
              <a:rPr kumimoji="1" lang="en" altLang="zh-TW" sz="1100">
                <a:solidFill>
                  <a:srgbClr val="4E4E4E"/>
                </a:solidFill>
              </a:rPr>
              <a:t>[Webb</a:t>
            </a:r>
            <a:r>
              <a:rPr kumimoji="1" lang="zh-TW" altLang="en-US" sz="1100">
                <a:solidFill>
                  <a:srgbClr val="4E4E4E"/>
                </a:solidFill>
              </a:rPr>
              <a:t>零售數據</a:t>
            </a:r>
            <a:r>
              <a:rPr kumimoji="1" lang="en-US" altLang="zh-TW" sz="1100">
                <a:solidFill>
                  <a:srgbClr val="4E4E4E"/>
                </a:solidFill>
              </a:rPr>
              <a:t>-</a:t>
            </a:r>
            <a:r>
              <a:rPr kumimoji="1" lang="zh-TW" altLang="en-US" sz="1100">
                <a:solidFill>
                  <a:srgbClr val="4E4E4E"/>
                </a:solidFill>
              </a:rPr>
              <a:t>購買</a:t>
            </a:r>
            <a:r>
              <a:rPr kumimoji="1" lang="en-US" altLang="zh-TW" sz="1100">
                <a:solidFill>
                  <a:srgbClr val="4E4E4E"/>
                </a:solidFill>
              </a:rPr>
              <a:t>] </a:t>
            </a:r>
            <a:r>
              <a:rPr kumimoji="1" lang="zh-TW" altLang="en-US" sz="1100">
                <a:solidFill>
                  <a:srgbClr val="4E4E4E"/>
                </a:solidFill>
              </a:rPr>
              <a:t>合利他命</a:t>
            </a:r>
            <a:r>
              <a:rPr kumimoji="1" lang="en" altLang="zh-TW" sz="1100">
                <a:solidFill>
                  <a:srgbClr val="4E4E4E"/>
                </a:solidFill>
              </a:rPr>
              <a:t>EXPLUS 10</a:t>
            </a:r>
            <a:r>
              <a:rPr kumimoji="1" lang="zh-TW" altLang="en-US" sz="1100">
                <a:solidFill>
                  <a:srgbClr val="4E4E4E"/>
                </a:solidFill>
              </a:rPr>
              <a:t>月</a:t>
            </a:r>
          </a:p>
        </p:txBody>
      </p:sp>
      <p:sp>
        <p:nvSpPr>
          <p:cNvPr id="29" name="文字方塊 28">
            <a:extLst>
              <a:ext uri="{FF2B5EF4-FFF2-40B4-BE49-F238E27FC236}">
                <a16:creationId xmlns:a16="http://schemas.microsoft.com/office/drawing/2014/main" id="{F7B294B2-922C-AB77-681B-EE740B7D7510}"/>
              </a:ext>
            </a:extLst>
          </p:cNvPr>
          <p:cNvSpPr txBox="1"/>
          <p:nvPr/>
        </p:nvSpPr>
        <p:spPr>
          <a:xfrm>
            <a:off x="2746718" y="2413788"/>
            <a:ext cx="3432647" cy="215444"/>
          </a:xfrm>
          <a:prstGeom prst="rect">
            <a:avLst/>
          </a:prstGeom>
          <a:solidFill>
            <a:schemeClr val="bg1"/>
          </a:solidFill>
        </p:spPr>
        <p:txBody>
          <a:bodyPr wrap="square">
            <a:spAutoFit/>
          </a:bodyPr>
          <a:lstStyle/>
          <a:p>
            <a:pPr fontAlgn="base"/>
            <a:r>
              <a:rPr kumimoji="1" lang="en" altLang="zh-TW" sz="800" dirty="0">
                <a:solidFill>
                  <a:schemeClr val="bg1">
                    <a:lumMod val="65000"/>
                  </a:schemeClr>
                </a:solidFill>
              </a:rPr>
              <a:t>Webb Retail Data (Purchase)</a:t>
            </a:r>
          </a:p>
        </p:txBody>
      </p:sp>
      <p:sp>
        <p:nvSpPr>
          <p:cNvPr id="30" name="文字方塊 29">
            <a:extLst>
              <a:ext uri="{FF2B5EF4-FFF2-40B4-BE49-F238E27FC236}">
                <a16:creationId xmlns:a16="http://schemas.microsoft.com/office/drawing/2014/main" id="{76B86045-2E9E-6B9E-4DAD-0C207E429BB0}"/>
              </a:ext>
            </a:extLst>
          </p:cNvPr>
          <p:cNvSpPr txBox="1"/>
          <p:nvPr/>
        </p:nvSpPr>
        <p:spPr>
          <a:xfrm>
            <a:off x="2732387" y="2731379"/>
            <a:ext cx="3432646" cy="261610"/>
          </a:xfrm>
          <a:prstGeom prst="rect">
            <a:avLst/>
          </a:prstGeom>
          <a:solidFill>
            <a:schemeClr val="bg1"/>
          </a:solidFill>
        </p:spPr>
        <p:txBody>
          <a:bodyPr wrap="square">
            <a:spAutoFit/>
          </a:bodyPr>
          <a:lstStyle/>
          <a:p>
            <a:pPr lvl="0">
              <a:defRPr/>
            </a:pPr>
            <a:r>
              <a:rPr kumimoji="1" lang="en" altLang="zh-TW" sz="1100">
                <a:solidFill>
                  <a:srgbClr val="4E4E4E"/>
                </a:solidFill>
              </a:rPr>
              <a:t>[</a:t>
            </a:r>
            <a:r>
              <a:rPr kumimoji="1" lang="zh-TW" altLang="en-US" sz="1100">
                <a:solidFill>
                  <a:srgbClr val="4E4E4E"/>
                </a:solidFill>
              </a:rPr>
              <a:t>產業 </a:t>
            </a:r>
            <a:r>
              <a:rPr kumimoji="1" lang="en" altLang="zh-TW" sz="1100">
                <a:solidFill>
                  <a:srgbClr val="4E4E4E"/>
                </a:solidFill>
              </a:rPr>
              <a:t>Shopper Graph</a:t>
            </a:r>
            <a:r>
              <a:rPr kumimoji="1" lang="en-US" altLang="zh-TW" sz="1100">
                <a:solidFill>
                  <a:srgbClr val="4E4E4E"/>
                </a:solidFill>
              </a:rPr>
              <a:t>] </a:t>
            </a:r>
            <a:r>
              <a:rPr kumimoji="1" lang="zh-TW" altLang="en-US" sz="1100">
                <a:solidFill>
                  <a:srgbClr val="4E4E4E"/>
                </a:solidFill>
              </a:rPr>
              <a:t>合利他命</a:t>
            </a:r>
            <a:r>
              <a:rPr kumimoji="1" lang="en" altLang="zh-TW" sz="1100">
                <a:solidFill>
                  <a:srgbClr val="4E4E4E"/>
                </a:solidFill>
              </a:rPr>
              <a:t>EXPLUS 9-10</a:t>
            </a:r>
            <a:r>
              <a:rPr kumimoji="1" lang="zh-TW" altLang="en-US" sz="1100">
                <a:solidFill>
                  <a:srgbClr val="4E4E4E"/>
                </a:solidFill>
              </a:rPr>
              <a:t>月</a:t>
            </a:r>
          </a:p>
        </p:txBody>
      </p:sp>
      <p:sp>
        <p:nvSpPr>
          <p:cNvPr id="31" name="文字方塊 30">
            <a:extLst>
              <a:ext uri="{FF2B5EF4-FFF2-40B4-BE49-F238E27FC236}">
                <a16:creationId xmlns:a16="http://schemas.microsoft.com/office/drawing/2014/main" id="{B2FB7FE4-D848-6052-190D-0E4224FA4AEC}"/>
              </a:ext>
            </a:extLst>
          </p:cNvPr>
          <p:cNvSpPr txBox="1"/>
          <p:nvPr/>
        </p:nvSpPr>
        <p:spPr>
          <a:xfrm>
            <a:off x="2739552" y="2940391"/>
            <a:ext cx="3432647" cy="215444"/>
          </a:xfrm>
          <a:prstGeom prst="rect">
            <a:avLst/>
          </a:prstGeom>
          <a:solidFill>
            <a:schemeClr val="bg1"/>
          </a:solidFill>
        </p:spPr>
        <p:txBody>
          <a:bodyPr wrap="square">
            <a:spAutoFit/>
          </a:bodyPr>
          <a:lstStyle/>
          <a:p>
            <a:pPr lvl="0">
              <a:defRPr/>
            </a:pPr>
            <a:r>
              <a:rPr kumimoji="1" lang="en" altLang="zh-TW" sz="800">
                <a:solidFill>
                  <a:schemeClr val="bg1">
                    <a:lumMod val="65000"/>
                  </a:schemeClr>
                </a:solidFill>
              </a:rPr>
              <a:t>Industry Shopper Graph</a:t>
            </a:r>
          </a:p>
        </p:txBody>
      </p:sp>
      <p:sp>
        <p:nvSpPr>
          <p:cNvPr id="32" name="文字方塊 31">
            <a:extLst>
              <a:ext uri="{FF2B5EF4-FFF2-40B4-BE49-F238E27FC236}">
                <a16:creationId xmlns:a16="http://schemas.microsoft.com/office/drawing/2014/main" id="{BEA60F83-A7B8-CCA0-4E60-894864645669}"/>
              </a:ext>
            </a:extLst>
          </p:cNvPr>
          <p:cNvSpPr txBox="1"/>
          <p:nvPr/>
        </p:nvSpPr>
        <p:spPr>
          <a:xfrm>
            <a:off x="2746718" y="3247295"/>
            <a:ext cx="3432646" cy="261610"/>
          </a:xfrm>
          <a:prstGeom prst="rect">
            <a:avLst/>
          </a:prstGeom>
          <a:solidFill>
            <a:schemeClr val="bg1"/>
          </a:solid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zh-TW" sz="1100" kern="1200">
                <a:solidFill>
                  <a:srgbClr val="1C1E20"/>
                </a:solidFill>
                <a:latin typeface="+mn-lt"/>
                <a:ea typeface="+mn-ea"/>
                <a:cs typeface="+mn-cs"/>
              </a:rPr>
              <a:t>[</a:t>
            </a:r>
            <a:r>
              <a:rPr kumimoji="1" lang="zh-TW" altLang="en-US" sz="1100" kern="1200">
                <a:solidFill>
                  <a:srgbClr val="1C1E20"/>
                </a:solidFill>
                <a:latin typeface="+mn-lt"/>
                <a:ea typeface="+mn-ea"/>
                <a:cs typeface="+mn-cs"/>
              </a:rPr>
              <a:t>關鍵字</a:t>
            </a:r>
            <a:r>
              <a:rPr kumimoji="1" lang="en-US" altLang="zh-TW" sz="1100" kern="1200">
                <a:solidFill>
                  <a:srgbClr val="1C1E20"/>
                </a:solidFill>
                <a:latin typeface="+mn-lt"/>
                <a:ea typeface="+mn-ea"/>
                <a:cs typeface="+mn-cs"/>
              </a:rPr>
              <a:t>] </a:t>
            </a:r>
            <a:r>
              <a:rPr kumimoji="1" lang="zh-TW" altLang="en-US" sz="1100" kern="1200">
                <a:solidFill>
                  <a:srgbClr val="1C1E20"/>
                </a:solidFill>
                <a:latin typeface="+mn-lt"/>
                <a:ea typeface="+mn-ea"/>
                <a:cs typeface="+mn-cs"/>
              </a:rPr>
              <a:t>合利他命</a:t>
            </a:r>
            <a:r>
              <a:rPr kumimoji="1" lang="en" altLang="zh-TW" sz="1100" kern="1200">
                <a:solidFill>
                  <a:srgbClr val="1C1E20"/>
                </a:solidFill>
                <a:latin typeface="+mn-lt"/>
                <a:ea typeface="+mn-ea"/>
                <a:cs typeface="+mn-cs"/>
              </a:rPr>
              <a:t>EXPLUS 10</a:t>
            </a:r>
            <a:r>
              <a:rPr kumimoji="1" lang="zh-TW" altLang="en-US" sz="1100" kern="1200">
                <a:solidFill>
                  <a:srgbClr val="1C1E20"/>
                </a:solidFill>
                <a:latin typeface="+mn-lt"/>
                <a:ea typeface="+mn-ea"/>
                <a:cs typeface="+mn-cs"/>
              </a:rPr>
              <a:t>月</a:t>
            </a:r>
          </a:p>
        </p:txBody>
      </p:sp>
      <p:sp>
        <p:nvSpPr>
          <p:cNvPr id="33" name="文字方塊 32">
            <a:extLst>
              <a:ext uri="{FF2B5EF4-FFF2-40B4-BE49-F238E27FC236}">
                <a16:creationId xmlns:a16="http://schemas.microsoft.com/office/drawing/2014/main" id="{EFF6B570-728F-1374-7D6C-F6DF6D0AB024}"/>
              </a:ext>
            </a:extLst>
          </p:cNvPr>
          <p:cNvSpPr txBox="1"/>
          <p:nvPr/>
        </p:nvSpPr>
        <p:spPr>
          <a:xfrm>
            <a:off x="2753883" y="3456307"/>
            <a:ext cx="3432647" cy="215444"/>
          </a:xfrm>
          <a:prstGeom prst="rect">
            <a:avLst/>
          </a:prstGeom>
          <a:solidFill>
            <a:schemeClr val="bg1"/>
          </a:solidFill>
        </p:spPr>
        <p:txBody>
          <a:bodyPr wrap="square">
            <a:spAutoFit/>
          </a:bodyPr>
          <a:lstStyle/>
          <a:p>
            <a:pPr lvl="0">
              <a:defRPr/>
            </a:pPr>
            <a:r>
              <a:rPr kumimoji="1" lang="en" altLang="zh-TW" sz="800">
                <a:solidFill>
                  <a:schemeClr val="bg1">
                    <a:lumMod val="65000"/>
                  </a:schemeClr>
                </a:solidFill>
              </a:rPr>
              <a:t>Brand Keyword AI Exploration</a:t>
            </a:r>
          </a:p>
        </p:txBody>
      </p:sp>
      <p:sp>
        <p:nvSpPr>
          <p:cNvPr id="34" name="文字方塊 33">
            <a:extLst>
              <a:ext uri="{FF2B5EF4-FFF2-40B4-BE49-F238E27FC236}">
                <a16:creationId xmlns:a16="http://schemas.microsoft.com/office/drawing/2014/main" id="{5B3EB91E-544C-4CF0-A7CB-5DDADB028BAA}"/>
              </a:ext>
            </a:extLst>
          </p:cNvPr>
          <p:cNvSpPr txBox="1"/>
          <p:nvPr/>
        </p:nvSpPr>
        <p:spPr>
          <a:xfrm>
            <a:off x="2753883" y="3765643"/>
            <a:ext cx="3432646" cy="261610"/>
          </a:xfrm>
          <a:prstGeom prst="rect">
            <a:avLst/>
          </a:prstGeom>
          <a:solidFill>
            <a:schemeClr val="bg1"/>
          </a:solid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zh-TW" sz="1100" kern="1200">
                <a:solidFill>
                  <a:srgbClr val="1C1E20"/>
                </a:solidFill>
                <a:latin typeface="+mn-lt"/>
                <a:ea typeface="+mn-ea"/>
                <a:cs typeface="+mn-cs"/>
              </a:rPr>
              <a:t>[</a:t>
            </a:r>
            <a:r>
              <a:rPr kumimoji="1" lang="zh-TW" altLang="en-US" sz="1100" kern="1200">
                <a:solidFill>
                  <a:srgbClr val="1C1E20"/>
                </a:solidFill>
                <a:latin typeface="+mn-lt"/>
                <a:ea typeface="+mn-ea"/>
                <a:cs typeface="+mn-cs"/>
              </a:rPr>
              <a:t>關鍵字</a:t>
            </a:r>
            <a:r>
              <a:rPr kumimoji="1" lang="en-US" altLang="zh-TW" sz="1100" kern="1200">
                <a:solidFill>
                  <a:srgbClr val="1C1E20"/>
                </a:solidFill>
                <a:latin typeface="+mn-lt"/>
                <a:ea typeface="+mn-ea"/>
                <a:cs typeface="+mn-cs"/>
              </a:rPr>
              <a:t>] </a:t>
            </a:r>
            <a:r>
              <a:rPr kumimoji="1" lang="zh-TW" altLang="en-US" sz="1100" kern="1200">
                <a:solidFill>
                  <a:srgbClr val="1C1E20"/>
                </a:solidFill>
                <a:latin typeface="+mn-lt"/>
                <a:ea typeface="+mn-ea"/>
                <a:cs typeface="+mn-cs"/>
              </a:rPr>
              <a:t>合利他命</a:t>
            </a:r>
            <a:r>
              <a:rPr kumimoji="1" lang="en" altLang="zh-TW" sz="1100" kern="1200">
                <a:solidFill>
                  <a:srgbClr val="1C1E20"/>
                </a:solidFill>
                <a:latin typeface="+mn-lt"/>
                <a:ea typeface="+mn-ea"/>
                <a:cs typeface="+mn-cs"/>
              </a:rPr>
              <a:t>EXPLUS 10</a:t>
            </a:r>
            <a:r>
              <a:rPr kumimoji="1" lang="zh-TW" altLang="en-US" sz="1100" kern="1200">
                <a:solidFill>
                  <a:srgbClr val="1C1E20"/>
                </a:solidFill>
                <a:latin typeface="+mn-lt"/>
                <a:ea typeface="+mn-ea"/>
                <a:cs typeface="+mn-cs"/>
              </a:rPr>
              <a:t>月</a:t>
            </a:r>
          </a:p>
        </p:txBody>
      </p:sp>
      <p:sp>
        <p:nvSpPr>
          <p:cNvPr id="35" name="文字方塊 34">
            <a:extLst>
              <a:ext uri="{FF2B5EF4-FFF2-40B4-BE49-F238E27FC236}">
                <a16:creationId xmlns:a16="http://schemas.microsoft.com/office/drawing/2014/main" id="{2ECCC727-E46B-5F25-34FC-6C0DE736FA3E}"/>
              </a:ext>
            </a:extLst>
          </p:cNvPr>
          <p:cNvSpPr txBox="1"/>
          <p:nvPr/>
        </p:nvSpPr>
        <p:spPr>
          <a:xfrm>
            <a:off x="2761048" y="3974655"/>
            <a:ext cx="3432647" cy="215444"/>
          </a:xfrm>
          <a:prstGeom prst="rect">
            <a:avLst/>
          </a:prstGeom>
          <a:solidFill>
            <a:schemeClr val="bg1"/>
          </a:solidFill>
        </p:spPr>
        <p:txBody>
          <a:bodyPr wrap="square">
            <a:spAutoFit/>
          </a:bodyPr>
          <a:lstStyle/>
          <a:p>
            <a:pPr lvl="0">
              <a:defRPr/>
            </a:pPr>
            <a:r>
              <a:rPr kumimoji="1" lang="en" altLang="zh-TW" sz="800">
                <a:solidFill>
                  <a:schemeClr val="bg1">
                    <a:lumMod val="65000"/>
                  </a:schemeClr>
                </a:solidFill>
              </a:rPr>
              <a:t>Brand Keyword AI Exploration</a:t>
            </a:r>
          </a:p>
        </p:txBody>
      </p:sp>
      <p:sp>
        <p:nvSpPr>
          <p:cNvPr id="36" name="矩形 35">
            <a:extLst>
              <a:ext uri="{FF2B5EF4-FFF2-40B4-BE49-F238E27FC236}">
                <a16:creationId xmlns:a16="http://schemas.microsoft.com/office/drawing/2014/main" id="{9E8967A6-3B6B-D29C-996A-6FE2E41129EA}"/>
              </a:ext>
            </a:extLst>
          </p:cNvPr>
          <p:cNvSpPr/>
          <p:nvPr/>
        </p:nvSpPr>
        <p:spPr>
          <a:xfrm>
            <a:off x="6179364" y="1630448"/>
            <a:ext cx="68601" cy="620494"/>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44" name="矩形 43">
            <a:extLst>
              <a:ext uri="{FF2B5EF4-FFF2-40B4-BE49-F238E27FC236}">
                <a16:creationId xmlns:a16="http://schemas.microsoft.com/office/drawing/2014/main" id="{7F09F4F7-56BD-7D32-C46C-4E4B9E1CC1C9}"/>
              </a:ext>
            </a:extLst>
          </p:cNvPr>
          <p:cNvSpPr/>
          <p:nvPr/>
        </p:nvSpPr>
        <p:spPr>
          <a:xfrm>
            <a:off x="2503965" y="3218125"/>
            <a:ext cx="3744000" cy="3003296"/>
          </a:xfrm>
          <a:prstGeom prst="rect">
            <a:avLst/>
          </a:prstGeom>
          <a:solidFill>
            <a:srgbClr val="F5F8F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pic>
        <p:nvPicPr>
          <p:cNvPr id="6" name="圖片 5" descr="一張含有 寫生, 設計, 工具 的圖片&#10;&#10;AI 產生的內容可能不正確。">
            <a:extLst>
              <a:ext uri="{FF2B5EF4-FFF2-40B4-BE49-F238E27FC236}">
                <a16:creationId xmlns:a16="http://schemas.microsoft.com/office/drawing/2014/main" id="{81BA177A-9CA4-250E-9E9B-528194720E74}"/>
              </a:ext>
            </a:extLst>
          </p:cNvPr>
          <p:cNvPicPr>
            <a:picLocks noChangeAspect="1"/>
          </p:cNvPicPr>
          <p:nvPr/>
        </p:nvPicPr>
        <p:blipFill>
          <a:blip r:embed="rId4"/>
          <a:stretch>
            <a:fillRect/>
          </a:stretch>
        </p:blipFill>
        <p:spPr>
          <a:xfrm>
            <a:off x="4996196" y="316046"/>
            <a:ext cx="355600" cy="330200"/>
          </a:xfrm>
          <a:prstGeom prst="rect">
            <a:avLst/>
          </a:prstGeom>
        </p:spPr>
      </p:pic>
      <p:pic>
        <p:nvPicPr>
          <p:cNvPr id="3" name="圖片 2">
            <a:extLst>
              <a:ext uri="{FF2B5EF4-FFF2-40B4-BE49-F238E27FC236}">
                <a16:creationId xmlns:a16="http://schemas.microsoft.com/office/drawing/2014/main" id="{E6AF1C33-2C64-C598-24A8-ACFC3FF2E0D1}"/>
              </a:ext>
            </a:extLst>
          </p:cNvPr>
          <p:cNvPicPr>
            <a:picLocks noChangeAspect="1"/>
          </p:cNvPicPr>
          <p:nvPr/>
        </p:nvPicPr>
        <p:blipFill>
          <a:blip r:embed="rId5"/>
          <a:stretch>
            <a:fillRect/>
          </a:stretch>
        </p:blipFill>
        <p:spPr>
          <a:xfrm flipH="1">
            <a:off x="4114821" y="2398944"/>
            <a:ext cx="254609" cy="254609"/>
          </a:xfrm>
          <a:prstGeom prst="rect">
            <a:avLst/>
          </a:prstGeom>
        </p:spPr>
      </p:pic>
      <p:sp>
        <p:nvSpPr>
          <p:cNvPr id="5" name="矩形 4">
            <a:extLst>
              <a:ext uri="{FF2B5EF4-FFF2-40B4-BE49-F238E27FC236}">
                <a16:creationId xmlns:a16="http://schemas.microsoft.com/office/drawing/2014/main" id="{5637CA8B-46AF-0FDB-0192-BA2DB7EE9D28}"/>
              </a:ext>
            </a:extLst>
          </p:cNvPr>
          <p:cNvSpPr/>
          <p:nvPr/>
        </p:nvSpPr>
        <p:spPr>
          <a:xfrm>
            <a:off x="2503965" y="2147795"/>
            <a:ext cx="3744000" cy="512957"/>
          </a:xfrm>
          <a:prstGeom prst="rect">
            <a:avLst/>
          </a:prstGeom>
          <a:solidFill>
            <a:schemeClr val="bg1">
              <a:lumMod val="50000"/>
              <a:alpha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Tree>
    <p:extLst>
      <p:ext uri="{BB962C8B-B14F-4D97-AF65-F5344CB8AC3E}">
        <p14:creationId xmlns:p14="http://schemas.microsoft.com/office/powerpoint/2010/main" val="129374951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圖片 6" descr="一張含有 文字, 軟體, 網頁, 網站 的圖片&#10;&#10;AI 產生的內容可能不正確。">
            <a:extLst>
              <a:ext uri="{FF2B5EF4-FFF2-40B4-BE49-F238E27FC236}">
                <a16:creationId xmlns:a16="http://schemas.microsoft.com/office/drawing/2014/main" id="{259BA1D6-9B95-DCE5-7480-7ABF38BD7C97}"/>
              </a:ext>
            </a:extLst>
          </p:cNvPr>
          <p:cNvPicPr>
            <a:picLocks noChangeAspect="1"/>
          </p:cNvPicPr>
          <p:nvPr/>
        </p:nvPicPr>
        <p:blipFill>
          <a:blip r:embed="rId2"/>
          <a:stretch>
            <a:fillRect/>
          </a:stretch>
        </p:blipFill>
        <p:spPr>
          <a:xfrm>
            <a:off x="2342899" y="652545"/>
            <a:ext cx="7772400" cy="6205455"/>
          </a:xfrm>
          <a:prstGeom prst="rect">
            <a:avLst/>
          </a:prstGeom>
        </p:spPr>
      </p:pic>
      <p:sp>
        <p:nvSpPr>
          <p:cNvPr id="9" name="文字方塊 8">
            <a:extLst>
              <a:ext uri="{FF2B5EF4-FFF2-40B4-BE49-F238E27FC236}">
                <a16:creationId xmlns:a16="http://schemas.microsoft.com/office/drawing/2014/main" id="{74801DEC-0A73-DFE6-123F-B7F505F19517}"/>
              </a:ext>
            </a:extLst>
          </p:cNvPr>
          <p:cNvSpPr txBox="1"/>
          <p:nvPr/>
        </p:nvSpPr>
        <p:spPr>
          <a:xfrm>
            <a:off x="2732388" y="1672783"/>
            <a:ext cx="3432646" cy="261610"/>
          </a:xfrm>
          <a:prstGeom prst="rect">
            <a:avLst/>
          </a:prstGeom>
          <a:solidFill>
            <a:schemeClr val="bg1"/>
          </a:solidFill>
        </p:spPr>
        <p:txBody>
          <a:bodyPr wrap="square">
            <a:spAutoFit/>
          </a:bodyPr>
          <a:lstStyle/>
          <a:p>
            <a:pPr lvl="0">
              <a:defRPr/>
            </a:pPr>
            <a:r>
              <a:rPr kumimoji="1" lang="en" altLang="zh-TW" sz="1100">
                <a:solidFill>
                  <a:srgbClr val="4E4E4E"/>
                </a:solidFill>
              </a:rPr>
              <a:t>[</a:t>
            </a:r>
            <a:r>
              <a:rPr kumimoji="1" lang="zh-TW" altLang="en-US" sz="1100">
                <a:solidFill>
                  <a:srgbClr val="4E4E4E"/>
                </a:solidFill>
              </a:rPr>
              <a:t>產業 </a:t>
            </a:r>
            <a:r>
              <a:rPr kumimoji="1" lang="en" altLang="zh-TW" sz="1100">
                <a:solidFill>
                  <a:srgbClr val="4E4E4E"/>
                </a:solidFill>
              </a:rPr>
              <a:t>Shopper Graph</a:t>
            </a:r>
            <a:r>
              <a:rPr kumimoji="1" lang="en-US" altLang="zh-TW" sz="1100">
                <a:solidFill>
                  <a:srgbClr val="4E4E4E"/>
                </a:solidFill>
              </a:rPr>
              <a:t>] </a:t>
            </a:r>
            <a:r>
              <a:rPr kumimoji="1" lang="zh-TW" altLang="en-US" sz="1100">
                <a:solidFill>
                  <a:srgbClr val="4E4E4E"/>
                </a:solidFill>
              </a:rPr>
              <a:t>合利他命</a:t>
            </a:r>
            <a:r>
              <a:rPr kumimoji="1" lang="en" altLang="zh-TW" sz="1100">
                <a:solidFill>
                  <a:srgbClr val="4E4E4E"/>
                </a:solidFill>
              </a:rPr>
              <a:t>EXPLUS 9-10</a:t>
            </a:r>
            <a:r>
              <a:rPr kumimoji="1" lang="zh-TW" altLang="en-US" sz="1100">
                <a:solidFill>
                  <a:srgbClr val="4E4E4E"/>
                </a:solidFill>
              </a:rPr>
              <a:t>月</a:t>
            </a:r>
          </a:p>
        </p:txBody>
      </p:sp>
      <p:sp>
        <p:nvSpPr>
          <p:cNvPr id="10" name="文字方塊 9">
            <a:extLst>
              <a:ext uri="{FF2B5EF4-FFF2-40B4-BE49-F238E27FC236}">
                <a16:creationId xmlns:a16="http://schemas.microsoft.com/office/drawing/2014/main" id="{E1B996A0-3958-8260-0CC3-2078085CC18B}"/>
              </a:ext>
            </a:extLst>
          </p:cNvPr>
          <p:cNvSpPr txBox="1"/>
          <p:nvPr/>
        </p:nvSpPr>
        <p:spPr>
          <a:xfrm>
            <a:off x="2739553" y="1881795"/>
            <a:ext cx="3432647" cy="215444"/>
          </a:xfrm>
          <a:prstGeom prst="rect">
            <a:avLst/>
          </a:prstGeom>
          <a:solidFill>
            <a:schemeClr val="bg1"/>
          </a:solidFill>
        </p:spPr>
        <p:txBody>
          <a:bodyPr wrap="square">
            <a:spAutoFit/>
          </a:bodyPr>
          <a:lstStyle/>
          <a:p>
            <a:pPr lvl="0">
              <a:defRPr/>
            </a:pPr>
            <a:r>
              <a:rPr kumimoji="1" lang="en" altLang="zh-TW" sz="800">
                <a:solidFill>
                  <a:schemeClr val="bg1">
                    <a:lumMod val="65000"/>
                  </a:schemeClr>
                </a:solidFill>
              </a:rPr>
              <a:t>Industry Shopper Graph</a:t>
            </a:r>
          </a:p>
        </p:txBody>
      </p:sp>
      <p:sp>
        <p:nvSpPr>
          <p:cNvPr id="11" name="文字方塊 10">
            <a:extLst>
              <a:ext uri="{FF2B5EF4-FFF2-40B4-BE49-F238E27FC236}">
                <a16:creationId xmlns:a16="http://schemas.microsoft.com/office/drawing/2014/main" id="{4263D4B7-BEA5-7984-B673-620B9E97E867}"/>
              </a:ext>
            </a:extLst>
          </p:cNvPr>
          <p:cNvSpPr txBox="1"/>
          <p:nvPr/>
        </p:nvSpPr>
        <p:spPr>
          <a:xfrm>
            <a:off x="2739553" y="2204776"/>
            <a:ext cx="3432646" cy="261610"/>
          </a:xfrm>
          <a:prstGeom prst="rect">
            <a:avLst/>
          </a:prstGeom>
          <a:solidFill>
            <a:schemeClr val="bg1"/>
          </a:solidFill>
        </p:spPr>
        <p:txBody>
          <a:bodyPr wrap="square">
            <a:spAutoFit/>
          </a:bodyPr>
          <a:lstStyle/>
          <a:p>
            <a:pPr lvl="0">
              <a:defRPr/>
            </a:pPr>
            <a:r>
              <a:rPr kumimoji="1" lang="en" altLang="zh-TW" sz="1100" dirty="0">
                <a:solidFill>
                  <a:srgbClr val="4E4E4E"/>
                </a:solidFill>
              </a:rPr>
              <a:t>[</a:t>
            </a:r>
            <a:r>
              <a:rPr kumimoji="1" lang="zh-TW" altLang="en-US" sz="1100" dirty="0">
                <a:solidFill>
                  <a:srgbClr val="4E4E4E"/>
                </a:solidFill>
              </a:rPr>
              <a:t>產業 </a:t>
            </a:r>
            <a:r>
              <a:rPr kumimoji="1" lang="en" altLang="zh-TW" sz="1100" dirty="0">
                <a:solidFill>
                  <a:srgbClr val="4E4E4E"/>
                </a:solidFill>
              </a:rPr>
              <a:t>Shopper Graph</a:t>
            </a:r>
            <a:r>
              <a:rPr kumimoji="1" lang="en-US" altLang="zh-TW" sz="1100" dirty="0">
                <a:solidFill>
                  <a:srgbClr val="4E4E4E"/>
                </a:solidFill>
              </a:rPr>
              <a:t>] </a:t>
            </a:r>
            <a:r>
              <a:rPr kumimoji="1" lang="zh-TW" altLang="en-US" sz="1100" dirty="0">
                <a:solidFill>
                  <a:srgbClr val="4E4E4E"/>
                </a:solidFill>
              </a:rPr>
              <a:t>合利他命</a:t>
            </a:r>
            <a:r>
              <a:rPr kumimoji="1" lang="en" altLang="zh-TW" sz="1100" dirty="0">
                <a:solidFill>
                  <a:srgbClr val="4E4E4E"/>
                </a:solidFill>
              </a:rPr>
              <a:t>EXPLUS 9-10</a:t>
            </a:r>
            <a:r>
              <a:rPr kumimoji="1" lang="zh-TW" altLang="en-US" sz="1100" dirty="0">
                <a:solidFill>
                  <a:srgbClr val="4E4E4E"/>
                </a:solidFill>
              </a:rPr>
              <a:t>月</a:t>
            </a:r>
          </a:p>
        </p:txBody>
      </p:sp>
      <p:sp>
        <p:nvSpPr>
          <p:cNvPr id="12" name="文字方塊 11">
            <a:extLst>
              <a:ext uri="{FF2B5EF4-FFF2-40B4-BE49-F238E27FC236}">
                <a16:creationId xmlns:a16="http://schemas.microsoft.com/office/drawing/2014/main" id="{2A31716A-DBB9-5C75-1EB4-25C2AC9CC9C2}"/>
              </a:ext>
            </a:extLst>
          </p:cNvPr>
          <p:cNvSpPr txBox="1"/>
          <p:nvPr/>
        </p:nvSpPr>
        <p:spPr>
          <a:xfrm>
            <a:off x="2746718" y="2413788"/>
            <a:ext cx="3432647" cy="215444"/>
          </a:xfrm>
          <a:prstGeom prst="rect">
            <a:avLst/>
          </a:prstGeom>
          <a:solidFill>
            <a:schemeClr val="bg1"/>
          </a:solidFill>
        </p:spPr>
        <p:txBody>
          <a:bodyPr wrap="square">
            <a:spAutoFit/>
          </a:bodyPr>
          <a:lstStyle/>
          <a:p>
            <a:pPr lvl="0">
              <a:defRPr/>
            </a:pPr>
            <a:r>
              <a:rPr kumimoji="1" lang="en" altLang="zh-TW" sz="800" dirty="0">
                <a:solidFill>
                  <a:schemeClr val="bg1">
                    <a:lumMod val="65000"/>
                  </a:schemeClr>
                </a:solidFill>
              </a:rPr>
              <a:t>Industry Shopper Graph</a:t>
            </a:r>
          </a:p>
        </p:txBody>
      </p:sp>
      <p:sp>
        <p:nvSpPr>
          <p:cNvPr id="13" name="文字方塊 12">
            <a:extLst>
              <a:ext uri="{FF2B5EF4-FFF2-40B4-BE49-F238E27FC236}">
                <a16:creationId xmlns:a16="http://schemas.microsoft.com/office/drawing/2014/main" id="{101E3286-D1DC-D835-73C2-943A2D81711D}"/>
              </a:ext>
            </a:extLst>
          </p:cNvPr>
          <p:cNvSpPr txBox="1"/>
          <p:nvPr/>
        </p:nvSpPr>
        <p:spPr>
          <a:xfrm>
            <a:off x="2732387" y="2731379"/>
            <a:ext cx="3432646" cy="261610"/>
          </a:xfrm>
          <a:prstGeom prst="rect">
            <a:avLst/>
          </a:prstGeom>
          <a:solidFill>
            <a:schemeClr val="bg1"/>
          </a:solidFill>
        </p:spPr>
        <p:txBody>
          <a:bodyPr wrap="square">
            <a:spAutoFit/>
          </a:bodyPr>
          <a:lstStyle/>
          <a:p>
            <a:pPr lvl="0">
              <a:defRPr/>
            </a:pPr>
            <a:r>
              <a:rPr kumimoji="1" lang="en" altLang="zh-TW" sz="1100" dirty="0">
                <a:solidFill>
                  <a:srgbClr val="4E4E4E"/>
                </a:solidFill>
              </a:rPr>
              <a:t>[</a:t>
            </a:r>
            <a:r>
              <a:rPr kumimoji="1" lang="zh-TW" altLang="en-US" sz="1100" dirty="0">
                <a:solidFill>
                  <a:srgbClr val="4E4E4E"/>
                </a:solidFill>
              </a:rPr>
              <a:t>產業 </a:t>
            </a:r>
            <a:r>
              <a:rPr kumimoji="1" lang="en" altLang="zh-TW" sz="1100" dirty="0">
                <a:solidFill>
                  <a:srgbClr val="4E4E4E"/>
                </a:solidFill>
              </a:rPr>
              <a:t>Shopper Graph</a:t>
            </a:r>
            <a:r>
              <a:rPr kumimoji="1" lang="en-US" altLang="zh-TW" sz="1100" dirty="0">
                <a:solidFill>
                  <a:srgbClr val="4E4E4E"/>
                </a:solidFill>
              </a:rPr>
              <a:t>] </a:t>
            </a:r>
            <a:r>
              <a:rPr kumimoji="1" lang="zh-TW" altLang="en-US" sz="1100" dirty="0">
                <a:solidFill>
                  <a:srgbClr val="4E4E4E"/>
                </a:solidFill>
              </a:rPr>
              <a:t>合利他命</a:t>
            </a:r>
            <a:r>
              <a:rPr kumimoji="1" lang="en" altLang="zh-TW" sz="1100" dirty="0">
                <a:solidFill>
                  <a:srgbClr val="4E4E4E"/>
                </a:solidFill>
              </a:rPr>
              <a:t>EXPLUS 9-10</a:t>
            </a:r>
            <a:r>
              <a:rPr kumimoji="1" lang="zh-TW" altLang="en-US" sz="1100" dirty="0">
                <a:solidFill>
                  <a:srgbClr val="4E4E4E"/>
                </a:solidFill>
              </a:rPr>
              <a:t>月</a:t>
            </a:r>
          </a:p>
        </p:txBody>
      </p:sp>
      <p:sp>
        <p:nvSpPr>
          <p:cNvPr id="14" name="文字方塊 13">
            <a:extLst>
              <a:ext uri="{FF2B5EF4-FFF2-40B4-BE49-F238E27FC236}">
                <a16:creationId xmlns:a16="http://schemas.microsoft.com/office/drawing/2014/main" id="{A9811E9A-F539-535C-987C-CD0285A76B53}"/>
              </a:ext>
            </a:extLst>
          </p:cNvPr>
          <p:cNvSpPr txBox="1"/>
          <p:nvPr/>
        </p:nvSpPr>
        <p:spPr>
          <a:xfrm>
            <a:off x="2739552" y="2940391"/>
            <a:ext cx="3432647" cy="215444"/>
          </a:xfrm>
          <a:prstGeom prst="rect">
            <a:avLst/>
          </a:prstGeom>
          <a:solidFill>
            <a:schemeClr val="bg1"/>
          </a:solidFill>
        </p:spPr>
        <p:txBody>
          <a:bodyPr wrap="square">
            <a:spAutoFit/>
          </a:bodyPr>
          <a:lstStyle/>
          <a:p>
            <a:pPr lvl="0">
              <a:defRPr/>
            </a:pPr>
            <a:r>
              <a:rPr kumimoji="1" lang="en" altLang="zh-TW" sz="800" dirty="0">
                <a:solidFill>
                  <a:schemeClr val="bg1">
                    <a:lumMod val="65000"/>
                  </a:schemeClr>
                </a:solidFill>
              </a:rPr>
              <a:t>Industry Shopper Graph</a:t>
            </a:r>
          </a:p>
        </p:txBody>
      </p:sp>
      <p:sp>
        <p:nvSpPr>
          <p:cNvPr id="15" name="文字方塊 14">
            <a:extLst>
              <a:ext uri="{FF2B5EF4-FFF2-40B4-BE49-F238E27FC236}">
                <a16:creationId xmlns:a16="http://schemas.microsoft.com/office/drawing/2014/main" id="{ED07E64D-D6B3-CE44-980B-CE276F34ED26}"/>
              </a:ext>
            </a:extLst>
          </p:cNvPr>
          <p:cNvSpPr txBox="1"/>
          <p:nvPr/>
        </p:nvSpPr>
        <p:spPr>
          <a:xfrm>
            <a:off x="2746718" y="3247295"/>
            <a:ext cx="3432646" cy="261610"/>
          </a:xfrm>
          <a:prstGeom prst="rect">
            <a:avLst/>
          </a:prstGeom>
          <a:solidFill>
            <a:schemeClr val="bg1"/>
          </a:solid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zh-TW" sz="1100" kern="1200">
                <a:solidFill>
                  <a:srgbClr val="1C1E20"/>
                </a:solidFill>
                <a:latin typeface="+mn-lt"/>
                <a:ea typeface="+mn-ea"/>
                <a:cs typeface="+mn-cs"/>
              </a:rPr>
              <a:t>[</a:t>
            </a:r>
            <a:r>
              <a:rPr kumimoji="1" lang="zh-TW" altLang="en-US" sz="1100" kern="1200">
                <a:solidFill>
                  <a:srgbClr val="1C1E20"/>
                </a:solidFill>
                <a:latin typeface="+mn-lt"/>
                <a:ea typeface="+mn-ea"/>
                <a:cs typeface="+mn-cs"/>
              </a:rPr>
              <a:t>關鍵字</a:t>
            </a:r>
            <a:r>
              <a:rPr kumimoji="1" lang="en-US" altLang="zh-TW" sz="1100" kern="1200">
                <a:solidFill>
                  <a:srgbClr val="1C1E20"/>
                </a:solidFill>
                <a:latin typeface="+mn-lt"/>
                <a:ea typeface="+mn-ea"/>
                <a:cs typeface="+mn-cs"/>
              </a:rPr>
              <a:t>] </a:t>
            </a:r>
            <a:r>
              <a:rPr kumimoji="1" lang="zh-TW" altLang="en-US" sz="1100" kern="1200">
                <a:solidFill>
                  <a:srgbClr val="1C1E20"/>
                </a:solidFill>
                <a:latin typeface="+mn-lt"/>
                <a:ea typeface="+mn-ea"/>
                <a:cs typeface="+mn-cs"/>
              </a:rPr>
              <a:t>合利他命</a:t>
            </a:r>
            <a:r>
              <a:rPr kumimoji="1" lang="en" altLang="zh-TW" sz="1100" kern="1200">
                <a:solidFill>
                  <a:srgbClr val="1C1E20"/>
                </a:solidFill>
                <a:latin typeface="+mn-lt"/>
                <a:ea typeface="+mn-ea"/>
                <a:cs typeface="+mn-cs"/>
              </a:rPr>
              <a:t>EXPLUS 10</a:t>
            </a:r>
            <a:r>
              <a:rPr kumimoji="1" lang="zh-TW" altLang="en-US" sz="1100" kern="1200">
                <a:solidFill>
                  <a:srgbClr val="1C1E20"/>
                </a:solidFill>
                <a:latin typeface="+mn-lt"/>
                <a:ea typeface="+mn-ea"/>
                <a:cs typeface="+mn-cs"/>
              </a:rPr>
              <a:t>月</a:t>
            </a:r>
          </a:p>
        </p:txBody>
      </p:sp>
      <p:sp>
        <p:nvSpPr>
          <p:cNvPr id="16" name="文字方塊 15">
            <a:extLst>
              <a:ext uri="{FF2B5EF4-FFF2-40B4-BE49-F238E27FC236}">
                <a16:creationId xmlns:a16="http://schemas.microsoft.com/office/drawing/2014/main" id="{D80779AF-D9CA-3A8E-4280-2E224B8EC11C}"/>
              </a:ext>
            </a:extLst>
          </p:cNvPr>
          <p:cNvSpPr txBox="1"/>
          <p:nvPr/>
        </p:nvSpPr>
        <p:spPr>
          <a:xfrm>
            <a:off x="2753883" y="3456307"/>
            <a:ext cx="3432647" cy="215444"/>
          </a:xfrm>
          <a:prstGeom prst="rect">
            <a:avLst/>
          </a:prstGeom>
          <a:solidFill>
            <a:schemeClr val="bg1"/>
          </a:solidFill>
        </p:spPr>
        <p:txBody>
          <a:bodyPr wrap="square">
            <a:spAutoFit/>
          </a:bodyPr>
          <a:lstStyle/>
          <a:p>
            <a:pPr lvl="0">
              <a:defRPr/>
            </a:pPr>
            <a:r>
              <a:rPr kumimoji="1" lang="en" altLang="zh-TW" sz="800">
                <a:solidFill>
                  <a:schemeClr val="bg1">
                    <a:lumMod val="65000"/>
                  </a:schemeClr>
                </a:solidFill>
              </a:rPr>
              <a:t>Brand Keyword AI Exploration</a:t>
            </a:r>
          </a:p>
        </p:txBody>
      </p:sp>
      <p:sp>
        <p:nvSpPr>
          <p:cNvPr id="17" name="文字方塊 16">
            <a:extLst>
              <a:ext uri="{FF2B5EF4-FFF2-40B4-BE49-F238E27FC236}">
                <a16:creationId xmlns:a16="http://schemas.microsoft.com/office/drawing/2014/main" id="{BE83A5D0-316B-28B2-C4D9-F6F1AC9F548D}"/>
              </a:ext>
            </a:extLst>
          </p:cNvPr>
          <p:cNvSpPr txBox="1"/>
          <p:nvPr/>
        </p:nvSpPr>
        <p:spPr>
          <a:xfrm>
            <a:off x="2753883" y="3765643"/>
            <a:ext cx="3432646" cy="261610"/>
          </a:xfrm>
          <a:prstGeom prst="rect">
            <a:avLst/>
          </a:prstGeom>
          <a:solidFill>
            <a:schemeClr val="bg1"/>
          </a:solid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zh-TW" sz="1100" kern="1200">
                <a:solidFill>
                  <a:srgbClr val="1C1E20"/>
                </a:solidFill>
                <a:latin typeface="+mn-lt"/>
                <a:ea typeface="+mn-ea"/>
                <a:cs typeface="+mn-cs"/>
              </a:rPr>
              <a:t>[</a:t>
            </a:r>
            <a:r>
              <a:rPr kumimoji="1" lang="zh-TW" altLang="en-US" sz="1100" kern="1200">
                <a:solidFill>
                  <a:srgbClr val="1C1E20"/>
                </a:solidFill>
                <a:latin typeface="+mn-lt"/>
                <a:ea typeface="+mn-ea"/>
                <a:cs typeface="+mn-cs"/>
              </a:rPr>
              <a:t>關鍵字</a:t>
            </a:r>
            <a:r>
              <a:rPr kumimoji="1" lang="en-US" altLang="zh-TW" sz="1100" kern="1200">
                <a:solidFill>
                  <a:srgbClr val="1C1E20"/>
                </a:solidFill>
                <a:latin typeface="+mn-lt"/>
                <a:ea typeface="+mn-ea"/>
                <a:cs typeface="+mn-cs"/>
              </a:rPr>
              <a:t>] </a:t>
            </a:r>
            <a:r>
              <a:rPr kumimoji="1" lang="zh-TW" altLang="en-US" sz="1100" kern="1200">
                <a:solidFill>
                  <a:srgbClr val="1C1E20"/>
                </a:solidFill>
                <a:latin typeface="+mn-lt"/>
                <a:ea typeface="+mn-ea"/>
                <a:cs typeface="+mn-cs"/>
              </a:rPr>
              <a:t>合利他命</a:t>
            </a:r>
            <a:r>
              <a:rPr kumimoji="1" lang="en" altLang="zh-TW" sz="1100" kern="1200">
                <a:solidFill>
                  <a:srgbClr val="1C1E20"/>
                </a:solidFill>
                <a:latin typeface="+mn-lt"/>
                <a:ea typeface="+mn-ea"/>
                <a:cs typeface="+mn-cs"/>
              </a:rPr>
              <a:t>EXPLUS 10</a:t>
            </a:r>
            <a:r>
              <a:rPr kumimoji="1" lang="zh-TW" altLang="en-US" sz="1100" kern="1200">
                <a:solidFill>
                  <a:srgbClr val="1C1E20"/>
                </a:solidFill>
                <a:latin typeface="+mn-lt"/>
                <a:ea typeface="+mn-ea"/>
                <a:cs typeface="+mn-cs"/>
              </a:rPr>
              <a:t>月</a:t>
            </a:r>
          </a:p>
        </p:txBody>
      </p:sp>
      <p:sp>
        <p:nvSpPr>
          <p:cNvPr id="18" name="文字方塊 17">
            <a:extLst>
              <a:ext uri="{FF2B5EF4-FFF2-40B4-BE49-F238E27FC236}">
                <a16:creationId xmlns:a16="http://schemas.microsoft.com/office/drawing/2014/main" id="{9C2D666C-F66E-44B6-74DF-AD00560D8BC9}"/>
              </a:ext>
            </a:extLst>
          </p:cNvPr>
          <p:cNvSpPr txBox="1"/>
          <p:nvPr/>
        </p:nvSpPr>
        <p:spPr>
          <a:xfrm>
            <a:off x="2761048" y="3974655"/>
            <a:ext cx="3432647" cy="215444"/>
          </a:xfrm>
          <a:prstGeom prst="rect">
            <a:avLst/>
          </a:prstGeom>
          <a:solidFill>
            <a:schemeClr val="bg1"/>
          </a:solidFill>
        </p:spPr>
        <p:txBody>
          <a:bodyPr wrap="square">
            <a:spAutoFit/>
          </a:bodyPr>
          <a:lstStyle/>
          <a:p>
            <a:pPr lvl="0">
              <a:defRPr/>
            </a:pPr>
            <a:r>
              <a:rPr kumimoji="1" lang="en" altLang="zh-TW" sz="800">
                <a:solidFill>
                  <a:schemeClr val="bg1">
                    <a:lumMod val="65000"/>
                  </a:schemeClr>
                </a:solidFill>
              </a:rPr>
              <a:t>Brand Keyword AI Exploration</a:t>
            </a:r>
          </a:p>
        </p:txBody>
      </p:sp>
      <p:sp>
        <p:nvSpPr>
          <p:cNvPr id="19" name="矩形 18">
            <a:extLst>
              <a:ext uri="{FF2B5EF4-FFF2-40B4-BE49-F238E27FC236}">
                <a16:creationId xmlns:a16="http://schemas.microsoft.com/office/drawing/2014/main" id="{0F509186-54A3-649B-D941-6A3F9164AC3F}"/>
              </a:ext>
            </a:extLst>
          </p:cNvPr>
          <p:cNvSpPr/>
          <p:nvPr/>
        </p:nvSpPr>
        <p:spPr>
          <a:xfrm>
            <a:off x="6179364" y="1630448"/>
            <a:ext cx="68601" cy="620494"/>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20" name="矩形 19">
            <a:extLst>
              <a:ext uri="{FF2B5EF4-FFF2-40B4-BE49-F238E27FC236}">
                <a16:creationId xmlns:a16="http://schemas.microsoft.com/office/drawing/2014/main" id="{69F13721-A240-DF86-7A8B-3FD9CEBD4D86}"/>
              </a:ext>
            </a:extLst>
          </p:cNvPr>
          <p:cNvSpPr/>
          <p:nvPr/>
        </p:nvSpPr>
        <p:spPr>
          <a:xfrm>
            <a:off x="2503965" y="2695428"/>
            <a:ext cx="3744000" cy="3525993"/>
          </a:xfrm>
          <a:prstGeom prst="rect">
            <a:avLst/>
          </a:prstGeom>
          <a:solidFill>
            <a:srgbClr val="F5F8F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pic>
        <p:nvPicPr>
          <p:cNvPr id="24" name="圖片 23" descr="一張含有 字型, 文字, 白色, 設計 的圖片&#10;&#10;AI 產生的內容可能不正確。">
            <a:extLst>
              <a:ext uri="{FF2B5EF4-FFF2-40B4-BE49-F238E27FC236}">
                <a16:creationId xmlns:a16="http://schemas.microsoft.com/office/drawing/2014/main" id="{F8AC081A-AC1C-C841-E16F-C92F03D05673}"/>
              </a:ext>
            </a:extLst>
          </p:cNvPr>
          <p:cNvPicPr>
            <a:picLocks noChangeAspect="1"/>
          </p:cNvPicPr>
          <p:nvPr/>
        </p:nvPicPr>
        <p:blipFill>
          <a:blip r:embed="rId3"/>
          <a:stretch>
            <a:fillRect/>
          </a:stretch>
        </p:blipFill>
        <p:spPr>
          <a:xfrm>
            <a:off x="5636881" y="271724"/>
            <a:ext cx="568729" cy="406235"/>
          </a:xfrm>
          <a:prstGeom prst="rect">
            <a:avLst/>
          </a:prstGeom>
        </p:spPr>
      </p:pic>
      <p:sp>
        <p:nvSpPr>
          <p:cNvPr id="25" name="標題 1">
            <a:extLst>
              <a:ext uri="{FF2B5EF4-FFF2-40B4-BE49-F238E27FC236}">
                <a16:creationId xmlns:a16="http://schemas.microsoft.com/office/drawing/2014/main" id="{AF3B0494-58FF-9873-8207-CEA035915657}"/>
              </a:ext>
            </a:extLst>
          </p:cNvPr>
          <p:cNvSpPr txBox="1">
            <a:spLocks/>
          </p:cNvSpPr>
          <p:nvPr/>
        </p:nvSpPr>
        <p:spPr>
          <a:xfrm>
            <a:off x="0" y="0"/>
            <a:ext cx="10515600" cy="70560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kumimoji="1" lang="en-US" altLang="zh-TW" sz="2000" dirty="0"/>
              <a:t>Edit Ad Group</a:t>
            </a:r>
          </a:p>
          <a:p>
            <a:r>
              <a:rPr kumimoji="1" lang="en-US" altLang="zh-TW" sz="2000" dirty="0"/>
              <a:t>Selected Custom Audiences, Status=</a:t>
            </a:r>
            <a:r>
              <a:rPr kumimoji="1" lang="en-US" altLang="zh-TW" sz="2000" b="1" dirty="0"/>
              <a:t>Expired </a:t>
            </a:r>
            <a:r>
              <a:rPr kumimoji="1" lang="en-US" altLang="zh-TW" sz="2000" b="1" dirty="0">
                <a:sym typeface="Wingdings" pitchFamily="2" charset="2"/>
              </a:rPr>
              <a:t></a:t>
            </a:r>
            <a:r>
              <a:rPr kumimoji="1" lang="zh-TW" altLang="en-US" sz="2000" b="1" dirty="0">
                <a:sym typeface="Wingdings" pitchFamily="2" charset="2"/>
              </a:rPr>
              <a:t>      </a:t>
            </a:r>
            <a:r>
              <a:rPr kumimoji="1" lang="en-US" altLang="zh-TW" sz="2000" b="1" dirty="0">
                <a:sym typeface="Wingdings" pitchFamily="2" charset="2"/>
              </a:rPr>
              <a:t></a:t>
            </a:r>
            <a:r>
              <a:rPr kumimoji="1" lang="zh-TW" altLang="en-US" sz="2000" b="1" dirty="0">
                <a:sym typeface="Wingdings" pitchFamily="2" charset="2"/>
              </a:rPr>
              <a:t>              </a:t>
            </a:r>
            <a:r>
              <a:rPr kumimoji="1" lang="en-US" altLang="zh-TW" sz="2000" b="1" dirty="0">
                <a:sym typeface="Wingdings" pitchFamily="2" charset="2"/>
              </a:rPr>
              <a:t>                     </a:t>
            </a:r>
            <a:r>
              <a:rPr kumimoji="1" lang="en-US" altLang="zh-TW" sz="2000" dirty="0">
                <a:sym typeface="Wingdings" pitchFamily="2" charset="2"/>
              </a:rPr>
              <a:t>re-enter </a:t>
            </a:r>
            <a:endParaRPr kumimoji="1" lang="en-US" altLang="zh-TW" sz="2000" dirty="0"/>
          </a:p>
        </p:txBody>
      </p:sp>
      <p:pic>
        <p:nvPicPr>
          <p:cNvPr id="26" name="圖片 25" descr="一張含有 寫生, 設計, 工具 的圖片&#10;&#10;AI 產生的內容可能不正確。">
            <a:extLst>
              <a:ext uri="{FF2B5EF4-FFF2-40B4-BE49-F238E27FC236}">
                <a16:creationId xmlns:a16="http://schemas.microsoft.com/office/drawing/2014/main" id="{5110330C-8AA5-091A-799A-EFE92D2A442F}"/>
              </a:ext>
            </a:extLst>
          </p:cNvPr>
          <p:cNvPicPr>
            <a:picLocks noChangeAspect="1"/>
          </p:cNvPicPr>
          <p:nvPr/>
        </p:nvPicPr>
        <p:blipFill>
          <a:blip r:embed="rId4"/>
          <a:stretch>
            <a:fillRect/>
          </a:stretch>
        </p:blipFill>
        <p:spPr>
          <a:xfrm>
            <a:off x="4996196" y="316046"/>
            <a:ext cx="355600" cy="330200"/>
          </a:xfrm>
          <a:prstGeom prst="rect">
            <a:avLst/>
          </a:prstGeom>
        </p:spPr>
      </p:pic>
      <p:pic>
        <p:nvPicPr>
          <p:cNvPr id="27" name="圖片 26" descr="一張含有 電子藍, 字型, 文字, 標誌 的圖片&#10;&#10;AI 產生的內容可能不正確。">
            <a:extLst>
              <a:ext uri="{FF2B5EF4-FFF2-40B4-BE49-F238E27FC236}">
                <a16:creationId xmlns:a16="http://schemas.microsoft.com/office/drawing/2014/main" id="{3E3C8801-618E-16C4-E1A3-4F50C5198757}"/>
              </a:ext>
            </a:extLst>
          </p:cNvPr>
          <p:cNvPicPr>
            <a:picLocks noChangeAspect="1"/>
          </p:cNvPicPr>
          <p:nvPr/>
        </p:nvPicPr>
        <p:blipFill>
          <a:blip r:embed="rId5"/>
          <a:stretch>
            <a:fillRect/>
          </a:stretch>
        </p:blipFill>
        <p:spPr>
          <a:xfrm>
            <a:off x="6518854" y="208059"/>
            <a:ext cx="863600" cy="469900"/>
          </a:xfrm>
          <a:prstGeom prst="rect">
            <a:avLst/>
          </a:prstGeom>
        </p:spPr>
      </p:pic>
    </p:spTree>
    <p:extLst>
      <p:ext uri="{BB962C8B-B14F-4D97-AF65-F5344CB8AC3E}">
        <p14:creationId xmlns:p14="http://schemas.microsoft.com/office/powerpoint/2010/main" val="393784773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A9C5C0-42F0-0310-27B7-59DD278A6FD4}"/>
            </a:ext>
          </a:extLst>
        </p:cNvPr>
        <p:cNvGrpSpPr/>
        <p:nvPr/>
      </p:nvGrpSpPr>
      <p:grpSpPr>
        <a:xfrm>
          <a:off x="0" y="0"/>
          <a:ext cx="0" cy="0"/>
          <a:chOff x="0" y="0"/>
          <a:chExt cx="0" cy="0"/>
        </a:xfrm>
      </p:grpSpPr>
      <p:sp>
        <p:nvSpPr>
          <p:cNvPr id="4" name="標題 1">
            <a:extLst>
              <a:ext uri="{FF2B5EF4-FFF2-40B4-BE49-F238E27FC236}">
                <a16:creationId xmlns:a16="http://schemas.microsoft.com/office/drawing/2014/main" id="{CB52D1F7-FAFB-5214-7DC9-93FFCA69BED4}"/>
              </a:ext>
            </a:extLst>
          </p:cNvPr>
          <p:cNvSpPr txBox="1">
            <a:spLocks/>
          </p:cNvSpPr>
          <p:nvPr/>
        </p:nvSpPr>
        <p:spPr>
          <a:xfrm>
            <a:off x="0" y="0"/>
            <a:ext cx="10515600" cy="70560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kumimoji="1" lang="en-US" altLang="zh-TW" sz="2000" dirty="0"/>
              <a:t>Edit Ad Group</a:t>
            </a:r>
          </a:p>
          <a:p>
            <a:r>
              <a:rPr kumimoji="1" lang="en-US" altLang="zh-TW" sz="2000" dirty="0"/>
              <a:t>Selected Custom Audiences, Status=</a:t>
            </a:r>
            <a:r>
              <a:rPr kumimoji="1" lang="en-US" altLang="zh-TW" sz="2000" b="1" dirty="0"/>
              <a:t>Expired</a:t>
            </a:r>
            <a:r>
              <a:rPr kumimoji="1" lang="en-US" altLang="zh-TW" sz="2000" dirty="0"/>
              <a:t> </a:t>
            </a:r>
            <a:r>
              <a:rPr kumimoji="1" lang="en-US" altLang="zh-TW" sz="2000" b="1" dirty="0">
                <a:sym typeface="Wingdings" pitchFamily="2" charset="2"/>
              </a:rPr>
              <a:t>      </a:t>
            </a:r>
            <a:endParaRPr kumimoji="1" lang="en-US" altLang="zh-TW" sz="2000" dirty="0"/>
          </a:p>
        </p:txBody>
      </p:sp>
      <p:pic>
        <p:nvPicPr>
          <p:cNvPr id="24" name="圖片 23" descr="一張含有 文字, 軟體, 網頁, 網站 的圖片&#10;&#10;AI 產生的內容可能不正確。">
            <a:extLst>
              <a:ext uri="{FF2B5EF4-FFF2-40B4-BE49-F238E27FC236}">
                <a16:creationId xmlns:a16="http://schemas.microsoft.com/office/drawing/2014/main" id="{47C3E038-72E3-01E7-6B27-361A24FFBA5F}"/>
              </a:ext>
            </a:extLst>
          </p:cNvPr>
          <p:cNvPicPr>
            <a:picLocks noChangeAspect="1"/>
          </p:cNvPicPr>
          <p:nvPr/>
        </p:nvPicPr>
        <p:blipFill>
          <a:blip r:embed="rId2"/>
          <a:stretch>
            <a:fillRect/>
          </a:stretch>
        </p:blipFill>
        <p:spPr>
          <a:xfrm>
            <a:off x="2342899" y="652545"/>
            <a:ext cx="7772400" cy="6205455"/>
          </a:xfrm>
          <a:prstGeom prst="rect">
            <a:avLst/>
          </a:prstGeom>
        </p:spPr>
      </p:pic>
      <p:sp>
        <p:nvSpPr>
          <p:cNvPr id="25" name="文字方塊 24">
            <a:extLst>
              <a:ext uri="{FF2B5EF4-FFF2-40B4-BE49-F238E27FC236}">
                <a16:creationId xmlns:a16="http://schemas.microsoft.com/office/drawing/2014/main" id="{B7E16B3D-5EDF-11D1-9DBD-9D90894467BC}"/>
              </a:ext>
            </a:extLst>
          </p:cNvPr>
          <p:cNvSpPr txBox="1"/>
          <p:nvPr/>
        </p:nvSpPr>
        <p:spPr>
          <a:xfrm>
            <a:off x="4631868" y="737536"/>
            <a:ext cx="3194462" cy="307777"/>
          </a:xfrm>
          <a:prstGeom prst="rect">
            <a:avLst/>
          </a:prstGeom>
          <a:solidFill>
            <a:srgbClr val="F5F8FE"/>
          </a:solidFill>
        </p:spPr>
        <p:txBody>
          <a:bodyPr wrap="square" rtlCol="0">
            <a:spAutoFit/>
          </a:bodyPr>
          <a:lstStyle/>
          <a:p>
            <a:pPr algn="ctr"/>
            <a:r>
              <a:rPr kumimoji="1" lang="en-US" altLang="zh-TW" sz="1400">
                <a:solidFill>
                  <a:srgbClr val="1C1E20"/>
                </a:solidFill>
              </a:rPr>
              <a:t>Targeting - Custom Audience</a:t>
            </a:r>
            <a:endParaRPr kumimoji="1" lang="zh-TW" altLang="en-US" sz="1400">
              <a:solidFill>
                <a:srgbClr val="1C1E20"/>
              </a:solidFill>
            </a:endParaRPr>
          </a:p>
        </p:txBody>
      </p:sp>
      <p:sp>
        <p:nvSpPr>
          <p:cNvPr id="26" name="文字方塊 25">
            <a:extLst>
              <a:ext uri="{FF2B5EF4-FFF2-40B4-BE49-F238E27FC236}">
                <a16:creationId xmlns:a16="http://schemas.microsoft.com/office/drawing/2014/main" id="{B2E5F55E-0CC4-9046-80CD-39957D2B2388}"/>
              </a:ext>
            </a:extLst>
          </p:cNvPr>
          <p:cNvSpPr txBox="1"/>
          <p:nvPr/>
        </p:nvSpPr>
        <p:spPr>
          <a:xfrm>
            <a:off x="2732388" y="1672783"/>
            <a:ext cx="3432646" cy="261610"/>
          </a:xfrm>
          <a:prstGeom prst="rect">
            <a:avLst/>
          </a:prstGeom>
          <a:solidFill>
            <a:schemeClr val="bg1"/>
          </a:solidFill>
        </p:spPr>
        <p:txBody>
          <a:bodyPr wrap="square">
            <a:spAutoFit/>
          </a:bodyPr>
          <a:lstStyle/>
          <a:p>
            <a:pPr lvl="0">
              <a:defRPr/>
            </a:pPr>
            <a:r>
              <a:rPr kumimoji="1" lang="en" altLang="zh-TW" sz="1100">
                <a:solidFill>
                  <a:srgbClr val="4E4E4E"/>
                </a:solidFill>
              </a:rPr>
              <a:t>[</a:t>
            </a:r>
            <a:r>
              <a:rPr kumimoji="1" lang="zh-TW" altLang="en-US" sz="1100">
                <a:solidFill>
                  <a:srgbClr val="4E4E4E"/>
                </a:solidFill>
              </a:rPr>
              <a:t>產業 </a:t>
            </a:r>
            <a:r>
              <a:rPr kumimoji="1" lang="en" altLang="zh-TW" sz="1100">
                <a:solidFill>
                  <a:srgbClr val="4E4E4E"/>
                </a:solidFill>
              </a:rPr>
              <a:t>Shopper Graph</a:t>
            </a:r>
            <a:r>
              <a:rPr kumimoji="1" lang="en-US" altLang="zh-TW" sz="1100">
                <a:solidFill>
                  <a:srgbClr val="4E4E4E"/>
                </a:solidFill>
              </a:rPr>
              <a:t>] </a:t>
            </a:r>
            <a:r>
              <a:rPr kumimoji="1" lang="zh-TW" altLang="en-US" sz="1100">
                <a:solidFill>
                  <a:srgbClr val="4E4E4E"/>
                </a:solidFill>
              </a:rPr>
              <a:t>合利他命</a:t>
            </a:r>
            <a:r>
              <a:rPr kumimoji="1" lang="en" altLang="zh-TW" sz="1100">
                <a:solidFill>
                  <a:srgbClr val="4E4E4E"/>
                </a:solidFill>
              </a:rPr>
              <a:t>EXPLUS 9-10</a:t>
            </a:r>
            <a:r>
              <a:rPr kumimoji="1" lang="zh-TW" altLang="en-US" sz="1100">
                <a:solidFill>
                  <a:srgbClr val="4E4E4E"/>
                </a:solidFill>
              </a:rPr>
              <a:t>月</a:t>
            </a:r>
          </a:p>
        </p:txBody>
      </p:sp>
      <p:sp>
        <p:nvSpPr>
          <p:cNvPr id="27" name="文字方塊 26">
            <a:extLst>
              <a:ext uri="{FF2B5EF4-FFF2-40B4-BE49-F238E27FC236}">
                <a16:creationId xmlns:a16="http://schemas.microsoft.com/office/drawing/2014/main" id="{7CAB67F4-E2C7-B118-BF81-C705494EA225}"/>
              </a:ext>
            </a:extLst>
          </p:cNvPr>
          <p:cNvSpPr txBox="1"/>
          <p:nvPr/>
        </p:nvSpPr>
        <p:spPr>
          <a:xfrm>
            <a:off x="2739553" y="1881795"/>
            <a:ext cx="3432647" cy="215444"/>
          </a:xfrm>
          <a:prstGeom prst="rect">
            <a:avLst/>
          </a:prstGeom>
          <a:solidFill>
            <a:schemeClr val="bg1"/>
          </a:solidFill>
        </p:spPr>
        <p:txBody>
          <a:bodyPr wrap="square">
            <a:spAutoFit/>
          </a:bodyPr>
          <a:lstStyle/>
          <a:p>
            <a:pPr lvl="0">
              <a:defRPr/>
            </a:pPr>
            <a:r>
              <a:rPr kumimoji="1" lang="en" altLang="zh-TW" sz="800">
                <a:solidFill>
                  <a:schemeClr val="bg1">
                    <a:lumMod val="65000"/>
                  </a:schemeClr>
                </a:solidFill>
              </a:rPr>
              <a:t>Industry Shopper Graph</a:t>
            </a:r>
          </a:p>
        </p:txBody>
      </p:sp>
      <p:sp>
        <p:nvSpPr>
          <p:cNvPr id="28" name="文字方塊 27">
            <a:extLst>
              <a:ext uri="{FF2B5EF4-FFF2-40B4-BE49-F238E27FC236}">
                <a16:creationId xmlns:a16="http://schemas.microsoft.com/office/drawing/2014/main" id="{C5512B3F-246F-43C3-1DE6-DBD4323CAFD0}"/>
              </a:ext>
            </a:extLst>
          </p:cNvPr>
          <p:cNvSpPr txBox="1"/>
          <p:nvPr/>
        </p:nvSpPr>
        <p:spPr>
          <a:xfrm>
            <a:off x="2739553" y="2204776"/>
            <a:ext cx="3432646" cy="261610"/>
          </a:xfrm>
          <a:prstGeom prst="rect">
            <a:avLst/>
          </a:prstGeom>
          <a:solidFill>
            <a:schemeClr val="bg1"/>
          </a:solidFill>
        </p:spPr>
        <p:txBody>
          <a:bodyPr wrap="square">
            <a:spAutoFit/>
          </a:bodyPr>
          <a:lstStyle/>
          <a:p>
            <a:pPr lvl="0">
              <a:defRPr/>
            </a:pPr>
            <a:r>
              <a:rPr kumimoji="1" lang="en" altLang="zh-TW" sz="1100">
                <a:solidFill>
                  <a:srgbClr val="4E4E4E"/>
                </a:solidFill>
              </a:rPr>
              <a:t>[Webb</a:t>
            </a:r>
            <a:r>
              <a:rPr kumimoji="1" lang="zh-TW" altLang="en-US" sz="1100">
                <a:solidFill>
                  <a:srgbClr val="4E4E4E"/>
                </a:solidFill>
              </a:rPr>
              <a:t>零售數據</a:t>
            </a:r>
            <a:r>
              <a:rPr kumimoji="1" lang="en-US" altLang="zh-TW" sz="1100">
                <a:solidFill>
                  <a:srgbClr val="4E4E4E"/>
                </a:solidFill>
              </a:rPr>
              <a:t>-</a:t>
            </a:r>
            <a:r>
              <a:rPr kumimoji="1" lang="zh-TW" altLang="en-US" sz="1100">
                <a:solidFill>
                  <a:srgbClr val="4E4E4E"/>
                </a:solidFill>
              </a:rPr>
              <a:t>購買</a:t>
            </a:r>
            <a:r>
              <a:rPr kumimoji="1" lang="en-US" altLang="zh-TW" sz="1100">
                <a:solidFill>
                  <a:srgbClr val="4E4E4E"/>
                </a:solidFill>
              </a:rPr>
              <a:t>] </a:t>
            </a:r>
            <a:r>
              <a:rPr kumimoji="1" lang="zh-TW" altLang="en-US" sz="1100">
                <a:solidFill>
                  <a:srgbClr val="4E4E4E"/>
                </a:solidFill>
              </a:rPr>
              <a:t>合利他命</a:t>
            </a:r>
            <a:r>
              <a:rPr kumimoji="1" lang="en" altLang="zh-TW" sz="1100">
                <a:solidFill>
                  <a:srgbClr val="4E4E4E"/>
                </a:solidFill>
              </a:rPr>
              <a:t>EXPLUS 10</a:t>
            </a:r>
            <a:r>
              <a:rPr kumimoji="1" lang="zh-TW" altLang="en-US" sz="1100">
                <a:solidFill>
                  <a:srgbClr val="4E4E4E"/>
                </a:solidFill>
              </a:rPr>
              <a:t>月</a:t>
            </a:r>
          </a:p>
        </p:txBody>
      </p:sp>
      <p:sp>
        <p:nvSpPr>
          <p:cNvPr id="29" name="文字方塊 28">
            <a:extLst>
              <a:ext uri="{FF2B5EF4-FFF2-40B4-BE49-F238E27FC236}">
                <a16:creationId xmlns:a16="http://schemas.microsoft.com/office/drawing/2014/main" id="{17CB3797-69BE-2CAC-2DFE-7D7F4A389780}"/>
              </a:ext>
            </a:extLst>
          </p:cNvPr>
          <p:cNvSpPr txBox="1"/>
          <p:nvPr/>
        </p:nvSpPr>
        <p:spPr>
          <a:xfrm>
            <a:off x="2746718" y="2413788"/>
            <a:ext cx="3432647" cy="215444"/>
          </a:xfrm>
          <a:prstGeom prst="rect">
            <a:avLst/>
          </a:prstGeom>
          <a:solidFill>
            <a:schemeClr val="bg1"/>
          </a:solidFill>
        </p:spPr>
        <p:txBody>
          <a:bodyPr wrap="square">
            <a:spAutoFit/>
          </a:bodyPr>
          <a:lstStyle/>
          <a:p>
            <a:pPr fontAlgn="base"/>
            <a:r>
              <a:rPr kumimoji="1" lang="en" altLang="zh-TW" sz="800">
                <a:solidFill>
                  <a:schemeClr val="bg1">
                    <a:lumMod val="65000"/>
                  </a:schemeClr>
                </a:solidFill>
              </a:rPr>
              <a:t>Webb Retail Data (Purchase)</a:t>
            </a:r>
          </a:p>
        </p:txBody>
      </p:sp>
      <p:sp>
        <p:nvSpPr>
          <p:cNvPr id="30" name="文字方塊 29">
            <a:extLst>
              <a:ext uri="{FF2B5EF4-FFF2-40B4-BE49-F238E27FC236}">
                <a16:creationId xmlns:a16="http://schemas.microsoft.com/office/drawing/2014/main" id="{A963DD66-6B19-8456-1F76-03CC46981901}"/>
              </a:ext>
            </a:extLst>
          </p:cNvPr>
          <p:cNvSpPr txBox="1"/>
          <p:nvPr/>
        </p:nvSpPr>
        <p:spPr>
          <a:xfrm>
            <a:off x="2732387" y="2731379"/>
            <a:ext cx="3432646" cy="261610"/>
          </a:xfrm>
          <a:prstGeom prst="rect">
            <a:avLst/>
          </a:prstGeom>
          <a:solidFill>
            <a:schemeClr val="bg1"/>
          </a:solidFill>
        </p:spPr>
        <p:txBody>
          <a:bodyPr wrap="square">
            <a:spAutoFit/>
          </a:bodyPr>
          <a:lstStyle/>
          <a:p>
            <a:pPr lvl="0">
              <a:defRPr/>
            </a:pPr>
            <a:r>
              <a:rPr kumimoji="1" lang="en" altLang="zh-TW" sz="1100">
                <a:solidFill>
                  <a:srgbClr val="4E4E4E"/>
                </a:solidFill>
              </a:rPr>
              <a:t>[</a:t>
            </a:r>
            <a:r>
              <a:rPr kumimoji="1" lang="zh-TW" altLang="en-US" sz="1100">
                <a:solidFill>
                  <a:srgbClr val="4E4E4E"/>
                </a:solidFill>
              </a:rPr>
              <a:t>產業 </a:t>
            </a:r>
            <a:r>
              <a:rPr kumimoji="1" lang="en" altLang="zh-TW" sz="1100">
                <a:solidFill>
                  <a:srgbClr val="4E4E4E"/>
                </a:solidFill>
              </a:rPr>
              <a:t>Shopper Graph</a:t>
            </a:r>
            <a:r>
              <a:rPr kumimoji="1" lang="en-US" altLang="zh-TW" sz="1100">
                <a:solidFill>
                  <a:srgbClr val="4E4E4E"/>
                </a:solidFill>
              </a:rPr>
              <a:t>] </a:t>
            </a:r>
            <a:r>
              <a:rPr kumimoji="1" lang="zh-TW" altLang="en-US" sz="1100">
                <a:solidFill>
                  <a:srgbClr val="4E4E4E"/>
                </a:solidFill>
              </a:rPr>
              <a:t>合利他命</a:t>
            </a:r>
            <a:r>
              <a:rPr kumimoji="1" lang="en" altLang="zh-TW" sz="1100">
                <a:solidFill>
                  <a:srgbClr val="4E4E4E"/>
                </a:solidFill>
              </a:rPr>
              <a:t>EXPLUS 9-10</a:t>
            </a:r>
            <a:r>
              <a:rPr kumimoji="1" lang="zh-TW" altLang="en-US" sz="1100">
                <a:solidFill>
                  <a:srgbClr val="4E4E4E"/>
                </a:solidFill>
              </a:rPr>
              <a:t>月</a:t>
            </a:r>
          </a:p>
        </p:txBody>
      </p:sp>
      <p:sp>
        <p:nvSpPr>
          <p:cNvPr id="31" name="文字方塊 30">
            <a:extLst>
              <a:ext uri="{FF2B5EF4-FFF2-40B4-BE49-F238E27FC236}">
                <a16:creationId xmlns:a16="http://schemas.microsoft.com/office/drawing/2014/main" id="{EC0142AF-323A-289D-C755-4FE2180ADB45}"/>
              </a:ext>
            </a:extLst>
          </p:cNvPr>
          <p:cNvSpPr txBox="1"/>
          <p:nvPr/>
        </p:nvSpPr>
        <p:spPr>
          <a:xfrm>
            <a:off x="2739552" y="2940391"/>
            <a:ext cx="3432647" cy="215444"/>
          </a:xfrm>
          <a:prstGeom prst="rect">
            <a:avLst/>
          </a:prstGeom>
          <a:solidFill>
            <a:schemeClr val="bg1"/>
          </a:solidFill>
        </p:spPr>
        <p:txBody>
          <a:bodyPr wrap="square">
            <a:spAutoFit/>
          </a:bodyPr>
          <a:lstStyle/>
          <a:p>
            <a:pPr lvl="0">
              <a:defRPr/>
            </a:pPr>
            <a:r>
              <a:rPr kumimoji="1" lang="en" altLang="zh-TW" sz="800">
                <a:solidFill>
                  <a:schemeClr val="bg1">
                    <a:lumMod val="65000"/>
                  </a:schemeClr>
                </a:solidFill>
              </a:rPr>
              <a:t>Industry Shopper Graph</a:t>
            </a:r>
          </a:p>
        </p:txBody>
      </p:sp>
      <p:sp>
        <p:nvSpPr>
          <p:cNvPr id="32" name="文字方塊 31">
            <a:extLst>
              <a:ext uri="{FF2B5EF4-FFF2-40B4-BE49-F238E27FC236}">
                <a16:creationId xmlns:a16="http://schemas.microsoft.com/office/drawing/2014/main" id="{3C77BC01-CD6A-2F2C-D3E4-77491767C494}"/>
              </a:ext>
            </a:extLst>
          </p:cNvPr>
          <p:cNvSpPr txBox="1"/>
          <p:nvPr/>
        </p:nvSpPr>
        <p:spPr>
          <a:xfrm>
            <a:off x="2746718" y="3247295"/>
            <a:ext cx="3432646" cy="261610"/>
          </a:xfrm>
          <a:prstGeom prst="rect">
            <a:avLst/>
          </a:prstGeom>
          <a:solidFill>
            <a:schemeClr val="bg1"/>
          </a:solid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zh-TW" sz="1100" kern="1200">
                <a:solidFill>
                  <a:srgbClr val="1C1E20"/>
                </a:solidFill>
                <a:latin typeface="+mn-lt"/>
                <a:ea typeface="+mn-ea"/>
                <a:cs typeface="+mn-cs"/>
              </a:rPr>
              <a:t>[</a:t>
            </a:r>
            <a:r>
              <a:rPr kumimoji="1" lang="zh-TW" altLang="en-US" sz="1100" kern="1200">
                <a:solidFill>
                  <a:srgbClr val="1C1E20"/>
                </a:solidFill>
                <a:latin typeface="+mn-lt"/>
                <a:ea typeface="+mn-ea"/>
                <a:cs typeface="+mn-cs"/>
              </a:rPr>
              <a:t>關鍵字</a:t>
            </a:r>
            <a:r>
              <a:rPr kumimoji="1" lang="en-US" altLang="zh-TW" sz="1100" kern="1200">
                <a:solidFill>
                  <a:srgbClr val="1C1E20"/>
                </a:solidFill>
                <a:latin typeface="+mn-lt"/>
                <a:ea typeface="+mn-ea"/>
                <a:cs typeface="+mn-cs"/>
              </a:rPr>
              <a:t>] </a:t>
            </a:r>
            <a:r>
              <a:rPr kumimoji="1" lang="zh-TW" altLang="en-US" sz="1100" kern="1200">
                <a:solidFill>
                  <a:srgbClr val="1C1E20"/>
                </a:solidFill>
                <a:latin typeface="+mn-lt"/>
                <a:ea typeface="+mn-ea"/>
                <a:cs typeface="+mn-cs"/>
              </a:rPr>
              <a:t>合利他命</a:t>
            </a:r>
            <a:r>
              <a:rPr kumimoji="1" lang="en" altLang="zh-TW" sz="1100" kern="1200">
                <a:solidFill>
                  <a:srgbClr val="1C1E20"/>
                </a:solidFill>
                <a:latin typeface="+mn-lt"/>
                <a:ea typeface="+mn-ea"/>
                <a:cs typeface="+mn-cs"/>
              </a:rPr>
              <a:t>EXPLUS 10</a:t>
            </a:r>
            <a:r>
              <a:rPr kumimoji="1" lang="zh-TW" altLang="en-US" sz="1100" kern="1200">
                <a:solidFill>
                  <a:srgbClr val="1C1E20"/>
                </a:solidFill>
                <a:latin typeface="+mn-lt"/>
                <a:ea typeface="+mn-ea"/>
                <a:cs typeface="+mn-cs"/>
              </a:rPr>
              <a:t>月</a:t>
            </a:r>
          </a:p>
        </p:txBody>
      </p:sp>
      <p:sp>
        <p:nvSpPr>
          <p:cNvPr id="33" name="文字方塊 32">
            <a:extLst>
              <a:ext uri="{FF2B5EF4-FFF2-40B4-BE49-F238E27FC236}">
                <a16:creationId xmlns:a16="http://schemas.microsoft.com/office/drawing/2014/main" id="{60CD641A-9C49-7BF6-9D1F-F4D336711CA2}"/>
              </a:ext>
            </a:extLst>
          </p:cNvPr>
          <p:cNvSpPr txBox="1"/>
          <p:nvPr/>
        </p:nvSpPr>
        <p:spPr>
          <a:xfrm>
            <a:off x="2753883" y="3456307"/>
            <a:ext cx="3432647" cy="215444"/>
          </a:xfrm>
          <a:prstGeom prst="rect">
            <a:avLst/>
          </a:prstGeom>
          <a:solidFill>
            <a:schemeClr val="bg1"/>
          </a:solidFill>
        </p:spPr>
        <p:txBody>
          <a:bodyPr wrap="square">
            <a:spAutoFit/>
          </a:bodyPr>
          <a:lstStyle/>
          <a:p>
            <a:pPr lvl="0">
              <a:defRPr/>
            </a:pPr>
            <a:r>
              <a:rPr kumimoji="1" lang="en" altLang="zh-TW" sz="800">
                <a:solidFill>
                  <a:schemeClr val="bg1">
                    <a:lumMod val="65000"/>
                  </a:schemeClr>
                </a:solidFill>
              </a:rPr>
              <a:t>Brand Keyword AI Exploration</a:t>
            </a:r>
          </a:p>
        </p:txBody>
      </p:sp>
      <p:sp>
        <p:nvSpPr>
          <p:cNvPr id="34" name="文字方塊 33">
            <a:extLst>
              <a:ext uri="{FF2B5EF4-FFF2-40B4-BE49-F238E27FC236}">
                <a16:creationId xmlns:a16="http://schemas.microsoft.com/office/drawing/2014/main" id="{BBE74803-5A55-DEF2-655C-FAD0B50EC5DE}"/>
              </a:ext>
            </a:extLst>
          </p:cNvPr>
          <p:cNvSpPr txBox="1"/>
          <p:nvPr/>
        </p:nvSpPr>
        <p:spPr>
          <a:xfrm>
            <a:off x="2753883" y="3765643"/>
            <a:ext cx="3432646" cy="261610"/>
          </a:xfrm>
          <a:prstGeom prst="rect">
            <a:avLst/>
          </a:prstGeom>
          <a:solidFill>
            <a:schemeClr val="bg1"/>
          </a:solid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zh-TW" sz="1100" kern="1200">
                <a:solidFill>
                  <a:srgbClr val="1C1E20"/>
                </a:solidFill>
                <a:latin typeface="+mn-lt"/>
                <a:ea typeface="+mn-ea"/>
                <a:cs typeface="+mn-cs"/>
              </a:rPr>
              <a:t>[</a:t>
            </a:r>
            <a:r>
              <a:rPr kumimoji="1" lang="zh-TW" altLang="en-US" sz="1100" kern="1200">
                <a:solidFill>
                  <a:srgbClr val="1C1E20"/>
                </a:solidFill>
                <a:latin typeface="+mn-lt"/>
                <a:ea typeface="+mn-ea"/>
                <a:cs typeface="+mn-cs"/>
              </a:rPr>
              <a:t>關鍵字</a:t>
            </a:r>
            <a:r>
              <a:rPr kumimoji="1" lang="en-US" altLang="zh-TW" sz="1100" kern="1200">
                <a:solidFill>
                  <a:srgbClr val="1C1E20"/>
                </a:solidFill>
                <a:latin typeface="+mn-lt"/>
                <a:ea typeface="+mn-ea"/>
                <a:cs typeface="+mn-cs"/>
              </a:rPr>
              <a:t>] </a:t>
            </a:r>
            <a:r>
              <a:rPr kumimoji="1" lang="zh-TW" altLang="en-US" sz="1100" kern="1200">
                <a:solidFill>
                  <a:srgbClr val="1C1E20"/>
                </a:solidFill>
                <a:latin typeface="+mn-lt"/>
                <a:ea typeface="+mn-ea"/>
                <a:cs typeface="+mn-cs"/>
              </a:rPr>
              <a:t>合利他命</a:t>
            </a:r>
            <a:r>
              <a:rPr kumimoji="1" lang="en" altLang="zh-TW" sz="1100" kern="1200">
                <a:solidFill>
                  <a:srgbClr val="1C1E20"/>
                </a:solidFill>
                <a:latin typeface="+mn-lt"/>
                <a:ea typeface="+mn-ea"/>
                <a:cs typeface="+mn-cs"/>
              </a:rPr>
              <a:t>EXPLUS 10</a:t>
            </a:r>
            <a:r>
              <a:rPr kumimoji="1" lang="zh-TW" altLang="en-US" sz="1100" kern="1200">
                <a:solidFill>
                  <a:srgbClr val="1C1E20"/>
                </a:solidFill>
                <a:latin typeface="+mn-lt"/>
                <a:ea typeface="+mn-ea"/>
                <a:cs typeface="+mn-cs"/>
              </a:rPr>
              <a:t>月</a:t>
            </a:r>
          </a:p>
        </p:txBody>
      </p:sp>
      <p:sp>
        <p:nvSpPr>
          <p:cNvPr id="35" name="文字方塊 34">
            <a:extLst>
              <a:ext uri="{FF2B5EF4-FFF2-40B4-BE49-F238E27FC236}">
                <a16:creationId xmlns:a16="http://schemas.microsoft.com/office/drawing/2014/main" id="{3B53CEB1-00EE-EDE7-4CC2-792C88FFF3F8}"/>
              </a:ext>
            </a:extLst>
          </p:cNvPr>
          <p:cNvSpPr txBox="1"/>
          <p:nvPr/>
        </p:nvSpPr>
        <p:spPr>
          <a:xfrm>
            <a:off x="2761048" y="3974655"/>
            <a:ext cx="3432647" cy="215444"/>
          </a:xfrm>
          <a:prstGeom prst="rect">
            <a:avLst/>
          </a:prstGeom>
          <a:solidFill>
            <a:schemeClr val="bg1"/>
          </a:solidFill>
        </p:spPr>
        <p:txBody>
          <a:bodyPr wrap="square">
            <a:spAutoFit/>
          </a:bodyPr>
          <a:lstStyle/>
          <a:p>
            <a:pPr lvl="0">
              <a:defRPr/>
            </a:pPr>
            <a:r>
              <a:rPr kumimoji="1" lang="en" altLang="zh-TW" sz="800">
                <a:solidFill>
                  <a:schemeClr val="bg1">
                    <a:lumMod val="65000"/>
                  </a:schemeClr>
                </a:solidFill>
              </a:rPr>
              <a:t>Brand Keyword AI Exploration</a:t>
            </a:r>
          </a:p>
        </p:txBody>
      </p:sp>
      <p:sp>
        <p:nvSpPr>
          <p:cNvPr id="36" name="矩形 35">
            <a:extLst>
              <a:ext uri="{FF2B5EF4-FFF2-40B4-BE49-F238E27FC236}">
                <a16:creationId xmlns:a16="http://schemas.microsoft.com/office/drawing/2014/main" id="{6B99B636-ABB0-D427-2B7D-30A00A5CDFB9}"/>
              </a:ext>
            </a:extLst>
          </p:cNvPr>
          <p:cNvSpPr/>
          <p:nvPr/>
        </p:nvSpPr>
        <p:spPr>
          <a:xfrm>
            <a:off x="6179364" y="1630448"/>
            <a:ext cx="68601" cy="620494"/>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pic>
        <p:nvPicPr>
          <p:cNvPr id="37" name="圖片 36" descr="一張含有 文字, 字型, 螢幕擷取畫面 的圖片&#10;&#10;AI 產生的內容可能不正確。">
            <a:extLst>
              <a:ext uri="{FF2B5EF4-FFF2-40B4-BE49-F238E27FC236}">
                <a16:creationId xmlns:a16="http://schemas.microsoft.com/office/drawing/2014/main" id="{99E0186D-DFAA-D3DA-98EE-8E162E12A37D}"/>
              </a:ext>
            </a:extLst>
          </p:cNvPr>
          <p:cNvPicPr>
            <a:picLocks noChangeAspect="1"/>
          </p:cNvPicPr>
          <p:nvPr/>
        </p:nvPicPr>
        <p:blipFill>
          <a:blip r:embed="rId3"/>
          <a:stretch>
            <a:fillRect/>
          </a:stretch>
        </p:blipFill>
        <p:spPr>
          <a:xfrm>
            <a:off x="6287260" y="1307677"/>
            <a:ext cx="3728570" cy="1384897"/>
          </a:xfrm>
          <a:prstGeom prst="rect">
            <a:avLst/>
          </a:prstGeom>
        </p:spPr>
      </p:pic>
      <p:sp>
        <p:nvSpPr>
          <p:cNvPr id="38" name="矩形 37">
            <a:extLst>
              <a:ext uri="{FF2B5EF4-FFF2-40B4-BE49-F238E27FC236}">
                <a16:creationId xmlns:a16="http://schemas.microsoft.com/office/drawing/2014/main" id="{1C038457-B8C1-50C1-D886-D142C6B71D9D}"/>
              </a:ext>
            </a:extLst>
          </p:cNvPr>
          <p:cNvSpPr/>
          <p:nvPr/>
        </p:nvSpPr>
        <p:spPr>
          <a:xfrm>
            <a:off x="6287260" y="2680389"/>
            <a:ext cx="3744000" cy="352248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39" name="文字方塊 38">
            <a:extLst>
              <a:ext uri="{FF2B5EF4-FFF2-40B4-BE49-F238E27FC236}">
                <a16:creationId xmlns:a16="http://schemas.microsoft.com/office/drawing/2014/main" id="{7F7C4522-2968-BEEE-E877-7D2E4E60E3B0}"/>
              </a:ext>
            </a:extLst>
          </p:cNvPr>
          <p:cNvSpPr txBox="1"/>
          <p:nvPr/>
        </p:nvSpPr>
        <p:spPr>
          <a:xfrm>
            <a:off x="6524547" y="1678631"/>
            <a:ext cx="3432646" cy="261610"/>
          </a:xfrm>
          <a:prstGeom prst="rect">
            <a:avLst/>
          </a:prstGeom>
          <a:solidFill>
            <a:schemeClr val="bg1"/>
          </a:solidFill>
        </p:spPr>
        <p:txBody>
          <a:bodyPr wrap="square">
            <a:spAutoFit/>
          </a:bodyPr>
          <a:lstStyle/>
          <a:p>
            <a:pPr lvl="0">
              <a:defRPr/>
            </a:pPr>
            <a:r>
              <a:rPr kumimoji="1" lang="en-US" altLang="zh-TW" sz="1100">
                <a:solidFill>
                  <a:srgbClr val="2993FF"/>
                </a:solidFill>
              </a:rPr>
              <a:t>[</a:t>
            </a:r>
            <a:r>
              <a:rPr kumimoji="1" lang="zh-TW" altLang="en-US" sz="1100">
                <a:solidFill>
                  <a:srgbClr val="2993FF"/>
                </a:solidFill>
              </a:rPr>
              <a:t>線下</a:t>
            </a:r>
            <a:r>
              <a:rPr kumimoji="1" lang="en" altLang="zh-TW" sz="1100">
                <a:solidFill>
                  <a:srgbClr val="2993FF"/>
                </a:solidFill>
              </a:rPr>
              <a:t>POI] </a:t>
            </a:r>
            <a:r>
              <a:rPr kumimoji="1" lang="zh-TW" altLang="en-US" sz="1100">
                <a:solidFill>
                  <a:srgbClr val="2993FF"/>
                </a:solidFill>
              </a:rPr>
              <a:t>合利他命</a:t>
            </a:r>
            <a:r>
              <a:rPr kumimoji="1" lang="en" altLang="zh-TW" sz="1100">
                <a:solidFill>
                  <a:srgbClr val="2993FF"/>
                </a:solidFill>
              </a:rPr>
              <a:t>EXPLUS 10</a:t>
            </a:r>
            <a:r>
              <a:rPr kumimoji="1" lang="zh-TW" altLang="en-US" sz="1100">
                <a:solidFill>
                  <a:srgbClr val="2993FF"/>
                </a:solidFill>
              </a:rPr>
              <a:t>月</a:t>
            </a:r>
          </a:p>
        </p:txBody>
      </p:sp>
      <p:sp>
        <p:nvSpPr>
          <p:cNvPr id="40" name="文字方塊 39">
            <a:extLst>
              <a:ext uri="{FF2B5EF4-FFF2-40B4-BE49-F238E27FC236}">
                <a16:creationId xmlns:a16="http://schemas.microsoft.com/office/drawing/2014/main" id="{6FBFCA88-F0FC-6945-1891-B43085A35810}"/>
              </a:ext>
            </a:extLst>
          </p:cNvPr>
          <p:cNvSpPr txBox="1"/>
          <p:nvPr/>
        </p:nvSpPr>
        <p:spPr>
          <a:xfrm>
            <a:off x="6524546" y="1881795"/>
            <a:ext cx="3432647" cy="215444"/>
          </a:xfrm>
          <a:prstGeom prst="rect">
            <a:avLst/>
          </a:prstGeom>
          <a:solidFill>
            <a:schemeClr val="bg1"/>
          </a:solidFill>
        </p:spPr>
        <p:txBody>
          <a:bodyPr wrap="square">
            <a:spAutoFit/>
          </a:bodyPr>
          <a:lstStyle/>
          <a:p>
            <a:pPr lvl="0">
              <a:defRPr/>
            </a:pPr>
            <a:r>
              <a:rPr kumimoji="1" lang="en" altLang="zh-TW" sz="800">
                <a:solidFill>
                  <a:schemeClr val="bg1">
                    <a:lumMod val="65000"/>
                  </a:schemeClr>
                </a:solidFill>
              </a:rPr>
              <a:t>Offline Point of Interest (POI)</a:t>
            </a:r>
          </a:p>
        </p:txBody>
      </p:sp>
      <p:pic>
        <p:nvPicPr>
          <p:cNvPr id="41" name="圖片 40">
            <a:extLst>
              <a:ext uri="{FF2B5EF4-FFF2-40B4-BE49-F238E27FC236}">
                <a16:creationId xmlns:a16="http://schemas.microsoft.com/office/drawing/2014/main" id="{3EED5B08-0CE6-9EC7-F169-32CEC7C2F0A5}"/>
              </a:ext>
            </a:extLst>
          </p:cNvPr>
          <p:cNvPicPr>
            <a:picLocks noChangeAspect="1"/>
          </p:cNvPicPr>
          <p:nvPr/>
        </p:nvPicPr>
        <p:blipFill>
          <a:blip r:embed="rId4"/>
          <a:stretch>
            <a:fillRect/>
          </a:stretch>
        </p:blipFill>
        <p:spPr>
          <a:xfrm>
            <a:off x="7897154" y="1900710"/>
            <a:ext cx="184348" cy="184348"/>
          </a:xfrm>
          <a:prstGeom prst="rect">
            <a:avLst/>
          </a:prstGeom>
        </p:spPr>
      </p:pic>
      <p:sp>
        <p:nvSpPr>
          <p:cNvPr id="42" name="文字方塊 41">
            <a:extLst>
              <a:ext uri="{FF2B5EF4-FFF2-40B4-BE49-F238E27FC236}">
                <a16:creationId xmlns:a16="http://schemas.microsoft.com/office/drawing/2014/main" id="{722A7C27-950E-59D5-C068-2959FAD0A100}"/>
              </a:ext>
            </a:extLst>
          </p:cNvPr>
          <p:cNvSpPr txBox="1"/>
          <p:nvPr/>
        </p:nvSpPr>
        <p:spPr>
          <a:xfrm>
            <a:off x="6517381" y="2204776"/>
            <a:ext cx="3432646" cy="261610"/>
          </a:xfrm>
          <a:prstGeom prst="rect">
            <a:avLst/>
          </a:prstGeom>
          <a:solidFill>
            <a:schemeClr val="bg1"/>
          </a:solidFill>
        </p:spPr>
        <p:txBody>
          <a:bodyPr wrap="square">
            <a:spAutoFit/>
          </a:bodyPr>
          <a:lstStyle/>
          <a:p>
            <a:pPr lvl="0">
              <a:defRPr/>
            </a:pPr>
            <a:r>
              <a:rPr kumimoji="1" lang="en" altLang="zh-TW" sz="1100">
                <a:solidFill>
                  <a:srgbClr val="2993FF"/>
                </a:solidFill>
              </a:rPr>
              <a:t>[Webb</a:t>
            </a:r>
            <a:r>
              <a:rPr kumimoji="1" lang="zh-TW" altLang="en-US" sz="1100">
                <a:solidFill>
                  <a:srgbClr val="2993FF"/>
                </a:solidFill>
              </a:rPr>
              <a:t>零售數據</a:t>
            </a:r>
            <a:r>
              <a:rPr kumimoji="1" lang="en-US" altLang="zh-TW" sz="1100">
                <a:solidFill>
                  <a:srgbClr val="2993FF"/>
                </a:solidFill>
              </a:rPr>
              <a:t>-</a:t>
            </a:r>
            <a:r>
              <a:rPr kumimoji="1" lang="zh-TW" altLang="en-US" sz="1100">
                <a:solidFill>
                  <a:srgbClr val="2993FF"/>
                </a:solidFill>
              </a:rPr>
              <a:t>購買</a:t>
            </a:r>
            <a:r>
              <a:rPr kumimoji="1" lang="en-US" altLang="zh-TW" sz="1100">
                <a:solidFill>
                  <a:srgbClr val="2993FF"/>
                </a:solidFill>
              </a:rPr>
              <a:t>] </a:t>
            </a:r>
            <a:r>
              <a:rPr kumimoji="1" lang="zh-TW" altLang="en-US" sz="1100">
                <a:solidFill>
                  <a:srgbClr val="2993FF"/>
                </a:solidFill>
              </a:rPr>
              <a:t>合利他命</a:t>
            </a:r>
            <a:r>
              <a:rPr kumimoji="1" lang="en" altLang="zh-TW" sz="1100">
                <a:solidFill>
                  <a:srgbClr val="2993FF"/>
                </a:solidFill>
              </a:rPr>
              <a:t>EXPLUS 10</a:t>
            </a:r>
            <a:r>
              <a:rPr kumimoji="1" lang="zh-TW" altLang="en-US" sz="1100">
                <a:solidFill>
                  <a:srgbClr val="2993FF"/>
                </a:solidFill>
              </a:rPr>
              <a:t>月</a:t>
            </a:r>
          </a:p>
        </p:txBody>
      </p:sp>
      <p:sp>
        <p:nvSpPr>
          <p:cNvPr id="43" name="文字方塊 42">
            <a:extLst>
              <a:ext uri="{FF2B5EF4-FFF2-40B4-BE49-F238E27FC236}">
                <a16:creationId xmlns:a16="http://schemas.microsoft.com/office/drawing/2014/main" id="{A5F65968-A7EA-E6DF-410E-E86992D3D289}"/>
              </a:ext>
            </a:extLst>
          </p:cNvPr>
          <p:cNvSpPr txBox="1"/>
          <p:nvPr/>
        </p:nvSpPr>
        <p:spPr>
          <a:xfrm>
            <a:off x="6524546" y="2413788"/>
            <a:ext cx="3432647" cy="215444"/>
          </a:xfrm>
          <a:prstGeom prst="rect">
            <a:avLst/>
          </a:prstGeom>
          <a:solidFill>
            <a:schemeClr val="bg1"/>
          </a:solidFill>
        </p:spPr>
        <p:txBody>
          <a:bodyPr wrap="square">
            <a:spAutoFit/>
          </a:bodyPr>
          <a:lstStyle/>
          <a:p>
            <a:pPr fontAlgn="base"/>
            <a:r>
              <a:rPr kumimoji="1" lang="en" altLang="zh-TW" sz="800">
                <a:solidFill>
                  <a:schemeClr val="bg1">
                    <a:lumMod val="65000"/>
                  </a:schemeClr>
                </a:solidFill>
              </a:rPr>
              <a:t>Webb Retail Data (Purchase)</a:t>
            </a:r>
          </a:p>
        </p:txBody>
      </p:sp>
      <p:sp>
        <p:nvSpPr>
          <p:cNvPr id="44" name="矩形 43">
            <a:extLst>
              <a:ext uri="{FF2B5EF4-FFF2-40B4-BE49-F238E27FC236}">
                <a16:creationId xmlns:a16="http://schemas.microsoft.com/office/drawing/2014/main" id="{5AED41DD-526A-01C5-49E6-1DD8DE0EFAF3}"/>
              </a:ext>
            </a:extLst>
          </p:cNvPr>
          <p:cNvSpPr/>
          <p:nvPr/>
        </p:nvSpPr>
        <p:spPr>
          <a:xfrm>
            <a:off x="2503965" y="2143405"/>
            <a:ext cx="3744000" cy="4078016"/>
          </a:xfrm>
          <a:prstGeom prst="rect">
            <a:avLst/>
          </a:prstGeom>
          <a:solidFill>
            <a:srgbClr val="F5F8F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pic>
        <p:nvPicPr>
          <p:cNvPr id="5" name="圖片 4" descr="一張含有 寫生, 設計, 工具 的圖片&#10;&#10;AI 產生的內容可能不正確。">
            <a:extLst>
              <a:ext uri="{FF2B5EF4-FFF2-40B4-BE49-F238E27FC236}">
                <a16:creationId xmlns:a16="http://schemas.microsoft.com/office/drawing/2014/main" id="{A5CF972B-0A1A-EEAC-60C3-B01D7ECBDA9C}"/>
              </a:ext>
            </a:extLst>
          </p:cNvPr>
          <p:cNvPicPr>
            <a:picLocks noChangeAspect="1"/>
          </p:cNvPicPr>
          <p:nvPr/>
        </p:nvPicPr>
        <p:blipFill>
          <a:blip r:embed="rId5"/>
          <a:stretch>
            <a:fillRect/>
          </a:stretch>
        </p:blipFill>
        <p:spPr>
          <a:xfrm>
            <a:off x="4999571" y="316046"/>
            <a:ext cx="355600" cy="330200"/>
          </a:xfrm>
          <a:prstGeom prst="rect">
            <a:avLst/>
          </a:prstGeom>
        </p:spPr>
      </p:pic>
      <p:pic>
        <p:nvPicPr>
          <p:cNvPr id="7" name="圖片 6">
            <a:extLst>
              <a:ext uri="{FF2B5EF4-FFF2-40B4-BE49-F238E27FC236}">
                <a16:creationId xmlns:a16="http://schemas.microsoft.com/office/drawing/2014/main" id="{3A444B13-935B-FC3C-24AC-2E8B7661BCF3}"/>
              </a:ext>
            </a:extLst>
          </p:cNvPr>
          <p:cNvPicPr>
            <a:picLocks noChangeAspect="1"/>
          </p:cNvPicPr>
          <p:nvPr/>
        </p:nvPicPr>
        <p:blipFill>
          <a:blip r:embed="rId6"/>
          <a:stretch>
            <a:fillRect/>
          </a:stretch>
        </p:blipFill>
        <p:spPr>
          <a:xfrm flipH="1">
            <a:off x="7881314" y="2392968"/>
            <a:ext cx="254609" cy="254609"/>
          </a:xfrm>
          <a:prstGeom prst="rect">
            <a:avLst/>
          </a:prstGeom>
        </p:spPr>
      </p:pic>
      <p:pic>
        <p:nvPicPr>
          <p:cNvPr id="2" name="圖片 1" descr="一張含有 電子藍, 字型, 文字, 標誌 的圖片&#10;&#10;AI 產生的內容可能不正確。">
            <a:extLst>
              <a:ext uri="{FF2B5EF4-FFF2-40B4-BE49-F238E27FC236}">
                <a16:creationId xmlns:a16="http://schemas.microsoft.com/office/drawing/2014/main" id="{4F012AB5-77DC-B0CC-E461-D52958BB176E}"/>
              </a:ext>
            </a:extLst>
          </p:cNvPr>
          <p:cNvPicPr>
            <a:picLocks noChangeAspect="1"/>
          </p:cNvPicPr>
          <p:nvPr/>
        </p:nvPicPr>
        <p:blipFill>
          <a:blip r:embed="rId7"/>
          <a:stretch>
            <a:fillRect/>
          </a:stretch>
        </p:blipFill>
        <p:spPr>
          <a:xfrm>
            <a:off x="5555027" y="219714"/>
            <a:ext cx="863600" cy="469900"/>
          </a:xfrm>
          <a:prstGeom prst="rect">
            <a:avLst/>
          </a:prstGeom>
        </p:spPr>
      </p:pic>
      <p:sp>
        <p:nvSpPr>
          <p:cNvPr id="3" name="矩形 2">
            <a:extLst>
              <a:ext uri="{FF2B5EF4-FFF2-40B4-BE49-F238E27FC236}">
                <a16:creationId xmlns:a16="http://schemas.microsoft.com/office/drawing/2014/main" id="{78EA330C-D78C-32A5-AAF3-C72A060400FD}"/>
              </a:ext>
            </a:extLst>
          </p:cNvPr>
          <p:cNvSpPr/>
          <p:nvPr/>
        </p:nvSpPr>
        <p:spPr>
          <a:xfrm>
            <a:off x="9218141" y="6383648"/>
            <a:ext cx="897158" cy="474352"/>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Tree>
    <p:extLst>
      <p:ext uri="{BB962C8B-B14F-4D97-AF65-F5344CB8AC3E}">
        <p14:creationId xmlns:p14="http://schemas.microsoft.com/office/powerpoint/2010/main" val="135011758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139CCE-FDD5-F52B-A160-F6976806CE82}"/>
            </a:ext>
          </a:extLst>
        </p:cNvPr>
        <p:cNvGrpSpPr/>
        <p:nvPr/>
      </p:nvGrpSpPr>
      <p:grpSpPr>
        <a:xfrm>
          <a:off x="0" y="0"/>
          <a:ext cx="0" cy="0"/>
          <a:chOff x="0" y="0"/>
          <a:chExt cx="0" cy="0"/>
        </a:xfrm>
      </p:grpSpPr>
      <p:sp>
        <p:nvSpPr>
          <p:cNvPr id="4" name="標題 1">
            <a:extLst>
              <a:ext uri="{FF2B5EF4-FFF2-40B4-BE49-F238E27FC236}">
                <a16:creationId xmlns:a16="http://schemas.microsoft.com/office/drawing/2014/main" id="{7BF02405-8150-1CC7-9332-4222C90560B8}"/>
              </a:ext>
            </a:extLst>
          </p:cNvPr>
          <p:cNvSpPr txBox="1">
            <a:spLocks/>
          </p:cNvSpPr>
          <p:nvPr/>
        </p:nvSpPr>
        <p:spPr>
          <a:xfrm>
            <a:off x="0" y="0"/>
            <a:ext cx="10515600" cy="70560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kumimoji="1" lang="en-US" altLang="zh-TW" sz="2000" dirty="0"/>
              <a:t>Edit Ad Group</a:t>
            </a:r>
          </a:p>
          <a:p>
            <a:r>
              <a:rPr kumimoji="1" lang="en-US" altLang="zh-TW" sz="2000" dirty="0"/>
              <a:t>Selected Custom Audiences, Status=</a:t>
            </a:r>
            <a:r>
              <a:rPr kumimoji="1" lang="en-US" altLang="zh-TW" sz="2000" b="1" dirty="0"/>
              <a:t>Expired</a:t>
            </a:r>
            <a:r>
              <a:rPr kumimoji="1" lang="en-US" altLang="zh-TW" sz="2000" dirty="0"/>
              <a:t> </a:t>
            </a:r>
            <a:r>
              <a:rPr kumimoji="1" lang="en-US" altLang="zh-TW" sz="2000" b="1" dirty="0">
                <a:sym typeface="Wingdings" pitchFamily="2" charset="2"/>
              </a:rPr>
              <a:t>      </a:t>
            </a:r>
            <a:endParaRPr kumimoji="1" lang="en-US" altLang="zh-TW" sz="2000" dirty="0"/>
          </a:p>
        </p:txBody>
      </p:sp>
      <p:pic>
        <p:nvPicPr>
          <p:cNvPr id="24" name="圖片 23" descr="一張含有 文字, 軟體, 網頁, 網站 的圖片&#10;&#10;AI 產生的內容可能不正確。">
            <a:extLst>
              <a:ext uri="{FF2B5EF4-FFF2-40B4-BE49-F238E27FC236}">
                <a16:creationId xmlns:a16="http://schemas.microsoft.com/office/drawing/2014/main" id="{16221313-1A38-EA32-AFE4-120F37B202BF}"/>
              </a:ext>
            </a:extLst>
          </p:cNvPr>
          <p:cNvPicPr>
            <a:picLocks noChangeAspect="1"/>
          </p:cNvPicPr>
          <p:nvPr/>
        </p:nvPicPr>
        <p:blipFill>
          <a:blip r:embed="rId3"/>
          <a:stretch>
            <a:fillRect/>
          </a:stretch>
        </p:blipFill>
        <p:spPr>
          <a:xfrm>
            <a:off x="2342899" y="652545"/>
            <a:ext cx="7772400" cy="6205455"/>
          </a:xfrm>
          <a:prstGeom prst="rect">
            <a:avLst/>
          </a:prstGeom>
        </p:spPr>
      </p:pic>
      <p:sp>
        <p:nvSpPr>
          <p:cNvPr id="25" name="文字方塊 24">
            <a:extLst>
              <a:ext uri="{FF2B5EF4-FFF2-40B4-BE49-F238E27FC236}">
                <a16:creationId xmlns:a16="http://schemas.microsoft.com/office/drawing/2014/main" id="{D88440AC-9F37-0645-3C05-A9DD18054E17}"/>
              </a:ext>
            </a:extLst>
          </p:cNvPr>
          <p:cNvSpPr txBox="1"/>
          <p:nvPr/>
        </p:nvSpPr>
        <p:spPr>
          <a:xfrm>
            <a:off x="4631868" y="737536"/>
            <a:ext cx="3194462" cy="307777"/>
          </a:xfrm>
          <a:prstGeom prst="rect">
            <a:avLst/>
          </a:prstGeom>
          <a:solidFill>
            <a:srgbClr val="F5F8FE"/>
          </a:solidFill>
        </p:spPr>
        <p:txBody>
          <a:bodyPr wrap="square" rtlCol="0">
            <a:spAutoFit/>
          </a:bodyPr>
          <a:lstStyle/>
          <a:p>
            <a:pPr algn="ctr"/>
            <a:r>
              <a:rPr kumimoji="1" lang="en-US" altLang="zh-TW" sz="1400">
                <a:solidFill>
                  <a:srgbClr val="1C1E20"/>
                </a:solidFill>
              </a:rPr>
              <a:t>Targeting - Custom Audience</a:t>
            </a:r>
            <a:endParaRPr kumimoji="1" lang="zh-TW" altLang="en-US" sz="1400">
              <a:solidFill>
                <a:srgbClr val="1C1E20"/>
              </a:solidFill>
            </a:endParaRPr>
          </a:p>
        </p:txBody>
      </p:sp>
      <p:sp>
        <p:nvSpPr>
          <p:cNvPr id="26" name="文字方塊 25">
            <a:extLst>
              <a:ext uri="{FF2B5EF4-FFF2-40B4-BE49-F238E27FC236}">
                <a16:creationId xmlns:a16="http://schemas.microsoft.com/office/drawing/2014/main" id="{0D169F4A-EC24-05A7-9128-6C98DF724F05}"/>
              </a:ext>
            </a:extLst>
          </p:cNvPr>
          <p:cNvSpPr txBox="1"/>
          <p:nvPr/>
        </p:nvSpPr>
        <p:spPr>
          <a:xfrm>
            <a:off x="2732388" y="1672783"/>
            <a:ext cx="3432646" cy="261610"/>
          </a:xfrm>
          <a:prstGeom prst="rect">
            <a:avLst/>
          </a:prstGeom>
          <a:solidFill>
            <a:schemeClr val="bg1"/>
          </a:solidFill>
        </p:spPr>
        <p:txBody>
          <a:bodyPr wrap="square">
            <a:spAutoFit/>
          </a:bodyPr>
          <a:lstStyle/>
          <a:p>
            <a:pPr lvl="0">
              <a:defRPr/>
            </a:pPr>
            <a:r>
              <a:rPr kumimoji="1" lang="en" altLang="zh-TW" sz="1100">
                <a:solidFill>
                  <a:srgbClr val="4E4E4E"/>
                </a:solidFill>
              </a:rPr>
              <a:t>[</a:t>
            </a:r>
            <a:r>
              <a:rPr kumimoji="1" lang="zh-TW" altLang="en-US" sz="1100">
                <a:solidFill>
                  <a:srgbClr val="4E4E4E"/>
                </a:solidFill>
              </a:rPr>
              <a:t>產業 </a:t>
            </a:r>
            <a:r>
              <a:rPr kumimoji="1" lang="en" altLang="zh-TW" sz="1100">
                <a:solidFill>
                  <a:srgbClr val="4E4E4E"/>
                </a:solidFill>
              </a:rPr>
              <a:t>Shopper Graph</a:t>
            </a:r>
            <a:r>
              <a:rPr kumimoji="1" lang="en-US" altLang="zh-TW" sz="1100">
                <a:solidFill>
                  <a:srgbClr val="4E4E4E"/>
                </a:solidFill>
              </a:rPr>
              <a:t>] </a:t>
            </a:r>
            <a:r>
              <a:rPr kumimoji="1" lang="zh-TW" altLang="en-US" sz="1100">
                <a:solidFill>
                  <a:srgbClr val="4E4E4E"/>
                </a:solidFill>
              </a:rPr>
              <a:t>合利他命</a:t>
            </a:r>
            <a:r>
              <a:rPr kumimoji="1" lang="en" altLang="zh-TW" sz="1100">
                <a:solidFill>
                  <a:srgbClr val="4E4E4E"/>
                </a:solidFill>
              </a:rPr>
              <a:t>EXPLUS 9-10</a:t>
            </a:r>
            <a:r>
              <a:rPr kumimoji="1" lang="zh-TW" altLang="en-US" sz="1100">
                <a:solidFill>
                  <a:srgbClr val="4E4E4E"/>
                </a:solidFill>
              </a:rPr>
              <a:t>月</a:t>
            </a:r>
          </a:p>
        </p:txBody>
      </p:sp>
      <p:sp>
        <p:nvSpPr>
          <p:cNvPr id="27" name="文字方塊 26">
            <a:extLst>
              <a:ext uri="{FF2B5EF4-FFF2-40B4-BE49-F238E27FC236}">
                <a16:creationId xmlns:a16="http://schemas.microsoft.com/office/drawing/2014/main" id="{93AC20F8-C0DB-1B71-6A69-721C5915B855}"/>
              </a:ext>
            </a:extLst>
          </p:cNvPr>
          <p:cNvSpPr txBox="1"/>
          <p:nvPr/>
        </p:nvSpPr>
        <p:spPr>
          <a:xfrm>
            <a:off x="2739553" y="1881795"/>
            <a:ext cx="3432647" cy="215444"/>
          </a:xfrm>
          <a:prstGeom prst="rect">
            <a:avLst/>
          </a:prstGeom>
          <a:solidFill>
            <a:schemeClr val="bg1"/>
          </a:solidFill>
        </p:spPr>
        <p:txBody>
          <a:bodyPr wrap="square">
            <a:spAutoFit/>
          </a:bodyPr>
          <a:lstStyle/>
          <a:p>
            <a:pPr lvl="0">
              <a:defRPr/>
            </a:pPr>
            <a:r>
              <a:rPr kumimoji="1" lang="en" altLang="zh-TW" sz="800">
                <a:solidFill>
                  <a:schemeClr val="bg1">
                    <a:lumMod val="65000"/>
                  </a:schemeClr>
                </a:solidFill>
              </a:rPr>
              <a:t>Industry Shopper Graph</a:t>
            </a:r>
          </a:p>
        </p:txBody>
      </p:sp>
      <p:sp>
        <p:nvSpPr>
          <p:cNvPr id="28" name="文字方塊 27">
            <a:extLst>
              <a:ext uri="{FF2B5EF4-FFF2-40B4-BE49-F238E27FC236}">
                <a16:creationId xmlns:a16="http://schemas.microsoft.com/office/drawing/2014/main" id="{2E783F73-59D0-B26B-74EB-0BD9089E25F6}"/>
              </a:ext>
            </a:extLst>
          </p:cNvPr>
          <p:cNvSpPr txBox="1"/>
          <p:nvPr/>
        </p:nvSpPr>
        <p:spPr>
          <a:xfrm>
            <a:off x="2739553" y="2204776"/>
            <a:ext cx="3432646" cy="261610"/>
          </a:xfrm>
          <a:prstGeom prst="rect">
            <a:avLst/>
          </a:prstGeom>
          <a:solidFill>
            <a:schemeClr val="bg1"/>
          </a:solidFill>
        </p:spPr>
        <p:txBody>
          <a:bodyPr wrap="square">
            <a:spAutoFit/>
          </a:bodyPr>
          <a:lstStyle/>
          <a:p>
            <a:pPr lvl="0">
              <a:defRPr/>
            </a:pPr>
            <a:r>
              <a:rPr kumimoji="1" lang="en" altLang="zh-TW" sz="1100">
                <a:solidFill>
                  <a:srgbClr val="4E4E4E"/>
                </a:solidFill>
              </a:rPr>
              <a:t>[Webb</a:t>
            </a:r>
            <a:r>
              <a:rPr kumimoji="1" lang="zh-TW" altLang="en-US" sz="1100">
                <a:solidFill>
                  <a:srgbClr val="4E4E4E"/>
                </a:solidFill>
              </a:rPr>
              <a:t>零售數據</a:t>
            </a:r>
            <a:r>
              <a:rPr kumimoji="1" lang="en-US" altLang="zh-TW" sz="1100">
                <a:solidFill>
                  <a:srgbClr val="4E4E4E"/>
                </a:solidFill>
              </a:rPr>
              <a:t>-</a:t>
            </a:r>
            <a:r>
              <a:rPr kumimoji="1" lang="zh-TW" altLang="en-US" sz="1100">
                <a:solidFill>
                  <a:srgbClr val="4E4E4E"/>
                </a:solidFill>
              </a:rPr>
              <a:t>購買</a:t>
            </a:r>
            <a:r>
              <a:rPr kumimoji="1" lang="en-US" altLang="zh-TW" sz="1100">
                <a:solidFill>
                  <a:srgbClr val="4E4E4E"/>
                </a:solidFill>
              </a:rPr>
              <a:t>] </a:t>
            </a:r>
            <a:r>
              <a:rPr kumimoji="1" lang="zh-TW" altLang="en-US" sz="1100">
                <a:solidFill>
                  <a:srgbClr val="4E4E4E"/>
                </a:solidFill>
              </a:rPr>
              <a:t>合利他命</a:t>
            </a:r>
            <a:r>
              <a:rPr kumimoji="1" lang="en" altLang="zh-TW" sz="1100">
                <a:solidFill>
                  <a:srgbClr val="4E4E4E"/>
                </a:solidFill>
              </a:rPr>
              <a:t>EXPLUS 10</a:t>
            </a:r>
            <a:r>
              <a:rPr kumimoji="1" lang="zh-TW" altLang="en-US" sz="1100">
                <a:solidFill>
                  <a:srgbClr val="4E4E4E"/>
                </a:solidFill>
              </a:rPr>
              <a:t>月</a:t>
            </a:r>
          </a:p>
        </p:txBody>
      </p:sp>
      <p:sp>
        <p:nvSpPr>
          <p:cNvPr id="29" name="文字方塊 28">
            <a:extLst>
              <a:ext uri="{FF2B5EF4-FFF2-40B4-BE49-F238E27FC236}">
                <a16:creationId xmlns:a16="http://schemas.microsoft.com/office/drawing/2014/main" id="{8759BA28-758D-8E4E-6141-730ACCE24FB8}"/>
              </a:ext>
            </a:extLst>
          </p:cNvPr>
          <p:cNvSpPr txBox="1"/>
          <p:nvPr/>
        </p:nvSpPr>
        <p:spPr>
          <a:xfrm>
            <a:off x="2746718" y="2413788"/>
            <a:ext cx="3432647" cy="215444"/>
          </a:xfrm>
          <a:prstGeom prst="rect">
            <a:avLst/>
          </a:prstGeom>
          <a:solidFill>
            <a:schemeClr val="bg1"/>
          </a:solidFill>
        </p:spPr>
        <p:txBody>
          <a:bodyPr wrap="square">
            <a:spAutoFit/>
          </a:bodyPr>
          <a:lstStyle/>
          <a:p>
            <a:pPr fontAlgn="base"/>
            <a:r>
              <a:rPr kumimoji="1" lang="en" altLang="zh-TW" sz="800">
                <a:solidFill>
                  <a:schemeClr val="bg1">
                    <a:lumMod val="65000"/>
                  </a:schemeClr>
                </a:solidFill>
              </a:rPr>
              <a:t>Webb Retail Data (Purchase)</a:t>
            </a:r>
          </a:p>
        </p:txBody>
      </p:sp>
      <p:sp>
        <p:nvSpPr>
          <p:cNvPr id="30" name="文字方塊 29">
            <a:extLst>
              <a:ext uri="{FF2B5EF4-FFF2-40B4-BE49-F238E27FC236}">
                <a16:creationId xmlns:a16="http://schemas.microsoft.com/office/drawing/2014/main" id="{FF4F1894-73C0-3331-1594-3C45E1B9A1D1}"/>
              </a:ext>
            </a:extLst>
          </p:cNvPr>
          <p:cNvSpPr txBox="1"/>
          <p:nvPr/>
        </p:nvSpPr>
        <p:spPr>
          <a:xfrm>
            <a:off x="2732387" y="2731379"/>
            <a:ext cx="3432646" cy="261610"/>
          </a:xfrm>
          <a:prstGeom prst="rect">
            <a:avLst/>
          </a:prstGeom>
          <a:solidFill>
            <a:schemeClr val="bg1"/>
          </a:solidFill>
        </p:spPr>
        <p:txBody>
          <a:bodyPr wrap="square">
            <a:spAutoFit/>
          </a:bodyPr>
          <a:lstStyle/>
          <a:p>
            <a:pPr lvl="0">
              <a:defRPr/>
            </a:pPr>
            <a:r>
              <a:rPr kumimoji="1" lang="en" altLang="zh-TW" sz="1100">
                <a:solidFill>
                  <a:srgbClr val="4E4E4E"/>
                </a:solidFill>
              </a:rPr>
              <a:t>[</a:t>
            </a:r>
            <a:r>
              <a:rPr kumimoji="1" lang="zh-TW" altLang="en-US" sz="1100">
                <a:solidFill>
                  <a:srgbClr val="4E4E4E"/>
                </a:solidFill>
              </a:rPr>
              <a:t>產業 </a:t>
            </a:r>
            <a:r>
              <a:rPr kumimoji="1" lang="en" altLang="zh-TW" sz="1100">
                <a:solidFill>
                  <a:srgbClr val="4E4E4E"/>
                </a:solidFill>
              </a:rPr>
              <a:t>Shopper Graph</a:t>
            </a:r>
            <a:r>
              <a:rPr kumimoji="1" lang="en-US" altLang="zh-TW" sz="1100">
                <a:solidFill>
                  <a:srgbClr val="4E4E4E"/>
                </a:solidFill>
              </a:rPr>
              <a:t>] </a:t>
            </a:r>
            <a:r>
              <a:rPr kumimoji="1" lang="zh-TW" altLang="en-US" sz="1100">
                <a:solidFill>
                  <a:srgbClr val="4E4E4E"/>
                </a:solidFill>
              </a:rPr>
              <a:t>合利他命</a:t>
            </a:r>
            <a:r>
              <a:rPr kumimoji="1" lang="en" altLang="zh-TW" sz="1100">
                <a:solidFill>
                  <a:srgbClr val="4E4E4E"/>
                </a:solidFill>
              </a:rPr>
              <a:t>EXPLUS 9-10</a:t>
            </a:r>
            <a:r>
              <a:rPr kumimoji="1" lang="zh-TW" altLang="en-US" sz="1100">
                <a:solidFill>
                  <a:srgbClr val="4E4E4E"/>
                </a:solidFill>
              </a:rPr>
              <a:t>月</a:t>
            </a:r>
          </a:p>
        </p:txBody>
      </p:sp>
      <p:sp>
        <p:nvSpPr>
          <p:cNvPr id="31" name="文字方塊 30">
            <a:extLst>
              <a:ext uri="{FF2B5EF4-FFF2-40B4-BE49-F238E27FC236}">
                <a16:creationId xmlns:a16="http://schemas.microsoft.com/office/drawing/2014/main" id="{3708D01D-DCEF-48F8-EF7A-FBC79256BBE5}"/>
              </a:ext>
            </a:extLst>
          </p:cNvPr>
          <p:cNvSpPr txBox="1"/>
          <p:nvPr/>
        </p:nvSpPr>
        <p:spPr>
          <a:xfrm>
            <a:off x="2739552" y="2940391"/>
            <a:ext cx="3432647" cy="215444"/>
          </a:xfrm>
          <a:prstGeom prst="rect">
            <a:avLst/>
          </a:prstGeom>
          <a:solidFill>
            <a:schemeClr val="bg1"/>
          </a:solidFill>
        </p:spPr>
        <p:txBody>
          <a:bodyPr wrap="square">
            <a:spAutoFit/>
          </a:bodyPr>
          <a:lstStyle/>
          <a:p>
            <a:pPr lvl="0">
              <a:defRPr/>
            </a:pPr>
            <a:r>
              <a:rPr kumimoji="1" lang="en" altLang="zh-TW" sz="800">
                <a:solidFill>
                  <a:schemeClr val="bg1">
                    <a:lumMod val="65000"/>
                  </a:schemeClr>
                </a:solidFill>
              </a:rPr>
              <a:t>Industry Shopper Graph</a:t>
            </a:r>
          </a:p>
        </p:txBody>
      </p:sp>
      <p:sp>
        <p:nvSpPr>
          <p:cNvPr id="32" name="文字方塊 31">
            <a:extLst>
              <a:ext uri="{FF2B5EF4-FFF2-40B4-BE49-F238E27FC236}">
                <a16:creationId xmlns:a16="http://schemas.microsoft.com/office/drawing/2014/main" id="{845E619A-DFAC-790A-7EAE-4AB46AF232D4}"/>
              </a:ext>
            </a:extLst>
          </p:cNvPr>
          <p:cNvSpPr txBox="1"/>
          <p:nvPr/>
        </p:nvSpPr>
        <p:spPr>
          <a:xfrm>
            <a:off x="2746718" y="3247295"/>
            <a:ext cx="3432646" cy="261610"/>
          </a:xfrm>
          <a:prstGeom prst="rect">
            <a:avLst/>
          </a:prstGeom>
          <a:solidFill>
            <a:schemeClr val="bg1"/>
          </a:solid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zh-TW" sz="1100" kern="1200">
                <a:solidFill>
                  <a:srgbClr val="1C1E20"/>
                </a:solidFill>
                <a:latin typeface="+mn-lt"/>
                <a:ea typeface="+mn-ea"/>
                <a:cs typeface="+mn-cs"/>
              </a:rPr>
              <a:t>[</a:t>
            </a:r>
            <a:r>
              <a:rPr kumimoji="1" lang="zh-TW" altLang="en-US" sz="1100" kern="1200">
                <a:solidFill>
                  <a:srgbClr val="1C1E20"/>
                </a:solidFill>
                <a:latin typeface="+mn-lt"/>
                <a:ea typeface="+mn-ea"/>
                <a:cs typeface="+mn-cs"/>
              </a:rPr>
              <a:t>關鍵字</a:t>
            </a:r>
            <a:r>
              <a:rPr kumimoji="1" lang="en-US" altLang="zh-TW" sz="1100" kern="1200">
                <a:solidFill>
                  <a:srgbClr val="1C1E20"/>
                </a:solidFill>
                <a:latin typeface="+mn-lt"/>
                <a:ea typeface="+mn-ea"/>
                <a:cs typeface="+mn-cs"/>
              </a:rPr>
              <a:t>] </a:t>
            </a:r>
            <a:r>
              <a:rPr kumimoji="1" lang="zh-TW" altLang="en-US" sz="1100" kern="1200">
                <a:solidFill>
                  <a:srgbClr val="1C1E20"/>
                </a:solidFill>
                <a:latin typeface="+mn-lt"/>
                <a:ea typeface="+mn-ea"/>
                <a:cs typeface="+mn-cs"/>
              </a:rPr>
              <a:t>合利他命</a:t>
            </a:r>
            <a:r>
              <a:rPr kumimoji="1" lang="en" altLang="zh-TW" sz="1100" kern="1200">
                <a:solidFill>
                  <a:srgbClr val="1C1E20"/>
                </a:solidFill>
                <a:latin typeface="+mn-lt"/>
                <a:ea typeface="+mn-ea"/>
                <a:cs typeface="+mn-cs"/>
              </a:rPr>
              <a:t>EXPLUS 10</a:t>
            </a:r>
            <a:r>
              <a:rPr kumimoji="1" lang="zh-TW" altLang="en-US" sz="1100" kern="1200">
                <a:solidFill>
                  <a:srgbClr val="1C1E20"/>
                </a:solidFill>
                <a:latin typeface="+mn-lt"/>
                <a:ea typeface="+mn-ea"/>
                <a:cs typeface="+mn-cs"/>
              </a:rPr>
              <a:t>月</a:t>
            </a:r>
          </a:p>
        </p:txBody>
      </p:sp>
      <p:sp>
        <p:nvSpPr>
          <p:cNvPr id="33" name="文字方塊 32">
            <a:extLst>
              <a:ext uri="{FF2B5EF4-FFF2-40B4-BE49-F238E27FC236}">
                <a16:creationId xmlns:a16="http://schemas.microsoft.com/office/drawing/2014/main" id="{863CAEEE-B21D-12DD-DC7B-45AB2F1C01D3}"/>
              </a:ext>
            </a:extLst>
          </p:cNvPr>
          <p:cNvSpPr txBox="1"/>
          <p:nvPr/>
        </p:nvSpPr>
        <p:spPr>
          <a:xfrm>
            <a:off x="2753883" y="3456307"/>
            <a:ext cx="3432647" cy="215444"/>
          </a:xfrm>
          <a:prstGeom prst="rect">
            <a:avLst/>
          </a:prstGeom>
          <a:solidFill>
            <a:schemeClr val="bg1"/>
          </a:solidFill>
        </p:spPr>
        <p:txBody>
          <a:bodyPr wrap="square">
            <a:spAutoFit/>
          </a:bodyPr>
          <a:lstStyle/>
          <a:p>
            <a:pPr lvl="0">
              <a:defRPr/>
            </a:pPr>
            <a:r>
              <a:rPr kumimoji="1" lang="en" altLang="zh-TW" sz="800">
                <a:solidFill>
                  <a:schemeClr val="bg1">
                    <a:lumMod val="65000"/>
                  </a:schemeClr>
                </a:solidFill>
              </a:rPr>
              <a:t>Brand Keyword AI Exploration</a:t>
            </a:r>
          </a:p>
        </p:txBody>
      </p:sp>
      <p:sp>
        <p:nvSpPr>
          <p:cNvPr id="34" name="文字方塊 33">
            <a:extLst>
              <a:ext uri="{FF2B5EF4-FFF2-40B4-BE49-F238E27FC236}">
                <a16:creationId xmlns:a16="http://schemas.microsoft.com/office/drawing/2014/main" id="{D27225FB-F806-BEC1-BE91-3B2794C9739D}"/>
              </a:ext>
            </a:extLst>
          </p:cNvPr>
          <p:cNvSpPr txBox="1"/>
          <p:nvPr/>
        </p:nvSpPr>
        <p:spPr>
          <a:xfrm>
            <a:off x="2753883" y="3765643"/>
            <a:ext cx="3432646" cy="261610"/>
          </a:xfrm>
          <a:prstGeom prst="rect">
            <a:avLst/>
          </a:prstGeom>
          <a:solidFill>
            <a:schemeClr val="bg1"/>
          </a:solid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zh-TW" sz="1100" kern="1200">
                <a:solidFill>
                  <a:srgbClr val="1C1E20"/>
                </a:solidFill>
                <a:latin typeface="+mn-lt"/>
                <a:ea typeface="+mn-ea"/>
                <a:cs typeface="+mn-cs"/>
              </a:rPr>
              <a:t>[</a:t>
            </a:r>
            <a:r>
              <a:rPr kumimoji="1" lang="zh-TW" altLang="en-US" sz="1100" kern="1200">
                <a:solidFill>
                  <a:srgbClr val="1C1E20"/>
                </a:solidFill>
                <a:latin typeface="+mn-lt"/>
                <a:ea typeface="+mn-ea"/>
                <a:cs typeface="+mn-cs"/>
              </a:rPr>
              <a:t>關鍵字</a:t>
            </a:r>
            <a:r>
              <a:rPr kumimoji="1" lang="en-US" altLang="zh-TW" sz="1100" kern="1200">
                <a:solidFill>
                  <a:srgbClr val="1C1E20"/>
                </a:solidFill>
                <a:latin typeface="+mn-lt"/>
                <a:ea typeface="+mn-ea"/>
                <a:cs typeface="+mn-cs"/>
              </a:rPr>
              <a:t>] </a:t>
            </a:r>
            <a:r>
              <a:rPr kumimoji="1" lang="zh-TW" altLang="en-US" sz="1100" kern="1200">
                <a:solidFill>
                  <a:srgbClr val="1C1E20"/>
                </a:solidFill>
                <a:latin typeface="+mn-lt"/>
                <a:ea typeface="+mn-ea"/>
                <a:cs typeface="+mn-cs"/>
              </a:rPr>
              <a:t>合利他命</a:t>
            </a:r>
            <a:r>
              <a:rPr kumimoji="1" lang="en" altLang="zh-TW" sz="1100" kern="1200">
                <a:solidFill>
                  <a:srgbClr val="1C1E20"/>
                </a:solidFill>
                <a:latin typeface="+mn-lt"/>
                <a:ea typeface="+mn-ea"/>
                <a:cs typeface="+mn-cs"/>
              </a:rPr>
              <a:t>EXPLUS 10</a:t>
            </a:r>
            <a:r>
              <a:rPr kumimoji="1" lang="zh-TW" altLang="en-US" sz="1100" kern="1200">
                <a:solidFill>
                  <a:srgbClr val="1C1E20"/>
                </a:solidFill>
                <a:latin typeface="+mn-lt"/>
                <a:ea typeface="+mn-ea"/>
                <a:cs typeface="+mn-cs"/>
              </a:rPr>
              <a:t>月</a:t>
            </a:r>
          </a:p>
        </p:txBody>
      </p:sp>
      <p:sp>
        <p:nvSpPr>
          <p:cNvPr id="35" name="文字方塊 34">
            <a:extLst>
              <a:ext uri="{FF2B5EF4-FFF2-40B4-BE49-F238E27FC236}">
                <a16:creationId xmlns:a16="http://schemas.microsoft.com/office/drawing/2014/main" id="{E7B74AEF-0BC6-7388-E294-E00FA2D9CE47}"/>
              </a:ext>
            </a:extLst>
          </p:cNvPr>
          <p:cNvSpPr txBox="1"/>
          <p:nvPr/>
        </p:nvSpPr>
        <p:spPr>
          <a:xfrm>
            <a:off x="2761048" y="3974655"/>
            <a:ext cx="3432647" cy="215444"/>
          </a:xfrm>
          <a:prstGeom prst="rect">
            <a:avLst/>
          </a:prstGeom>
          <a:solidFill>
            <a:schemeClr val="bg1"/>
          </a:solidFill>
        </p:spPr>
        <p:txBody>
          <a:bodyPr wrap="square">
            <a:spAutoFit/>
          </a:bodyPr>
          <a:lstStyle/>
          <a:p>
            <a:pPr lvl="0">
              <a:defRPr/>
            </a:pPr>
            <a:r>
              <a:rPr kumimoji="1" lang="en" altLang="zh-TW" sz="800">
                <a:solidFill>
                  <a:schemeClr val="bg1">
                    <a:lumMod val="65000"/>
                  </a:schemeClr>
                </a:solidFill>
              </a:rPr>
              <a:t>Brand Keyword AI Exploration</a:t>
            </a:r>
          </a:p>
        </p:txBody>
      </p:sp>
      <p:sp>
        <p:nvSpPr>
          <p:cNvPr id="36" name="矩形 35">
            <a:extLst>
              <a:ext uri="{FF2B5EF4-FFF2-40B4-BE49-F238E27FC236}">
                <a16:creationId xmlns:a16="http://schemas.microsoft.com/office/drawing/2014/main" id="{9B52763E-B664-1598-F45C-2C4EEE2B634B}"/>
              </a:ext>
            </a:extLst>
          </p:cNvPr>
          <p:cNvSpPr/>
          <p:nvPr/>
        </p:nvSpPr>
        <p:spPr>
          <a:xfrm>
            <a:off x="6179364" y="1630448"/>
            <a:ext cx="68601" cy="620494"/>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pic>
        <p:nvPicPr>
          <p:cNvPr id="37" name="圖片 36" descr="一張含有 文字, 字型, 螢幕擷取畫面 的圖片&#10;&#10;AI 產生的內容可能不正確。">
            <a:extLst>
              <a:ext uri="{FF2B5EF4-FFF2-40B4-BE49-F238E27FC236}">
                <a16:creationId xmlns:a16="http://schemas.microsoft.com/office/drawing/2014/main" id="{630925FC-8C01-35D0-A558-069931CFB02C}"/>
              </a:ext>
            </a:extLst>
          </p:cNvPr>
          <p:cNvPicPr>
            <a:picLocks noChangeAspect="1"/>
          </p:cNvPicPr>
          <p:nvPr/>
        </p:nvPicPr>
        <p:blipFill>
          <a:blip r:embed="rId4"/>
          <a:stretch>
            <a:fillRect/>
          </a:stretch>
        </p:blipFill>
        <p:spPr>
          <a:xfrm>
            <a:off x="6287260" y="1307677"/>
            <a:ext cx="3728570" cy="1384897"/>
          </a:xfrm>
          <a:prstGeom prst="rect">
            <a:avLst/>
          </a:prstGeom>
        </p:spPr>
      </p:pic>
      <p:sp>
        <p:nvSpPr>
          <p:cNvPr id="38" name="矩形 37">
            <a:extLst>
              <a:ext uri="{FF2B5EF4-FFF2-40B4-BE49-F238E27FC236}">
                <a16:creationId xmlns:a16="http://schemas.microsoft.com/office/drawing/2014/main" id="{7E3C85CA-CBB9-5738-720B-0DA99A95BB77}"/>
              </a:ext>
            </a:extLst>
          </p:cNvPr>
          <p:cNvSpPr/>
          <p:nvPr/>
        </p:nvSpPr>
        <p:spPr>
          <a:xfrm>
            <a:off x="6287260" y="2680389"/>
            <a:ext cx="3744000" cy="352248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39" name="文字方塊 38">
            <a:extLst>
              <a:ext uri="{FF2B5EF4-FFF2-40B4-BE49-F238E27FC236}">
                <a16:creationId xmlns:a16="http://schemas.microsoft.com/office/drawing/2014/main" id="{2DCDD94D-6DCA-4F68-B7AA-2B94A0C4CEC7}"/>
              </a:ext>
            </a:extLst>
          </p:cNvPr>
          <p:cNvSpPr txBox="1"/>
          <p:nvPr/>
        </p:nvSpPr>
        <p:spPr>
          <a:xfrm>
            <a:off x="6524547" y="1678631"/>
            <a:ext cx="3432646" cy="261610"/>
          </a:xfrm>
          <a:prstGeom prst="rect">
            <a:avLst/>
          </a:prstGeom>
          <a:solidFill>
            <a:schemeClr val="bg1"/>
          </a:solidFill>
        </p:spPr>
        <p:txBody>
          <a:bodyPr wrap="square">
            <a:spAutoFit/>
          </a:bodyPr>
          <a:lstStyle/>
          <a:p>
            <a:pPr lvl="0">
              <a:defRPr/>
            </a:pPr>
            <a:r>
              <a:rPr kumimoji="1" lang="en-US" altLang="zh-TW" sz="1100">
                <a:solidFill>
                  <a:srgbClr val="2993FF"/>
                </a:solidFill>
              </a:rPr>
              <a:t>[</a:t>
            </a:r>
            <a:r>
              <a:rPr kumimoji="1" lang="zh-TW" altLang="en-US" sz="1100">
                <a:solidFill>
                  <a:srgbClr val="2993FF"/>
                </a:solidFill>
              </a:rPr>
              <a:t>線下</a:t>
            </a:r>
            <a:r>
              <a:rPr kumimoji="1" lang="en" altLang="zh-TW" sz="1100">
                <a:solidFill>
                  <a:srgbClr val="2993FF"/>
                </a:solidFill>
              </a:rPr>
              <a:t>POI] </a:t>
            </a:r>
            <a:r>
              <a:rPr kumimoji="1" lang="zh-TW" altLang="en-US" sz="1100">
                <a:solidFill>
                  <a:srgbClr val="2993FF"/>
                </a:solidFill>
              </a:rPr>
              <a:t>合利他命</a:t>
            </a:r>
            <a:r>
              <a:rPr kumimoji="1" lang="en" altLang="zh-TW" sz="1100">
                <a:solidFill>
                  <a:srgbClr val="2993FF"/>
                </a:solidFill>
              </a:rPr>
              <a:t>EXPLUS 10</a:t>
            </a:r>
            <a:r>
              <a:rPr kumimoji="1" lang="zh-TW" altLang="en-US" sz="1100">
                <a:solidFill>
                  <a:srgbClr val="2993FF"/>
                </a:solidFill>
              </a:rPr>
              <a:t>月</a:t>
            </a:r>
          </a:p>
        </p:txBody>
      </p:sp>
      <p:sp>
        <p:nvSpPr>
          <p:cNvPr id="40" name="文字方塊 39">
            <a:extLst>
              <a:ext uri="{FF2B5EF4-FFF2-40B4-BE49-F238E27FC236}">
                <a16:creationId xmlns:a16="http://schemas.microsoft.com/office/drawing/2014/main" id="{6AAA89E8-0D78-1C01-A30B-A1D4048D258F}"/>
              </a:ext>
            </a:extLst>
          </p:cNvPr>
          <p:cNvSpPr txBox="1"/>
          <p:nvPr/>
        </p:nvSpPr>
        <p:spPr>
          <a:xfrm>
            <a:off x="6524546" y="1881795"/>
            <a:ext cx="3432647" cy="215444"/>
          </a:xfrm>
          <a:prstGeom prst="rect">
            <a:avLst/>
          </a:prstGeom>
          <a:solidFill>
            <a:schemeClr val="bg1"/>
          </a:solidFill>
        </p:spPr>
        <p:txBody>
          <a:bodyPr wrap="square">
            <a:spAutoFit/>
          </a:bodyPr>
          <a:lstStyle/>
          <a:p>
            <a:pPr lvl="0">
              <a:defRPr/>
            </a:pPr>
            <a:r>
              <a:rPr kumimoji="1" lang="en" altLang="zh-TW" sz="800">
                <a:solidFill>
                  <a:schemeClr val="bg1">
                    <a:lumMod val="65000"/>
                  </a:schemeClr>
                </a:solidFill>
              </a:rPr>
              <a:t>Offline Point of Interest (POI)</a:t>
            </a:r>
          </a:p>
        </p:txBody>
      </p:sp>
      <p:pic>
        <p:nvPicPr>
          <p:cNvPr id="41" name="圖片 40">
            <a:extLst>
              <a:ext uri="{FF2B5EF4-FFF2-40B4-BE49-F238E27FC236}">
                <a16:creationId xmlns:a16="http://schemas.microsoft.com/office/drawing/2014/main" id="{CD325229-6BBF-ED2C-22FD-E1B6E20239DD}"/>
              </a:ext>
            </a:extLst>
          </p:cNvPr>
          <p:cNvPicPr>
            <a:picLocks noChangeAspect="1"/>
          </p:cNvPicPr>
          <p:nvPr/>
        </p:nvPicPr>
        <p:blipFill>
          <a:blip r:embed="rId5"/>
          <a:stretch>
            <a:fillRect/>
          </a:stretch>
        </p:blipFill>
        <p:spPr>
          <a:xfrm>
            <a:off x="7897154" y="1900710"/>
            <a:ext cx="184348" cy="184348"/>
          </a:xfrm>
          <a:prstGeom prst="rect">
            <a:avLst/>
          </a:prstGeom>
        </p:spPr>
      </p:pic>
      <p:sp>
        <p:nvSpPr>
          <p:cNvPr id="42" name="文字方塊 41">
            <a:extLst>
              <a:ext uri="{FF2B5EF4-FFF2-40B4-BE49-F238E27FC236}">
                <a16:creationId xmlns:a16="http://schemas.microsoft.com/office/drawing/2014/main" id="{719840C1-F55B-34E6-3745-F7A4217B7A4F}"/>
              </a:ext>
            </a:extLst>
          </p:cNvPr>
          <p:cNvSpPr txBox="1"/>
          <p:nvPr/>
        </p:nvSpPr>
        <p:spPr>
          <a:xfrm>
            <a:off x="6517381" y="2204776"/>
            <a:ext cx="3432646" cy="261610"/>
          </a:xfrm>
          <a:prstGeom prst="rect">
            <a:avLst/>
          </a:prstGeom>
          <a:solidFill>
            <a:schemeClr val="bg1"/>
          </a:solidFill>
        </p:spPr>
        <p:txBody>
          <a:bodyPr wrap="square">
            <a:spAutoFit/>
          </a:bodyPr>
          <a:lstStyle/>
          <a:p>
            <a:pPr lvl="0">
              <a:defRPr/>
            </a:pPr>
            <a:r>
              <a:rPr kumimoji="1" lang="en" altLang="zh-TW" sz="1100">
                <a:solidFill>
                  <a:srgbClr val="2993FF"/>
                </a:solidFill>
              </a:rPr>
              <a:t>[Webb</a:t>
            </a:r>
            <a:r>
              <a:rPr kumimoji="1" lang="zh-TW" altLang="en-US" sz="1100">
                <a:solidFill>
                  <a:srgbClr val="2993FF"/>
                </a:solidFill>
              </a:rPr>
              <a:t>零售數據</a:t>
            </a:r>
            <a:r>
              <a:rPr kumimoji="1" lang="en-US" altLang="zh-TW" sz="1100">
                <a:solidFill>
                  <a:srgbClr val="2993FF"/>
                </a:solidFill>
              </a:rPr>
              <a:t>-</a:t>
            </a:r>
            <a:r>
              <a:rPr kumimoji="1" lang="zh-TW" altLang="en-US" sz="1100">
                <a:solidFill>
                  <a:srgbClr val="2993FF"/>
                </a:solidFill>
              </a:rPr>
              <a:t>購買</a:t>
            </a:r>
            <a:r>
              <a:rPr kumimoji="1" lang="en-US" altLang="zh-TW" sz="1100">
                <a:solidFill>
                  <a:srgbClr val="2993FF"/>
                </a:solidFill>
              </a:rPr>
              <a:t>] </a:t>
            </a:r>
            <a:r>
              <a:rPr kumimoji="1" lang="zh-TW" altLang="en-US" sz="1100">
                <a:solidFill>
                  <a:srgbClr val="2993FF"/>
                </a:solidFill>
              </a:rPr>
              <a:t>合利他命</a:t>
            </a:r>
            <a:r>
              <a:rPr kumimoji="1" lang="en" altLang="zh-TW" sz="1100">
                <a:solidFill>
                  <a:srgbClr val="2993FF"/>
                </a:solidFill>
              </a:rPr>
              <a:t>EXPLUS 10</a:t>
            </a:r>
            <a:r>
              <a:rPr kumimoji="1" lang="zh-TW" altLang="en-US" sz="1100">
                <a:solidFill>
                  <a:srgbClr val="2993FF"/>
                </a:solidFill>
              </a:rPr>
              <a:t>月</a:t>
            </a:r>
          </a:p>
        </p:txBody>
      </p:sp>
      <p:sp>
        <p:nvSpPr>
          <p:cNvPr id="43" name="文字方塊 42">
            <a:extLst>
              <a:ext uri="{FF2B5EF4-FFF2-40B4-BE49-F238E27FC236}">
                <a16:creationId xmlns:a16="http://schemas.microsoft.com/office/drawing/2014/main" id="{57D76CE3-8849-5E56-DC10-492A25E7B6C0}"/>
              </a:ext>
            </a:extLst>
          </p:cNvPr>
          <p:cNvSpPr txBox="1"/>
          <p:nvPr/>
        </p:nvSpPr>
        <p:spPr>
          <a:xfrm>
            <a:off x="6524546" y="2413788"/>
            <a:ext cx="3432647" cy="215444"/>
          </a:xfrm>
          <a:prstGeom prst="rect">
            <a:avLst/>
          </a:prstGeom>
          <a:solidFill>
            <a:schemeClr val="bg1"/>
          </a:solidFill>
        </p:spPr>
        <p:txBody>
          <a:bodyPr wrap="square">
            <a:spAutoFit/>
          </a:bodyPr>
          <a:lstStyle/>
          <a:p>
            <a:pPr fontAlgn="base"/>
            <a:r>
              <a:rPr kumimoji="1" lang="en" altLang="zh-TW" sz="800">
                <a:solidFill>
                  <a:schemeClr val="bg1">
                    <a:lumMod val="65000"/>
                  </a:schemeClr>
                </a:solidFill>
              </a:rPr>
              <a:t>Webb Retail Data (Purchase)</a:t>
            </a:r>
          </a:p>
        </p:txBody>
      </p:sp>
      <p:sp>
        <p:nvSpPr>
          <p:cNvPr id="44" name="矩形 43">
            <a:extLst>
              <a:ext uri="{FF2B5EF4-FFF2-40B4-BE49-F238E27FC236}">
                <a16:creationId xmlns:a16="http://schemas.microsoft.com/office/drawing/2014/main" id="{BEF97382-DFDC-A9A0-8442-03C10A48F9EB}"/>
              </a:ext>
            </a:extLst>
          </p:cNvPr>
          <p:cNvSpPr/>
          <p:nvPr/>
        </p:nvSpPr>
        <p:spPr>
          <a:xfrm>
            <a:off x="2503965" y="2143405"/>
            <a:ext cx="3744000" cy="4078016"/>
          </a:xfrm>
          <a:prstGeom prst="rect">
            <a:avLst/>
          </a:prstGeom>
          <a:solidFill>
            <a:srgbClr val="F5F8F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pic>
        <p:nvPicPr>
          <p:cNvPr id="5" name="圖片 4" descr="一張含有 寫生, 設計, 工具 的圖片&#10;&#10;AI 產生的內容可能不正確。">
            <a:extLst>
              <a:ext uri="{FF2B5EF4-FFF2-40B4-BE49-F238E27FC236}">
                <a16:creationId xmlns:a16="http://schemas.microsoft.com/office/drawing/2014/main" id="{5C03181A-7B28-2CA0-1CAB-2703E845F8CB}"/>
              </a:ext>
            </a:extLst>
          </p:cNvPr>
          <p:cNvPicPr>
            <a:picLocks noChangeAspect="1"/>
          </p:cNvPicPr>
          <p:nvPr/>
        </p:nvPicPr>
        <p:blipFill>
          <a:blip r:embed="rId6"/>
          <a:stretch>
            <a:fillRect/>
          </a:stretch>
        </p:blipFill>
        <p:spPr>
          <a:xfrm>
            <a:off x="4999571" y="316046"/>
            <a:ext cx="355600" cy="330200"/>
          </a:xfrm>
          <a:prstGeom prst="rect">
            <a:avLst/>
          </a:prstGeom>
        </p:spPr>
      </p:pic>
      <p:pic>
        <p:nvPicPr>
          <p:cNvPr id="7" name="圖片 6">
            <a:extLst>
              <a:ext uri="{FF2B5EF4-FFF2-40B4-BE49-F238E27FC236}">
                <a16:creationId xmlns:a16="http://schemas.microsoft.com/office/drawing/2014/main" id="{89F56CE5-6923-E077-1B4C-32928D740449}"/>
              </a:ext>
            </a:extLst>
          </p:cNvPr>
          <p:cNvPicPr>
            <a:picLocks noChangeAspect="1"/>
          </p:cNvPicPr>
          <p:nvPr/>
        </p:nvPicPr>
        <p:blipFill>
          <a:blip r:embed="rId7"/>
          <a:stretch>
            <a:fillRect/>
          </a:stretch>
        </p:blipFill>
        <p:spPr>
          <a:xfrm flipH="1">
            <a:off x="7881314" y="2392968"/>
            <a:ext cx="254609" cy="254609"/>
          </a:xfrm>
          <a:prstGeom prst="rect">
            <a:avLst/>
          </a:prstGeom>
        </p:spPr>
      </p:pic>
      <p:pic>
        <p:nvPicPr>
          <p:cNvPr id="2" name="圖片 1" descr="一張含有 電子藍, 字型, 文字, 標誌 的圖片&#10;&#10;AI 產生的內容可能不正確。">
            <a:extLst>
              <a:ext uri="{FF2B5EF4-FFF2-40B4-BE49-F238E27FC236}">
                <a16:creationId xmlns:a16="http://schemas.microsoft.com/office/drawing/2014/main" id="{B9457F86-4C72-CF96-4D90-51FEADC74622}"/>
              </a:ext>
            </a:extLst>
          </p:cNvPr>
          <p:cNvPicPr>
            <a:picLocks noChangeAspect="1"/>
          </p:cNvPicPr>
          <p:nvPr/>
        </p:nvPicPr>
        <p:blipFill>
          <a:blip r:embed="rId8"/>
          <a:stretch>
            <a:fillRect/>
          </a:stretch>
        </p:blipFill>
        <p:spPr>
          <a:xfrm>
            <a:off x="5555027" y="219714"/>
            <a:ext cx="863600" cy="469900"/>
          </a:xfrm>
          <a:prstGeom prst="rect">
            <a:avLst/>
          </a:prstGeom>
        </p:spPr>
      </p:pic>
      <p:sp>
        <p:nvSpPr>
          <p:cNvPr id="6" name="矩形 5">
            <a:extLst>
              <a:ext uri="{FF2B5EF4-FFF2-40B4-BE49-F238E27FC236}">
                <a16:creationId xmlns:a16="http://schemas.microsoft.com/office/drawing/2014/main" id="{8F7CE838-D93C-DEAF-7528-870D2F818E58}"/>
              </a:ext>
            </a:extLst>
          </p:cNvPr>
          <p:cNvSpPr/>
          <p:nvPr/>
        </p:nvSpPr>
        <p:spPr>
          <a:xfrm>
            <a:off x="2342899" y="636165"/>
            <a:ext cx="7772400" cy="6146800"/>
          </a:xfrm>
          <a:prstGeom prst="rect">
            <a:avLst/>
          </a:prstGeom>
          <a:solidFill>
            <a:schemeClr val="tx1">
              <a:lumMod val="65000"/>
              <a:lumOff val="35000"/>
              <a:alpha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8" name="圓角矩形 7">
            <a:extLst>
              <a:ext uri="{FF2B5EF4-FFF2-40B4-BE49-F238E27FC236}">
                <a16:creationId xmlns:a16="http://schemas.microsoft.com/office/drawing/2014/main" id="{4BF6D2CA-CD27-EDBD-1F9D-C2632D618BEC}"/>
              </a:ext>
            </a:extLst>
          </p:cNvPr>
          <p:cNvSpPr/>
          <p:nvPr/>
        </p:nvSpPr>
        <p:spPr>
          <a:xfrm>
            <a:off x="3822700" y="2970308"/>
            <a:ext cx="4876800" cy="1652058"/>
          </a:xfrm>
          <a:prstGeom prst="roundRect">
            <a:avLst>
              <a:gd name="adj" fmla="val 3694"/>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kumimoji="1" lang="zh-TW" altLang="en-US">
              <a:solidFill>
                <a:schemeClr val="bg1">
                  <a:lumMod val="50000"/>
                </a:schemeClr>
              </a:solidFill>
            </a:endParaRPr>
          </a:p>
        </p:txBody>
      </p:sp>
      <p:pic>
        <p:nvPicPr>
          <p:cNvPr id="9" name="圖片 8">
            <a:extLst>
              <a:ext uri="{FF2B5EF4-FFF2-40B4-BE49-F238E27FC236}">
                <a16:creationId xmlns:a16="http://schemas.microsoft.com/office/drawing/2014/main" id="{E05EB77D-5125-8F48-D6CB-151FA8F25B60}"/>
              </a:ext>
            </a:extLst>
          </p:cNvPr>
          <p:cNvPicPr>
            <a:picLocks noChangeAspect="1"/>
          </p:cNvPicPr>
          <p:nvPr/>
        </p:nvPicPr>
        <p:blipFill>
          <a:blip r:embed="rId9"/>
          <a:stretch>
            <a:fillRect/>
          </a:stretch>
        </p:blipFill>
        <p:spPr>
          <a:xfrm>
            <a:off x="8286750" y="3071909"/>
            <a:ext cx="317500" cy="254000"/>
          </a:xfrm>
          <a:prstGeom prst="rect">
            <a:avLst/>
          </a:prstGeom>
        </p:spPr>
      </p:pic>
      <p:sp>
        <p:nvSpPr>
          <p:cNvPr id="10" name="文字方塊 9">
            <a:extLst>
              <a:ext uri="{FF2B5EF4-FFF2-40B4-BE49-F238E27FC236}">
                <a16:creationId xmlns:a16="http://schemas.microsoft.com/office/drawing/2014/main" id="{56413522-EA6D-B837-D8D5-33D42CBC0272}"/>
              </a:ext>
            </a:extLst>
          </p:cNvPr>
          <p:cNvSpPr txBox="1"/>
          <p:nvPr/>
        </p:nvSpPr>
        <p:spPr>
          <a:xfrm>
            <a:off x="3901242" y="3262409"/>
            <a:ext cx="4480758" cy="830997"/>
          </a:xfrm>
          <a:prstGeom prst="rect">
            <a:avLst/>
          </a:prstGeom>
          <a:noFill/>
        </p:spPr>
        <p:txBody>
          <a:bodyPr wrap="square">
            <a:spAutoFit/>
          </a:bodyPr>
          <a:lstStyle/>
          <a:p>
            <a:r>
              <a:rPr lang="en" altLang="zh-TW" sz="1200" dirty="0"/>
              <a:t>The selected audience pack list contains expired audience pack(s). Please click Cancel to update the audience pack settings, or click OK to save and the system will automatically remove expired audience pack(s).﻿</a:t>
            </a:r>
            <a:endParaRPr kumimoji="1" lang="zh-TW" altLang="en-US" sz="1200" dirty="0"/>
          </a:p>
        </p:txBody>
      </p:sp>
      <p:sp>
        <p:nvSpPr>
          <p:cNvPr id="17" name="圓角矩形 16">
            <a:extLst>
              <a:ext uri="{FF2B5EF4-FFF2-40B4-BE49-F238E27FC236}">
                <a16:creationId xmlns:a16="http://schemas.microsoft.com/office/drawing/2014/main" id="{FBB1EF68-57B2-6102-5C32-DDA69F9EB80B}"/>
              </a:ext>
            </a:extLst>
          </p:cNvPr>
          <p:cNvSpPr/>
          <p:nvPr/>
        </p:nvSpPr>
        <p:spPr>
          <a:xfrm>
            <a:off x="7491199" y="4167857"/>
            <a:ext cx="1115746" cy="342000"/>
          </a:xfrm>
          <a:prstGeom prst="roundRect">
            <a:avLst>
              <a:gd name="adj" fmla="val 9260"/>
            </a:avLst>
          </a:prstGeom>
          <a:solidFill>
            <a:srgbClr val="2993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TW" sz="1400" dirty="0"/>
              <a:t>OK</a:t>
            </a:r>
            <a:endParaRPr kumimoji="1" lang="zh-TW" altLang="en-US" sz="1400" dirty="0"/>
          </a:p>
        </p:txBody>
      </p:sp>
      <p:sp>
        <p:nvSpPr>
          <p:cNvPr id="18" name="圓角矩形 17">
            <a:extLst>
              <a:ext uri="{FF2B5EF4-FFF2-40B4-BE49-F238E27FC236}">
                <a16:creationId xmlns:a16="http://schemas.microsoft.com/office/drawing/2014/main" id="{2194BE19-9B55-C4C5-CFEF-A27802E124FC}"/>
              </a:ext>
            </a:extLst>
          </p:cNvPr>
          <p:cNvSpPr/>
          <p:nvPr/>
        </p:nvSpPr>
        <p:spPr>
          <a:xfrm>
            <a:off x="6232990" y="4168388"/>
            <a:ext cx="1116000" cy="342900"/>
          </a:xfrm>
          <a:prstGeom prst="roundRect">
            <a:avLst>
              <a:gd name="adj" fmla="val 9260"/>
            </a:avLst>
          </a:prstGeom>
          <a:solidFill>
            <a:schemeClr val="bg1"/>
          </a:solidFill>
          <a:ln w="6350">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TW" sz="1400" dirty="0">
                <a:solidFill>
                  <a:schemeClr val="bg1">
                    <a:lumMod val="50000"/>
                  </a:schemeClr>
                </a:solidFill>
              </a:rPr>
              <a:t>Cancel</a:t>
            </a:r>
            <a:endParaRPr kumimoji="1" lang="zh-TW" altLang="en-US" sz="1400" dirty="0">
              <a:solidFill>
                <a:schemeClr val="bg1">
                  <a:lumMod val="50000"/>
                </a:schemeClr>
              </a:solidFill>
            </a:endParaRPr>
          </a:p>
        </p:txBody>
      </p:sp>
    </p:spTree>
    <p:extLst>
      <p:ext uri="{BB962C8B-B14F-4D97-AF65-F5344CB8AC3E}">
        <p14:creationId xmlns:p14="http://schemas.microsoft.com/office/powerpoint/2010/main" val="57522190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圖片 3" descr="一張含有 文字, 數字, 字型, 螢幕擷取畫面 的圖片&#10;&#10;AI 產生的內容可能不正確。">
            <a:extLst>
              <a:ext uri="{FF2B5EF4-FFF2-40B4-BE49-F238E27FC236}">
                <a16:creationId xmlns:a16="http://schemas.microsoft.com/office/drawing/2014/main" id="{09D42ECD-6CE0-3006-91F6-83253A7EEA14}"/>
              </a:ext>
            </a:extLst>
          </p:cNvPr>
          <p:cNvPicPr>
            <a:picLocks noChangeAspect="1"/>
          </p:cNvPicPr>
          <p:nvPr/>
        </p:nvPicPr>
        <p:blipFill>
          <a:blip r:embed="rId2"/>
          <a:srcRect b="29706"/>
          <a:stretch>
            <a:fillRect/>
          </a:stretch>
        </p:blipFill>
        <p:spPr>
          <a:xfrm>
            <a:off x="930954" y="1165541"/>
            <a:ext cx="10330092" cy="4526918"/>
          </a:xfrm>
          <a:prstGeom prst="rect">
            <a:avLst/>
          </a:prstGeom>
        </p:spPr>
      </p:pic>
      <p:sp>
        <p:nvSpPr>
          <p:cNvPr id="5" name="文字方塊 4">
            <a:extLst>
              <a:ext uri="{FF2B5EF4-FFF2-40B4-BE49-F238E27FC236}">
                <a16:creationId xmlns:a16="http://schemas.microsoft.com/office/drawing/2014/main" id="{1EB75BB5-4431-FD22-3D7F-746522C97737}"/>
              </a:ext>
            </a:extLst>
          </p:cNvPr>
          <p:cNvSpPr txBox="1"/>
          <p:nvPr/>
        </p:nvSpPr>
        <p:spPr>
          <a:xfrm>
            <a:off x="1357912" y="2178928"/>
            <a:ext cx="1993900" cy="307777"/>
          </a:xfrm>
          <a:prstGeom prst="rect">
            <a:avLst/>
          </a:prstGeom>
          <a:solidFill>
            <a:schemeClr val="bg1"/>
          </a:solidFill>
        </p:spPr>
        <p:txBody>
          <a:bodyPr wrap="square" rtlCol="0">
            <a:spAutoFit/>
          </a:bodyPr>
          <a:lstStyle/>
          <a:p>
            <a:r>
              <a:rPr kumimoji="1" lang="en-US" altLang="zh-TW" sz="1400">
                <a:solidFill>
                  <a:srgbClr val="1C1E20"/>
                </a:solidFill>
              </a:rPr>
              <a:t>Custom Audience</a:t>
            </a:r>
            <a:endParaRPr kumimoji="1" lang="zh-TW" altLang="en-US" sz="1400">
              <a:solidFill>
                <a:srgbClr val="1C1E20"/>
              </a:solidFill>
            </a:endParaRPr>
          </a:p>
        </p:txBody>
      </p:sp>
      <p:sp>
        <p:nvSpPr>
          <p:cNvPr id="6" name="文字方塊 5">
            <a:extLst>
              <a:ext uri="{FF2B5EF4-FFF2-40B4-BE49-F238E27FC236}">
                <a16:creationId xmlns:a16="http://schemas.microsoft.com/office/drawing/2014/main" id="{10C25682-EBAD-3611-3D4F-E53AB489CEF3}"/>
              </a:ext>
            </a:extLst>
          </p:cNvPr>
          <p:cNvSpPr txBox="1"/>
          <p:nvPr/>
        </p:nvSpPr>
        <p:spPr>
          <a:xfrm>
            <a:off x="1357912" y="4882539"/>
            <a:ext cx="1993900" cy="307777"/>
          </a:xfrm>
          <a:prstGeom prst="rect">
            <a:avLst/>
          </a:prstGeom>
          <a:solidFill>
            <a:schemeClr val="bg1"/>
          </a:solidFill>
        </p:spPr>
        <p:txBody>
          <a:bodyPr wrap="square" rtlCol="0">
            <a:spAutoFit/>
          </a:bodyPr>
          <a:lstStyle/>
          <a:p>
            <a:r>
              <a:rPr kumimoji="1" lang="en-US" altLang="zh-TW" sz="1400">
                <a:solidFill>
                  <a:srgbClr val="1C1E20"/>
                </a:solidFill>
              </a:rPr>
              <a:t>Campaign Audience</a:t>
            </a:r>
            <a:endParaRPr kumimoji="1" lang="zh-TW" altLang="en-US" sz="1400">
              <a:solidFill>
                <a:srgbClr val="1C1E20"/>
              </a:solidFill>
            </a:endParaRPr>
          </a:p>
        </p:txBody>
      </p:sp>
      <p:sp>
        <p:nvSpPr>
          <p:cNvPr id="7" name="矩形 6">
            <a:extLst>
              <a:ext uri="{FF2B5EF4-FFF2-40B4-BE49-F238E27FC236}">
                <a16:creationId xmlns:a16="http://schemas.microsoft.com/office/drawing/2014/main" id="{C8267753-4B40-6426-5C75-DE220F1DD5A3}"/>
              </a:ext>
            </a:extLst>
          </p:cNvPr>
          <p:cNvSpPr/>
          <p:nvPr/>
        </p:nvSpPr>
        <p:spPr>
          <a:xfrm>
            <a:off x="1231899" y="5557176"/>
            <a:ext cx="9732433" cy="348324"/>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8" name="文字方塊 7">
            <a:extLst>
              <a:ext uri="{FF2B5EF4-FFF2-40B4-BE49-F238E27FC236}">
                <a16:creationId xmlns:a16="http://schemas.microsoft.com/office/drawing/2014/main" id="{7B1977A0-AEE0-965E-6A1E-6E29C1F64171}"/>
              </a:ext>
            </a:extLst>
          </p:cNvPr>
          <p:cNvSpPr txBox="1"/>
          <p:nvPr/>
        </p:nvSpPr>
        <p:spPr>
          <a:xfrm>
            <a:off x="1357912" y="5329833"/>
            <a:ext cx="1993900" cy="307777"/>
          </a:xfrm>
          <a:prstGeom prst="rect">
            <a:avLst/>
          </a:prstGeom>
          <a:solidFill>
            <a:schemeClr val="bg1"/>
          </a:solidFill>
        </p:spPr>
        <p:txBody>
          <a:bodyPr wrap="square" rtlCol="0">
            <a:spAutoFit/>
          </a:bodyPr>
          <a:lstStyle/>
          <a:p>
            <a:r>
              <a:rPr kumimoji="1" lang="en-US" altLang="zh-TW" sz="1400">
                <a:solidFill>
                  <a:srgbClr val="1C1E20"/>
                </a:solidFill>
              </a:rPr>
              <a:t>Web Traffic Audience</a:t>
            </a:r>
            <a:endParaRPr kumimoji="1" lang="zh-TW" altLang="en-US" sz="1400">
              <a:solidFill>
                <a:srgbClr val="1C1E20"/>
              </a:solidFill>
            </a:endParaRPr>
          </a:p>
        </p:txBody>
      </p:sp>
      <p:sp>
        <p:nvSpPr>
          <p:cNvPr id="9" name="文字方塊 8">
            <a:extLst>
              <a:ext uri="{FF2B5EF4-FFF2-40B4-BE49-F238E27FC236}">
                <a16:creationId xmlns:a16="http://schemas.microsoft.com/office/drawing/2014/main" id="{B6E0DA8B-AC2B-B22A-90F2-105851F7176B}"/>
              </a:ext>
            </a:extLst>
          </p:cNvPr>
          <p:cNvSpPr txBox="1"/>
          <p:nvPr/>
        </p:nvSpPr>
        <p:spPr>
          <a:xfrm>
            <a:off x="4456712" y="2178928"/>
            <a:ext cx="3658588" cy="461665"/>
          </a:xfrm>
          <a:prstGeom prst="rect">
            <a:avLst/>
          </a:prstGeom>
          <a:solidFill>
            <a:schemeClr val="bg1"/>
          </a:solidFill>
        </p:spPr>
        <p:txBody>
          <a:bodyPr wrap="square" rtlCol="0">
            <a:spAutoFit/>
          </a:bodyPr>
          <a:lstStyle/>
          <a:p>
            <a:pPr lvl="0">
              <a:defRPr/>
            </a:pPr>
            <a:r>
              <a:rPr kumimoji="1" lang="en-US" altLang="zh-TW" sz="1200" dirty="0">
                <a:solidFill>
                  <a:srgbClr val="4E4E4E"/>
                </a:solidFill>
              </a:rPr>
              <a:t>[</a:t>
            </a:r>
            <a:r>
              <a:rPr kumimoji="1" lang="zh-TW" altLang="en-US" sz="1200" dirty="0">
                <a:solidFill>
                  <a:srgbClr val="4E4E4E"/>
                </a:solidFill>
              </a:rPr>
              <a:t>線下</a:t>
            </a:r>
            <a:r>
              <a:rPr kumimoji="1" lang="en" altLang="zh-TW" sz="1200" dirty="0">
                <a:solidFill>
                  <a:srgbClr val="4E4E4E"/>
                </a:solidFill>
              </a:rPr>
              <a:t>POI] </a:t>
            </a:r>
            <a:r>
              <a:rPr kumimoji="1" lang="zh-TW" altLang="en-US" sz="1200" dirty="0">
                <a:solidFill>
                  <a:srgbClr val="4E4E4E"/>
                </a:solidFill>
              </a:rPr>
              <a:t>合利他命</a:t>
            </a:r>
            <a:r>
              <a:rPr kumimoji="1" lang="en" altLang="zh-TW" sz="1200" dirty="0">
                <a:solidFill>
                  <a:srgbClr val="4E4E4E"/>
                </a:solidFill>
              </a:rPr>
              <a:t>EXPLUS 10</a:t>
            </a:r>
            <a:r>
              <a:rPr kumimoji="1" lang="zh-TW" altLang="en-US" sz="1200" dirty="0">
                <a:solidFill>
                  <a:srgbClr val="4E4E4E"/>
                </a:solidFill>
              </a:rPr>
              <a:t>月</a:t>
            </a:r>
            <a:endParaRPr kumimoji="1" lang="en-US" altLang="zh-TW" sz="1200" dirty="0">
              <a:solidFill>
                <a:srgbClr val="4E4E4E"/>
              </a:solidFill>
            </a:endParaRPr>
          </a:p>
          <a:p>
            <a:pPr lvl="0">
              <a:defRPr/>
            </a:pPr>
            <a:endParaRPr kumimoji="1" lang="en-US" altLang="zh-TW" sz="1200" dirty="0">
              <a:solidFill>
                <a:srgbClr val="4E4E4E"/>
              </a:solidFill>
            </a:endParaRPr>
          </a:p>
        </p:txBody>
      </p:sp>
      <p:pic>
        <p:nvPicPr>
          <p:cNvPr id="10" name="圖片 9">
            <a:extLst>
              <a:ext uri="{FF2B5EF4-FFF2-40B4-BE49-F238E27FC236}">
                <a16:creationId xmlns:a16="http://schemas.microsoft.com/office/drawing/2014/main" id="{92391F10-A152-2BA1-AF8A-F0BA48637C4C}"/>
              </a:ext>
            </a:extLst>
          </p:cNvPr>
          <p:cNvPicPr>
            <a:picLocks noChangeAspect="1"/>
          </p:cNvPicPr>
          <p:nvPr/>
        </p:nvPicPr>
        <p:blipFill>
          <a:blip r:embed="rId3"/>
          <a:stretch>
            <a:fillRect/>
          </a:stretch>
        </p:blipFill>
        <p:spPr>
          <a:xfrm>
            <a:off x="6692594" y="2192581"/>
            <a:ext cx="251999" cy="251999"/>
          </a:xfrm>
          <a:prstGeom prst="rect">
            <a:avLst/>
          </a:prstGeom>
        </p:spPr>
      </p:pic>
      <p:pic>
        <p:nvPicPr>
          <p:cNvPr id="17" name="圖片 16">
            <a:extLst>
              <a:ext uri="{FF2B5EF4-FFF2-40B4-BE49-F238E27FC236}">
                <a16:creationId xmlns:a16="http://schemas.microsoft.com/office/drawing/2014/main" id="{243306B0-9398-CDFD-580B-3315C4372D7A}"/>
              </a:ext>
            </a:extLst>
          </p:cNvPr>
          <p:cNvPicPr>
            <a:picLocks noChangeAspect="1"/>
          </p:cNvPicPr>
          <p:nvPr/>
        </p:nvPicPr>
        <p:blipFill>
          <a:blip r:embed="rId4"/>
          <a:stretch>
            <a:fillRect/>
          </a:stretch>
        </p:blipFill>
        <p:spPr>
          <a:xfrm>
            <a:off x="10253124" y="5409583"/>
            <a:ext cx="358168" cy="343842"/>
          </a:xfrm>
          <a:prstGeom prst="rect">
            <a:avLst/>
          </a:prstGeom>
        </p:spPr>
      </p:pic>
      <p:pic>
        <p:nvPicPr>
          <p:cNvPr id="12" name="圖片 11" descr="一張含有 字型, 文字, 電子藍, 標誌 的圖片&#10;&#10;AI 產生的內容可能不正確。">
            <a:extLst>
              <a:ext uri="{FF2B5EF4-FFF2-40B4-BE49-F238E27FC236}">
                <a16:creationId xmlns:a16="http://schemas.microsoft.com/office/drawing/2014/main" id="{DB43992E-9C43-631C-5D14-B9F057801480}"/>
              </a:ext>
            </a:extLst>
          </p:cNvPr>
          <p:cNvPicPr>
            <a:picLocks noChangeAspect="1"/>
          </p:cNvPicPr>
          <p:nvPr/>
        </p:nvPicPr>
        <p:blipFill>
          <a:blip r:embed="rId5"/>
          <a:stretch>
            <a:fillRect/>
          </a:stretch>
        </p:blipFill>
        <p:spPr>
          <a:xfrm>
            <a:off x="5553788" y="252448"/>
            <a:ext cx="850900" cy="406400"/>
          </a:xfrm>
          <a:prstGeom prst="rect">
            <a:avLst/>
          </a:prstGeom>
        </p:spPr>
      </p:pic>
      <p:sp>
        <p:nvSpPr>
          <p:cNvPr id="15" name="標題 1">
            <a:extLst>
              <a:ext uri="{FF2B5EF4-FFF2-40B4-BE49-F238E27FC236}">
                <a16:creationId xmlns:a16="http://schemas.microsoft.com/office/drawing/2014/main" id="{C132A6A5-A179-CBB1-3A74-1E865F147933}"/>
              </a:ext>
            </a:extLst>
          </p:cNvPr>
          <p:cNvSpPr txBox="1">
            <a:spLocks/>
          </p:cNvSpPr>
          <p:nvPr/>
        </p:nvSpPr>
        <p:spPr>
          <a:xfrm>
            <a:off x="0" y="0"/>
            <a:ext cx="10515600" cy="70560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kumimoji="1" lang="en-US" altLang="zh-TW" sz="2000" dirty="0"/>
              <a:t>Edit Ad Group</a:t>
            </a:r>
          </a:p>
          <a:p>
            <a:r>
              <a:rPr kumimoji="1" lang="en-US" altLang="zh-TW" sz="2000" dirty="0"/>
              <a:t>Selected Custom Audiences, Status=</a:t>
            </a:r>
            <a:r>
              <a:rPr kumimoji="1" lang="en-US" altLang="zh-TW" sz="2000" b="1" dirty="0"/>
              <a:t>Expired</a:t>
            </a:r>
            <a:r>
              <a:rPr kumimoji="1" lang="en-US" altLang="zh-TW" sz="2000" dirty="0"/>
              <a:t> </a:t>
            </a:r>
            <a:r>
              <a:rPr kumimoji="1" lang="en-US" altLang="zh-TW" sz="2000" b="1" dirty="0">
                <a:sym typeface="Wingdings" pitchFamily="2" charset="2"/>
              </a:rPr>
              <a:t>                         </a:t>
            </a:r>
            <a:endParaRPr kumimoji="1" lang="en-US" altLang="zh-TW" sz="2000" dirty="0"/>
          </a:p>
        </p:txBody>
      </p:sp>
      <p:pic>
        <p:nvPicPr>
          <p:cNvPr id="16" name="圖片 15" descr="一張含有 寫生, 設計, 工具 的圖片&#10;&#10;AI 產生的內容可能不正確。">
            <a:extLst>
              <a:ext uri="{FF2B5EF4-FFF2-40B4-BE49-F238E27FC236}">
                <a16:creationId xmlns:a16="http://schemas.microsoft.com/office/drawing/2014/main" id="{F6B53576-E20E-883E-9A1C-068364867497}"/>
              </a:ext>
            </a:extLst>
          </p:cNvPr>
          <p:cNvPicPr>
            <a:picLocks noChangeAspect="1"/>
          </p:cNvPicPr>
          <p:nvPr/>
        </p:nvPicPr>
        <p:blipFill>
          <a:blip r:embed="rId6"/>
          <a:stretch>
            <a:fillRect/>
          </a:stretch>
        </p:blipFill>
        <p:spPr>
          <a:xfrm>
            <a:off x="4999571" y="316046"/>
            <a:ext cx="355600" cy="330200"/>
          </a:xfrm>
          <a:prstGeom prst="rect">
            <a:avLst/>
          </a:prstGeom>
        </p:spPr>
      </p:pic>
      <p:sp>
        <p:nvSpPr>
          <p:cNvPr id="13" name="圓角矩形 12">
            <a:extLst>
              <a:ext uri="{FF2B5EF4-FFF2-40B4-BE49-F238E27FC236}">
                <a16:creationId xmlns:a16="http://schemas.microsoft.com/office/drawing/2014/main" id="{583C809E-2B2F-05A5-9E6F-A4AD54829F7A}"/>
              </a:ext>
            </a:extLst>
          </p:cNvPr>
          <p:cNvSpPr/>
          <p:nvPr/>
        </p:nvSpPr>
        <p:spPr>
          <a:xfrm>
            <a:off x="6786525" y="284648"/>
            <a:ext cx="1115746" cy="342000"/>
          </a:xfrm>
          <a:prstGeom prst="roundRect">
            <a:avLst>
              <a:gd name="adj" fmla="val 9260"/>
            </a:avLst>
          </a:prstGeom>
          <a:solidFill>
            <a:srgbClr val="2993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TW" sz="1400" dirty="0"/>
              <a:t>OK</a:t>
            </a:r>
            <a:endParaRPr kumimoji="1" lang="zh-TW" altLang="en-US" sz="1400" dirty="0"/>
          </a:p>
        </p:txBody>
      </p:sp>
    </p:spTree>
    <p:extLst>
      <p:ext uri="{BB962C8B-B14F-4D97-AF65-F5344CB8AC3E}">
        <p14:creationId xmlns:p14="http://schemas.microsoft.com/office/powerpoint/2010/main" val="307780256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圖片 3" descr="一張含有 字型, 文字, 電子藍, 標誌 的圖片&#10;&#10;AI 產生的內容可能不正確。">
            <a:extLst>
              <a:ext uri="{FF2B5EF4-FFF2-40B4-BE49-F238E27FC236}">
                <a16:creationId xmlns:a16="http://schemas.microsoft.com/office/drawing/2014/main" id="{1650DD19-609F-50EC-D614-F4004FD7B307}"/>
              </a:ext>
            </a:extLst>
          </p:cNvPr>
          <p:cNvPicPr>
            <a:picLocks noChangeAspect="1"/>
          </p:cNvPicPr>
          <p:nvPr/>
        </p:nvPicPr>
        <p:blipFill>
          <a:blip r:embed="rId2"/>
          <a:stretch>
            <a:fillRect/>
          </a:stretch>
        </p:blipFill>
        <p:spPr>
          <a:xfrm>
            <a:off x="5553788" y="252448"/>
            <a:ext cx="850900" cy="406400"/>
          </a:xfrm>
          <a:prstGeom prst="rect">
            <a:avLst/>
          </a:prstGeom>
        </p:spPr>
      </p:pic>
      <p:sp>
        <p:nvSpPr>
          <p:cNvPr id="5" name="標題 1">
            <a:extLst>
              <a:ext uri="{FF2B5EF4-FFF2-40B4-BE49-F238E27FC236}">
                <a16:creationId xmlns:a16="http://schemas.microsoft.com/office/drawing/2014/main" id="{D20F11C5-3C3C-4C6E-55B2-FCB259B04980}"/>
              </a:ext>
            </a:extLst>
          </p:cNvPr>
          <p:cNvSpPr txBox="1">
            <a:spLocks/>
          </p:cNvSpPr>
          <p:nvPr/>
        </p:nvSpPr>
        <p:spPr>
          <a:xfrm>
            <a:off x="0" y="0"/>
            <a:ext cx="10515600" cy="70560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kumimoji="1" lang="en-US" altLang="zh-TW" sz="2000" dirty="0"/>
              <a:t>Edit Ad Group</a:t>
            </a:r>
          </a:p>
          <a:p>
            <a:r>
              <a:rPr kumimoji="1" lang="en-US" altLang="zh-TW" sz="2000" dirty="0"/>
              <a:t>Selected Custom Audiences, Status=</a:t>
            </a:r>
            <a:r>
              <a:rPr kumimoji="1" lang="en-US" altLang="zh-TW" sz="2000" b="1" dirty="0"/>
              <a:t>Expired</a:t>
            </a:r>
            <a:r>
              <a:rPr kumimoji="1" lang="en-US" altLang="zh-TW" sz="2000" dirty="0"/>
              <a:t> </a:t>
            </a:r>
            <a:r>
              <a:rPr kumimoji="1" lang="en-US" altLang="zh-TW" sz="2000" b="1" dirty="0">
                <a:sym typeface="Wingdings" pitchFamily="2" charset="2"/>
              </a:rPr>
              <a:t>                         </a:t>
            </a:r>
            <a:endParaRPr kumimoji="1" lang="en-US" altLang="zh-TW" sz="2000" dirty="0"/>
          </a:p>
        </p:txBody>
      </p:sp>
      <p:pic>
        <p:nvPicPr>
          <p:cNvPr id="6" name="圖片 5" descr="一張含有 寫生, 設計, 工具 的圖片&#10;&#10;AI 產生的內容可能不正確。">
            <a:extLst>
              <a:ext uri="{FF2B5EF4-FFF2-40B4-BE49-F238E27FC236}">
                <a16:creationId xmlns:a16="http://schemas.microsoft.com/office/drawing/2014/main" id="{130200E4-1B04-A5BC-9467-FBB45B61E9C1}"/>
              </a:ext>
            </a:extLst>
          </p:cNvPr>
          <p:cNvPicPr>
            <a:picLocks noChangeAspect="1"/>
          </p:cNvPicPr>
          <p:nvPr/>
        </p:nvPicPr>
        <p:blipFill>
          <a:blip r:embed="rId3"/>
          <a:stretch>
            <a:fillRect/>
          </a:stretch>
        </p:blipFill>
        <p:spPr>
          <a:xfrm>
            <a:off x="4999571" y="316046"/>
            <a:ext cx="355600" cy="330200"/>
          </a:xfrm>
          <a:prstGeom prst="rect">
            <a:avLst/>
          </a:prstGeom>
        </p:spPr>
      </p:pic>
      <p:sp>
        <p:nvSpPr>
          <p:cNvPr id="8" name="圓角矩形 7">
            <a:extLst>
              <a:ext uri="{FF2B5EF4-FFF2-40B4-BE49-F238E27FC236}">
                <a16:creationId xmlns:a16="http://schemas.microsoft.com/office/drawing/2014/main" id="{DA7EB447-CB6E-DA66-B9F3-A88E5085F63C}"/>
              </a:ext>
            </a:extLst>
          </p:cNvPr>
          <p:cNvSpPr/>
          <p:nvPr/>
        </p:nvSpPr>
        <p:spPr>
          <a:xfrm>
            <a:off x="6786144" y="284198"/>
            <a:ext cx="1116000" cy="342900"/>
          </a:xfrm>
          <a:prstGeom prst="roundRect">
            <a:avLst>
              <a:gd name="adj" fmla="val 9260"/>
            </a:avLst>
          </a:prstGeom>
          <a:solidFill>
            <a:schemeClr val="bg1"/>
          </a:solidFill>
          <a:ln w="6350">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TW" sz="1400" dirty="0">
                <a:solidFill>
                  <a:schemeClr val="bg1">
                    <a:lumMod val="50000"/>
                  </a:schemeClr>
                </a:solidFill>
              </a:rPr>
              <a:t>Cancel</a:t>
            </a:r>
            <a:endParaRPr kumimoji="1" lang="zh-TW" altLang="en-US" sz="1400" dirty="0">
              <a:solidFill>
                <a:schemeClr val="bg1">
                  <a:lumMod val="50000"/>
                </a:schemeClr>
              </a:solidFill>
            </a:endParaRPr>
          </a:p>
        </p:txBody>
      </p:sp>
      <p:pic>
        <p:nvPicPr>
          <p:cNvPr id="9" name="圖片 8" descr="一張含有 文字, 軟體, 網頁, 網站 的圖片&#10;&#10;AI 產生的內容可能不正確。">
            <a:extLst>
              <a:ext uri="{FF2B5EF4-FFF2-40B4-BE49-F238E27FC236}">
                <a16:creationId xmlns:a16="http://schemas.microsoft.com/office/drawing/2014/main" id="{29D52392-94A3-6581-90E4-A853C4EC7A9A}"/>
              </a:ext>
            </a:extLst>
          </p:cNvPr>
          <p:cNvPicPr>
            <a:picLocks noChangeAspect="1"/>
          </p:cNvPicPr>
          <p:nvPr/>
        </p:nvPicPr>
        <p:blipFill>
          <a:blip r:embed="rId4"/>
          <a:stretch>
            <a:fillRect/>
          </a:stretch>
        </p:blipFill>
        <p:spPr>
          <a:xfrm>
            <a:off x="2342899" y="652545"/>
            <a:ext cx="7772400" cy="6205455"/>
          </a:xfrm>
          <a:prstGeom prst="rect">
            <a:avLst/>
          </a:prstGeom>
        </p:spPr>
      </p:pic>
      <p:sp>
        <p:nvSpPr>
          <p:cNvPr id="10" name="文字方塊 9">
            <a:extLst>
              <a:ext uri="{FF2B5EF4-FFF2-40B4-BE49-F238E27FC236}">
                <a16:creationId xmlns:a16="http://schemas.microsoft.com/office/drawing/2014/main" id="{7F4996C8-82E3-0799-0022-E6D90390B825}"/>
              </a:ext>
            </a:extLst>
          </p:cNvPr>
          <p:cNvSpPr txBox="1"/>
          <p:nvPr/>
        </p:nvSpPr>
        <p:spPr>
          <a:xfrm>
            <a:off x="4631868" y="737536"/>
            <a:ext cx="3194462" cy="307777"/>
          </a:xfrm>
          <a:prstGeom prst="rect">
            <a:avLst/>
          </a:prstGeom>
          <a:solidFill>
            <a:srgbClr val="F5F8FE"/>
          </a:solidFill>
        </p:spPr>
        <p:txBody>
          <a:bodyPr wrap="square" rtlCol="0">
            <a:spAutoFit/>
          </a:bodyPr>
          <a:lstStyle/>
          <a:p>
            <a:pPr algn="ctr"/>
            <a:r>
              <a:rPr kumimoji="1" lang="en-US" altLang="zh-TW" sz="1400">
                <a:solidFill>
                  <a:srgbClr val="1C1E20"/>
                </a:solidFill>
              </a:rPr>
              <a:t>Targeting - Custom Audience</a:t>
            </a:r>
            <a:endParaRPr kumimoji="1" lang="zh-TW" altLang="en-US" sz="1400">
              <a:solidFill>
                <a:srgbClr val="1C1E20"/>
              </a:solidFill>
            </a:endParaRPr>
          </a:p>
        </p:txBody>
      </p:sp>
      <p:sp>
        <p:nvSpPr>
          <p:cNvPr id="11" name="文字方塊 10">
            <a:extLst>
              <a:ext uri="{FF2B5EF4-FFF2-40B4-BE49-F238E27FC236}">
                <a16:creationId xmlns:a16="http://schemas.microsoft.com/office/drawing/2014/main" id="{B45E0C1C-39D1-0B82-BF49-C0F8917B86E6}"/>
              </a:ext>
            </a:extLst>
          </p:cNvPr>
          <p:cNvSpPr txBox="1"/>
          <p:nvPr/>
        </p:nvSpPr>
        <p:spPr>
          <a:xfrm>
            <a:off x="2732388" y="1672783"/>
            <a:ext cx="3432646" cy="261610"/>
          </a:xfrm>
          <a:prstGeom prst="rect">
            <a:avLst/>
          </a:prstGeom>
          <a:solidFill>
            <a:schemeClr val="bg1"/>
          </a:solidFill>
        </p:spPr>
        <p:txBody>
          <a:bodyPr wrap="square">
            <a:spAutoFit/>
          </a:bodyPr>
          <a:lstStyle/>
          <a:p>
            <a:pPr lvl="0">
              <a:defRPr/>
            </a:pPr>
            <a:r>
              <a:rPr kumimoji="1" lang="en" altLang="zh-TW" sz="1100">
                <a:solidFill>
                  <a:srgbClr val="4E4E4E"/>
                </a:solidFill>
              </a:rPr>
              <a:t>[</a:t>
            </a:r>
            <a:r>
              <a:rPr kumimoji="1" lang="zh-TW" altLang="en-US" sz="1100">
                <a:solidFill>
                  <a:srgbClr val="4E4E4E"/>
                </a:solidFill>
              </a:rPr>
              <a:t>產業 </a:t>
            </a:r>
            <a:r>
              <a:rPr kumimoji="1" lang="en" altLang="zh-TW" sz="1100">
                <a:solidFill>
                  <a:srgbClr val="4E4E4E"/>
                </a:solidFill>
              </a:rPr>
              <a:t>Shopper Graph</a:t>
            </a:r>
            <a:r>
              <a:rPr kumimoji="1" lang="en-US" altLang="zh-TW" sz="1100">
                <a:solidFill>
                  <a:srgbClr val="4E4E4E"/>
                </a:solidFill>
              </a:rPr>
              <a:t>] </a:t>
            </a:r>
            <a:r>
              <a:rPr kumimoji="1" lang="zh-TW" altLang="en-US" sz="1100">
                <a:solidFill>
                  <a:srgbClr val="4E4E4E"/>
                </a:solidFill>
              </a:rPr>
              <a:t>合利他命</a:t>
            </a:r>
            <a:r>
              <a:rPr kumimoji="1" lang="en" altLang="zh-TW" sz="1100">
                <a:solidFill>
                  <a:srgbClr val="4E4E4E"/>
                </a:solidFill>
              </a:rPr>
              <a:t>EXPLUS 9-10</a:t>
            </a:r>
            <a:r>
              <a:rPr kumimoji="1" lang="zh-TW" altLang="en-US" sz="1100">
                <a:solidFill>
                  <a:srgbClr val="4E4E4E"/>
                </a:solidFill>
              </a:rPr>
              <a:t>月</a:t>
            </a:r>
          </a:p>
        </p:txBody>
      </p:sp>
      <p:sp>
        <p:nvSpPr>
          <p:cNvPr id="12" name="文字方塊 11">
            <a:extLst>
              <a:ext uri="{FF2B5EF4-FFF2-40B4-BE49-F238E27FC236}">
                <a16:creationId xmlns:a16="http://schemas.microsoft.com/office/drawing/2014/main" id="{3336C1B7-F448-5C50-A240-6ED1742D33C1}"/>
              </a:ext>
            </a:extLst>
          </p:cNvPr>
          <p:cNvSpPr txBox="1"/>
          <p:nvPr/>
        </p:nvSpPr>
        <p:spPr>
          <a:xfrm>
            <a:off x="2739553" y="1881795"/>
            <a:ext cx="3432647" cy="215444"/>
          </a:xfrm>
          <a:prstGeom prst="rect">
            <a:avLst/>
          </a:prstGeom>
          <a:solidFill>
            <a:schemeClr val="bg1"/>
          </a:solidFill>
        </p:spPr>
        <p:txBody>
          <a:bodyPr wrap="square">
            <a:spAutoFit/>
          </a:bodyPr>
          <a:lstStyle/>
          <a:p>
            <a:pPr lvl="0">
              <a:defRPr/>
            </a:pPr>
            <a:r>
              <a:rPr kumimoji="1" lang="en" altLang="zh-TW" sz="800">
                <a:solidFill>
                  <a:schemeClr val="bg1">
                    <a:lumMod val="65000"/>
                  </a:schemeClr>
                </a:solidFill>
              </a:rPr>
              <a:t>Industry Shopper Graph</a:t>
            </a:r>
          </a:p>
        </p:txBody>
      </p:sp>
      <p:sp>
        <p:nvSpPr>
          <p:cNvPr id="13" name="文字方塊 12">
            <a:extLst>
              <a:ext uri="{FF2B5EF4-FFF2-40B4-BE49-F238E27FC236}">
                <a16:creationId xmlns:a16="http://schemas.microsoft.com/office/drawing/2014/main" id="{C95F30D0-F252-BE11-FCCA-D029B92C7FBE}"/>
              </a:ext>
            </a:extLst>
          </p:cNvPr>
          <p:cNvSpPr txBox="1"/>
          <p:nvPr/>
        </p:nvSpPr>
        <p:spPr>
          <a:xfrm>
            <a:off x="2739553" y="2204776"/>
            <a:ext cx="3432646" cy="261610"/>
          </a:xfrm>
          <a:prstGeom prst="rect">
            <a:avLst/>
          </a:prstGeom>
          <a:solidFill>
            <a:schemeClr val="bg1"/>
          </a:solidFill>
        </p:spPr>
        <p:txBody>
          <a:bodyPr wrap="square">
            <a:spAutoFit/>
          </a:bodyPr>
          <a:lstStyle/>
          <a:p>
            <a:pPr lvl="0">
              <a:defRPr/>
            </a:pPr>
            <a:r>
              <a:rPr kumimoji="1" lang="en" altLang="zh-TW" sz="1100">
                <a:solidFill>
                  <a:srgbClr val="4E4E4E"/>
                </a:solidFill>
              </a:rPr>
              <a:t>[Webb</a:t>
            </a:r>
            <a:r>
              <a:rPr kumimoji="1" lang="zh-TW" altLang="en-US" sz="1100">
                <a:solidFill>
                  <a:srgbClr val="4E4E4E"/>
                </a:solidFill>
              </a:rPr>
              <a:t>零售數據</a:t>
            </a:r>
            <a:r>
              <a:rPr kumimoji="1" lang="en-US" altLang="zh-TW" sz="1100">
                <a:solidFill>
                  <a:srgbClr val="4E4E4E"/>
                </a:solidFill>
              </a:rPr>
              <a:t>-</a:t>
            </a:r>
            <a:r>
              <a:rPr kumimoji="1" lang="zh-TW" altLang="en-US" sz="1100">
                <a:solidFill>
                  <a:srgbClr val="4E4E4E"/>
                </a:solidFill>
              </a:rPr>
              <a:t>購買</a:t>
            </a:r>
            <a:r>
              <a:rPr kumimoji="1" lang="en-US" altLang="zh-TW" sz="1100">
                <a:solidFill>
                  <a:srgbClr val="4E4E4E"/>
                </a:solidFill>
              </a:rPr>
              <a:t>] </a:t>
            </a:r>
            <a:r>
              <a:rPr kumimoji="1" lang="zh-TW" altLang="en-US" sz="1100">
                <a:solidFill>
                  <a:srgbClr val="4E4E4E"/>
                </a:solidFill>
              </a:rPr>
              <a:t>合利他命</a:t>
            </a:r>
            <a:r>
              <a:rPr kumimoji="1" lang="en" altLang="zh-TW" sz="1100">
                <a:solidFill>
                  <a:srgbClr val="4E4E4E"/>
                </a:solidFill>
              </a:rPr>
              <a:t>EXPLUS 10</a:t>
            </a:r>
            <a:r>
              <a:rPr kumimoji="1" lang="zh-TW" altLang="en-US" sz="1100">
                <a:solidFill>
                  <a:srgbClr val="4E4E4E"/>
                </a:solidFill>
              </a:rPr>
              <a:t>月</a:t>
            </a:r>
          </a:p>
        </p:txBody>
      </p:sp>
      <p:sp>
        <p:nvSpPr>
          <p:cNvPr id="14" name="文字方塊 13">
            <a:extLst>
              <a:ext uri="{FF2B5EF4-FFF2-40B4-BE49-F238E27FC236}">
                <a16:creationId xmlns:a16="http://schemas.microsoft.com/office/drawing/2014/main" id="{C5C07E1E-8683-CD79-ADDF-F1D7517ECE29}"/>
              </a:ext>
            </a:extLst>
          </p:cNvPr>
          <p:cNvSpPr txBox="1"/>
          <p:nvPr/>
        </p:nvSpPr>
        <p:spPr>
          <a:xfrm>
            <a:off x="2746718" y="2413788"/>
            <a:ext cx="3432647" cy="215444"/>
          </a:xfrm>
          <a:prstGeom prst="rect">
            <a:avLst/>
          </a:prstGeom>
          <a:solidFill>
            <a:schemeClr val="bg1"/>
          </a:solidFill>
        </p:spPr>
        <p:txBody>
          <a:bodyPr wrap="square">
            <a:spAutoFit/>
          </a:bodyPr>
          <a:lstStyle/>
          <a:p>
            <a:pPr fontAlgn="base"/>
            <a:r>
              <a:rPr kumimoji="1" lang="en" altLang="zh-TW" sz="800">
                <a:solidFill>
                  <a:schemeClr val="bg1">
                    <a:lumMod val="65000"/>
                  </a:schemeClr>
                </a:solidFill>
              </a:rPr>
              <a:t>Webb Retail Data (Purchase)</a:t>
            </a:r>
          </a:p>
        </p:txBody>
      </p:sp>
      <p:sp>
        <p:nvSpPr>
          <p:cNvPr id="15" name="文字方塊 14">
            <a:extLst>
              <a:ext uri="{FF2B5EF4-FFF2-40B4-BE49-F238E27FC236}">
                <a16:creationId xmlns:a16="http://schemas.microsoft.com/office/drawing/2014/main" id="{FD23A6C1-9F03-6713-4D1F-999EDE41015F}"/>
              </a:ext>
            </a:extLst>
          </p:cNvPr>
          <p:cNvSpPr txBox="1"/>
          <p:nvPr/>
        </p:nvSpPr>
        <p:spPr>
          <a:xfrm>
            <a:off x="2732387" y="2731379"/>
            <a:ext cx="3432646" cy="261610"/>
          </a:xfrm>
          <a:prstGeom prst="rect">
            <a:avLst/>
          </a:prstGeom>
          <a:solidFill>
            <a:schemeClr val="bg1"/>
          </a:solidFill>
        </p:spPr>
        <p:txBody>
          <a:bodyPr wrap="square">
            <a:spAutoFit/>
          </a:bodyPr>
          <a:lstStyle/>
          <a:p>
            <a:pPr lvl="0">
              <a:defRPr/>
            </a:pPr>
            <a:r>
              <a:rPr kumimoji="1" lang="en" altLang="zh-TW" sz="1100">
                <a:solidFill>
                  <a:srgbClr val="4E4E4E"/>
                </a:solidFill>
              </a:rPr>
              <a:t>[</a:t>
            </a:r>
            <a:r>
              <a:rPr kumimoji="1" lang="zh-TW" altLang="en-US" sz="1100">
                <a:solidFill>
                  <a:srgbClr val="4E4E4E"/>
                </a:solidFill>
              </a:rPr>
              <a:t>產業 </a:t>
            </a:r>
            <a:r>
              <a:rPr kumimoji="1" lang="en" altLang="zh-TW" sz="1100">
                <a:solidFill>
                  <a:srgbClr val="4E4E4E"/>
                </a:solidFill>
              </a:rPr>
              <a:t>Shopper Graph</a:t>
            </a:r>
            <a:r>
              <a:rPr kumimoji="1" lang="en-US" altLang="zh-TW" sz="1100">
                <a:solidFill>
                  <a:srgbClr val="4E4E4E"/>
                </a:solidFill>
              </a:rPr>
              <a:t>] </a:t>
            </a:r>
            <a:r>
              <a:rPr kumimoji="1" lang="zh-TW" altLang="en-US" sz="1100">
                <a:solidFill>
                  <a:srgbClr val="4E4E4E"/>
                </a:solidFill>
              </a:rPr>
              <a:t>合利他命</a:t>
            </a:r>
            <a:r>
              <a:rPr kumimoji="1" lang="en" altLang="zh-TW" sz="1100">
                <a:solidFill>
                  <a:srgbClr val="4E4E4E"/>
                </a:solidFill>
              </a:rPr>
              <a:t>EXPLUS 9-10</a:t>
            </a:r>
            <a:r>
              <a:rPr kumimoji="1" lang="zh-TW" altLang="en-US" sz="1100">
                <a:solidFill>
                  <a:srgbClr val="4E4E4E"/>
                </a:solidFill>
              </a:rPr>
              <a:t>月</a:t>
            </a:r>
          </a:p>
        </p:txBody>
      </p:sp>
      <p:sp>
        <p:nvSpPr>
          <p:cNvPr id="16" name="文字方塊 15">
            <a:extLst>
              <a:ext uri="{FF2B5EF4-FFF2-40B4-BE49-F238E27FC236}">
                <a16:creationId xmlns:a16="http://schemas.microsoft.com/office/drawing/2014/main" id="{FEDB48C6-58CA-665B-6EE9-0A7517CD120D}"/>
              </a:ext>
            </a:extLst>
          </p:cNvPr>
          <p:cNvSpPr txBox="1"/>
          <p:nvPr/>
        </p:nvSpPr>
        <p:spPr>
          <a:xfrm>
            <a:off x="2739552" y="2940391"/>
            <a:ext cx="3432647" cy="215444"/>
          </a:xfrm>
          <a:prstGeom prst="rect">
            <a:avLst/>
          </a:prstGeom>
          <a:solidFill>
            <a:schemeClr val="bg1"/>
          </a:solidFill>
        </p:spPr>
        <p:txBody>
          <a:bodyPr wrap="square">
            <a:spAutoFit/>
          </a:bodyPr>
          <a:lstStyle/>
          <a:p>
            <a:pPr lvl="0">
              <a:defRPr/>
            </a:pPr>
            <a:r>
              <a:rPr kumimoji="1" lang="en" altLang="zh-TW" sz="800">
                <a:solidFill>
                  <a:schemeClr val="bg1">
                    <a:lumMod val="65000"/>
                  </a:schemeClr>
                </a:solidFill>
              </a:rPr>
              <a:t>Industry Shopper Graph</a:t>
            </a:r>
          </a:p>
        </p:txBody>
      </p:sp>
      <p:sp>
        <p:nvSpPr>
          <p:cNvPr id="17" name="文字方塊 16">
            <a:extLst>
              <a:ext uri="{FF2B5EF4-FFF2-40B4-BE49-F238E27FC236}">
                <a16:creationId xmlns:a16="http://schemas.microsoft.com/office/drawing/2014/main" id="{AD9257BF-564E-C604-6F68-8A9425346528}"/>
              </a:ext>
            </a:extLst>
          </p:cNvPr>
          <p:cNvSpPr txBox="1"/>
          <p:nvPr/>
        </p:nvSpPr>
        <p:spPr>
          <a:xfrm>
            <a:off x="2746718" y="3247295"/>
            <a:ext cx="3432646" cy="261610"/>
          </a:xfrm>
          <a:prstGeom prst="rect">
            <a:avLst/>
          </a:prstGeom>
          <a:solidFill>
            <a:schemeClr val="bg1"/>
          </a:solid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zh-TW" sz="1100" kern="1200">
                <a:solidFill>
                  <a:srgbClr val="1C1E20"/>
                </a:solidFill>
                <a:latin typeface="+mn-lt"/>
                <a:ea typeface="+mn-ea"/>
                <a:cs typeface="+mn-cs"/>
              </a:rPr>
              <a:t>[</a:t>
            </a:r>
            <a:r>
              <a:rPr kumimoji="1" lang="zh-TW" altLang="en-US" sz="1100" kern="1200">
                <a:solidFill>
                  <a:srgbClr val="1C1E20"/>
                </a:solidFill>
                <a:latin typeface="+mn-lt"/>
                <a:ea typeface="+mn-ea"/>
                <a:cs typeface="+mn-cs"/>
              </a:rPr>
              <a:t>關鍵字</a:t>
            </a:r>
            <a:r>
              <a:rPr kumimoji="1" lang="en-US" altLang="zh-TW" sz="1100" kern="1200">
                <a:solidFill>
                  <a:srgbClr val="1C1E20"/>
                </a:solidFill>
                <a:latin typeface="+mn-lt"/>
                <a:ea typeface="+mn-ea"/>
                <a:cs typeface="+mn-cs"/>
              </a:rPr>
              <a:t>] </a:t>
            </a:r>
            <a:r>
              <a:rPr kumimoji="1" lang="zh-TW" altLang="en-US" sz="1100" kern="1200">
                <a:solidFill>
                  <a:srgbClr val="1C1E20"/>
                </a:solidFill>
                <a:latin typeface="+mn-lt"/>
                <a:ea typeface="+mn-ea"/>
                <a:cs typeface="+mn-cs"/>
              </a:rPr>
              <a:t>合利他命</a:t>
            </a:r>
            <a:r>
              <a:rPr kumimoji="1" lang="en" altLang="zh-TW" sz="1100" kern="1200">
                <a:solidFill>
                  <a:srgbClr val="1C1E20"/>
                </a:solidFill>
                <a:latin typeface="+mn-lt"/>
                <a:ea typeface="+mn-ea"/>
                <a:cs typeface="+mn-cs"/>
              </a:rPr>
              <a:t>EXPLUS 10</a:t>
            </a:r>
            <a:r>
              <a:rPr kumimoji="1" lang="zh-TW" altLang="en-US" sz="1100" kern="1200">
                <a:solidFill>
                  <a:srgbClr val="1C1E20"/>
                </a:solidFill>
                <a:latin typeface="+mn-lt"/>
                <a:ea typeface="+mn-ea"/>
                <a:cs typeface="+mn-cs"/>
              </a:rPr>
              <a:t>月</a:t>
            </a:r>
          </a:p>
        </p:txBody>
      </p:sp>
      <p:sp>
        <p:nvSpPr>
          <p:cNvPr id="18" name="文字方塊 17">
            <a:extLst>
              <a:ext uri="{FF2B5EF4-FFF2-40B4-BE49-F238E27FC236}">
                <a16:creationId xmlns:a16="http://schemas.microsoft.com/office/drawing/2014/main" id="{7397DBE3-AD73-AAA9-74D3-47452BFC9547}"/>
              </a:ext>
            </a:extLst>
          </p:cNvPr>
          <p:cNvSpPr txBox="1"/>
          <p:nvPr/>
        </p:nvSpPr>
        <p:spPr>
          <a:xfrm>
            <a:off x="2753883" y="3456307"/>
            <a:ext cx="3432647" cy="215444"/>
          </a:xfrm>
          <a:prstGeom prst="rect">
            <a:avLst/>
          </a:prstGeom>
          <a:solidFill>
            <a:schemeClr val="bg1"/>
          </a:solidFill>
        </p:spPr>
        <p:txBody>
          <a:bodyPr wrap="square">
            <a:spAutoFit/>
          </a:bodyPr>
          <a:lstStyle/>
          <a:p>
            <a:pPr lvl="0">
              <a:defRPr/>
            </a:pPr>
            <a:r>
              <a:rPr kumimoji="1" lang="en" altLang="zh-TW" sz="800">
                <a:solidFill>
                  <a:schemeClr val="bg1">
                    <a:lumMod val="65000"/>
                  </a:schemeClr>
                </a:solidFill>
              </a:rPr>
              <a:t>Brand Keyword AI Exploration</a:t>
            </a:r>
          </a:p>
        </p:txBody>
      </p:sp>
      <p:sp>
        <p:nvSpPr>
          <p:cNvPr id="19" name="文字方塊 18">
            <a:extLst>
              <a:ext uri="{FF2B5EF4-FFF2-40B4-BE49-F238E27FC236}">
                <a16:creationId xmlns:a16="http://schemas.microsoft.com/office/drawing/2014/main" id="{086468F2-3FC8-5956-4D7E-B010C4C7C7C6}"/>
              </a:ext>
            </a:extLst>
          </p:cNvPr>
          <p:cNvSpPr txBox="1"/>
          <p:nvPr/>
        </p:nvSpPr>
        <p:spPr>
          <a:xfrm>
            <a:off x="2753883" y="3765643"/>
            <a:ext cx="3432646" cy="261610"/>
          </a:xfrm>
          <a:prstGeom prst="rect">
            <a:avLst/>
          </a:prstGeom>
          <a:solidFill>
            <a:schemeClr val="bg1"/>
          </a:solid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zh-TW" sz="1100" kern="1200">
                <a:solidFill>
                  <a:srgbClr val="1C1E20"/>
                </a:solidFill>
                <a:latin typeface="+mn-lt"/>
                <a:ea typeface="+mn-ea"/>
                <a:cs typeface="+mn-cs"/>
              </a:rPr>
              <a:t>[</a:t>
            </a:r>
            <a:r>
              <a:rPr kumimoji="1" lang="zh-TW" altLang="en-US" sz="1100" kern="1200">
                <a:solidFill>
                  <a:srgbClr val="1C1E20"/>
                </a:solidFill>
                <a:latin typeface="+mn-lt"/>
                <a:ea typeface="+mn-ea"/>
                <a:cs typeface="+mn-cs"/>
              </a:rPr>
              <a:t>關鍵字</a:t>
            </a:r>
            <a:r>
              <a:rPr kumimoji="1" lang="en-US" altLang="zh-TW" sz="1100" kern="1200">
                <a:solidFill>
                  <a:srgbClr val="1C1E20"/>
                </a:solidFill>
                <a:latin typeface="+mn-lt"/>
                <a:ea typeface="+mn-ea"/>
                <a:cs typeface="+mn-cs"/>
              </a:rPr>
              <a:t>] </a:t>
            </a:r>
            <a:r>
              <a:rPr kumimoji="1" lang="zh-TW" altLang="en-US" sz="1100" kern="1200">
                <a:solidFill>
                  <a:srgbClr val="1C1E20"/>
                </a:solidFill>
                <a:latin typeface="+mn-lt"/>
                <a:ea typeface="+mn-ea"/>
                <a:cs typeface="+mn-cs"/>
              </a:rPr>
              <a:t>合利他命</a:t>
            </a:r>
            <a:r>
              <a:rPr kumimoji="1" lang="en" altLang="zh-TW" sz="1100" kern="1200">
                <a:solidFill>
                  <a:srgbClr val="1C1E20"/>
                </a:solidFill>
                <a:latin typeface="+mn-lt"/>
                <a:ea typeface="+mn-ea"/>
                <a:cs typeface="+mn-cs"/>
              </a:rPr>
              <a:t>EXPLUS 10</a:t>
            </a:r>
            <a:r>
              <a:rPr kumimoji="1" lang="zh-TW" altLang="en-US" sz="1100" kern="1200">
                <a:solidFill>
                  <a:srgbClr val="1C1E20"/>
                </a:solidFill>
                <a:latin typeface="+mn-lt"/>
                <a:ea typeface="+mn-ea"/>
                <a:cs typeface="+mn-cs"/>
              </a:rPr>
              <a:t>月</a:t>
            </a:r>
          </a:p>
        </p:txBody>
      </p:sp>
      <p:sp>
        <p:nvSpPr>
          <p:cNvPr id="20" name="文字方塊 19">
            <a:extLst>
              <a:ext uri="{FF2B5EF4-FFF2-40B4-BE49-F238E27FC236}">
                <a16:creationId xmlns:a16="http://schemas.microsoft.com/office/drawing/2014/main" id="{4D970A26-5C3E-461A-69DC-C73B016CA06C}"/>
              </a:ext>
            </a:extLst>
          </p:cNvPr>
          <p:cNvSpPr txBox="1"/>
          <p:nvPr/>
        </p:nvSpPr>
        <p:spPr>
          <a:xfrm>
            <a:off x="2761048" y="3974655"/>
            <a:ext cx="3432647" cy="215444"/>
          </a:xfrm>
          <a:prstGeom prst="rect">
            <a:avLst/>
          </a:prstGeom>
          <a:solidFill>
            <a:schemeClr val="bg1"/>
          </a:solidFill>
        </p:spPr>
        <p:txBody>
          <a:bodyPr wrap="square">
            <a:spAutoFit/>
          </a:bodyPr>
          <a:lstStyle/>
          <a:p>
            <a:pPr lvl="0">
              <a:defRPr/>
            </a:pPr>
            <a:r>
              <a:rPr kumimoji="1" lang="en" altLang="zh-TW" sz="800">
                <a:solidFill>
                  <a:schemeClr val="bg1">
                    <a:lumMod val="65000"/>
                  </a:schemeClr>
                </a:solidFill>
              </a:rPr>
              <a:t>Brand Keyword AI Exploration</a:t>
            </a:r>
          </a:p>
        </p:txBody>
      </p:sp>
      <p:sp>
        <p:nvSpPr>
          <p:cNvPr id="21" name="矩形 20">
            <a:extLst>
              <a:ext uri="{FF2B5EF4-FFF2-40B4-BE49-F238E27FC236}">
                <a16:creationId xmlns:a16="http://schemas.microsoft.com/office/drawing/2014/main" id="{F6E778BE-BC1D-451F-88D6-EFB70EE5E019}"/>
              </a:ext>
            </a:extLst>
          </p:cNvPr>
          <p:cNvSpPr/>
          <p:nvPr/>
        </p:nvSpPr>
        <p:spPr>
          <a:xfrm>
            <a:off x="6179364" y="1630448"/>
            <a:ext cx="68601" cy="620494"/>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pic>
        <p:nvPicPr>
          <p:cNvPr id="22" name="圖片 21" descr="一張含有 文字, 字型, 螢幕擷取畫面 的圖片&#10;&#10;AI 產生的內容可能不正確。">
            <a:extLst>
              <a:ext uri="{FF2B5EF4-FFF2-40B4-BE49-F238E27FC236}">
                <a16:creationId xmlns:a16="http://schemas.microsoft.com/office/drawing/2014/main" id="{302CC1B1-BF7A-BF04-3607-11FF73D02C9D}"/>
              </a:ext>
            </a:extLst>
          </p:cNvPr>
          <p:cNvPicPr>
            <a:picLocks noChangeAspect="1"/>
          </p:cNvPicPr>
          <p:nvPr/>
        </p:nvPicPr>
        <p:blipFill>
          <a:blip r:embed="rId5"/>
          <a:stretch>
            <a:fillRect/>
          </a:stretch>
        </p:blipFill>
        <p:spPr>
          <a:xfrm>
            <a:off x="6287260" y="1307677"/>
            <a:ext cx="3728570" cy="1384897"/>
          </a:xfrm>
          <a:prstGeom prst="rect">
            <a:avLst/>
          </a:prstGeom>
        </p:spPr>
      </p:pic>
      <p:sp>
        <p:nvSpPr>
          <p:cNvPr id="23" name="矩形 22">
            <a:extLst>
              <a:ext uri="{FF2B5EF4-FFF2-40B4-BE49-F238E27FC236}">
                <a16:creationId xmlns:a16="http://schemas.microsoft.com/office/drawing/2014/main" id="{39FDA2AE-D187-D4F5-EEFA-95E42F8E09C3}"/>
              </a:ext>
            </a:extLst>
          </p:cNvPr>
          <p:cNvSpPr/>
          <p:nvPr/>
        </p:nvSpPr>
        <p:spPr>
          <a:xfrm>
            <a:off x="6287260" y="2680389"/>
            <a:ext cx="3744000" cy="352248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24" name="文字方塊 23">
            <a:extLst>
              <a:ext uri="{FF2B5EF4-FFF2-40B4-BE49-F238E27FC236}">
                <a16:creationId xmlns:a16="http://schemas.microsoft.com/office/drawing/2014/main" id="{80C3DA05-CA46-0DAF-BC6A-FFA3691BF291}"/>
              </a:ext>
            </a:extLst>
          </p:cNvPr>
          <p:cNvSpPr txBox="1"/>
          <p:nvPr/>
        </p:nvSpPr>
        <p:spPr>
          <a:xfrm>
            <a:off x="6524547" y="1678631"/>
            <a:ext cx="3432646" cy="261610"/>
          </a:xfrm>
          <a:prstGeom prst="rect">
            <a:avLst/>
          </a:prstGeom>
          <a:solidFill>
            <a:schemeClr val="bg1"/>
          </a:solidFill>
        </p:spPr>
        <p:txBody>
          <a:bodyPr wrap="square">
            <a:spAutoFit/>
          </a:bodyPr>
          <a:lstStyle/>
          <a:p>
            <a:pPr lvl="0">
              <a:defRPr/>
            </a:pPr>
            <a:r>
              <a:rPr kumimoji="1" lang="en-US" altLang="zh-TW" sz="1100">
                <a:solidFill>
                  <a:srgbClr val="2993FF"/>
                </a:solidFill>
              </a:rPr>
              <a:t>[</a:t>
            </a:r>
            <a:r>
              <a:rPr kumimoji="1" lang="zh-TW" altLang="en-US" sz="1100">
                <a:solidFill>
                  <a:srgbClr val="2993FF"/>
                </a:solidFill>
              </a:rPr>
              <a:t>線下</a:t>
            </a:r>
            <a:r>
              <a:rPr kumimoji="1" lang="en" altLang="zh-TW" sz="1100">
                <a:solidFill>
                  <a:srgbClr val="2993FF"/>
                </a:solidFill>
              </a:rPr>
              <a:t>POI] </a:t>
            </a:r>
            <a:r>
              <a:rPr kumimoji="1" lang="zh-TW" altLang="en-US" sz="1100">
                <a:solidFill>
                  <a:srgbClr val="2993FF"/>
                </a:solidFill>
              </a:rPr>
              <a:t>合利他命</a:t>
            </a:r>
            <a:r>
              <a:rPr kumimoji="1" lang="en" altLang="zh-TW" sz="1100">
                <a:solidFill>
                  <a:srgbClr val="2993FF"/>
                </a:solidFill>
              </a:rPr>
              <a:t>EXPLUS 10</a:t>
            </a:r>
            <a:r>
              <a:rPr kumimoji="1" lang="zh-TW" altLang="en-US" sz="1100">
                <a:solidFill>
                  <a:srgbClr val="2993FF"/>
                </a:solidFill>
              </a:rPr>
              <a:t>月</a:t>
            </a:r>
          </a:p>
        </p:txBody>
      </p:sp>
      <p:sp>
        <p:nvSpPr>
          <p:cNvPr id="25" name="文字方塊 24">
            <a:extLst>
              <a:ext uri="{FF2B5EF4-FFF2-40B4-BE49-F238E27FC236}">
                <a16:creationId xmlns:a16="http://schemas.microsoft.com/office/drawing/2014/main" id="{F7B9832F-FA82-0075-CE81-7ABF18BB1FE6}"/>
              </a:ext>
            </a:extLst>
          </p:cNvPr>
          <p:cNvSpPr txBox="1"/>
          <p:nvPr/>
        </p:nvSpPr>
        <p:spPr>
          <a:xfrm>
            <a:off x="6524546" y="1881795"/>
            <a:ext cx="3432647" cy="215444"/>
          </a:xfrm>
          <a:prstGeom prst="rect">
            <a:avLst/>
          </a:prstGeom>
          <a:solidFill>
            <a:schemeClr val="bg1"/>
          </a:solidFill>
        </p:spPr>
        <p:txBody>
          <a:bodyPr wrap="square">
            <a:spAutoFit/>
          </a:bodyPr>
          <a:lstStyle/>
          <a:p>
            <a:pPr lvl="0">
              <a:defRPr/>
            </a:pPr>
            <a:r>
              <a:rPr kumimoji="1" lang="en" altLang="zh-TW" sz="800">
                <a:solidFill>
                  <a:schemeClr val="bg1">
                    <a:lumMod val="65000"/>
                  </a:schemeClr>
                </a:solidFill>
              </a:rPr>
              <a:t>Offline Point of Interest (POI)</a:t>
            </a:r>
          </a:p>
        </p:txBody>
      </p:sp>
      <p:pic>
        <p:nvPicPr>
          <p:cNvPr id="26" name="圖片 25">
            <a:extLst>
              <a:ext uri="{FF2B5EF4-FFF2-40B4-BE49-F238E27FC236}">
                <a16:creationId xmlns:a16="http://schemas.microsoft.com/office/drawing/2014/main" id="{A06029BA-C352-140C-F823-6998057C9B30}"/>
              </a:ext>
            </a:extLst>
          </p:cNvPr>
          <p:cNvPicPr>
            <a:picLocks noChangeAspect="1"/>
          </p:cNvPicPr>
          <p:nvPr/>
        </p:nvPicPr>
        <p:blipFill>
          <a:blip r:embed="rId6"/>
          <a:stretch>
            <a:fillRect/>
          </a:stretch>
        </p:blipFill>
        <p:spPr>
          <a:xfrm>
            <a:off x="7897154" y="1900710"/>
            <a:ext cx="184348" cy="184348"/>
          </a:xfrm>
          <a:prstGeom prst="rect">
            <a:avLst/>
          </a:prstGeom>
        </p:spPr>
      </p:pic>
      <p:sp>
        <p:nvSpPr>
          <p:cNvPr id="27" name="文字方塊 26">
            <a:extLst>
              <a:ext uri="{FF2B5EF4-FFF2-40B4-BE49-F238E27FC236}">
                <a16:creationId xmlns:a16="http://schemas.microsoft.com/office/drawing/2014/main" id="{8E67899F-C275-7FFD-D17A-B65515CEBDF3}"/>
              </a:ext>
            </a:extLst>
          </p:cNvPr>
          <p:cNvSpPr txBox="1"/>
          <p:nvPr/>
        </p:nvSpPr>
        <p:spPr>
          <a:xfrm>
            <a:off x="6517381" y="2204776"/>
            <a:ext cx="3432646" cy="261610"/>
          </a:xfrm>
          <a:prstGeom prst="rect">
            <a:avLst/>
          </a:prstGeom>
          <a:solidFill>
            <a:schemeClr val="bg1"/>
          </a:solidFill>
        </p:spPr>
        <p:txBody>
          <a:bodyPr wrap="square">
            <a:spAutoFit/>
          </a:bodyPr>
          <a:lstStyle/>
          <a:p>
            <a:pPr lvl="0">
              <a:defRPr/>
            </a:pPr>
            <a:r>
              <a:rPr kumimoji="1" lang="en" altLang="zh-TW" sz="1100">
                <a:solidFill>
                  <a:srgbClr val="2993FF"/>
                </a:solidFill>
              </a:rPr>
              <a:t>[Webb</a:t>
            </a:r>
            <a:r>
              <a:rPr kumimoji="1" lang="zh-TW" altLang="en-US" sz="1100">
                <a:solidFill>
                  <a:srgbClr val="2993FF"/>
                </a:solidFill>
              </a:rPr>
              <a:t>零售數據</a:t>
            </a:r>
            <a:r>
              <a:rPr kumimoji="1" lang="en-US" altLang="zh-TW" sz="1100">
                <a:solidFill>
                  <a:srgbClr val="2993FF"/>
                </a:solidFill>
              </a:rPr>
              <a:t>-</a:t>
            </a:r>
            <a:r>
              <a:rPr kumimoji="1" lang="zh-TW" altLang="en-US" sz="1100">
                <a:solidFill>
                  <a:srgbClr val="2993FF"/>
                </a:solidFill>
              </a:rPr>
              <a:t>購買</a:t>
            </a:r>
            <a:r>
              <a:rPr kumimoji="1" lang="en-US" altLang="zh-TW" sz="1100">
                <a:solidFill>
                  <a:srgbClr val="2993FF"/>
                </a:solidFill>
              </a:rPr>
              <a:t>] </a:t>
            </a:r>
            <a:r>
              <a:rPr kumimoji="1" lang="zh-TW" altLang="en-US" sz="1100">
                <a:solidFill>
                  <a:srgbClr val="2993FF"/>
                </a:solidFill>
              </a:rPr>
              <a:t>合利他命</a:t>
            </a:r>
            <a:r>
              <a:rPr kumimoji="1" lang="en" altLang="zh-TW" sz="1100">
                <a:solidFill>
                  <a:srgbClr val="2993FF"/>
                </a:solidFill>
              </a:rPr>
              <a:t>EXPLUS 10</a:t>
            </a:r>
            <a:r>
              <a:rPr kumimoji="1" lang="zh-TW" altLang="en-US" sz="1100">
                <a:solidFill>
                  <a:srgbClr val="2993FF"/>
                </a:solidFill>
              </a:rPr>
              <a:t>月</a:t>
            </a:r>
          </a:p>
        </p:txBody>
      </p:sp>
      <p:sp>
        <p:nvSpPr>
          <p:cNvPr id="28" name="文字方塊 27">
            <a:extLst>
              <a:ext uri="{FF2B5EF4-FFF2-40B4-BE49-F238E27FC236}">
                <a16:creationId xmlns:a16="http://schemas.microsoft.com/office/drawing/2014/main" id="{1FA8E5D5-6A0E-8C74-3F6F-533B60E10D8F}"/>
              </a:ext>
            </a:extLst>
          </p:cNvPr>
          <p:cNvSpPr txBox="1"/>
          <p:nvPr/>
        </p:nvSpPr>
        <p:spPr>
          <a:xfrm>
            <a:off x="6524546" y="2413788"/>
            <a:ext cx="3432647" cy="215444"/>
          </a:xfrm>
          <a:prstGeom prst="rect">
            <a:avLst/>
          </a:prstGeom>
          <a:solidFill>
            <a:schemeClr val="bg1"/>
          </a:solidFill>
        </p:spPr>
        <p:txBody>
          <a:bodyPr wrap="square">
            <a:spAutoFit/>
          </a:bodyPr>
          <a:lstStyle/>
          <a:p>
            <a:pPr fontAlgn="base"/>
            <a:r>
              <a:rPr kumimoji="1" lang="en" altLang="zh-TW" sz="800">
                <a:solidFill>
                  <a:schemeClr val="bg1">
                    <a:lumMod val="65000"/>
                  </a:schemeClr>
                </a:solidFill>
              </a:rPr>
              <a:t>Webb Retail Data (Purchase)</a:t>
            </a:r>
          </a:p>
        </p:txBody>
      </p:sp>
      <p:sp>
        <p:nvSpPr>
          <p:cNvPr id="29" name="矩形 28">
            <a:extLst>
              <a:ext uri="{FF2B5EF4-FFF2-40B4-BE49-F238E27FC236}">
                <a16:creationId xmlns:a16="http://schemas.microsoft.com/office/drawing/2014/main" id="{67A086A2-DFAA-2606-F9CD-1D123BDE7EBF}"/>
              </a:ext>
            </a:extLst>
          </p:cNvPr>
          <p:cNvSpPr/>
          <p:nvPr/>
        </p:nvSpPr>
        <p:spPr>
          <a:xfrm>
            <a:off x="2503965" y="2143405"/>
            <a:ext cx="3744000" cy="4078016"/>
          </a:xfrm>
          <a:prstGeom prst="rect">
            <a:avLst/>
          </a:prstGeom>
          <a:solidFill>
            <a:srgbClr val="F5F8F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pic>
        <p:nvPicPr>
          <p:cNvPr id="30" name="圖片 29">
            <a:extLst>
              <a:ext uri="{FF2B5EF4-FFF2-40B4-BE49-F238E27FC236}">
                <a16:creationId xmlns:a16="http://schemas.microsoft.com/office/drawing/2014/main" id="{1B3FF2EA-7AB4-C2AB-8A01-056710E0CB8B}"/>
              </a:ext>
            </a:extLst>
          </p:cNvPr>
          <p:cNvPicPr>
            <a:picLocks noChangeAspect="1"/>
          </p:cNvPicPr>
          <p:nvPr/>
        </p:nvPicPr>
        <p:blipFill>
          <a:blip r:embed="rId7"/>
          <a:stretch>
            <a:fillRect/>
          </a:stretch>
        </p:blipFill>
        <p:spPr>
          <a:xfrm flipH="1">
            <a:off x="7881314" y="2392968"/>
            <a:ext cx="254609" cy="254609"/>
          </a:xfrm>
          <a:prstGeom prst="rect">
            <a:avLst/>
          </a:prstGeom>
        </p:spPr>
      </p:pic>
      <p:pic>
        <p:nvPicPr>
          <p:cNvPr id="32" name="圖片 31">
            <a:extLst>
              <a:ext uri="{FF2B5EF4-FFF2-40B4-BE49-F238E27FC236}">
                <a16:creationId xmlns:a16="http://schemas.microsoft.com/office/drawing/2014/main" id="{42D834FC-C15A-35F6-195F-35FDE6F3C097}"/>
              </a:ext>
            </a:extLst>
          </p:cNvPr>
          <p:cNvPicPr>
            <a:picLocks noChangeAspect="1"/>
          </p:cNvPicPr>
          <p:nvPr/>
        </p:nvPicPr>
        <p:blipFill>
          <a:blip r:embed="rId8"/>
          <a:stretch>
            <a:fillRect/>
          </a:stretch>
        </p:blipFill>
        <p:spPr>
          <a:xfrm>
            <a:off x="8045838" y="293747"/>
            <a:ext cx="279400" cy="317500"/>
          </a:xfrm>
          <a:prstGeom prst="rect">
            <a:avLst/>
          </a:prstGeom>
        </p:spPr>
      </p:pic>
    </p:spTree>
    <p:extLst>
      <p:ext uri="{BB962C8B-B14F-4D97-AF65-F5344CB8AC3E}">
        <p14:creationId xmlns:p14="http://schemas.microsoft.com/office/powerpoint/2010/main" val="312220579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標題 1">
            <a:extLst>
              <a:ext uri="{FF2B5EF4-FFF2-40B4-BE49-F238E27FC236}">
                <a16:creationId xmlns:a16="http://schemas.microsoft.com/office/drawing/2014/main" id="{CCEF4CAB-A19E-E371-BF7B-6EA90DDD589C}"/>
              </a:ext>
            </a:extLst>
          </p:cNvPr>
          <p:cNvSpPr txBox="1">
            <a:spLocks/>
          </p:cNvSpPr>
          <p:nvPr/>
        </p:nvSpPr>
        <p:spPr>
          <a:xfrm>
            <a:off x="0" y="0"/>
            <a:ext cx="10515600" cy="70560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kumimoji="1" lang="en-US" altLang="zh-TW" sz="2000" dirty="0"/>
              <a:t>Edit &amp; Save Ad Group</a:t>
            </a:r>
          </a:p>
          <a:p>
            <a:r>
              <a:rPr kumimoji="1" lang="en-US" altLang="zh-TW" sz="2000" dirty="0"/>
              <a:t>With Status=</a:t>
            </a:r>
            <a:r>
              <a:rPr kumimoji="1" lang="en-US" altLang="zh-TW" sz="2000" b="1" dirty="0"/>
              <a:t>Expired</a:t>
            </a:r>
            <a:r>
              <a:rPr kumimoji="1" lang="en-US" altLang="zh-TW" sz="2000" dirty="0"/>
              <a:t> Audiences</a:t>
            </a:r>
          </a:p>
        </p:txBody>
      </p:sp>
      <p:pic>
        <p:nvPicPr>
          <p:cNvPr id="5" name="圖片 4" descr="一張含有 文字, 數字, 字型, 螢幕擷取畫面 的圖片&#10;&#10;AI 產生的內容可能不正確。">
            <a:extLst>
              <a:ext uri="{FF2B5EF4-FFF2-40B4-BE49-F238E27FC236}">
                <a16:creationId xmlns:a16="http://schemas.microsoft.com/office/drawing/2014/main" id="{50ADB862-1A64-BD0C-B7CD-EC641E39ED88}"/>
              </a:ext>
            </a:extLst>
          </p:cNvPr>
          <p:cNvPicPr>
            <a:picLocks noChangeAspect="1"/>
          </p:cNvPicPr>
          <p:nvPr/>
        </p:nvPicPr>
        <p:blipFill>
          <a:blip r:embed="rId2"/>
          <a:srcRect b="29706"/>
          <a:stretch>
            <a:fillRect/>
          </a:stretch>
        </p:blipFill>
        <p:spPr>
          <a:xfrm>
            <a:off x="930954" y="1165541"/>
            <a:ext cx="10330092" cy="4526918"/>
          </a:xfrm>
          <a:prstGeom prst="rect">
            <a:avLst/>
          </a:prstGeom>
        </p:spPr>
      </p:pic>
      <p:sp>
        <p:nvSpPr>
          <p:cNvPr id="6" name="文字方塊 5">
            <a:extLst>
              <a:ext uri="{FF2B5EF4-FFF2-40B4-BE49-F238E27FC236}">
                <a16:creationId xmlns:a16="http://schemas.microsoft.com/office/drawing/2014/main" id="{8E78B7A3-0670-B6B6-F1DE-92A2CC12B400}"/>
              </a:ext>
            </a:extLst>
          </p:cNvPr>
          <p:cNvSpPr txBox="1"/>
          <p:nvPr/>
        </p:nvSpPr>
        <p:spPr>
          <a:xfrm>
            <a:off x="1357912" y="2178928"/>
            <a:ext cx="1993900" cy="307777"/>
          </a:xfrm>
          <a:prstGeom prst="rect">
            <a:avLst/>
          </a:prstGeom>
          <a:solidFill>
            <a:schemeClr val="bg1"/>
          </a:solidFill>
        </p:spPr>
        <p:txBody>
          <a:bodyPr wrap="square" rtlCol="0">
            <a:spAutoFit/>
          </a:bodyPr>
          <a:lstStyle/>
          <a:p>
            <a:r>
              <a:rPr kumimoji="1" lang="en-US" altLang="zh-TW" sz="1400">
                <a:solidFill>
                  <a:srgbClr val="1C1E20"/>
                </a:solidFill>
              </a:rPr>
              <a:t>Custom Audience</a:t>
            </a:r>
            <a:endParaRPr kumimoji="1" lang="zh-TW" altLang="en-US" sz="1400">
              <a:solidFill>
                <a:srgbClr val="1C1E20"/>
              </a:solidFill>
            </a:endParaRPr>
          </a:p>
        </p:txBody>
      </p:sp>
      <p:sp>
        <p:nvSpPr>
          <p:cNvPr id="7" name="文字方塊 6">
            <a:extLst>
              <a:ext uri="{FF2B5EF4-FFF2-40B4-BE49-F238E27FC236}">
                <a16:creationId xmlns:a16="http://schemas.microsoft.com/office/drawing/2014/main" id="{A2FA7642-056E-08BC-5782-064D7C9E9E6A}"/>
              </a:ext>
            </a:extLst>
          </p:cNvPr>
          <p:cNvSpPr txBox="1"/>
          <p:nvPr/>
        </p:nvSpPr>
        <p:spPr>
          <a:xfrm>
            <a:off x="1357912" y="4882539"/>
            <a:ext cx="1993900" cy="307777"/>
          </a:xfrm>
          <a:prstGeom prst="rect">
            <a:avLst/>
          </a:prstGeom>
          <a:solidFill>
            <a:schemeClr val="bg1"/>
          </a:solidFill>
        </p:spPr>
        <p:txBody>
          <a:bodyPr wrap="square" rtlCol="0">
            <a:spAutoFit/>
          </a:bodyPr>
          <a:lstStyle/>
          <a:p>
            <a:r>
              <a:rPr kumimoji="1" lang="en-US" altLang="zh-TW" sz="1400">
                <a:solidFill>
                  <a:srgbClr val="1C1E20"/>
                </a:solidFill>
              </a:rPr>
              <a:t>Campaign Audience</a:t>
            </a:r>
            <a:endParaRPr kumimoji="1" lang="zh-TW" altLang="en-US" sz="1400">
              <a:solidFill>
                <a:srgbClr val="1C1E20"/>
              </a:solidFill>
            </a:endParaRPr>
          </a:p>
        </p:txBody>
      </p:sp>
      <p:sp>
        <p:nvSpPr>
          <p:cNvPr id="8" name="矩形 7">
            <a:extLst>
              <a:ext uri="{FF2B5EF4-FFF2-40B4-BE49-F238E27FC236}">
                <a16:creationId xmlns:a16="http://schemas.microsoft.com/office/drawing/2014/main" id="{AB6C20E3-F962-57AC-6463-4DE29F7EA02E}"/>
              </a:ext>
            </a:extLst>
          </p:cNvPr>
          <p:cNvSpPr/>
          <p:nvPr/>
        </p:nvSpPr>
        <p:spPr>
          <a:xfrm>
            <a:off x="1231899" y="5557176"/>
            <a:ext cx="9732433" cy="348324"/>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9" name="文字方塊 8">
            <a:extLst>
              <a:ext uri="{FF2B5EF4-FFF2-40B4-BE49-F238E27FC236}">
                <a16:creationId xmlns:a16="http://schemas.microsoft.com/office/drawing/2014/main" id="{1685DCF4-BFE0-EF2C-BBE4-2D2623B622A7}"/>
              </a:ext>
            </a:extLst>
          </p:cNvPr>
          <p:cNvSpPr txBox="1"/>
          <p:nvPr/>
        </p:nvSpPr>
        <p:spPr>
          <a:xfrm>
            <a:off x="1357912" y="5329833"/>
            <a:ext cx="1993900" cy="307777"/>
          </a:xfrm>
          <a:prstGeom prst="rect">
            <a:avLst/>
          </a:prstGeom>
          <a:solidFill>
            <a:schemeClr val="bg1"/>
          </a:solidFill>
        </p:spPr>
        <p:txBody>
          <a:bodyPr wrap="square" rtlCol="0">
            <a:spAutoFit/>
          </a:bodyPr>
          <a:lstStyle/>
          <a:p>
            <a:r>
              <a:rPr kumimoji="1" lang="en-US" altLang="zh-TW" sz="1400">
                <a:solidFill>
                  <a:srgbClr val="1C1E20"/>
                </a:solidFill>
              </a:rPr>
              <a:t>Web Traffic Audience</a:t>
            </a:r>
            <a:endParaRPr kumimoji="1" lang="zh-TW" altLang="en-US" sz="1400">
              <a:solidFill>
                <a:srgbClr val="1C1E20"/>
              </a:solidFill>
            </a:endParaRPr>
          </a:p>
        </p:txBody>
      </p:sp>
      <p:sp>
        <p:nvSpPr>
          <p:cNvPr id="10" name="文字方塊 9">
            <a:extLst>
              <a:ext uri="{FF2B5EF4-FFF2-40B4-BE49-F238E27FC236}">
                <a16:creationId xmlns:a16="http://schemas.microsoft.com/office/drawing/2014/main" id="{2F2BDA51-7FD4-7EE2-4612-12D028C71FD9}"/>
              </a:ext>
            </a:extLst>
          </p:cNvPr>
          <p:cNvSpPr txBox="1"/>
          <p:nvPr/>
        </p:nvSpPr>
        <p:spPr>
          <a:xfrm>
            <a:off x="4456712" y="2178928"/>
            <a:ext cx="3658588" cy="538609"/>
          </a:xfrm>
          <a:prstGeom prst="rect">
            <a:avLst/>
          </a:prstGeom>
          <a:solidFill>
            <a:schemeClr val="bg1"/>
          </a:solidFill>
        </p:spPr>
        <p:txBody>
          <a:bodyPr wrap="square" rtlCol="0">
            <a:spAutoFit/>
          </a:bodyPr>
          <a:lstStyle/>
          <a:p>
            <a:pPr lvl="0">
              <a:defRPr/>
            </a:pPr>
            <a:r>
              <a:rPr kumimoji="1" lang="en-US" altLang="zh-TW" sz="1200">
                <a:solidFill>
                  <a:srgbClr val="4E4E4E"/>
                </a:solidFill>
              </a:rPr>
              <a:t>[</a:t>
            </a:r>
            <a:r>
              <a:rPr kumimoji="1" lang="zh-TW" altLang="en-US" sz="1200">
                <a:solidFill>
                  <a:srgbClr val="4E4E4E"/>
                </a:solidFill>
              </a:rPr>
              <a:t>線下</a:t>
            </a:r>
            <a:r>
              <a:rPr kumimoji="1" lang="en" altLang="zh-TW" sz="1200">
                <a:solidFill>
                  <a:srgbClr val="4E4E4E"/>
                </a:solidFill>
              </a:rPr>
              <a:t>POI] </a:t>
            </a:r>
            <a:r>
              <a:rPr kumimoji="1" lang="zh-TW" altLang="en-US" sz="1200">
                <a:solidFill>
                  <a:srgbClr val="4E4E4E"/>
                </a:solidFill>
              </a:rPr>
              <a:t>合利他命</a:t>
            </a:r>
            <a:r>
              <a:rPr kumimoji="1" lang="en" altLang="zh-TW" sz="1200">
                <a:solidFill>
                  <a:srgbClr val="4E4E4E"/>
                </a:solidFill>
              </a:rPr>
              <a:t>EXPLUS 10</a:t>
            </a:r>
            <a:r>
              <a:rPr kumimoji="1" lang="zh-TW" altLang="en-US" sz="1200">
                <a:solidFill>
                  <a:srgbClr val="4E4E4E"/>
                </a:solidFill>
              </a:rPr>
              <a:t>月</a:t>
            </a:r>
            <a:endParaRPr kumimoji="1" lang="en-US" altLang="zh-TW" sz="1200">
              <a:solidFill>
                <a:srgbClr val="4E4E4E"/>
              </a:solidFill>
            </a:endParaRPr>
          </a:p>
          <a:p>
            <a:pPr lvl="0">
              <a:defRPr/>
            </a:pPr>
            <a:endParaRPr kumimoji="1" lang="en-US" altLang="zh-TW" sz="500">
              <a:solidFill>
                <a:srgbClr val="4E4E4E"/>
              </a:solidFill>
            </a:endParaRPr>
          </a:p>
          <a:p>
            <a:pPr>
              <a:defRPr/>
            </a:pPr>
            <a:r>
              <a:rPr kumimoji="1" lang="en" altLang="zh-TW" sz="1200">
                <a:solidFill>
                  <a:srgbClr val="4E4E4E"/>
                </a:solidFill>
              </a:rPr>
              <a:t>[Webb</a:t>
            </a:r>
            <a:r>
              <a:rPr kumimoji="1" lang="zh-TW" altLang="en-US" sz="1200">
                <a:solidFill>
                  <a:srgbClr val="4E4E4E"/>
                </a:solidFill>
              </a:rPr>
              <a:t>零售數據</a:t>
            </a:r>
            <a:r>
              <a:rPr kumimoji="1" lang="en-US" altLang="zh-TW" sz="1200">
                <a:solidFill>
                  <a:srgbClr val="4E4E4E"/>
                </a:solidFill>
              </a:rPr>
              <a:t>-</a:t>
            </a:r>
            <a:r>
              <a:rPr kumimoji="1" lang="zh-TW" altLang="en-US" sz="1200">
                <a:solidFill>
                  <a:srgbClr val="4E4E4E"/>
                </a:solidFill>
              </a:rPr>
              <a:t>購買</a:t>
            </a:r>
            <a:r>
              <a:rPr kumimoji="1" lang="en-US" altLang="zh-TW" sz="1200">
                <a:solidFill>
                  <a:srgbClr val="4E4E4E"/>
                </a:solidFill>
              </a:rPr>
              <a:t>] </a:t>
            </a:r>
            <a:r>
              <a:rPr kumimoji="1" lang="zh-TW" altLang="en-US" sz="1200">
                <a:solidFill>
                  <a:srgbClr val="4E4E4E"/>
                </a:solidFill>
              </a:rPr>
              <a:t>合利他命</a:t>
            </a:r>
            <a:r>
              <a:rPr kumimoji="1" lang="en" altLang="zh-TW" sz="1200">
                <a:solidFill>
                  <a:srgbClr val="4E4E4E"/>
                </a:solidFill>
              </a:rPr>
              <a:t>EXPLUS 10</a:t>
            </a:r>
            <a:r>
              <a:rPr kumimoji="1" lang="zh-TW" altLang="en-US" sz="1200">
                <a:solidFill>
                  <a:srgbClr val="4E4E4E"/>
                </a:solidFill>
              </a:rPr>
              <a:t>月</a:t>
            </a:r>
            <a:endParaRPr kumimoji="1" lang="en-US" altLang="zh-TW" sz="1200">
              <a:solidFill>
                <a:srgbClr val="4E4E4E"/>
              </a:solidFill>
            </a:endParaRPr>
          </a:p>
        </p:txBody>
      </p:sp>
      <p:pic>
        <p:nvPicPr>
          <p:cNvPr id="11" name="圖片 10">
            <a:extLst>
              <a:ext uri="{FF2B5EF4-FFF2-40B4-BE49-F238E27FC236}">
                <a16:creationId xmlns:a16="http://schemas.microsoft.com/office/drawing/2014/main" id="{90BD3C73-9CAA-DD6D-D69A-618857534096}"/>
              </a:ext>
            </a:extLst>
          </p:cNvPr>
          <p:cNvPicPr>
            <a:picLocks noChangeAspect="1"/>
          </p:cNvPicPr>
          <p:nvPr/>
        </p:nvPicPr>
        <p:blipFill>
          <a:blip r:embed="rId3"/>
          <a:stretch>
            <a:fillRect/>
          </a:stretch>
        </p:blipFill>
        <p:spPr>
          <a:xfrm>
            <a:off x="6692594" y="2192581"/>
            <a:ext cx="251999" cy="251999"/>
          </a:xfrm>
          <a:prstGeom prst="rect">
            <a:avLst/>
          </a:prstGeom>
        </p:spPr>
      </p:pic>
      <p:pic>
        <p:nvPicPr>
          <p:cNvPr id="12" name="圖片 11">
            <a:extLst>
              <a:ext uri="{FF2B5EF4-FFF2-40B4-BE49-F238E27FC236}">
                <a16:creationId xmlns:a16="http://schemas.microsoft.com/office/drawing/2014/main" id="{08F2042F-0AF1-50D8-BDA3-C6714FBFFE71}"/>
              </a:ext>
            </a:extLst>
          </p:cNvPr>
          <p:cNvPicPr>
            <a:picLocks noChangeAspect="1"/>
          </p:cNvPicPr>
          <p:nvPr/>
        </p:nvPicPr>
        <p:blipFill>
          <a:blip r:embed="rId4"/>
          <a:stretch>
            <a:fillRect/>
          </a:stretch>
        </p:blipFill>
        <p:spPr>
          <a:xfrm flipH="1">
            <a:off x="7503924" y="2442144"/>
            <a:ext cx="254609" cy="254609"/>
          </a:xfrm>
          <a:prstGeom prst="rect">
            <a:avLst/>
          </a:prstGeom>
        </p:spPr>
      </p:pic>
      <p:pic>
        <p:nvPicPr>
          <p:cNvPr id="20" name="圖片 19">
            <a:extLst>
              <a:ext uri="{FF2B5EF4-FFF2-40B4-BE49-F238E27FC236}">
                <a16:creationId xmlns:a16="http://schemas.microsoft.com/office/drawing/2014/main" id="{7D4A2DE6-A2C0-35A6-0DD2-EE4135968B87}"/>
              </a:ext>
            </a:extLst>
          </p:cNvPr>
          <p:cNvPicPr>
            <a:picLocks noChangeAspect="1"/>
          </p:cNvPicPr>
          <p:nvPr/>
        </p:nvPicPr>
        <p:blipFill>
          <a:blip r:embed="rId5"/>
          <a:stretch>
            <a:fillRect/>
          </a:stretch>
        </p:blipFill>
        <p:spPr>
          <a:xfrm>
            <a:off x="10253124" y="5409583"/>
            <a:ext cx="358168" cy="343842"/>
          </a:xfrm>
          <a:prstGeom prst="rect">
            <a:avLst/>
          </a:prstGeom>
        </p:spPr>
      </p:pic>
      <p:sp>
        <p:nvSpPr>
          <p:cNvPr id="21" name="矩形 20">
            <a:extLst>
              <a:ext uri="{FF2B5EF4-FFF2-40B4-BE49-F238E27FC236}">
                <a16:creationId xmlns:a16="http://schemas.microsoft.com/office/drawing/2014/main" id="{B740762F-57CE-9638-6212-7A18A7A7ED2A}"/>
              </a:ext>
            </a:extLst>
          </p:cNvPr>
          <p:cNvSpPr/>
          <p:nvPr/>
        </p:nvSpPr>
        <p:spPr>
          <a:xfrm>
            <a:off x="4358178" y="2423088"/>
            <a:ext cx="3658588" cy="348324"/>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Tree>
    <p:extLst>
      <p:ext uri="{BB962C8B-B14F-4D97-AF65-F5344CB8AC3E}">
        <p14:creationId xmlns:p14="http://schemas.microsoft.com/office/powerpoint/2010/main" val="54611349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圖片 4" descr="一張含有 文字, 螢幕擷取畫面 的圖片&#10;&#10;AI 產生的內容可能不正確。">
            <a:extLst>
              <a:ext uri="{FF2B5EF4-FFF2-40B4-BE49-F238E27FC236}">
                <a16:creationId xmlns:a16="http://schemas.microsoft.com/office/drawing/2014/main" id="{F0B17C94-BF2B-4178-1B17-ABDF946F65E0}"/>
              </a:ext>
            </a:extLst>
          </p:cNvPr>
          <p:cNvPicPr>
            <a:picLocks noChangeAspect="1"/>
          </p:cNvPicPr>
          <p:nvPr/>
        </p:nvPicPr>
        <p:blipFill>
          <a:blip r:embed="rId3"/>
          <a:stretch>
            <a:fillRect/>
          </a:stretch>
        </p:blipFill>
        <p:spPr>
          <a:xfrm>
            <a:off x="1577385" y="711200"/>
            <a:ext cx="9238332" cy="6146800"/>
          </a:xfrm>
          <a:prstGeom prst="rect">
            <a:avLst/>
          </a:prstGeom>
        </p:spPr>
      </p:pic>
      <p:sp>
        <p:nvSpPr>
          <p:cNvPr id="6" name="標題 1">
            <a:extLst>
              <a:ext uri="{FF2B5EF4-FFF2-40B4-BE49-F238E27FC236}">
                <a16:creationId xmlns:a16="http://schemas.microsoft.com/office/drawing/2014/main" id="{CC959F91-EF82-A253-131A-398B64320065}"/>
              </a:ext>
            </a:extLst>
          </p:cNvPr>
          <p:cNvSpPr txBox="1">
            <a:spLocks/>
          </p:cNvSpPr>
          <p:nvPr/>
        </p:nvSpPr>
        <p:spPr>
          <a:xfrm>
            <a:off x="0" y="0"/>
            <a:ext cx="10515600" cy="70560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kumimoji="1" lang="en-US" altLang="zh-TW" sz="2000" dirty="0"/>
              <a:t>Edit &amp; Save Ad Group</a:t>
            </a:r>
          </a:p>
          <a:p>
            <a:r>
              <a:rPr kumimoji="1" lang="en-US" altLang="zh-TW" sz="2000" dirty="0"/>
              <a:t>With Status=</a:t>
            </a:r>
            <a:r>
              <a:rPr kumimoji="1" lang="en-US" altLang="zh-TW" sz="2000" b="1" dirty="0"/>
              <a:t>Expired</a:t>
            </a:r>
            <a:r>
              <a:rPr kumimoji="1" lang="en-US" altLang="zh-TW" sz="2000" dirty="0"/>
              <a:t> Audiences </a:t>
            </a:r>
            <a:r>
              <a:rPr kumimoji="1" lang="en-US" altLang="zh-TW" sz="2000" dirty="0">
                <a:sym typeface="Wingdings" pitchFamily="2" charset="2"/>
              </a:rPr>
              <a:t> </a:t>
            </a:r>
            <a:endParaRPr kumimoji="1" lang="en-US" altLang="zh-TW" sz="2000" dirty="0"/>
          </a:p>
        </p:txBody>
      </p:sp>
      <p:sp>
        <p:nvSpPr>
          <p:cNvPr id="7" name="矩形 6">
            <a:extLst>
              <a:ext uri="{FF2B5EF4-FFF2-40B4-BE49-F238E27FC236}">
                <a16:creationId xmlns:a16="http://schemas.microsoft.com/office/drawing/2014/main" id="{434916F0-F3D9-A2E6-4FAB-79BE84CF20C4}"/>
              </a:ext>
            </a:extLst>
          </p:cNvPr>
          <p:cNvSpPr/>
          <p:nvPr/>
        </p:nvSpPr>
        <p:spPr>
          <a:xfrm>
            <a:off x="1577385" y="711200"/>
            <a:ext cx="9238332" cy="6146800"/>
          </a:xfrm>
          <a:prstGeom prst="rect">
            <a:avLst/>
          </a:prstGeom>
          <a:solidFill>
            <a:schemeClr val="tx1">
              <a:lumMod val="65000"/>
              <a:lumOff val="35000"/>
              <a:alpha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1" name="圓角矩形 10">
            <a:extLst>
              <a:ext uri="{FF2B5EF4-FFF2-40B4-BE49-F238E27FC236}">
                <a16:creationId xmlns:a16="http://schemas.microsoft.com/office/drawing/2014/main" id="{E0DB570E-8DFD-1AAA-2B91-A2A678F6780E}"/>
              </a:ext>
            </a:extLst>
          </p:cNvPr>
          <p:cNvSpPr/>
          <p:nvPr/>
        </p:nvSpPr>
        <p:spPr>
          <a:xfrm>
            <a:off x="3822700" y="2970308"/>
            <a:ext cx="4876800" cy="1533715"/>
          </a:xfrm>
          <a:prstGeom prst="roundRect">
            <a:avLst>
              <a:gd name="adj" fmla="val 3694"/>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kumimoji="1" lang="zh-TW" altLang="en-US">
              <a:solidFill>
                <a:schemeClr val="bg1">
                  <a:lumMod val="50000"/>
                </a:schemeClr>
              </a:solidFill>
            </a:endParaRPr>
          </a:p>
        </p:txBody>
      </p:sp>
      <p:pic>
        <p:nvPicPr>
          <p:cNvPr id="13" name="圖片 12">
            <a:extLst>
              <a:ext uri="{FF2B5EF4-FFF2-40B4-BE49-F238E27FC236}">
                <a16:creationId xmlns:a16="http://schemas.microsoft.com/office/drawing/2014/main" id="{DD9FFFA1-12B0-8B4B-0CF6-265E914724D9}"/>
              </a:ext>
            </a:extLst>
          </p:cNvPr>
          <p:cNvPicPr>
            <a:picLocks noChangeAspect="1"/>
          </p:cNvPicPr>
          <p:nvPr/>
        </p:nvPicPr>
        <p:blipFill>
          <a:blip r:embed="rId4"/>
          <a:stretch>
            <a:fillRect/>
          </a:stretch>
        </p:blipFill>
        <p:spPr>
          <a:xfrm>
            <a:off x="8286750" y="3071909"/>
            <a:ext cx="317500" cy="254000"/>
          </a:xfrm>
          <a:prstGeom prst="rect">
            <a:avLst/>
          </a:prstGeom>
        </p:spPr>
      </p:pic>
      <p:sp>
        <p:nvSpPr>
          <p:cNvPr id="16" name="文字方塊 15">
            <a:extLst>
              <a:ext uri="{FF2B5EF4-FFF2-40B4-BE49-F238E27FC236}">
                <a16:creationId xmlns:a16="http://schemas.microsoft.com/office/drawing/2014/main" id="{9956191D-0AAF-DD37-F4BB-BB5B6A92CD58}"/>
              </a:ext>
            </a:extLst>
          </p:cNvPr>
          <p:cNvSpPr txBox="1"/>
          <p:nvPr/>
        </p:nvSpPr>
        <p:spPr>
          <a:xfrm>
            <a:off x="3901242" y="3262409"/>
            <a:ext cx="4480758" cy="646331"/>
          </a:xfrm>
          <a:prstGeom prst="rect">
            <a:avLst/>
          </a:prstGeom>
          <a:noFill/>
        </p:spPr>
        <p:txBody>
          <a:bodyPr wrap="square">
            <a:spAutoFit/>
          </a:bodyPr>
          <a:lstStyle/>
          <a:p>
            <a:r>
              <a:rPr lang="en" altLang="zh-TW" sz="1200" dirty="0">
                <a:solidFill>
                  <a:srgbClr val="202022"/>
                </a:solidFill>
              </a:rPr>
              <a:t>This ad group contains expired audience pack(s). You may update the audience pack settings, or the system will automatically remove expired audience pack(s) from the ad group when saving.</a:t>
            </a:r>
            <a:endParaRPr kumimoji="1" lang="zh-TW" altLang="en-US" sz="1200" dirty="0">
              <a:solidFill>
                <a:srgbClr val="202022"/>
              </a:solidFill>
            </a:endParaRPr>
          </a:p>
        </p:txBody>
      </p:sp>
      <p:sp>
        <p:nvSpPr>
          <p:cNvPr id="17" name="圓角矩形 16">
            <a:extLst>
              <a:ext uri="{FF2B5EF4-FFF2-40B4-BE49-F238E27FC236}">
                <a16:creationId xmlns:a16="http://schemas.microsoft.com/office/drawing/2014/main" id="{E54A09B6-5552-C437-7BFE-9D9ECB4CE8E2}"/>
              </a:ext>
            </a:extLst>
          </p:cNvPr>
          <p:cNvSpPr/>
          <p:nvPr/>
        </p:nvSpPr>
        <p:spPr>
          <a:xfrm>
            <a:off x="6851652" y="4034931"/>
            <a:ext cx="1644648" cy="342900"/>
          </a:xfrm>
          <a:prstGeom prst="roundRect">
            <a:avLst>
              <a:gd name="adj" fmla="val 9260"/>
            </a:avLst>
          </a:prstGeom>
          <a:solidFill>
            <a:srgbClr val="2993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TW" sz="1400" dirty="0"/>
              <a:t>Continue Anyway</a:t>
            </a:r>
            <a:endParaRPr kumimoji="1" lang="zh-TW" altLang="en-US" sz="1400" dirty="0"/>
          </a:p>
        </p:txBody>
      </p:sp>
      <p:sp>
        <p:nvSpPr>
          <p:cNvPr id="18" name="圓角矩形 17">
            <a:extLst>
              <a:ext uri="{FF2B5EF4-FFF2-40B4-BE49-F238E27FC236}">
                <a16:creationId xmlns:a16="http://schemas.microsoft.com/office/drawing/2014/main" id="{3EB04B6B-89CB-ABDD-B412-7CB78864764C}"/>
              </a:ext>
            </a:extLst>
          </p:cNvPr>
          <p:cNvSpPr/>
          <p:nvPr/>
        </p:nvSpPr>
        <p:spPr>
          <a:xfrm>
            <a:off x="5372100" y="4029391"/>
            <a:ext cx="1308100" cy="342900"/>
          </a:xfrm>
          <a:prstGeom prst="roundRect">
            <a:avLst>
              <a:gd name="adj" fmla="val 9260"/>
            </a:avLst>
          </a:prstGeom>
          <a:solidFill>
            <a:schemeClr val="bg1"/>
          </a:solidFill>
          <a:ln w="6350">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TW" sz="1400">
                <a:solidFill>
                  <a:schemeClr val="bg1">
                    <a:lumMod val="50000"/>
                  </a:schemeClr>
                </a:solidFill>
              </a:rPr>
              <a:t>Edit Audience</a:t>
            </a:r>
            <a:endParaRPr kumimoji="1" lang="zh-TW" altLang="en-US" sz="1400">
              <a:solidFill>
                <a:schemeClr val="bg1">
                  <a:lumMod val="50000"/>
                </a:schemeClr>
              </a:solidFill>
            </a:endParaRPr>
          </a:p>
        </p:txBody>
      </p:sp>
      <p:pic>
        <p:nvPicPr>
          <p:cNvPr id="2" name="圖片 1" descr="一張含有 字型, 文字, 電子藍, 標誌 的圖片&#10;&#10;AI 產生的內容可能不正確。">
            <a:extLst>
              <a:ext uri="{FF2B5EF4-FFF2-40B4-BE49-F238E27FC236}">
                <a16:creationId xmlns:a16="http://schemas.microsoft.com/office/drawing/2014/main" id="{E7242657-7DB1-C748-C530-00151DE6DB98}"/>
              </a:ext>
            </a:extLst>
          </p:cNvPr>
          <p:cNvPicPr>
            <a:picLocks noChangeAspect="1"/>
          </p:cNvPicPr>
          <p:nvPr/>
        </p:nvPicPr>
        <p:blipFill>
          <a:blip r:embed="rId5"/>
          <a:stretch>
            <a:fillRect/>
          </a:stretch>
        </p:blipFill>
        <p:spPr>
          <a:xfrm>
            <a:off x="3676650" y="289560"/>
            <a:ext cx="850900" cy="406400"/>
          </a:xfrm>
          <a:prstGeom prst="rect">
            <a:avLst/>
          </a:prstGeom>
        </p:spPr>
      </p:pic>
    </p:spTree>
    <p:extLst>
      <p:ext uri="{BB962C8B-B14F-4D97-AF65-F5344CB8AC3E}">
        <p14:creationId xmlns:p14="http://schemas.microsoft.com/office/powerpoint/2010/main" val="164683146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標題 1">
            <a:extLst>
              <a:ext uri="{FF2B5EF4-FFF2-40B4-BE49-F238E27FC236}">
                <a16:creationId xmlns:a16="http://schemas.microsoft.com/office/drawing/2014/main" id="{2B3392E6-71C9-8B36-EAA6-0A0EF97B0B0B}"/>
              </a:ext>
            </a:extLst>
          </p:cNvPr>
          <p:cNvSpPr txBox="1">
            <a:spLocks/>
          </p:cNvSpPr>
          <p:nvPr/>
        </p:nvSpPr>
        <p:spPr>
          <a:xfrm>
            <a:off x="0" y="0"/>
            <a:ext cx="10515600" cy="70560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kumimoji="1" lang="en-US" altLang="zh-TW" sz="2000" dirty="0"/>
              <a:t>Edit &amp; Save Ad Group</a:t>
            </a:r>
          </a:p>
          <a:p>
            <a:r>
              <a:rPr kumimoji="1" lang="en-US" altLang="zh-TW" sz="2000" dirty="0"/>
              <a:t>With Status=</a:t>
            </a:r>
            <a:r>
              <a:rPr kumimoji="1" lang="en-US" altLang="zh-TW" sz="2000" b="1" dirty="0"/>
              <a:t>Expired</a:t>
            </a:r>
            <a:r>
              <a:rPr kumimoji="1" lang="en-US" altLang="zh-TW" sz="2000" dirty="0"/>
              <a:t> Audiences </a:t>
            </a:r>
            <a:r>
              <a:rPr kumimoji="1" lang="en-US" altLang="zh-TW" sz="2000" dirty="0">
                <a:sym typeface="Wingdings" pitchFamily="2" charset="2"/>
              </a:rPr>
              <a:t>.                   </a:t>
            </a:r>
            <a:endParaRPr kumimoji="1" lang="en-US" altLang="zh-TW" sz="2000" dirty="0"/>
          </a:p>
        </p:txBody>
      </p:sp>
      <p:pic>
        <p:nvPicPr>
          <p:cNvPr id="5" name="圖片 4" descr="一張含有 字型, 文字, 電子藍, 標誌 的圖片&#10;&#10;AI 產生的內容可能不正確。">
            <a:extLst>
              <a:ext uri="{FF2B5EF4-FFF2-40B4-BE49-F238E27FC236}">
                <a16:creationId xmlns:a16="http://schemas.microsoft.com/office/drawing/2014/main" id="{9DE9600F-028A-195D-8C78-B2EC2876A2DE}"/>
              </a:ext>
            </a:extLst>
          </p:cNvPr>
          <p:cNvPicPr>
            <a:picLocks noChangeAspect="1"/>
          </p:cNvPicPr>
          <p:nvPr/>
        </p:nvPicPr>
        <p:blipFill>
          <a:blip r:embed="rId2"/>
          <a:stretch>
            <a:fillRect/>
          </a:stretch>
        </p:blipFill>
        <p:spPr>
          <a:xfrm>
            <a:off x="3676650" y="289560"/>
            <a:ext cx="850900" cy="406400"/>
          </a:xfrm>
          <a:prstGeom prst="rect">
            <a:avLst/>
          </a:prstGeom>
        </p:spPr>
      </p:pic>
      <p:pic>
        <p:nvPicPr>
          <p:cNvPr id="7" name="圖片 6">
            <a:extLst>
              <a:ext uri="{FF2B5EF4-FFF2-40B4-BE49-F238E27FC236}">
                <a16:creationId xmlns:a16="http://schemas.microsoft.com/office/drawing/2014/main" id="{7E956A8C-E46C-6DC8-E71E-60DF9B77AC87}"/>
              </a:ext>
            </a:extLst>
          </p:cNvPr>
          <p:cNvPicPr>
            <a:picLocks noChangeAspect="1"/>
          </p:cNvPicPr>
          <p:nvPr/>
        </p:nvPicPr>
        <p:blipFill>
          <a:blip r:embed="rId3"/>
          <a:stretch>
            <a:fillRect/>
          </a:stretch>
        </p:blipFill>
        <p:spPr>
          <a:xfrm>
            <a:off x="4800600" y="334010"/>
            <a:ext cx="279400" cy="317500"/>
          </a:xfrm>
          <a:prstGeom prst="rect">
            <a:avLst/>
          </a:prstGeom>
        </p:spPr>
      </p:pic>
      <p:pic>
        <p:nvPicPr>
          <p:cNvPr id="8" name="圖片 7" descr="一張含有 文字, 螢幕擷取畫面 的圖片&#10;&#10;AI 產生的內容可能不正確。">
            <a:extLst>
              <a:ext uri="{FF2B5EF4-FFF2-40B4-BE49-F238E27FC236}">
                <a16:creationId xmlns:a16="http://schemas.microsoft.com/office/drawing/2014/main" id="{E855A753-2127-3851-4D8B-070B20214CCD}"/>
              </a:ext>
            </a:extLst>
          </p:cNvPr>
          <p:cNvPicPr>
            <a:picLocks noChangeAspect="1"/>
          </p:cNvPicPr>
          <p:nvPr/>
        </p:nvPicPr>
        <p:blipFill>
          <a:blip r:embed="rId4"/>
          <a:stretch>
            <a:fillRect/>
          </a:stretch>
        </p:blipFill>
        <p:spPr>
          <a:xfrm>
            <a:off x="1577385" y="711200"/>
            <a:ext cx="9238332" cy="6146800"/>
          </a:xfrm>
          <a:prstGeom prst="rect">
            <a:avLst/>
          </a:prstGeom>
        </p:spPr>
      </p:pic>
      <p:sp>
        <p:nvSpPr>
          <p:cNvPr id="15" name="文字方塊 14">
            <a:extLst>
              <a:ext uri="{FF2B5EF4-FFF2-40B4-BE49-F238E27FC236}">
                <a16:creationId xmlns:a16="http://schemas.microsoft.com/office/drawing/2014/main" id="{21ED7842-9F3C-2ED1-0351-75FD5D7F7755}"/>
              </a:ext>
            </a:extLst>
          </p:cNvPr>
          <p:cNvSpPr txBox="1"/>
          <p:nvPr/>
        </p:nvSpPr>
        <p:spPr>
          <a:xfrm>
            <a:off x="6959600" y="731520"/>
            <a:ext cx="3251200" cy="369332"/>
          </a:xfrm>
          <a:prstGeom prst="rect">
            <a:avLst/>
          </a:prstGeom>
          <a:noFill/>
        </p:spPr>
        <p:txBody>
          <a:bodyPr wrap="square" rtlCol="0">
            <a:spAutoFit/>
          </a:bodyPr>
          <a:lstStyle/>
          <a:p>
            <a:r>
              <a:rPr kumimoji="1" lang="zh-TW" altLang="en-US" dirty="0">
                <a:solidFill>
                  <a:srgbClr val="FF0000"/>
                </a:solidFill>
              </a:rPr>
              <a:t>單純關掉提醒對話框</a:t>
            </a:r>
          </a:p>
        </p:txBody>
      </p:sp>
    </p:spTree>
    <p:extLst>
      <p:ext uri="{BB962C8B-B14F-4D97-AF65-F5344CB8AC3E}">
        <p14:creationId xmlns:p14="http://schemas.microsoft.com/office/powerpoint/2010/main" val="35862442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 name="圖片 14" descr="一張含有 螢幕擷取畫面, 文字 的圖片&#10;&#10;AI 產生的內容可能不正確。">
            <a:extLst>
              <a:ext uri="{FF2B5EF4-FFF2-40B4-BE49-F238E27FC236}">
                <a16:creationId xmlns:a16="http://schemas.microsoft.com/office/drawing/2014/main" id="{4E5662E6-5585-85B3-ADAB-ED209D634B68}"/>
              </a:ext>
            </a:extLst>
          </p:cNvPr>
          <p:cNvPicPr>
            <a:picLocks noChangeAspect="1"/>
          </p:cNvPicPr>
          <p:nvPr/>
        </p:nvPicPr>
        <p:blipFill>
          <a:blip r:embed="rId3"/>
          <a:srcRect t="52912"/>
          <a:stretch>
            <a:fillRect/>
          </a:stretch>
        </p:blipFill>
        <p:spPr>
          <a:xfrm>
            <a:off x="1252249" y="4071173"/>
            <a:ext cx="9687501" cy="2699740"/>
          </a:xfrm>
          <a:prstGeom prst="rect">
            <a:avLst/>
          </a:prstGeom>
        </p:spPr>
      </p:pic>
      <p:sp>
        <p:nvSpPr>
          <p:cNvPr id="4" name="標題 1">
            <a:extLst>
              <a:ext uri="{FF2B5EF4-FFF2-40B4-BE49-F238E27FC236}">
                <a16:creationId xmlns:a16="http://schemas.microsoft.com/office/drawing/2014/main" id="{7CC82873-33B6-398C-635E-A024892BF7E0}"/>
              </a:ext>
            </a:extLst>
          </p:cNvPr>
          <p:cNvSpPr txBox="1">
            <a:spLocks/>
          </p:cNvSpPr>
          <p:nvPr/>
        </p:nvSpPr>
        <p:spPr>
          <a:xfrm>
            <a:off x="0" y="0"/>
            <a:ext cx="10515600" cy="70560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kumimoji="1" lang="en-US" altLang="zh-TW" sz="2000" dirty="0"/>
              <a:t>Edit &amp; Save Ad Group</a:t>
            </a:r>
          </a:p>
          <a:p>
            <a:r>
              <a:rPr kumimoji="1" lang="en-US" altLang="zh-TW" sz="2000" dirty="0"/>
              <a:t>With Status=</a:t>
            </a:r>
            <a:r>
              <a:rPr kumimoji="1" lang="en-US" altLang="zh-TW" sz="2000" b="1" dirty="0"/>
              <a:t>Expired</a:t>
            </a:r>
            <a:r>
              <a:rPr kumimoji="1" lang="en-US" altLang="zh-TW" sz="2000" dirty="0"/>
              <a:t> Audiences </a:t>
            </a:r>
            <a:r>
              <a:rPr kumimoji="1" lang="en-US" altLang="zh-TW" sz="2000" dirty="0">
                <a:sym typeface="Wingdings" pitchFamily="2" charset="2"/>
              </a:rPr>
              <a:t> </a:t>
            </a:r>
            <a:r>
              <a:rPr kumimoji="1" lang="en-US" altLang="zh-TW" sz="2000" dirty="0"/>
              <a:t>                </a:t>
            </a:r>
            <a:r>
              <a:rPr kumimoji="1" lang="en-US" altLang="zh-TW" sz="2000" dirty="0">
                <a:sym typeface="Wingdings" pitchFamily="2" charset="2"/>
              </a:rPr>
              <a:t></a:t>
            </a:r>
            <a:endParaRPr kumimoji="1" lang="en-US" altLang="zh-TW" sz="2000" dirty="0"/>
          </a:p>
        </p:txBody>
      </p:sp>
      <p:pic>
        <p:nvPicPr>
          <p:cNvPr id="8" name="圖片 7" descr="一張含有 螢幕擷取畫面, 文字 的圖片&#10;&#10;AI 產生的內容可能不正確。">
            <a:extLst>
              <a:ext uri="{FF2B5EF4-FFF2-40B4-BE49-F238E27FC236}">
                <a16:creationId xmlns:a16="http://schemas.microsoft.com/office/drawing/2014/main" id="{F1A3643E-DB44-2C35-B0D0-88DEE356B3F5}"/>
              </a:ext>
            </a:extLst>
          </p:cNvPr>
          <p:cNvPicPr>
            <a:picLocks noChangeAspect="1"/>
          </p:cNvPicPr>
          <p:nvPr/>
        </p:nvPicPr>
        <p:blipFill>
          <a:blip r:embed="rId3"/>
          <a:srcRect b="45852"/>
          <a:stretch>
            <a:fillRect/>
          </a:stretch>
        </p:blipFill>
        <p:spPr>
          <a:xfrm>
            <a:off x="1252249" y="756282"/>
            <a:ext cx="9687501" cy="3104518"/>
          </a:xfrm>
          <a:prstGeom prst="rect">
            <a:avLst/>
          </a:prstGeom>
        </p:spPr>
      </p:pic>
      <p:pic>
        <p:nvPicPr>
          <p:cNvPr id="13" name="圖片 12" descr="一張含有 文字, 螢幕擷取畫面 的圖片&#10;&#10;AI 產生的內容可能不正確。">
            <a:extLst>
              <a:ext uri="{FF2B5EF4-FFF2-40B4-BE49-F238E27FC236}">
                <a16:creationId xmlns:a16="http://schemas.microsoft.com/office/drawing/2014/main" id="{04FC8A29-5B50-2EAF-E0E6-571CE6CD3C87}"/>
              </a:ext>
            </a:extLst>
          </p:cNvPr>
          <p:cNvPicPr>
            <a:picLocks noChangeAspect="1"/>
          </p:cNvPicPr>
          <p:nvPr/>
        </p:nvPicPr>
        <p:blipFill>
          <a:blip r:embed="rId4"/>
          <a:stretch>
            <a:fillRect/>
          </a:stretch>
        </p:blipFill>
        <p:spPr>
          <a:xfrm>
            <a:off x="2543175" y="1173749"/>
            <a:ext cx="7092000" cy="2863229"/>
          </a:xfrm>
          <a:prstGeom prst="rect">
            <a:avLst/>
          </a:prstGeom>
        </p:spPr>
      </p:pic>
      <p:pic>
        <p:nvPicPr>
          <p:cNvPr id="16" name="圖片 15" descr="一張含有 文字, 螢幕擷取畫面, 字型, 行 的圖片&#10;&#10;AI 產生的內容可能不正確。">
            <a:extLst>
              <a:ext uri="{FF2B5EF4-FFF2-40B4-BE49-F238E27FC236}">
                <a16:creationId xmlns:a16="http://schemas.microsoft.com/office/drawing/2014/main" id="{D36D8BCF-4E02-0991-7AAF-7D14FDCD7445}"/>
              </a:ext>
            </a:extLst>
          </p:cNvPr>
          <p:cNvPicPr>
            <a:picLocks noChangeAspect="1"/>
          </p:cNvPicPr>
          <p:nvPr/>
        </p:nvPicPr>
        <p:blipFill>
          <a:blip r:embed="rId5"/>
          <a:stretch>
            <a:fillRect/>
          </a:stretch>
        </p:blipFill>
        <p:spPr>
          <a:xfrm>
            <a:off x="2438695" y="3967748"/>
            <a:ext cx="7262512" cy="1472400"/>
          </a:xfrm>
          <a:prstGeom prst="rect">
            <a:avLst/>
          </a:prstGeom>
        </p:spPr>
      </p:pic>
      <p:sp>
        <p:nvSpPr>
          <p:cNvPr id="19" name="矩形 18">
            <a:extLst>
              <a:ext uri="{FF2B5EF4-FFF2-40B4-BE49-F238E27FC236}">
                <a16:creationId xmlns:a16="http://schemas.microsoft.com/office/drawing/2014/main" id="{C0221BF4-3243-058F-1F6F-BE9FE89F60CD}"/>
              </a:ext>
            </a:extLst>
          </p:cNvPr>
          <p:cNvSpPr/>
          <p:nvPr/>
        </p:nvSpPr>
        <p:spPr>
          <a:xfrm>
            <a:off x="1252249" y="3700130"/>
            <a:ext cx="1290926" cy="371043"/>
          </a:xfrm>
          <a:prstGeom prst="rect">
            <a:avLst/>
          </a:prstGeom>
          <a:solidFill>
            <a:srgbClr val="F5F8F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20" name="矩形 19">
            <a:extLst>
              <a:ext uri="{FF2B5EF4-FFF2-40B4-BE49-F238E27FC236}">
                <a16:creationId xmlns:a16="http://schemas.microsoft.com/office/drawing/2014/main" id="{AAC1AB08-92A1-1BEA-8596-968CCFC57634}"/>
              </a:ext>
            </a:extLst>
          </p:cNvPr>
          <p:cNvSpPr/>
          <p:nvPr/>
        </p:nvSpPr>
        <p:spPr>
          <a:xfrm>
            <a:off x="9596726" y="3769360"/>
            <a:ext cx="1343023" cy="371043"/>
          </a:xfrm>
          <a:prstGeom prst="rect">
            <a:avLst/>
          </a:prstGeom>
          <a:solidFill>
            <a:srgbClr val="F5F8F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21" name="矩形 20">
            <a:extLst>
              <a:ext uri="{FF2B5EF4-FFF2-40B4-BE49-F238E27FC236}">
                <a16:creationId xmlns:a16="http://schemas.microsoft.com/office/drawing/2014/main" id="{9AEE04FA-4AD2-9297-AA4B-FDC297D4D646}"/>
              </a:ext>
            </a:extLst>
          </p:cNvPr>
          <p:cNvSpPr/>
          <p:nvPr/>
        </p:nvSpPr>
        <p:spPr>
          <a:xfrm>
            <a:off x="1252249" y="5073206"/>
            <a:ext cx="1290926" cy="371043"/>
          </a:xfrm>
          <a:prstGeom prst="rect">
            <a:avLst/>
          </a:prstGeom>
          <a:solidFill>
            <a:srgbClr val="F5F8F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22" name="矩形 21">
            <a:extLst>
              <a:ext uri="{FF2B5EF4-FFF2-40B4-BE49-F238E27FC236}">
                <a16:creationId xmlns:a16="http://schemas.microsoft.com/office/drawing/2014/main" id="{9DDA52C7-17FD-FA18-0263-504D0F8B3D4A}"/>
              </a:ext>
            </a:extLst>
          </p:cNvPr>
          <p:cNvSpPr/>
          <p:nvPr/>
        </p:nvSpPr>
        <p:spPr>
          <a:xfrm>
            <a:off x="9596726" y="5166711"/>
            <a:ext cx="1290926" cy="371043"/>
          </a:xfrm>
          <a:prstGeom prst="rect">
            <a:avLst/>
          </a:prstGeom>
          <a:solidFill>
            <a:srgbClr val="F5F8F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23" name="矩形 22">
            <a:extLst>
              <a:ext uri="{FF2B5EF4-FFF2-40B4-BE49-F238E27FC236}">
                <a16:creationId xmlns:a16="http://schemas.microsoft.com/office/drawing/2014/main" id="{6FC85A9F-5429-014F-437C-1FB2E1100F95}"/>
              </a:ext>
            </a:extLst>
          </p:cNvPr>
          <p:cNvSpPr/>
          <p:nvPr/>
        </p:nvSpPr>
        <p:spPr>
          <a:xfrm flipV="1">
            <a:off x="2543175" y="5358809"/>
            <a:ext cx="7053551" cy="115534"/>
          </a:xfrm>
          <a:prstGeom prst="rect">
            <a:avLst/>
          </a:prstGeom>
          <a:solidFill>
            <a:srgbClr val="EAF2F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25" name="矩形 24">
            <a:extLst>
              <a:ext uri="{FF2B5EF4-FFF2-40B4-BE49-F238E27FC236}">
                <a16:creationId xmlns:a16="http://schemas.microsoft.com/office/drawing/2014/main" id="{DB07EA74-2603-1FCA-64E5-0BE42BF4038F}"/>
              </a:ext>
            </a:extLst>
          </p:cNvPr>
          <p:cNvSpPr/>
          <p:nvPr/>
        </p:nvSpPr>
        <p:spPr>
          <a:xfrm>
            <a:off x="2550670" y="4774019"/>
            <a:ext cx="133200" cy="643972"/>
          </a:xfrm>
          <a:prstGeom prst="rect">
            <a:avLst/>
          </a:prstGeom>
          <a:solidFill>
            <a:srgbClr val="EAF2F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26" name="矩形 25">
            <a:extLst>
              <a:ext uri="{FF2B5EF4-FFF2-40B4-BE49-F238E27FC236}">
                <a16:creationId xmlns:a16="http://schemas.microsoft.com/office/drawing/2014/main" id="{FFF38E51-A315-E313-51EE-CA18731EC4A3}"/>
              </a:ext>
            </a:extLst>
          </p:cNvPr>
          <p:cNvSpPr/>
          <p:nvPr/>
        </p:nvSpPr>
        <p:spPr>
          <a:xfrm>
            <a:off x="9478028" y="4738632"/>
            <a:ext cx="133200" cy="643972"/>
          </a:xfrm>
          <a:prstGeom prst="rect">
            <a:avLst/>
          </a:prstGeom>
          <a:solidFill>
            <a:srgbClr val="EAF2F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27" name="文字方塊 26">
            <a:extLst>
              <a:ext uri="{FF2B5EF4-FFF2-40B4-BE49-F238E27FC236}">
                <a16:creationId xmlns:a16="http://schemas.microsoft.com/office/drawing/2014/main" id="{14933312-B7DC-1BAB-B72F-4BCA64EC75BB}"/>
              </a:ext>
            </a:extLst>
          </p:cNvPr>
          <p:cNvSpPr txBox="1"/>
          <p:nvPr/>
        </p:nvSpPr>
        <p:spPr>
          <a:xfrm>
            <a:off x="1196481" y="903298"/>
            <a:ext cx="2693388" cy="369332"/>
          </a:xfrm>
          <a:prstGeom prst="rect">
            <a:avLst/>
          </a:prstGeom>
          <a:noFill/>
        </p:spPr>
        <p:txBody>
          <a:bodyPr wrap="square" rtlCol="0">
            <a:spAutoFit/>
          </a:bodyPr>
          <a:lstStyle/>
          <a:p>
            <a:r>
              <a:rPr kumimoji="1" lang="en-US" altLang="zh-TW">
                <a:solidFill>
                  <a:srgbClr val="FF0000"/>
                </a:solidFill>
              </a:rPr>
              <a:t>Scroll to “Include” panel</a:t>
            </a:r>
            <a:endParaRPr kumimoji="1" lang="zh-TW" altLang="en-US">
              <a:solidFill>
                <a:srgbClr val="FF0000"/>
              </a:solidFill>
            </a:endParaRPr>
          </a:p>
        </p:txBody>
      </p:sp>
      <p:pic>
        <p:nvPicPr>
          <p:cNvPr id="5" name="圖片 4" descr="一張含有 文字, 字型, 白色, 標誌 的圖片&#10;&#10;AI 產生的內容可能不正確。">
            <a:extLst>
              <a:ext uri="{FF2B5EF4-FFF2-40B4-BE49-F238E27FC236}">
                <a16:creationId xmlns:a16="http://schemas.microsoft.com/office/drawing/2014/main" id="{E4C6FEFA-7BF0-9BF3-9C26-DD5C10908379}"/>
              </a:ext>
            </a:extLst>
          </p:cNvPr>
          <p:cNvPicPr>
            <a:picLocks noChangeAspect="1"/>
          </p:cNvPicPr>
          <p:nvPr/>
        </p:nvPicPr>
        <p:blipFill>
          <a:blip r:embed="rId6"/>
          <a:stretch>
            <a:fillRect/>
          </a:stretch>
        </p:blipFill>
        <p:spPr>
          <a:xfrm>
            <a:off x="4779963" y="286091"/>
            <a:ext cx="1422400" cy="457200"/>
          </a:xfrm>
          <a:prstGeom prst="rect">
            <a:avLst/>
          </a:prstGeom>
        </p:spPr>
      </p:pic>
      <p:pic>
        <p:nvPicPr>
          <p:cNvPr id="6" name="圖片 5" descr="一張含有 白色, 設計 的圖片&#10;&#10;AI 產生的內容可能不正確。">
            <a:extLst>
              <a:ext uri="{FF2B5EF4-FFF2-40B4-BE49-F238E27FC236}">
                <a16:creationId xmlns:a16="http://schemas.microsoft.com/office/drawing/2014/main" id="{F9C6553D-37D1-4A32-BA19-30A10756FB3C}"/>
              </a:ext>
            </a:extLst>
          </p:cNvPr>
          <p:cNvPicPr>
            <a:picLocks noChangeAspect="1"/>
          </p:cNvPicPr>
          <p:nvPr/>
        </p:nvPicPr>
        <p:blipFill>
          <a:blip r:embed="rId7"/>
          <a:stretch>
            <a:fillRect/>
          </a:stretch>
        </p:blipFill>
        <p:spPr>
          <a:xfrm>
            <a:off x="2543175" y="6408919"/>
            <a:ext cx="1257300" cy="393700"/>
          </a:xfrm>
          <a:prstGeom prst="rect">
            <a:avLst/>
          </a:prstGeom>
        </p:spPr>
      </p:pic>
      <p:pic>
        <p:nvPicPr>
          <p:cNvPr id="7" name="圖片 6" descr="一張含有 字型, 文字, 電子藍, 標誌 的圖片&#10;&#10;AI 產生的內容可能不正確。">
            <a:extLst>
              <a:ext uri="{FF2B5EF4-FFF2-40B4-BE49-F238E27FC236}">
                <a16:creationId xmlns:a16="http://schemas.microsoft.com/office/drawing/2014/main" id="{F8FD36F0-B9D6-1741-5730-26A2323A31DC}"/>
              </a:ext>
            </a:extLst>
          </p:cNvPr>
          <p:cNvPicPr>
            <a:picLocks noChangeAspect="1"/>
          </p:cNvPicPr>
          <p:nvPr/>
        </p:nvPicPr>
        <p:blipFill>
          <a:blip r:embed="rId8"/>
          <a:stretch>
            <a:fillRect/>
          </a:stretch>
        </p:blipFill>
        <p:spPr>
          <a:xfrm>
            <a:off x="3676650" y="289560"/>
            <a:ext cx="850900" cy="406400"/>
          </a:xfrm>
          <a:prstGeom prst="rect">
            <a:avLst/>
          </a:prstGeom>
        </p:spPr>
      </p:pic>
    </p:spTree>
    <p:extLst>
      <p:ext uri="{BB962C8B-B14F-4D97-AF65-F5344CB8AC3E}">
        <p14:creationId xmlns:p14="http://schemas.microsoft.com/office/powerpoint/2010/main" val="328244818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標題 1">
            <a:extLst>
              <a:ext uri="{FF2B5EF4-FFF2-40B4-BE49-F238E27FC236}">
                <a16:creationId xmlns:a16="http://schemas.microsoft.com/office/drawing/2014/main" id="{06E12F32-35CE-B4FC-8C22-956E7B4E5F8B}"/>
              </a:ext>
            </a:extLst>
          </p:cNvPr>
          <p:cNvSpPr txBox="1">
            <a:spLocks/>
          </p:cNvSpPr>
          <p:nvPr/>
        </p:nvSpPr>
        <p:spPr>
          <a:xfrm>
            <a:off x="0" y="0"/>
            <a:ext cx="10515600" cy="70560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kumimoji="1" lang="en-US" altLang="zh-TW" sz="2000" dirty="0"/>
              <a:t>Edit &amp; Save Ad Group</a:t>
            </a:r>
          </a:p>
          <a:p>
            <a:r>
              <a:rPr kumimoji="1" lang="en-US" altLang="zh-TW" sz="2000" dirty="0"/>
              <a:t>With Status=</a:t>
            </a:r>
            <a:r>
              <a:rPr kumimoji="1" lang="en-US" altLang="zh-TW" sz="2000" b="1" dirty="0"/>
              <a:t>Expired</a:t>
            </a:r>
            <a:r>
              <a:rPr kumimoji="1" lang="en-US" altLang="zh-TW" sz="2000" dirty="0"/>
              <a:t> Audiences </a:t>
            </a:r>
            <a:r>
              <a:rPr kumimoji="1" lang="en-US" altLang="zh-TW" sz="2000" dirty="0">
                <a:sym typeface="Wingdings" pitchFamily="2" charset="2"/>
              </a:rPr>
              <a:t> </a:t>
            </a:r>
            <a:r>
              <a:rPr kumimoji="1" lang="en-US" altLang="zh-TW" sz="2000" dirty="0"/>
              <a:t>                </a:t>
            </a:r>
            <a:r>
              <a:rPr kumimoji="1" lang="en-US" altLang="zh-TW" sz="2000" dirty="0">
                <a:sym typeface="Wingdings" pitchFamily="2" charset="2"/>
              </a:rPr>
              <a:t></a:t>
            </a:r>
            <a:endParaRPr kumimoji="1" lang="en-US" altLang="zh-TW" sz="2000" dirty="0"/>
          </a:p>
        </p:txBody>
      </p:sp>
      <p:pic>
        <p:nvPicPr>
          <p:cNvPr id="5" name="圖片 4" descr="一張含有 字型, 文字, 電子藍, 標誌 的圖片&#10;&#10;AI 產生的內容可能不正確。">
            <a:extLst>
              <a:ext uri="{FF2B5EF4-FFF2-40B4-BE49-F238E27FC236}">
                <a16:creationId xmlns:a16="http://schemas.microsoft.com/office/drawing/2014/main" id="{6325A08F-45EA-E2B6-2B4E-81522295D4AC}"/>
              </a:ext>
            </a:extLst>
          </p:cNvPr>
          <p:cNvPicPr>
            <a:picLocks noChangeAspect="1"/>
          </p:cNvPicPr>
          <p:nvPr/>
        </p:nvPicPr>
        <p:blipFill>
          <a:blip r:embed="rId2"/>
          <a:stretch>
            <a:fillRect/>
          </a:stretch>
        </p:blipFill>
        <p:spPr>
          <a:xfrm>
            <a:off x="3676650" y="289560"/>
            <a:ext cx="850900" cy="406400"/>
          </a:xfrm>
          <a:prstGeom prst="rect">
            <a:avLst/>
          </a:prstGeom>
        </p:spPr>
      </p:pic>
      <p:sp>
        <p:nvSpPr>
          <p:cNvPr id="7" name="圓角矩形 6">
            <a:extLst>
              <a:ext uri="{FF2B5EF4-FFF2-40B4-BE49-F238E27FC236}">
                <a16:creationId xmlns:a16="http://schemas.microsoft.com/office/drawing/2014/main" id="{9507EC41-8F9C-E7B3-AEE3-1F1060F0CC55}"/>
              </a:ext>
            </a:extLst>
          </p:cNvPr>
          <p:cNvSpPr/>
          <p:nvPr/>
        </p:nvSpPr>
        <p:spPr>
          <a:xfrm>
            <a:off x="4806952" y="314960"/>
            <a:ext cx="1644648" cy="342900"/>
          </a:xfrm>
          <a:prstGeom prst="roundRect">
            <a:avLst>
              <a:gd name="adj" fmla="val 9260"/>
            </a:avLst>
          </a:prstGeom>
          <a:solidFill>
            <a:srgbClr val="2993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TW" sz="1400" dirty="0"/>
              <a:t>Continue Anyway</a:t>
            </a:r>
            <a:endParaRPr kumimoji="1" lang="zh-TW" altLang="en-US" sz="1400" dirty="0"/>
          </a:p>
        </p:txBody>
      </p:sp>
      <p:pic>
        <p:nvPicPr>
          <p:cNvPr id="9" name="圖片 8" descr="一張含有 文字, 螢幕擷取畫面, 軟體, 網頁 的圖片&#10;&#10;AI 產生的內容可能不正確。">
            <a:extLst>
              <a:ext uri="{FF2B5EF4-FFF2-40B4-BE49-F238E27FC236}">
                <a16:creationId xmlns:a16="http://schemas.microsoft.com/office/drawing/2014/main" id="{5257C6BE-16AA-40C0-8F20-A4DC3B8D7BE7}"/>
              </a:ext>
            </a:extLst>
          </p:cNvPr>
          <p:cNvPicPr>
            <a:picLocks noChangeAspect="1"/>
          </p:cNvPicPr>
          <p:nvPr/>
        </p:nvPicPr>
        <p:blipFill>
          <a:blip r:embed="rId3"/>
          <a:stretch>
            <a:fillRect/>
          </a:stretch>
        </p:blipFill>
        <p:spPr>
          <a:xfrm>
            <a:off x="605110" y="1223738"/>
            <a:ext cx="3786605" cy="5084634"/>
          </a:xfrm>
          <a:prstGeom prst="rect">
            <a:avLst/>
          </a:prstGeom>
        </p:spPr>
      </p:pic>
      <p:sp>
        <p:nvSpPr>
          <p:cNvPr id="11" name="文字方塊 10">
            <a:extLst>
              <a:ext uri="{FF2B5EF4-FFF2-40B4-BE49-F238E27FC236}">
                <a16:creationId xmlns:a16="http://schemas.microsoft.com/office/drawing/2014/main" id="{FFC46AC8-C6DB-3456-5C4F-E8DB866B2D10}"/>
              </a:ext>
            </a:extLst>
          </p:cNvPr>
          <p:cNvSpPr txBox="1"/>
          <p:nvPr/>
        </p:nvSpPr>
        <p:spPr>
          <a:xfrm>
            <a:off x="3130550" y="651228"/>
            <a:ext cx="5930900" cy="369332"/>
          </a:xfrm>
          <a:prstGeom prst="rect">
            <a:avLst/>
          </a:prstGeom>
          <a:noFill/>
        </p:spPr>
        <p:txBody>
          <a:bodyPr wrap="square" rtlCol="0">
            <a:spAutoFit/>
          </a:bodyPr>
          <a:lstStyle/>
          <a:p>
            <a:r>
              <a:rPr kumimoji="1" lang="zh-TW" altLang="en-US" dirty="0">
                <a:solidFill>
                  <a:srgbClr val="FF0000"/>
                </a:solidFill>
              </a:rPr>
              <a:t>儲存</a:t>
            </a:r>
            <a:r>
              <a:rPr kumimoji="1" lang="en-US" altLang="zh-TW" dirty="0">
                <a:solidFill>
                  <a:srgbClr val="FF0000"/>
                </a:solidFill>
              </a:rPr>
              <a:t>ad group</a:t>
            </a:r>
            <a:r>
              <a:rPr kumimoji="1" lang="zh-TW" altLang="en-US" dirty="0">
                <a:solidFill>
                  <a:srgbClr val="FF0000"/>
                </a:solidFill>
              </a:rPr>
              <a:t>並且將</a:t>
            </a:r>
            <a:r>
              <a:rPr kumimoji="1" lang="en-US" altLang="zh-TW" dirty="0">
                <a:solidFill>
                  <a:srgbClr val="FF0000"/>
                </a:solidFill>
              </a:rPr>
              <a:t>expired audience</a:t>
            </a:r>
            <a:r>
              <a:rPr kumimoji="1" lang="zh-TW" altLang="en-US" dirty="0">
                <a:solidFill>
                  <a:srgbClr val="FF0000"/>
                </a:solidFill>
              </a:rPr>
              <a:t>從</a:t>
            </a:r>
            <a:r>
              <a:rPr kumimoji="1" lang="en-US" altLang="zh-TW" dirty="0">
                <a:solidFill>
                  <a:srgbClr val="FF0000"/>
                </a:solidFill>
              </a:rPr>
              <a:t>ad group</a:t>
            </a:r>
            <a:r>
              <a:rPr kumimoji="1" lang="zh-TW" altLang="en-US" dirty="0">
                <a:solidFill>
                  <a:srgbClr val="FF0000"/>
                </a:solidFill>
              </a:rPr>
              <a:t>設定拿掉</a:t>
            </a:r>
          </a:p>
        </p:txBody>
      </p:sp>
      <p:pic>
        <p:nvPicPr>
          <p:cNvPr id="37" name="圖片 36" descr="一張含有 文字, 螢幕擷取畫面 的圖片&#10;&#10;AI 產生的內容可能不正確。">
            <a:extLst>
              <a:ext uri="{FF2B5EF4-FFF2-40B4-BE49-F238E27FC236}">
                <a16:creationId xmlns:a16="http://schemas.microsoft.com/office/drawing/2014/main" id="{7CDFBD7B-A3FB-38C9-30AA-D7BD23320C04}"/>
              </a:ext>
            </a:extLst>
          </p:cNvPr>
          <p:cNvPicPr>
            <a:picLocks noChangeAspect="1"/>
          </p:cNvPicPr>
          <p:nvPr/>
        </p:nvPicPr>
        <p:blipFill>
          <a:blip r:embed="rId4"/>
          <a:stretch>
            <a:fillRect/>
          </a:stretch>
        </p:blipFill>
        <p:spPr>
          <a:xfrm>
            <a:off x="4997961" y="1955800"/>
            <a:ext cx="6929736" cy="3098800"/>
          </a:xfrm>
          <a:prstGeom prst="rect">
            <a:avLst/>
          </a:prstGeom>
        </p:spPr>
      </p:pic>
      <p:sp>
        <p:nvSpPr>
          <p:cNvPr id="38" name="矩形 37">
            <a:extLst>
              <a:ext uri="{FF2B5EF4-FFF2-40B4-BE49-F238E27FC236}">
                <a16:creationId xmlns:a16="http://schemas.microsoft.com/office/drawing/2014/main" id="{818B383F-096D-E5FD-0C83-20B4B63464AD}"/>
              </a:ext>
            </a:extLst>
          </p:cNvPr>
          <p:cNvSpPr/>
          <p:nvPr/>
        </p:nvSpPr>
        <p:spPr>
          <a:xfrm>
            <a:off x="5257800" y="2600888"/>
            <a:ext cx="4064000" cy="421712"/>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39" name="矩形 38">
            <a:extLst>
              <a:ext uri="{FF2B5EF4-FFF2-40B4-BE49-F238E27FC236}">
                <a16:creationId xmlns:a16="http://schemas.microsoft.com/office/drawing/2014/main" id="{06C806CA-E8C2-66FD-9CA5-3C1E89563472}"/>
              </a:ext>
            </a:extLst>
          </p:cNvPr>
          <p:cNvSpPr/>
          <p:nvPr/>
        </p:nvSpPr>
        <p:spPr>
          <a:xfrm>
            <a:off x="1498600" y="1614848"/>
            <a:ext cx="1181100" cy="421712"/>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Tree>
    <p:extLst>
      <p:ext uri="{BB962C8B-B14F-4D97-AF65-F5344CB8AC3E}">
        <p14:creationId xmlns:p14="http://schemas.microsoft.com/office/powerpoint/2010/main" val="308451175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字方塊 3">
            <a:extLst>
              <a:ext uri="{FF2B5EF4-FFF2-40B4-BE49-F238E27FC236}">
                <a16:creationId xmlns:a16="http://schemas.microsoft.com/office/drawing/2014/main" id="{C82E2AB8-E250-608D-5603-F2B1BBFF9526}"/>
              </a:ext>
            </a:extLst>
          </p:cNvPr>
          <p:cNvSpPr txBox="1"/>
          <p:nvPr/>
        </p:nvSpPr>
        <p:spPr>
          <a:xfrm>
            <a:off x="317477" y="1793517"/>
            <a:ext cx="3537831" cy="523220"/>
          </a:xfrm>
          <a:prstGeom prst="rect">
            <a:avLst/>
          </a:prstGeom>
          <a:noFill/>
          <a:ln>
            <a:solidFill>
              <a:schemeClr val="tx1"/>
            </a:solidFill>
          </a:ln>
        </p:spPr>
        <p:txBody>
          <a:bodyPr wrap="square" rtlCol="0">
            <a:spAutoFit/>
          </a:bodyPr>
          <a:lstStyle/>
          <a:p>
            <a:r>
              <a:rPr kumimoji="1" lang="en-US" altLang="zh-TW" sz="1400" dirty="0"/>
              <a:t>Scheduler</a:t>
            </a:r>
          </a:p>
          <a:p>
            <a:r>
              <a:rPr kumimoji="1" lang="zh-TW" altLang="en-US" sz="1400" dirty="0"/>
              <a:t>更新</a:t>
            </a:r>
            <a:r>
              <a:rPr kumimoji="1" lang="en-US" altLang="zh-TW" sz="1400" dirty="0"/>
              <a:t>custom audience </a:t>
            </a:r>
            <a:r>
              <a:rPr kumimoji="1" lang="en-US" altLang="zh-TW" sz="1400" b="1" dirty="0"/>
              <a:t>expired</a:t>
            </a:r>
            <a:r>
              <a:rPr kumimoji="1" lang="zh-TW" altLang="en-US" sz="1400" dirty="0"/>
              <a:t>狀態</a:t>
            </a:r>
            <a:endParaRPr kumimoji="1" lang="en-US" altLang="zh-TW" sz="1400" dirty="0"/>
          </a:p>
        </p:txBody>
      </p:sp>
      <p:cxnSp>
        <p:nvCxnSpPr>
          <p:cNvPr id="5" name="肘形接點 4">
            <a:extLst>
              <a:ext uri="{FF2B5EF4-FFF2-40B4-BE49-F238E27FC236}">
                <a16:creationId xmlns:a16="http://schemas.microsoft.com/office/drawing/2014/main" id="{83C543DD-3EAF-8158-7F98-E2C2CF67F0D6}"/>
              </a:ext>
            </a:extLst>
          </p:cNvPr>
          <p:cNvCxnSpPr>
            <a:cxnSpLocks/>
            <a:stCxn id="4" idx="1"/>
            <a:endCxn id="4" idx="0"/>
          </p:cNvCxnSpPr>
          <p:nvPr/>
        </p:nvCxnSpPr>
        <p:spPr>
          <a:xfrm rot="10800000" flipH="1">
            <a:off x="317477" y="1793517"/>
            <a:ext cx="1768916" cy="261610"/>
          </a:xfrm>
          <a:prstGeom prst="bentConnector4">
            <a:avLst>
              <a:gd name="adj1" fmla="val -12923"/>
              <a:gd name="adj2" fmla="val 187382"/>
            </a:avLst>
          </a:prstGeom>
          <a:ln>
            <a:tailEnd type="triangle"/>
          </a:ln>
        </p:spPr>
        <p:style>
          <a:lnRef idx="2">
            <a:schemeClr val="accent1"/>
          </a:lnRef>
          <a:fillRef idx="0">
            <a:schemeClr val="accent1"/>
          </a:fillRef>
          <a:effectRef idx="1">
            <a:schemeClr val="accent1"/>
          </a:effectRef>
          <a:fontRef idx="minor">
            <a:schemeClr val="tx1"/>
          </a:fontRef>
        </p:style>
      </p:cxnSp>
      <p:sp>
        <p:nvSpPr>
          <p:cNvPr id="6" name="文字方塊 5">
            <a:extLst>
              <a:ext uri="{FF2B5EF4-FFF2-40B4-BE49-F238E27FC236}">
                <a16:creationId xmlns:a16="http://schemas.microsoft.com/office/drawing/2014/main" id="{5679A518-42FF-72CB-BA80-D47AE2B7154D}"/>
              </a:ext>
            </a:extLst>
          </p:cNvPr>
          <p:cNvSpPr txBox="1"/>
          <p:nvPr/>
        </p:nvSpPr>
        <p:spPr>
          <a:xfrm>
            <a:off x="4384886" y="1770585"/>
            <a:ext cx="2994117" cy="523220"/>
          </a:xfrm>
          <a:prstGeom prst="rect">
            <a:avLst/>
          </a:prstGeom>
          <a:noFill/>
          <a:ln>
            <a:solidFill>
              <a:schemeClr val="tx1"/>
            </a:solidFill>
          </a:ln>
        </p:spPr>
        <p:txBody>
          <a:bodyPr wrap="square" rtlCol="0">
            <a:spAutoFit/>
          </a:bodyPr>
          <a:lstStyle/>
          <a:p>
            <a:r>
              <a:rPr kumimoji="1" lang="en-US" altLang="zh-TW" sz="1400" dirty="0"/>
              <a:t>Custom audience status:</a:t>
            </a:r>
          </a:p>
          <a:p>
            <a:r>
              <a:rPr kumimoji="1" lang="en-US" altLang="zh-TW" sz="1400" dirty="0"/>
              <a:t>In Processing/Completed -&gt; Expired</a:t>
            </a:r>
          </a:p>
        </p:txBody>
      </p:sp>
      <p:sp>
        <p:nvSpPr>
          <p:cNvPr id="7" name="文字方塊 6">
            <a:extLst>
              <a:ext uri="{FF2B5EF4-FFF2-40B4-BE49-F238E27FC236}">
                <a16:creationId xmlns:a16="http://schemas.microsoft.com/office/drawing/2014/main" id="{0CB9AE23-F3F3-5532-6953-5ACAB7972557}"/>
              </a:ext>
            </a:extLst>
          </p:cNvPr>
          <p:cNvSpPr txBox="1"/>
          <p:nvPr/>
        </p:nvSpPr>
        <p:spPr>
          <a:xfrm>
            <a:off x="7908581" y="1878306"/>
            <a:ext cx="4221680" cy="954107"/>
          </a:xfrm>
          <a:prstGeom prst="rect">
            <a:avLst/>
          </a:prstGeom>
          <a:noFill/>
          <a:ln>
            <a:solidFill>
              <a:schemeClr val="tx1"/>
            </a:solidFill>
          </a:ln>
        </p:spPr>
        <p:txBody>
          <a:bodyPr wrap="square" rtlCol="0">
            <a:spAutoFit/>
          </a:bodyPr>
          <a:lstStyle/>
          <a:p>
            <a:r>
              <a:rPr kumimoji="1" lang="zh-TW" altLang="en-US" sz="1400" dirty="0"/>
              <a:t>更新有綁定這些</a:t>
            </a:r>
            <a:r>
              <a:rPr kumimoji="1" lang="en-US" altLang="zh-TW" sz="1400" dirty="0"/>
              <a:t>audience</a:t>
            </a:r>
            <a:r>
              <a:rPr kumimoji="1" lang="zh-TW" altLang="en-US" sz="1400" dirty="0"/>
              <a:t>的</a:t>
            </a:r>
            <a:r>
              <a:rPr kumimoji="1" lang="en-US" altLang="zh-TW" sz="1400" dirty="0"/>
              <a:t>ad group sequence</a:t>
            </a:r>
            <a:r>
              <a:rPr kumimoji="1" lang="zh-TW" altLang="en-US" sz="1400" dirty="0"/>
              <a:t>裡的</a:t>
            </a:r>
            <a:r>
              <a:rPr kumimoji="1" lang="en-US" altLang="zh-TW" sz="1400" dirty="0"/>
              <a:t>audience</a:t>
            </a:r>
            <a:r>
              <a:rPr kumimoji="1" lang="zh-TW" altLang="en-US" sz="1400" dirty="0"/>
              <a:t>相關設定</a:t>
            </a:r>
            <a:r>
              <a:rPr kumimoji="1" lang="en-US" altLang="zh-TW" sz="1400" dirty="0"/>
              <a:t>, </a:t>
            </a:r>
            <a:r>
              <a:rPr kumimoji="1" lang="zh-TW" altLang="en-US" sz="1400" dirty="0"/>
              <a:t>使廣告投放不使用到</a:t>
            </a:r>
            <a:r>
              <a:rPr kumimoji="1" lang="en-US" altLang="zh-TW" sz="1400" dirty="0"/>
              <a:t>expired</a:t>
            </a:r>
            <a:r>
              <a:rPr kumimoji="1" lang="zh-TW" altLang="en-US" sz="1400" dirty="0"/>
              <a:t> </a:t>
            </a:r>
            <a:r>
              <a:rPr kumimoji="1" lang="en-US" altLang="zh-TW" sz="1400" dirty="0"/>
              <a:t>audience, </a:t>
            </a:r>
            <a:r>
              <a:rPr kumimoji="1" lang="zh-TW" altLang="en-US" sz="1400" dirty="0"/>
              <a:t>但是</a:t>
            </a:r>
            <a:r>
              <a:rPr kumimoji="1" lang="en-US" altLang="zh-TW" sz="1400" dirty="0"/>
              <a:t>UI</a:t>
            </a:r>
            <a:r>
              <a:rPr kumimoji="1" lang="zh-TW" altLang="en-US" sz="1400" dirty="0"/>
              <a:t>上的設定要保留</a:t>
            </a:r>
            <a:r>
              <a:rPr kumimoji="1" lang="en-US" altLang="zh-TW" sz="1400" dirty="0"/>
              <a:t>, </a:t>
            </a:r>
            <a:r>
              <a:rPr kumimoji="1" lang="zh-TW" altLang="en-US" sz="1400" dirty="0"/>
              <a:t>會在下次使用者編輯</a:t>
            </a:r>
            <a:r>
              <a:rPr kumimoji="1" lang="en-US" altLang="zh-TW" sz="1400" dirty="0"/>
              <a:t>ad group</a:t>
            </a:r>
            <a:r>
              <a:rPr kumimoji="1" lang="zh-TW" altLang="en-US" sz="1400" dirty="0"/>
              <a:t>看到相關提示訊息與處理方式</a:t>
            </a:r>
            <a:endParaRPr kumimoji="1" lang="en-US" altLang="zh-TW" sz="1400" dirty="0"/>
          </a:p>
        </p:txBody>
      </p:sp>
      <p:grpSp>
        <p:nvGrpSpPr>
          <p:cNvPr id="8" name="群組 7">
            <a:extLst>
              <a:ext uri="{FF2B5EF4-FFF2-40B4-BE49-F238E27FC236}">
                <a16:creationId xmlns:a16="http://schemas.microsoft.com/office/drawing/2014/main" id="{E3FD5338-192A-29B6-10C2-F35050DA8CB1}"/>
              </a:ext>
            </a:extLst>
          </p:cNvPr>
          <p:cNvGrpSpPr/>
          <p:nvPr/>
        </p:nvGrpSpPr>
        <p:grpSpPr>
          <a:xfrm>
            <a:off x="6261868" y="3293315"/>
            <a:ext cx="5868393" cy="2031325"/>
            <a:chOff x="5793175" y="3083009"/>
            <a:chExt cx="5868393" cy="2031325"/>
          </a:xfrm>
        </p:grpSpPr>
        <p:sp>
          <p:nvSpPr>
            <p:cNvPr id="9" name="文字方塊 8">
              <a:extLst>
                <a:ext uri="{FF2B5EF4-FFF2-40B4-BE49-F238E27FC236}">
                  <a16:creationId xmlns:a16="http://schemas.microsoft.com/office/drawing/2014/main" id="{0C0B0325-94C2-4815-53A0-5ADF8BECAE8A}"/>
                </a:ext>
              </a:extLst>
            </p:cNvPr>
            <p:cNvSpPr txBox="1"/>
            <p:nvPr/>
          </p:nvSpPr>
          <p:spPr>
            <a:xfrm>
              <a:off x="5793175" y="3083009"/>
              <a:ext cx="5868393" cy="2031325"/>
            </a:xfrm>
            <a:prstGeom prst="rect">
              <a:avLst/>
            </a:prstGeom>
            <a:noFill/>
            <a:ln>
              <a:solidFill>
                <a:schemeClr val="tx1"/>
              </a:solidFill>
            </a:ln>
          </p:spPr>
          <p:txBody>
            <a:bodyPr wrap="square" rtlCol="0">
              <a:spAutoFit/>
            </a:bodyPr>
            <a:lstStyle/>
            <a:p>
              <a:r>
                <a:rPr kumimoji="1" lang="zh-TW" altLang="en-US" sz="1400" dirty="0"/>
                <a:t>檢查目前上刊中的</a:t>
              </a:r>
              <a:r>
                <a:rPr kumimoji="1" lang="en-US" altLang="zh-TW" sz="1400" dirty="0"/>
                <a:t>ad group</a:t>
              </a:r>
            </a:p>
            <a:p>
              <a:r>
                <a:rPr kumimoji="1" lang="en-US" altLang="zh-TW" sz="1400" b="1" dirty="0"/>
                <a:t>-Include</a:t>
              </a:r>
              <a:r>
                <a:rPr kumimoji="1" lang="zh-TW" altLang="en-US" sz="1400" b="1" dirty="0"/>
                <a:t>受眾裡只有綁</a:t>
              </a:r>
              <a:r>
                <a:rPr kumimoji="1" lang="en-US" altLang="zh-TW" sz="1400" b="1" dirty="0"/>
                <a:t>custom audience</a:t>
              </a:r>
            </a:p>
            <a:p>
              <a:r>
                <a:rPr kumimoji="1" lang="en-US" altLang="zh-TW" sz="1400" b="1" dirty="0"/>
                <a:t>-</a:t>
              </a:r>
              <a:r>
                <a:rPr kumimoji="1" lang="zh-TW" altLang="en-US" sz="1400" b="1" dirty="0"/>
                <a:t>所綁的</a:t>
              </a:r>
              <a:r>
                <a:rPr kumimoji="1" lang="en-US" altLang="zh-TW" sz="1400" b="1" dirty="0"/>
                <a:t>custom audience</a:t>
              </a:r>
              <a:r>
                <a:rPr kumimoji="1" lang="zh-TW" altLang="en-US" sz="1400" b="1" dirty="0"/>
                <a:t>全部狀態都為</a:t>
              </a:r>
              <a:r>
                <a:rPr kumimoji="1" lang="en-US" altLang="zh-TW" sz="1400" b="1" dirty="0"/>
                <a:t>Expired </a:t>
              </a:r>
            </a:p>
            <a:p>
              <a:r>
                <a:rPr kumimoji="1" lang="en-US" altLang="zh-TW" sz="1400" b="1" dirty="0">
                  <a:sym typeface="Wingdings" pitchFamily="2" charset="2"/>
                </a:rPr>
                <a:t></a:t>
              </a:r>
              <a:r>
                <a:rPr kumimoji="1" lang="zh-TW" altLang="en-US" sz="1400" b="1" dirty="0">
                  <a:sym typeface="Wingdings" pitchFamily="2" charset="2"/>
                </a:rPr>
                <a:t>則</a:t>
              </a:r>
              <a:r>
                <a:rPr kumimoji="1" lang="en-US" altLang="zh-TW" sz="1400" b="1" dirty="0">
                  <a:sym typeface="Wingdings" pitchFamily="2" charset="2"/>
                </a:rPr>
                <a:t>ad group</a:t>
              </a:r>
              <a:r>
                <a:rPr kumimoji="1" lang="zh-TW" altLang="en-US" sz="1400" b="1" dirty="0">
                  <a:sym typeface="Wingdings" pitchFamily="2" charset="2"/>
                </a:rPr>
                <a:t> </a:t>
              </a:r>
              <a:r>
                <a:rPr kumimoji="1" lang="zh-TW" altLang="en-US" sz="1400" b="1" dirty="0"/>
                <a:t>上刊</a:t>
              </a:r>
              <a:r>
                <a:rPr kumimoji="1" lang="en-US" altLang="zh-TW" sz="1400" b="1" dirty="0"/>
                <a:t> </a:t>
              </a:r>
              <a:r>
                <a:rPr kumimoji="1" lang="en-US" altLang="zh-TW" sz="1400" b="1" dirty="0">
                  <a:sym typeface="Wingdings" pitchFamily="2" charset="2"/>
                </a:rPr>
                <a:t> </a:t>
              </a:r>
              <a:r>
                <a:rPr kumimoji="1" lang="zh-TW" altLang="en-US" sz="1400" b="1" dirty="0">
                  <a:sym typeface="Wingdings" pitchFamily="2" charset="2"/>
                </a:rPr>
                <a:t>暫停</a:t>
              </a:r>
              <a:endParaRPr kumimoji="1" lang="en-US" altLang="zh-TW" sz="1400" b="1" dirty="0">
                <a:sym typeface="Wingdings" pitchFamily="2" charset="2"/>
              </a:endParaRPr>
            </a:p>
            <a:p>
              <a:r>
                <a:rPr kumimoji="1" lang="en-US" altLang="zh-TW" sz="1400" dirty="0">
                  <a:sym typeface="Wingdings" pitchFamily="2" charset="2"/>
                </a:rPr>
                <a:t>(</a:t>
              </a:r>
              <a:r>
                <a:rPr kumimoji="1" lang="zh-TW" altLang="en-US" sz="1400" dirty="0">
                  <a:sym typeface="Wingdings" pitchFamily="2" charset="2"/>
                </a:rPr>
                <a:t>因為在前一步會將</a:t>
              </a:r>
              <a:r>
                <a:rPr kumimoji="1" lang="en-US" altLang="zh-TW" sz="1400" dirty="0">
                  <a:sym typeface="Wingdings" pitchFamily="2" charset="2"/>
                </a:rPr>
                <a:t>expired custom audience</a:t>
              </a:r>
              <a:r>
                <a:rPr kumimoji="1" lang="zh-TW" altLang="en-US" sz="1400" dirty="0">
                  <a:sym typeface="Wingdings" pitchFamily="2" charset="2"/>
                </a:rPr>
                <a:t>從</a:t>
              </a:r>
              <a:r>
                <a:rPr kumimoji="1" lang="en-US" altLang="zh-TW" sz="1400" dirty="0">
                  <a:sym typeface="Wingdings" pitchFamily="2" charset="2"/>
                </a:rPr>
                <a:t>sequence</a:t>
              </a:r>
              <a:r>
                <a:rPr kumimoji="1" lang="zh-TW" altLang="en-US" sz="1400" dirty="0">
                  <a:sym typeface="Wingdings" pitchFamily="2" charset="2"/>
                </a:rPr>
                <a:t>拿掉</a:t>
              </a:r>
              <a:r>
                <a:rPr kumimoji="1" lang="en-US" altLang="zh-TW" sz="1400" dirty="0">
                  <a:sym typeface="Wingdings" pitchFamily="2" charset="2"/>
                </a:rPr>
                <a:t>, </a:t>
              </a:r>
              <a:r>
                <a:rPr kumimoji="1" lang="zh-TW" altLang="en-US" sz="1400" dirty="0">
                  <a:sym typeface="Wingdings" pitchFamily="2" charset="2"/>
                </a:rPr>
                <a:t>如果全部只選</a:t>
              </a:r>
              <a:r>
                <a:rPr kumimoji="1" lang="en-US" altLang="zh-TW" sz="1400" dirty="0">
                  <a:sym typeface="Wingdings" pitchFamily="2" charset="2"/>
                </a:rPr>
                <a:t>custom audience</a:t>
              </a:r>
              <a:r>
                <a:rPr kumimoji="1" lang="zh-TW" altLang="en-US" sz="1400" dirty="0">
                  <a:sym typeface="Wingdings" pitchFamily="2" charset="2"/>
                </a:rPr>
                <a:t>且都為</a:t>
              </a:r>
              <a:r>
                <a:rPr kumimoji="1" lang="en-US" altLang="zh-TW" sz="1400" dirty="0">
                  <a:sym typeface="Wingdings" pitchFamily="2" charset="2"/>
                </a:rPr>
                <a:t>expired</a:t>
              </a:r>
              <a:r>
                <a:rPr kumimoji="1" lang="zh-TW" altLang="en-US" sz="1400" dirty="0">
                  <a:sym typeface="Wingdings" pitchFamily="2" charset="2"/>
                </a:rPr>
                <a:t>會變成廣投</a:t>
              </a:r>
              <a:r>
                <a:rPr kumimoji="1" lang="en-US" altLang="zh-TW" sz="1400" dirty="0">
                  <a:sym typeface="Wingdings" pitchFamily="2" charset="2"/>
                </a:rPr>
                <a:t>, </a:t>
              </a:r>
              <a:r>
                <a:rPr kumimoji="1" lang="zh-TW" altLang="en-US" sz="1400" dirty="0">
                  <a:sym typeface="Wingdings" pitchFamily="2" charset="2"/>
                </a:rPr>
                <a:t>因此必須暫停投放</a:t>
              </a:r>
              <a:r>
                <a:rPr kumimoji="1" lang="en-US" altLang="zh-TW" sz="1400" dirty="0">
                  <a:sym typeface="Wingdings" pitchFamily="2" charset="2"/>
                </a:rPr>
                <a:t>.</a:t>
              </a:r>
            </a:p>
            <a:p>
              <a:r>
                <a:rPr kumimoji="1" lang="zh-TW" altLang="en-US" sz="1400" dirty="0">
                  <a:sym typeface="Wingdings" pitchFamily="2" charset="2"/>
                </a:rPr>
                <a:t>並在</a:t>
              </a:r>
              <a:r>
                <a:rPr kumimoji="1" lang="en-US" altLang="zh-TW" sz="1400" dirty="0">
                  <a:sym typeface="Wingdings" pitchFamily="2" charset="2"/>
                </a:rPr>
                <a:t>ad group</a:t>
              </a:r>
              <a:r>
                <a:rPr kumimoji="1" lang="zh-TW" altLang="en-US" sz="1400" dirty="0">
                  <a:sym typeface="Wingdings" pitchFamily="2" charset="2"/>
                </a:rPr>
                <a:t>清單狀態</a:t>
              </a:r>
              <a:r>
                <a:rPr kumimoji="1" lang="en-US" altLang="zh-TW" sz="1400" dirty="0">
                  <a:sym typeface="Wingdings" pitchFamily="2" charset="2"/>
                </a:rPr>
                <a:t>UI</a:t>
              </a:r>
              <a:r>
                <a:rPr kumimoji="1" lang="zh-TW" altLang="en-US" sz="1400" dirty="0">
                  <a:sym typeface="Wingdings" pitchFamily="2" charset="2"/>
                </a:rPr>
                <a:t>                   </a:t>
              </a:r>
              <a:r>
                <a:rPr kumimoji="1" lang="en-US" altLang="zh-TW" sz="1400" dirty="0">
                  <a:sym typeface="Wingdings" pitchFamily="2" charset="2"/>
                </a:rPr>
                <a:t>   </a:t>
              </a:r>
              <a:r>
                <a:rPr kumimoji="1" lang="zh-TW" altLang="en-US" sz="1400" dirty="0">
                  <a:sym typeface="Wingdings" pitchFamily="2" charset="2"/>
                </a:rPr>
                <a:t>   增加</a:t>
              </a:r>
              <a:r>
                <a:rPr kumimoji="1" lang="en-US" altLang="zh-TW" sz="1400" dirty="0">
                  <a:sym typeface="Wingdings" pitchFamily="2" charset="2"/>
                </a:rPr>
                <a:t>hover message</a:t>
              </a:r>
              <a:r>
                <a:rPr kumimoji="1" lang="zh-TW" altLang="en-US" sz="1400" dirty="0">
                  <a:sym typeface="Wingdings" pitchFamily="2" charset="2"/>
                </a:rPr>
                <a:t>提示為何暫停</a:t>
              </a:r>
              <a:endParaRPr kumimoji="1" lang="en-US" altLang="zh-TW" sz="1400" dirty="0">
                <a:sym typeface="Wingdings" pitchFamily="2" charset="2"/>
              </a:endParaRPr>
            </a:p>
            <a:p>
              <a:endParaRPr kumimoji="1" lang="en-US" altLang="zh-TW" sz="1400" dirty="0">
                <a:sym typeface="Wingdings" pitchFamily="2" charset="2"/>
              </a:endParaRPr>
            </a:p>
            <a:p>
              <a:r>
                <a:rPr kumimoji="1" lang="en-US" altLang="zh-TW" sz="1400" dirty="0">
                  <a:sym typeface="Wingdings" pitchFamily="2" charset="2"/>
                </a:rPr>
                <a:t>(</a:t>
              </a:r>
              <a:r>
                <a:rPr kumimoji="1" lang="zh-TW" altLang="en-US" sz="1400" dirty="0">
                  <a:sym typeface="Wingdings" pitchFamily="2" charset="2"/>
                </a:rPr>
                <a:t>經由這個檢查而強制變成暫停狀態條件下才會顯示此</a:t>
              </a:r>
              <a:r>
                <a:rPr kumimoji="1" lang="en-US" altLang="zh-TW" sz="1400" dirty="0">
                  <a:sym typeface="Wingdings" pitchFamily="2" charset="2"/>
                </a:rPr>
                <a:t>hover message)</a:t>
              </a:r>
            </a:p>
          </p:txBody>
        </p:sp>
        <p:pic>
          <p:nvPicPr>
            <p:cNvPr id="10" name="圖片 9" descr="一張含有 字型, 文字, 標誌, 螢幕擷取畫面 的圖片&#10;&#10;AI 產生的內容可能不正確。">
              <a:extLst>
                <a:ext uri="{FF2B5EF4-FFF2-40B4-BE49-F238E27FC236}">
                  <a16:creationId xmlns:a16="http://schemas.microsoft.com/office/drawing/2014/main" id="{44C664F7-63E0-75F9-8431-BF2C24206686}"/>
                </a:ext>
              </a:extLst>
            </p:cNvPr>
            <p:cNvPicPr>
              <a:picLocks noChangeAspect="1"/>
            </p:cNvPicPr>
            <p:nvPr/>
          </p:nvPicPr>
          <p:blipFill>
            <a:blip r:embed="rId3"/>
            <a:stretch>
              <a:fillRect/>
            </a:stretch>
          </p:blipFill>
          <p:spPr>
            <a:xfrm>
              <a:off x="7864796" y="4381324"/>
              <a:ext cx="782658" cy="313063"/>
            </a:xfrm>
            <a:prstGeom prst="rect">
              <a:avLst/>
            </a:prstGeom>
          </p:spPr>
        </p:pic>
      </p:grpSp>
      <p:cxnSp>
        <p:nvCxnSpPr>
          <p:cNvPr id="11" name="直線箭頭接點 10">
            <a:extLst>
              <a:ext uri="{FF2B5EF4-FFF2-40B4-BE49-F238E27FC236}">
                <a16:creationId xmlns:a16="http://schemas.microsoft.com/office/drawing/2014/main" id="{3074FFFD-7D32-0596-5180-55A8AF903193}"/>
              </a:ext>
            </a:extLst>
          </p:cNvPr>
          <p:cNvCxnSpPr>
            <a:cxnSpLocks/>
            <a:stCxn id="4" idx="3"/>
            <a:endCxn id="6" idx="1"/>
          </p:cNvCxnSpPr>
          <p:nvPr/>
        </p:nvCxnSpPr>
        <p:spPr>
          <a:xfrm flipV="1">
            <a:off x="3855308" y="2032195"/>
            <a:ext cx="529578" cy="22932"/>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5" name="文字方塊 14">
            <a:extLst>
              <a:ext uri="{FF2B5EF4-FFF2-40B4-BE49-F238E27FC236}">
                <a16:creationId xmlns:a16="http://schemas.microsoft.com/office/drawing/2014/main" id="{7F9B32F0-3A6A-F971-7B04-2EEFC6FE441B}"/>
              </a:ext>
            </a:extLst>
          </p:cNvPr>
          <p:cNvSpPr txBox="1"/>
          <p:nvPr/>
        </p:nvSpPr>
        <p:spPr>
          <a:xfrm>
            <a:off x="198215" y="1161359"/>
            <a:ext cx="1888177" cy="338554"/>
          </a:xfrm>
          <a:prstGeom prst="rect">
            <a:avLst/>
          </a:prstGeom>
          <a:noFill/>
        </p:spPr>
        <p:txBody>
          <a:bodyPr wrap="square" rtlCol="0">
            <a:spAutoFit/>
          </a:bodyPr>
          <a:lstStyle/>
          <a:p>
            <a:r>
              <a:rPr kumimoji="1" lang="zh-TW" altLang="en-US" sz="1600" dirty="0"/>
              <a:t>一天更新一次</a:t>
            </a:r>
          </a:p>
        </p:txBody>
      </p:sp>
      <p:cxnSp>
        <p:nvCxnSpPr>
          <p:cNvPr id="26" name="直線箭頭接點 25">
            <a:extLst>
              <a:ext uri="{FF2B5EF4-FFF2-40B4-BE49-F238E27FC236}">
                <a16:creationId xmlns:a16="http://schemas.microsoft.com/office/drawing/2014/main" id="{ACFD3C93-A272-C2A9-AA20-AE518A03BD04}"/>
              </a:ext>
            </a:extLst>
          </p:cNvPr>
          <p:cNvCxnSpPr>
            <a:stCxn id="6" idx="3"/>
            <a:endCxn id="7" idx="1"/>
          </p:cNvCxnSpPr>
          <p:nvPr/>
        </p:nvCxnSpPr>
        <p:spPr>
          <a:xfrm>
            <a:off x="7379003" y="2032195"/>
            <a:ext cx="529578" cy="323165"/>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8" name="直線箭頭接點 27">
            <a:extLst>
              <a:ext uri="{FF2B5EF4-FFF2-40B4-BE49-F238E27FC236}">
                <a16:creationId xmlns:a16="http://schemas.microsoft.com/office/drawing/2014/main" id="{19E52E48-4CE0-DA8C-DACC-C1770D556E5F}"/>
              </a:ext>
            </a:extLst>
          </p:cNvPr>
          <p:cNvCxnSpPr>
            <a:cxnSpLocks/>
            <a:stCxn id="7" idx="2"/>
            <a:endCxn id="9" idx="0"/>
          </p:cNvCxnSpPr>
          <p:nvPr/>
        </p:nvCxnSpPr>
        <p:spPr>
          <a:xfrm flipH="1">
            <a:off x="9196065" y="2832413"/>
            <a:ext cx="823356" cy="460902"/>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29" name="文字方塊 28">
            <a:extLst>
              <a:ext uri="{FF2B5EF4-FFF2-40B4-BE49-F238E27FC236}">
                <a16:creationId xmlns:a16="http://schemas.microsoft.com/office/drawing/2014/main" id="{8DD1D2A6-9A04-2E47-B564-E4CB5C7777BD}"/>
              </a:ext>
            </a:extLst>
          </p:cNvPr>
          <p:cNvSpPr txBox="1"/>
          <p:nvPr/>
        </p:nvSpPr>
        <p:spPr>
          <a:xfrm>
            <a:off x="533908" y="3636253"/>
            <a:ext cx="2542924" cy="338554"/>
          </a:xfrm>
          <a:prstGeom prst="rect">
            <a:avLst/>
          </a:prstGeom>
          <a:noFill/>
          <a:ln>
            <a:solidFill>
              <a:schemeClr val="tx1"/>
            </a:solidFill>
          </a:ln>
        </p:spPr>
        <p:txBody>
          <a:bodyPr wrap="square" rtlCol="0">
            <a:spAutoFit/>
          </a:bodyPr>
          <a:lstStyle/>
          <a:p>
            <a:r>
              <a:rPr kumimoji="1" lang="zh-TW" altLang="en-US" sz="1600" dirty="0"/>
              <a:t>使用者編輯</a:t>
            </a:r>
            <a:r>
              <a:rPr kumimoji="1" lang="en-US" altLang="zh-TW" sz="1600" dirty="0"/>
              <a:t>&amp;</a:t>
            </a:r>
            <a:r>
              <a:rPr kumimoji="1" lang="zh-TW" altLang="en-US" sz="1600" dirty="0"/>
              <a:t>儲存</a:t>
            </a:r>
            <a:r>
              <a:rPr kumimoji="1" lang="en-US" altLang="zh-TW" sz="1600" dirty="0"/>
              <a:t>ad group</a:t>
            </a:r>
          </a:p>
        </p:txBody>
      </p:sp>
      <p:sp>
        <p:nvSpPr>
          <p:cNvPr id="30" name="文字方塊 29">
            <a:extLst>
              <a:ext uri="{FF2B5EF4-FFF2-40B4-BE49-F238E27FC236}">
                <a16:creationId xmlns:a16="http://schemas.microsoft.com/office/drawing/2014/main" id="{3C06404D-1C3F-DA7C-C32B-86E95C75B045}"/>
              </a:ext>
            </a:extLst>
          </p:cNvPr>
          <p:cNvSpPr txBox="1"/>
          <p:nvPr/>
        </p:nvSpPr>
        <p:spPr>
          <a:xfrm>
            <a:off x="533908" y="4492740"/>
            <a:ext cx="3024838" cy="338554"/>
          </a:xfrm>
          <a:prstGeom prst="rect">
            <a:avLst/>
          </a:prstGeom>
          <a:noFill/>
          <a:ln>
            <a:solidFill>
              <a:schemeClr val="tx1"/>
            </a:solidFill>
          </a:ln>
        </p:spPr>
        <p:txBody>
          <a:bodyPr wrap="square" rtlCol="0">
            <a:spAutoFit/>
          </a:bodyPr>
          <a:lstStyle/>
          <a:p>
            <a:r>
              <a:rPr kumimoji="1" lang="zh-TW" altLang="en-US" sz="1600" dirty="0"/>
              <a:t>使用者切換</a:t>
            </a:r>
            <a:r>
              <a:rPr kumimoji="1" lang="en-US" altLang="zh-TW" sz="1600" dirty="0"/>
              <a:t>ad group</a:t>
            </a:r>
            <a:r>
              <a:rPr kumimoji="1" lang="zh-TW" altLang="en-US" sz="1600" dirty="0"/>
              <a:t>狀態為上刊</a:t>
            </a:r>
            <a:endParaRPr kumimoji="1" lang="en-US" altLang="zh-TW" sz="1600" dirty="0"/>
          </a:p>
        </p:txBody>
      </p:sp>
      <p:cxnSp>
        <p:nvCxnSpPr>
          <p:cNvPr id="32" name="直線箭頭接點 31">
            <a:extLst>
              <a:ext uri="{FF2B5EF4-FFF2-40B4-BE49-F238E27FC236}">
                <a16:creationId xmlns:a16="http://schemas.microsoft.com/office/drawing/2014/main" id="{B0519943-17AA-8891-36DB-B0BA54453CAE}"/>
              </a:ext>
            </a:extLst>
          </p:cNvPr>
          <p:cNvCxnSpPr>
            <a:cxnSpLocks/>
            <a:stCxn id="29" idx="3"/>
            <a:endCxn id="9" idx="1"/>
          </p:cNvCxnSpPr>
          <p:nvPr/>
        </p:nvCxnSpPr>
        <p:spPr>
          <a:xfrm>
            <a:off x="3076832" y="3805530"/>
            <a:ext cx="3185036" cy="503448"/>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34" name="直線箭頭接點 33">
            <a:extLst>
              <a:ext uri="{FF2B5EF4-FFF2-40B4-BE49-F238E27FC236}">
                <a16:creationId xmlns:a16="http://schemas.microsoft.com/office/drawing/2014/main" id="{991172C5-ED0E-DC68-C5CC-8E78D69D7755}"/>
              </a:ext>
            </a:extLst>
          </p:cNvPr>
          <p:cNvCxnSpPr>
            <a:cxnSpLocks/>
            <a:stCxn id="30" idx="3"/>
            <a:endCxn id="9" idx="1"/>
          </p:cNvCxnSpPr>
          <p:nvPr/>
        </p:nvCxnSpPr>
        <p:spPr>
          <a:xfrm flipV="1">
            <a:off x="3558746" y="4308978"/>
            <a:ext cx="2703122" cy="353039"/>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pic>
        <p:nvPicPr>
          <p:cNvPr id="39" name="圖片 38" descr="一張含有 文字, 字型, 螢幕擷取畫面 的圖片&#10;&#10;AI 產生的內容可能不正確。">
            <a:extLst>
              <a:ext uri="{FF2B5EF4-FFF2-40B4-BE49-F238E27FC236}">
                <a16:creationId xmlns:a16="http://schemas.microsoft.com/office/drawing/2014/main" id="{B44AAB62-2263-8195-0B2F-CD1A531D900F}"/>
              </a:ext>
            </a:extLst>
          </p:cNvPr>
          <p:cNvPicPr>
            <a:picLocks noChangeAspect="1"/>
          </p:cNvPicPr>
          <p:nvPr/>
        </p:nvPicPr>
        <p:blipFill>
          <a:blip r:embed="rId4"/>
          <a:stretch>
            <a:fillRect/>
          </a:stretch>
        </p:blipFill>
        <p:spPr>
          <a:xfrm>
            <a:off x="5310247" y="5765568"/>
            <a:ext cx="4959927" cy="1030634"/>
          </a:xfrm>
          <a:prstGeom prst="rect">
            <a:avLst/>
          </a:prstGeom>
        </p:spPr>
      </p:pic>
      <p:sp>
        <p:nvSpPr>
          <p:cNvPr id="40" name="圓角矩形圖說文字 39">
            <a:extLst>
              <a:ext uri="{FF2B5EF4-FFF2-40B4-BE49-F238E27FC236}">
                <a16:creationId xmlns:a16="http://schemas.microsoft.com/office/drawing/2014/main" id="{CA41BEF5-5BE1-07B5-347E-996679E6DDF3}"/>
              </a:ext>
            </a:extLst>
          </p:cNvPr>
          <p:cNvSpPr/>
          <p:nvPr/>
        </p:nvSpPr>
        <p:spPr>
          <a:xfrm>
            <a:off x="9233065" y="5503542"/>
            <a:ext cx="2958935" cy="708654"/>
          </a:xfrm>
          <a:prstGeom prst="wedgeRoundRectCallout">
            <a:avLst>
              <a:gd name="adj1" fmla="val -29933"/>
              <a:gd name="adj2" fmla="val 94261"/>
              <a:gd name="adj3" fmla="val 16667"/>
            </a:avLst>
          </a:prstGeom>
          <a:solidFill>
            <a:srgbClr val="2F313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 altLang="zh-TW" sz="1000" dirty="0">
                <a:solidFill>
                  <a:schemeClr val="bg1"/>
                </a:solidFill>
              </a:rPr>
              <a:t>The audience packs selected for this ad group have all expired. The ad delivery has been paused. Please edit the audience targeting settings.﻿</a:t>
            </a:r>
          </a:p>
        </p:txBody>
      </p:sp>
      <p:sp>
        <p:nvSpPr>
          <p:cNvPr id="41" name="向下箭號 40">
            <a:extLst>
              <a:ext uri="{FF2B5EF4-FFF2-40B4-BE49-F238E27FC236}">
                <a16:creationId xmlns:a16="http://schemas.microsoft.com/office/drawing/2014/main" id="{0A9904A3-D774-0F71-50B3-F3F6982BDE9B}"/>
              </a:ext>
            </a:extLst>
          </p:cNvPr>
          <p:cNvSpPr/>
          <p:nvPr/>
        </p:nvSpPr>
        <p:spPr>
          <a:xfrm>
            <a:off x="8642688" y="5376727"/>
            <a:ext cx="391330" cy="373647"/>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42" name="標題 1">
            <a:extLst>
              <a:ext uri="{FF2B5EF4-FFF2-40B4-BE49-F238E27FC236}">
                <a16:creationId xmlns:a16="http://schemas.microsoft.com/office/drawing/2014/main" id="{1A862C5B-46CB-A6FA-83CC-3E7D9FFCA530}"/>
              </a:ext>
            </a:extLst>
          </p:cNvPr>
          <p:cNvSpPr txBox="1">
            <a:spLocks/>
          </p:cNvSpPr>
          <p:nvPr/>
        </p:nvSpPr>
        <p:spPr>
          <a:xfrm>
            <a:off x="0" y="0"/>
            <a:ext cx="10515600" cy="70560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kumimoji="1" lang="en-US" altLang="zh-TW" sz="2000" dirty="0"/>
              <a:t>Handle </a:t>
            </a:r>
            <a:r>
              <a:rPr kumimoji="1" lang="en-US" altLang="zh-TW" sz="2000" b="1" dirty="0"/>
              <a:t>Expired</a:t>
            </a:r>
            <a:r>
              <a:rPr kumimoji="1" lang="en-US" altLang="zh-TW" sz="2000" dirty="0"/>
              <a:t> Custom Audiences Ad Delivery</a:t>
            </a:r>
            <a:r>
              <a:rPr kumimoji="1" lang="zh-TW" altLang="en-US" sz="2000" dirty="0"/>
              <a:t> </a:t>
            </a:r>
            <a:endParaRPr kumimoji="1" lang="en-US" altLang="zh-TW" sz="2000" dirty="0"/>
          </a:p>
          <a:p>
            <a:endParaRPr kumimoji="1" lang="en-US" altLang="zh-TW" sz="2000" dirty="0"/>
          </a:p>
        </p:txBody>
      </p:sp>
      <p:sp>
        <p:nvSpPr>
          <p:cNvPr id="43" name="文字方塊 42">
            <a:extLst>
              <a:ext uri="{FF2B5EF4-FFF2-40B4-BE49-F238E27FC236}">
                <a16:creationId xmlns:a16="http://schemas.microsoft.com/office/drawing/2014/main" id="{E3EB0A80-C732-F431-AFDE-5C209CF32632}"/>
              </a:ext>
            </a:extLst>
          </p:cNvPr>
          <p:cNvSpPr txBox="1"/>
          <p:nvPr/>
        </p:nvSpPr>
        <p:spPr>
          <a:xfrm>
            <a:off x="198215" y="737955"/>
            <a:ext cx="2542924" cy="369332"/>
          </a:xfrm>
          <a:prstGeom prst="rect">
            <a:avLst/>
          </a:prstGeom>
          <a:noFill/>
        </p:spPr>
        <p:txBody>
          <a:bodyPr wrap="square" rtlCol="0">
            <a:spAutoFit/>
          </a:bodyPr>
          <a:lstStyle/>
          <a:p>
            <a:r>
              <a:rPr kumimoji="1" lang="zh-TW" altLang="en-US" u="sng" dirty="0"/>
              <a:t>系統自動觸發檢查機制</a:t>
            </a:r>
          </a:p>
        </p:txBody>
      </p:sp>
      <p:sp>
        <p:nvSpPr>
          <p:cNvPr id="44" name="文字方塊 43">
            <a:extLst>
              <a:ext uri="{FF2B5EF4-FFF2-40B4-BE49-F238E27FC236}">
                <a16:creationId xmlns:a16="http://schemas.microsoft.com/office/drawing/2014/main" id="{F1FE7298-B5DB-49A0-895F-34C65043689B}"/>
              </a:ext>
            </a:extLst>
          </p:cNvPr>
          <p:cNvSpPr txBox="1"/>
          <p:nvPr/>
        </p:nvSpPr>
        <p:spPr>
          <a:xfrm>
            <a:off x="309425" y="3104369"/>
            <a:ext cx="2767407" cy="369332"/>
          </a:xfrm>
          <a:prstGeom prst="rect">
            <a:avLst/>
          </a:prstGeom>
          <a:noFill/>
        </p:spPr>
        <p:txBody>
          <a:bodyPr wrap="square" rtlCol="0">
            <a:spAutoFit/>
          </a:bodyPr>
          <a:lstStyle/>
          <a:p>
            <a:r>
              <a:rPr kumimoji="1" lang="zh-TW" altLang="en-US" u="sng" dirty="0"/>
              <a:t>使用者操作觸發檢查機制</a:t>
            </a:r>
          </a:p>
        </p:txBody>
      </p:sp>
      <p:sp>
        <p:nvSpPr>
          <p:cNvPr id="45" name="矩形 44">
            <a:extLst>
              <a:ext uri="{FF2B5EF4-FFF2-40B4-BE49-F238E27FC236}">
                <a16:creationId xmlns:a16="http://schemas.microsoft.com/office/drawing/2014/main" id="{A7A31D29-0359-51E8-A00B-50D418D2E765}"/>
              </a:ext>
            </a:extLst>
          </p:cNvPr>
          <p:cNvSpPr/>
          <p:nvPr/>
        </p:nvSpPr>
        <p:spPr>
          <a:xfrm>
            <a:off x="198215" y="3473701"/>
            <a:ext cx="3558239" cy="1540327"/>
          </a:xfrm>
          <a:prstGeom prst="rect">
            <a:avLst/>
          </a:prstGeom>
          <a:noFill/>
          <a:ln w="6350">
            <a:solidFill>
              <a:schemeClr val="tx1"/>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3" name="文字方塊 2">
            <a:extLst>
              <a:ext uri="{FF2B5EF4-FFF2-40B4-BE49-F238E27FC236}">
                <a16:creationId xmlns:a16="http://schemas.microsoft.com/office/drawing/2014/main" id="{0567615B-F5FA-C975-916B-9D863C97044A}"/>
              </a:ext>
            </a:extLst>
          </p:cNvPr>
          <p:cNvSpPr txBox="1"/>
          <p:nvPr/>
        </p:nvSpPr>
        <p:spPr>
          <a:xfrm>
            <a:off x="61739" y="5166229"/>
            <a:ext cx="4954765" cy="1569660"/>
          </a:xfrm>
          <a:prstGeom prst="rect">
            <a:avLst/>
          </a:prstGeom>
          <a:noFill/>
        </p:spPr>
        <p:txBody>
          <a:bodyPr wrap="square" rtlCol="0">
            <a:spAutoFit/>
          </a:bodyPr>
          <a:lstStyle/>
          <a:p>
            <a:r>
              <a:rPr kumimoji="1" lang="en-US" altLang="zh-TW" sz="1600" dirty="0">
                <a:solidFill>
                  <a:srgbClr val="FF0000"/>
                </a:solidFill>
              </a:rPr>
              <a:t>*</a:t>
            </a:r>
            <a:r>
              <a:rPr kumimoji="1" lang="zh-TW" altLang="en-US" sz="1600" dirty="0">
                <a:solidFill>
                  <a:srgbClr val="FF0000"/>
                </a:solidFill>
              </a:rPr>
              <a:t>原本廣告活動</a:t>
            </a:r>
            <a:r>
              <a:rPr kumimoji="1" lang="en-US" altLang="zh-TW" sz="1600" dirty="0">
                <a:solidFill>
                  <a:srgbClr val="FF0000"/>
                </a:solidFill>
              </a:rPr>
              <a:t>/</a:t>
            </a:r>
            <a:r>
              <a:rPr kumimoji="1" lang="zh-TW" altLang="en-US" sz="1600" dirty="0">
                <a:solidFill>
                  <a:srgbClr val="FF0000"/>
                </a:solidFill>
              </a:rPr>
              <a:t>網站流量受眾包的</a:t>
            </a:r>
            <a:r>
              <a:rPr kumimoji="1" lang="en-US" altLang="zh-TW" sz="1600" dirty="0">
                <a:solidFill>
                  <a:srgbClr val="FF0000"/>
                </a:solidFill>
              </a:rPr>
              <a:t>not ready</a:t>
            </a:r>
            <a:r>
              <a:rPr kumimoji="1" lang="zh-TW" altLang="en-US" sz="1600" dirty="0">
                <a:solidFill>
                  <a:srgbClr val="FF0000"/>
                </a:solidFill>
              </a:rPr>
              <a:t>偵測行為不變</a:t>
            </a:r>
            <a:r>
              <a:rPr kumimoji="1" lang="en-US" altLang="zh-TW" sz="1600" dirty="0">
                <a:solidFill>
                  <a:srgbClr val="FF0000"/>
                </a:solidFill>
              </a:rPr>
              <a:t>, </a:t>
            </a:r>
            <a:r>
              <a:rPr kumimoji="1" lang="zh-TW" altLang="en-US" sz="1600" dirty="0">
                <a:solidFill>
                  <a:srgbClr val="FF0000"/>
                </a:solidFill>
              </a:rPr>
              <a:t>唯一改變是從偵測一個</a:t>
            </a:r>
            <a:r>
              <a:rPr kumimoji="1" lang="en-US" altLang="zh-TW" sz="1600" dirty="0">
                <a:solidFill>
                  <a:srgbClr val="FF0000"/>
                </a:solidFill>
              </a:rPr>
              <a:t>not ready</a:t>
            </a:r>
            <a:r>
              <a:rPr kumimoji="1" lang="zh-TW" altLang="en-US" sz="1600" dirty="0">
                <a:solidFill>
                  <a:srgbClr val="FF0000"/>
                </a:solidFill>
              </a:rPr>
              <a:t>就變審核中改成要全部</a:t>
            </a:r>
            <a:r>
              <a:rPr kumimoji="1" lang="en-US" altLang="zh-TW" sz="1600" dirty="0">
                <a:solidFill>
                  <a:srgbClr val="FF0000"/>
                </a:solidFill>
              </a:rPr>
              <a:t>not ready</a:t>
            </a:r>
            <a:r>
              <a:rPr kumimoji="1" lang="zh-TW" altLang="en-US" sz="1600" dirty="0">
                <a:solidFill>
                  <a:srgbClr val="FF0000"/>
                </a:solidFill>
              </a:rPr>
              <a:t>才變審核中</a:t>
            </a:r>
            <a:endParaRPr kumimoji="1" lang="en-US" altLang="zh-TW" sz="1600" dirty="0">
              <a:solidFill>
                <a:srgbClr val="FF0000"/>
              </a:solidFill>
            </a:endParaRPr>
          </a:p>
          <a:p>
            <a:r>
              <a:rPr kumimoji="1" lang="en-US" altLang="zh-TW" sz="1600" dirty="0">
                <a:solidFill>
                  <a:srgbClr val="FF0000"/>
                </a:solidFill>
              </a:rPr>
              <a:t>*”</a:t>
            </a:r>
            <a:r>
              <a:rPr kumimoji="1" lang="zh-TW" altLang="en-US" sz="1600" dirty="0">
                <a:solidFill>
                  <a:srgbClr val="FF0000"/>
                </a:solidFill>
              </a:rPr>
              <a:t>客製受眾包全部過期要改成暫停 </a:t>
            </a:r>
            <a:r>
              <a:rPr kumimoji="1" lang="en-US" altLang="zh-TW" sz="1600" dirty="0">
                <a:solidFill>
                  <a:srgbClr val="FF0000"/>
                </a:solidFill>
              </a:rPr>
              <a:t>“</a:t>
            </a:r>
            <a:r>
              <a:rPr kumimoji="1" lang="zh-TW" altLang="en-US" sz="1600" dirty="0">
                <a:solidFill>
                  <a:srgbClr val="FF0000"/>
                </a:solidFill>
              </a:rPr>
              <a:t>只會發生在</a:t>
            </a:r>
            <a:r>
              <a:rPr kumimoji="1" lang="en-US" altLang="zh-TW" sz="1600" dirty="0">
                <a:solidFill>
                  <a:srgbClr val="FF0000"/>
                </a:solidFill>
              </a:rPr>
              <a:t>ad group Include</a:t>
            </a:r>
            <a:r>
              <a:rPr kumimoji="1" lang="zh-TW" altLang="en-US" sz="1600" dirty="0">
                <a:solidFill>
                  <a:srgbClr val="FF0000"/>
                </a:solidFill>
              </a:rPr>
              <a:t>只有選客製受眾包</a:t>
            </a:r>
            <a:r>
              <a:rPr kumimoji="1" lang="en-US" altLang="zh-TW" sz="1600" dirty="0">
                <a:solidFill>
                  <a:srgbClr val="FF0000"/>
                </a:solidFill>
              </a:rPr>
              <a:t>, </a:t>
            </a:r>
            <a:r>
              <a:rPr kumimoji="1" lang="zh-TW" altLang="en-US" sz="1600" dirty="0">
                <a:solidFill>
                  <a:srgbClr val="FF0000"/>
                </a:solidFill>
              </a:rPr>
              <a:t>會與廣告活動</a:t>
            </a:r>
            <a:r>
              <a:rPr kumimoji="1" lang="en-US" altLang="zh-TW" sz="1600" dirty="0">
                <a:solidFill>
                  <a:srgbClr val="FF0000"/>
                </a:solidFill>
              </a:rPr>
              <a:t>/</a:t>
            </a:r>
            <a:r>
              <a:rPr kumimoji="1" lang="zh-TW" altLang="en-US" sz="1600" dirty="0">
                <a:solidFill>
                  <a:srgbClr val="FF0000"/>
                </a:solidFill>
              </a:rPr>
              <a:t>網站流量受眾包偵測互斥</a:t>
            </a:r>
            <a:r>
              <a:rPr kumimoji="1" lang="en-US" altLang="zh-TW" sz="1600" dirty="0">
                <a:solidFill>
                  <a:srgbClr val="FF0000"/>
                </a:solidFill>
              </a:rPr>
              <a:t>, </a:t>
            </a:r>
            <a:r>
              <a:rPr kumimoji="1" lang="zh-TW" altLang="en-US" sz="1600" dirty="0">
                <a:solidFill>
                  <a:srgbClr val="FF0000"/>
                </a:solidFill>
              </a:rPr>
              <a:t>不會衝突</a:t>
            </a:r>
          </a:p>
        </p:txBody>
      </p:sp>
    </p:spTree>
    <p:extLst>
      <p:ext uri="{BB962C8B-B14F-4D97-AF65-F5344CB8AC3E}">
        <p14:creationId xmlns:p14="http://schemas.microsoft.com/office/powerpoint/2010/main" val="210553936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標題 1">
            <a:extLst>
              <a:ext uri="{FF2B5EF4-FFF2-40B4-BE49-F238E27FC236}">
                <a16:creationId xmlns:a16="http://schemas.microsoft.com/office/drawing/2014/main" id="{3C4D29A8-7606-1C55-17F4-4C8ABB188EB2}"/>
              </a:ext>
            </a:extLst>
          </p:cNvPr>
          <p:cNvSpPr txBox="1">
            <a:spLocks/>
          </p:cNvSpPr>
          <p:nvPr/>
        </p:nvSpPr>
        <p:spPr>
          <a:xfrm>
            <a:off x="0" y="0"/>
            <a:ext cx="10515600" cy="70560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kumimoji="1" lang="en-US" altLang="zh-TW" sz="2000" dirty="0"/>
              <a:t>Ad Group</a:t>
            </a:r>
          </a:p>
          <a:p>
            <a:r>
              <a:rPr kumimoji="1" lang="en-US" altLang="zh-TW" sz="2000" dirty="0"/>
              <a:t>Include/Exclude Custom Audiences</a:t>
            </a:r>
          </a:p>
        </p:txBody>
      </p:sp>
      <p:pic>
        <p:nvPicPr>
          <p:cNvPr id="6" name="內容版面配置區 4" descr="一張含有 文字, 白色, Rectangle, 螢幕擷取畫面 的圖片&#10;&#10;AI 產生的內容可能不正確。">
            <a:extLst>
              <a:ext uri="{FF2B5EF4-FFF2-40B4-BE49-F238E27FC236}">
                <a16:creationId xmlns:a16="http://schemas.microsoft.com/office/drawing/2014/main" id="{F0905187-8134-1D0D-8280-589B68618271}"/>
              </a:ext>
            </a:extLst>
          </p:cNvPr>
          <p:cNvPicPr>
            <a:picLocks noGrp="1" noChangeAspect="1"/>
          </p:cNvPicPr>
          <p:nvPr>
            <p:ph idx="1"/>
          </p:nvPr>
        </p:nvPicPr>
        <p:blipFill>
          <a:blip r:embed="rId2"/>
          <a:stretch>
            <a:fillRect/>
          </a:stretch>
        </p:blipFill>
        <p:spPr>
          <a:xfrm>
            <a:off x="1715413" y="722268"/>
            <a:ext cx="9000683" cy="1461287"/>
          </a:xfrm>
        </p:spPr>
      </p:pic>
      <p:pic>
        <p:nvPicPr>
          <p:cNvPr id="7" name="圖片 6" descr="一張含有 文字, 字型, 白色, 行 的圖片&#10;&#10;AI 產生的內容可能不正確。">
            <a:extLst>
              <a:ext uri="{FF2B5EF4-FFF2-40B4-BE49-F238E27FC236}">
                <a16:creationId xmlns:a16="http://schemas.microsoft.com/office/drawing/2014/main" id="{E267503F-F5E8-59E2-6E3A-9E1AD324CFE9}"/>
              </a:ext>
            </a:extLst>
          </p:cNvPr>
          <p:cNvPicPr>
            <a:picLocks noChangeAspect="1"/>
          </p:cNvPicPr>
          <p:nvPr/>
        </p:nvPicPr>
        <p:blipFill>
          <a:blip r:embed="rId3"/>
          <a:stretch>
            <a:fillRect/>
          </a:stretch>
        </p:blipFill>
        <p:spPr>
          <a:xfrm>
            <a:off x="1715413" y="2544873"/>
            <a:ext cx="9000683" cy="1619907"/>
          </a:xfrm>
          <a:prstGeom prst="rect">
            <a:avLst/>
          </a:prstGeom>
        </p:spPr>
      </p:pic>
      <p:pic>
        <p:nvPicPr>
          <p:cNvPr id="8" name="圖片 7">
            <a:extLst>
              <a:ext uri="{FF2B5EF4-FFF2-40B4-BE49-F238E27FC236}">
                <a16:creationId xmlns:a16="http://schemas.microsoft.com/office/drawing/2014/main" id="{68BA6B74-2ABA-99E9-177C-93A41B8D3112}"/>
              </a:ext>
            </a:extLst>
          </p:cNvPr>
          <p:cNvPicPr>
            <a:picLocks noChangeAspect="1"/>
          </p:cNvPicPr>
          <p:nvPr/>
        </p:nvPicPr>
        <p:blipFill>
          <a:blip r:embed="rId4"/>
          <a:stretch>
            <a:fillRect/>
          </a:stretch>
        </p:blipFill>
        <p:spPr>
          <a:xfrm>
            <a:off x="1715413" y="4526098"/>
            <a:ext cx="7772400" cy="1601479"/>
          </a:xfrm>
          <a:prstGeom prst="rect">
            <a:avLst/>
          </a:prstGeom>
        </p:spPr>
      </p:pic>
      <p:sp>
        <p:nvSpPr>
          <p:cNvPr id="9" name="矩形 8">
            <a:extLst>
              <a:ext uri="{FF2B5EF4-FFF2-40B4-BE49-F238E27FC236}">
                <a16:creationId xmlns:a16="http://schemas.microsoft.com/office/drawing/2014/main" id="{5E017278-442D-C7FC-52CF-2340B5D137B1}"/>
              </a:ext>
            </a:extLst>
          </p:cNvPr>
          <p:cNvSpPr/>
          <p:nvPr/>
        </p:nvSpPr>
        <p:spPr>
          <a:xfrm>
            <a:off x="2301302" y="722268"/>
            <a:ext cx="625032" cy="405752"/>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0" name="矩形 9">
            <a:extLst>
              <a:ext uri="{FF2B5EF4-FFF2-40B4-BE49-F238E27FC236}">
                <a16:creationId xmlns:a16="http://schemas.microsoft.com/office/drawing/2014/main" id="{44754C67-FB3C-B741-F310-3F43F69C533C}"/>
              </a:ext>
            </a:extLst>
          </p:cNvPr>
          <p:cNvSpPr/>
          <p:nvPr/>
        </p:nvSpPr>
        <p:spPr>
          <a:xfrm>
            <a:off x="4791787" y="1047159"/>
            <a:ext cx="981919" cy="405752"/>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1" name="矩形 10">
            <a:extLst>
              <a:ext uri="{FF2B5EF4-FFF2-40B4-BE49-F238E27FC236}">
                <a16:creationId xmlns:a16="http://schemas.microsoft.com/office/drawing/2014/main" id="{24122351-D102-D979-E6DE-AC3F3B1FB39B}"/>
              </a:ext>
            </a:extLst>
          </p:cNvPr>
          <p:cNvSpPr/>
          <p:nvPr/>
        </p:nvSpPr>
        <p:spPr>
          <a:xfrm>
            <a:off x="2261754" y="2544873"/>
            <a:ext cx="664580" cy="405752"/>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2" name="矩形 11">
            <a:extLst>
              <a:ext uri="{FF2B5EF4-FFF2-40B4-BE49-F238E27FC236}">
                <a16:creationId xmlns:a16="http://schemas.microsoft.com/office/drawing/2014/main" id="{E9CB53AB-7A42-76AD-2940-A73A2DB7C71D}"/>
              </a:ext>
            </a:extLst>
          </p:cNvPr>
          <p:cNvSpPr/>
          <p:nvPr/>
        </p:nvSpPr>
        <p:spPr>
          <a:xfrm>
            <a:off x="9752504" y="3412701"/>
            <a:ext cx="664580" cy="405752"/>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3" name="矩形 12">
            <a:extLst>
              <a:ext uri="{FF2B5EF4-FFF2-40B4-BE49-F238E27FC236}">
                <a16:creationId xmlns:a16="http://schemas.microsoft.com/office/drawing/2014/main" id="{704DC403-7DA2-7F01-328F-28FC8E6E0A86}"/>
              </a:ext>
            </a:extLst>
          </p:cNvPr>
          <p:cNvSpPr/>
          <p:nvPr/>
        </p:nvSpPr>
        <p:spPr>
          <a:xfrm>
            <a:off x="1929464" y="5486498"/>
            <a:ext cx="1297812" cy="405752"/>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4" name="文字方塊 13">
            <a:extLst>
              <a:ext uri="{FF2B5EF4-FFF2-40B4-BE49-F238E27FC236}">
                <a16:creationId xmlns:a16="http://schemas.microsoft.com/office/drawing/2014/main" id="{713F1E12-6243-E4A1-51EB-B7AFCD2EF717}"/>
              </a:ext>
            </a:extLst>
          </p:cNvPr>
          <p:cNvSpPr txBox="1"/>
          <p:nvPr/>
        </p:nvSpPr>
        <p:spPr>
          <a:xfrm>
            <a:off x="1715413" y="6138082"/>
            <a:ext cx="6427913" cy="646331"/>
          </a:xfrm>
          <a:prstGeom prst="rect">
            <a:avLst/>
          </a:prstGeom>
          <a:noFill/>
        </p:spPr>
        <p:txBody>
          <a:bodyPr wrap="square" rtlCol="0">
            <a:spAutoFit/>
          </a:bodyPr>
          <a:lstStyle/>
          <a:p>
            <a:r>
              <a:rPr kumimoji="1" lang="zh-TW" altLang="en-US" dirty="0">
                <a:solidFill>
                  <a:srgbClr val="FF0000"/>
                </a:solidFill>
              </a:rPr>
              <a:t>在</a:t>
            </a:r>
            <a:r>
              <a:rPr kumimoji="1" lang="en-US" altLang="zh-TW" dirty="0">
                <a:solidFill>
                  <a:srgbClr val="FF0000"/>
                </a:solidFill>
              </a:rPr>
              <a:t>Include</a:t>
            </a:r>
            <a:r>
              <a:rPr kumimoji="1" lang="zh-TW" altLang="en-US" dirty="0">
                <a:solidFill>
                  <a:srgbClr val="FF0000"/>
                </a:solidFill>
              </a:rPr>
              <a:t>有選的</a:t>
            </a:r>
            <a:r>
              <a:rPr kumimoji="1" lang="en-US" altLang="zh-TW" dirty="0">
                <a:solidFill>
                  <a:srgbClr val="FF0000"/>
                </a:solidFill>
              </a:rPr>
              <a:t>, </a:t>
            </a:r>
            <a:r>
              <a:rPr kumimoji="1" lang="zh-TW" altLang="en-US" dirty="0">
                <a:solidFill>
                  <a:srgbClr val="FF0000"/>
                </a:solidFill>
              </a:rPr>
              <a:t>在</a:t>
            </a:r>
            <a:r>
              <a:rPr kumimoji="1" lang="en-US" altLang="zh-TW" dirty="0">
                <a:solidFill>
                  <a:srgbClr val="FF0000"/>
                </a:solidFill>
              </a:rPr>
              <a:t>Exclude list</a:t>
            </a:r>
            <a:r>
              <a:rPr kumimoji="1" lang="zh-TW" altLang="en-US" dirty="0">
                <a:solidFill>
                  <a:srgbClr val="FF0000"/>
                </a:solidFill>
              </a:rPr>
              <a:t>會</a:t>
            </a:r>
            <a:r>
              <a:rPr kumimoji="1" lang="en-US" altLang="zh-TW" dirty="0">
                <a:solidFill>
                  <a:srgbClr val="FF0000"/>
                </a:solidFill>
              </a:rPr>
              <a:t>disable</a:t>
            </a:r>
          </a:p>
          <a:p>
            <a:r>
              <a:rPr kumimoji="1" lang="en-US" altLang="zh-TW" dirty="0">
                <a:solidFill>
                  <a:srgbClr val="FF0000"/>
                </a:solidFill>
              </a:rPr>
              <a:t>Custom Audience</a:t>
            </a:r>
            <a:r>
              <a:rPr kumimoji="1" lang="zh-TW" altLang="en-US" dirty="0">
                <a:solidFill>
                  <a:srgbClr val="FF0000"/>
                </a:solidFill>
              </a:rPr>
              <a:t>邏輯與廣告活動受眾包</a:t>
            </a:r>
            <a:r>
              <a:rPr kumimoji="1" lang="en-US" altLang="zh-TW" dirty="0">
                <a:solidFill>
                  <a:srgbClr val="FF0000"/>
                </a:solidFill>
              </a:rPr>
              <a:t>/</a:t>
            </a:r>
            <a:r>
              <a:rPr kumimoji="1" lang="zh-TW" altLang="en-US" dirty="0">
                <a:solidFill>
                  <a:srgbClr val="FF0000"/>
                </a:solidFill>
              </a:rPr>
              <a:t>網站流量受眾包一樣</a:t>
            </a:r>
          </a:p>
        </p:txBody>
      </p:sp>
      <p:sp>
        <p:nvSpPr>
          <p:cNvPr id="2" name="文字方塊 1">
            <a:extLst>
              <a:ext uri="{FF2B5EF4-FFF2-40B4-BE49-F238E27FC236}">
                <a16:creationId xmlns:a16="http://schemas.microsoft.com/office/drawing/2014/main" id="{1741293C-AD10-59E1-EECD-67C148637D7F}"/>
              </a:ext>
            </a:extLst>
          </p:cNvPr>
          <p:cNvSpPr txBox="1"/>
          <p:nvPr/>
        </p:nvSpPr>
        <p:spPr>
          <a:xfrm>
            <a:off x="8143326" y="0"/>
            <a:ext cx="4082970" cy="923330"/>
          </a:xfrm>
          <a:prstGeom prst="rect">
            <a:avLst/>
          </a:prstGeom>
          <a:noFill/>
        </p:spPr>
        <p:txBody>
          <a:bodyPr wrap="square" rtlCol="0">
            <a:spAutoFit/>
          </a:bodyPr>
          <a:lstStyle/>
          <a:p>
            <a:r>
              <a:rPr kumimoji="1" lang="en-US" altLang="zh-TW" dirty="0">
                <a:solidFill>
                  <a:srgbClr val="FF0000"/>
                </a:solidFill>
              </a:rPr>
              <a:t>Ad group</a:t>
            </a:r>
          </a:p>
          <a:p>
            <a:r>
              <a:rPr kumimoji="1" lang="en-US" altLang="zh-TW" dirty="0">
                <a:solidFill>
                  <a:srgbClr val="FF0000"/>
                </a:solidFill>
              </a:rPr>
              <a:t>-include 100 across all audience types</a:t>
            </a:r>
          </a:p>
          <a:p>
            <a:r>
              <a:rPr kumimoji="1" lang="en-US" altLang="zh-TW" dirty="0">
                <a:solidFill>
                  <a:srgbClr val="FF0000"/>
                </a:solidFill>
              </a:rPr>
              <a:t>-exclude 50 across all audience types</a:t>
            </a:r>
            <a:endParaRPr kumimoji="1" lang="zh-TW" altLang="en-US" dirty="0">
              <a:solidFill>
                <a:srgbClr val="FF0000"/>
              </a:solidFill>
            </a:endParaRPr>
          </a:p>
        </p:txBody>
      </p:sp>
    </p:spTree>
    <p:extLst>
      <p:ext uri="{BB962C8B-B14F-4D97-AF65-F5344CB8AC3E}">
        <p14:creationId xmlns:p14="http://schemas.microsoft.com/office/powerpoint/2010/main" val="398663811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標題 1">
            <a:extLst>
              <a:ext uri="{FF2B5EF4-FFF2-40B4-BE49-F238E27FC236}">
                <a16:creationId xmlns:a16="http://schemas.microsoft.com/office/drawing/2014/main" id="{50409594-508A-4319-29B5-9A92FE784463}"/>
              </a:ext>
            </a:extLst>
          </p:cNvPr>
          <p:cNvSpPr txBox="1">
            <a:spLocks/>
          </p:cNvSpPr>
          <p:nvPr/>
        </p:nvSpPr>
        <p:spPr>
          <a:xfrm>
            <a:off x="0" y="0"/>
            <a:ext cx="10515600" cy="70560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kumimoji="1" lang="en-US" altLang="zh-TW" sz="2000" dirty="0"/>
              <a:t>Ad Group</a:t>
            </a:r>
          </a:p>
          <a:p>
            <a:r>
              <a:rPr kumimoji="1" lang="en-US" altLang="zh-TW" sz="2000" dirty="0"/>
              <a:t>Functions</a:t>
            </a:r>
            <a:endParaRPr kumimoji="1" lang="zh-TW" altLang="en-US" sz="2000" dirty="0"/>
          </a:p>
        </p:txBody>
      </p:sp>
      <p:sp>
        <p:nvSpPr>
          <p:cNvPr id="7" name="內容版面配置區 2">
            <a:extLst>
              <a:ext uri="{FF2B5EF4-FFF2-40B4-BE49-F238E27FC236}">
                <a16:creationId xmlns:a16="http://schemas.microsoft.com/office/drawing/2014/main" id="{B8E08A44-3D6E-DC11-B2EA-CD23167E45EB}"/>
              </a:ext>
            </a:extLst>
          </p:cNvPr>
          <p:cNvSpPr>
            <a:spLocks noGrp="1"/>
          </p:cNvSpPr>
          <p:nvPr>
            <p:ph idx="1"/>
          </p:nvPr>
        </p:nvSpPr>
        <p:spPr>
          <a:xfrm>
            <a:off x="838200" y="1825625"/>
            <a:ext cx="10515600" cy="4351338"/>
          </a:xfrm>
        </p:spPr>
        <p:txBody>
          <a:bodyPr/>
          <a:lstStyle/>
          <a:p>
            <a:r>
              <a:rPr kumimoji="1" lang="en-US" altLang="zh-TW" dirty="0"/>
              <a:t>Custom Audience Targeting</a:t>
            </a:r>
            <a:r>
              <a:rPr kumimoji="1" lang="zh-TW" altLang="en-US" dirty="0"/>
              <a:t>要納入</a:t>
            </a:r>
            <a:r>
              <a:rPr kumimoji="1" lang="zh-TW" altLang="en-US" b="1" dirty="0"/>
              <a:t>複製</a:t>
            </a:r>
            <a:r>
              <a:rPr kumimoji="1" lang="zh-TW" altLang="en-US" dirty="0"/>
              <a:t>項目</a:t>
            </a:r>
            <a:endParaRPr kumimoji="1" lang="en-US" altLang="zh-TW" dirty="0"/>
          </a:p>
          <a:p>
            <a:r>
              <a:rPr kumimoji="1" lang="en-US" altLang="zh-TW" b="1" dirty="0"/>
              <a:t>Non-expired</a:t>
            </a:r>
            <a:r>
              <a:rPr kumimoji="1" lang="en-US" altLang="zh-TW" dirty="0"/>
              <a:t> Custom Audience</a:t>
            </a:r>
            <a:r>
              <a:rPr kumimoji="1" lang="zh-TW" altLang="en-US" dirty="0"/>
              <a:t>才納入</a:t>
            </a:r>
            <a:r>
              <a:rPr kumimoji="1" lang="en-US" altLang="zh-TW" dirty="0"/>
              <a:t>”</a:t>
            </a:r>
            <a:r>
              <a:rPr lang="zh-TW" altLang="en-US" b="1" dirty="0"/>
              <a:t>量體預估區間</a:t>
            </a:r>
            <a:r>
              <a:rPr lang="en-US" altLang="zh-TW" dirty="0"/>
              <a:t>”</a:t>
            </a:r>
            <a:r>
              <a:rPr lang="zh-TW" altLang="en-US" dirty="0"/>
              <a:t>計算</a:t>
            </a:r>
            <a:endParaRPr lang="en-US" altLang="zh-TW" dirty="0"/>
          </a:p>
          <a:p>
            <a:pPr lvl="1"/>
            <a:endParaRPr kumimoji="1" lang="en-US" altLang="zh-TW" dirty="0"/>
          </a:p>
        </p:txBody>
      </p:sp>
      <p:pic>
        <p:nvPicPr>
          <p:cNvPr id="3" name="圖片 2" descr="一張含有 文字, 字型, 螢幕擷取畫面 的圖片&#10;&#10;AI 產生的內容可能不正確。">
            <a:extLst>
              <a:ext uri="{FF2B5EF4-FFF2-40B4-BE49-F238E27FC236}">
                <a16:creationId xmlns:a16="http://schemas.microsoft.com/office/drawing/2014/main" id="{AB06B04D-D4FB-A065-2933-7DCB6E09D024}"/>
              </a:ext>
            </a:extLst>
          </p:cNvPr>
          <p:cNvPicPr>
            <a:picLocks noChangeAspect="1"/>
          </p:cNvPicPr>
          <p:nvPr/>
        </p:nvPicPr>
        <p:blipFill>
          <a:blip r:embed="rId2"/>
          <a:stretch>
            <a:fillRect/>
          </a:stretch>
        </p:blipFill>
        <p:spPr>
          <a:xfrm>
            <a:off x="1182130" y="2856006"/>
            <a:ext cx="7772400" cy="1151466"/>
          </a:xfrm>
          <a:prstGeom prst="rect">
            <a:avLst/>
          </a:prstGeom>
        </p:spPr>
      </p:pic>
    </p:spTree>
    <p:extLst>
      <p:ext uri="{BB962C8B-B14F-4D97-AF65-F5344CB8AC3E}">
        <p14:creationId xmlns:p14="http://schemas.microsoft.com/office/powerpoint/2010/main" val="260777099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標題 3">
            <a:extLst>
              <a:ext uri="{FF2B5EF4-FFF2-40B4-BE49-F238E27FC236}">
                <a16:creationId xmlns:a16="http://schemas.microsoft.com/office/drawing/2014/main" id="{236C04B4-87BB-7886-32B2-5ED2589792FE}"/>
              </a:ext>
            </a:extLst>
          </p:cNvPr>
          <p:cNvSpPr>
            <a:spLocks noGrp="1"/>
          </p:cNvSpPr>
          <p:nvPr>
            <p:ph type="title"/>
          </p:nvPr>
        </p:nvSpPr>
        <p:spPr/>
        <p:txBody>
          <a:bodyPr/>
          <a:lstStyle/>
          <a:p>
            <a:r>
              <a:rPr lang="en-US" altLang="zh-TW" dirty="0"/>
              <a:t>Report</a:t>
            </a:r>
            <a:endParaRPr lang="zh-TW" altLang="en-US" dirty="0"/>
          </a:p>
        </p:txBody>
      </p:sp>
      <p:sp>
        <p:nvSpPr>
          <p:cNvPr id="5" name="文字版面配置區 4">
            <a:extLst>
              <a:ext uri="{FF2B5EF4-FFF2-40B4-BE49-F238E27FC236}">
                <a16:creationId xmlns:a16="http://schemas.microsoft.com/office/drawing/2014/main" id="{AFC9C1A7-1D3D-B719-7EEA-4AD19C01BD24}"/>
              </a:ext>
            </a:extLst>
          </p:cNvPr>
          <p:cNvSpPr>
            <a:spLocks noGrp="1"/>
          </p:cNvSpPr>
          <p:nvPr>
            <p:ph type="body" idx="1"/>
          </p:nvPr>
        </p:nvSpPr>
        <p:spPr/>
        <p:txBody>
          <a:bodyPr/>
          <a:lstStyle/>
          <a:p>
            <a:endParaRPr lang="zh-TW" altLang="en-US"/>
          </a:p>
        </p:txBody>
      </p:sp>
    </p:spTree>
    <p:extLst>
      <p:ext uri="{BB962C8B-B14F-4D97-AF65-F5344CB8AC3E}">
        <p14:creationId xmlns:p14="http://schemas.microsoft.com/office/powerpoint/2010/main" val="195397654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 name="圖片 15" descr="一張含有 文字, 螢幕擷取畫面, 數字, 字型 的圖片&#10;&#10;AI 產生的內容可能不正確。">
            <a:extLst>
              <a:ext uri="{FF2B5EF4-FFF2-40B4-BE49-F238E27FC236}">
                <a16:creationId xmlns:a16="http://schemas.microsoft.com/office/drawing/2014/main" id="{ADC33917-C174-E32F-DF36-92C481A52D8F}"/>
              </a:ext>
            </a:extLst>
          </p:cNvPr>
          <p:cNvPicPr>
            <a:picLocks noChangeAspect="1"/>
          </p:cNvPicPr>
          <p:nvPr/>
        </p:nvPicPr>
        <p:blipFill>
          <a:blip r:embed="rId2"/>
          <a:stretch>
            <a:fillRect/>
          </a:stretch>
        </p:blipFill>
        <p:spPr>
          <a:xfrm>
            <a:off x="2209800" y="3633067"/>
            <a:ext cx="7772400" cy="2903068"/>
          </a:xfrm>
          <a:prstGeom prst="rect">
            <a:avLst/>
          </a:prstGeom>
        </p:spPr>
      </p:pic>
      <p:pic>
        <p:nvPicPr>
          <p:cNvPr id="8" name="圖片 7" descr="一張含有 文字, 字型, 數字, 螢幕擷取畫面 的圖片&#10;&#10;AI 產生的內容可能不正確。">
            <a:extLst>
              <a:ext uri="{FF2B5EF4-FFF2-40B4-BE49-F238E27FC236}">
                <a16:creationId xmlns:a16="http://schemas.microsoft.com/office/drawing/2014/main" id="{4BB7615C-B53B-CB02-B3BC-556C867B9650}"/>
              </a:ext>
            </a:extLst>
          </p:cNvPr>
          <p:cNvPicPr>
            <a:picLocks noChangeAspect="1"/>
          </p:cNvPicPr>
          <p:nvPr/>
        </p:nvPicPr>
        <p:blipFill>
          <a:blip r:embed="rId3"/>
          <a:stretch>
            <a:fillRect/>
          </a:stretch>
        </p:blipFill>
        <p:spPr>
          <a:xfrm>
            <a:off x="2209800" y="705600"/>
            <a:ext cx="7772400" cy="2063741"/>
          </a:xfrm>
          <a:prstGeom prst="rect">
            <a:avLst/>
          </a:prstGeom>
        </p:spPr>
      </p:pic>
      <p:sp>
        <p:nvSpPr>
          <p:cNvPr id="9" name="標題 1">
            <a:extLst>
              <a:ext uri="{FF2B5EF4-FFF2-40B4-BE49-F238E27FC236}">
                <a16:creationId xmlns:a16="http://schemas.microsoft.com/office/drawing/2014/main" id="{5305E2BD-AF58-0541-0DE4-282E1D897805}"/>
              </a:ext>
            </a:extLst>
          </p:cNvPr>
          <p:cNvSpPr txBox="1">
            <a:spLocks/>
          </p:cNvSpPr>
          <p:nvPr/>
        </p:nvSpPr>
        <p:spPr>
          <a:xfrm>
            <a:off x="0" y="0"/>
            <a:ext cx="10515600" cy="70560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kumimoji="1" lang="en-US" altLang="zh-TW" sz="2000" dirty="0"/>
              <a:t>Report</a:t>
            </a:r>
          </a:p>
          <a:p>
            <a:r>
              <a:rPr kumimoji="1" lang="zh-TW" altLang="en-US" sz="2000" dirty="0"/>
              <a:t>受眾洞察報告</a:t>
            </a:r>
          </a:p>
        </p:txBody>
      </p:sp>
      <p:sp>
        <p:nvSpPr>
          <p:cNvPr id="12" name="向下箭號 11">
            <a:extLst>
              <a:ext uri="{FF2B5EF4-FFF2-40B4-BE49-F238E27FC236}">
                <a16:creationId xmlns:a16="http://schemas.microsoft.com/office/drawing/2014/main" id="{B6797EB0-11C8-EC1E-8080-176F30C4AF74}"/>
              </a:ext>
            </a:extLst>
          </p:cNvPr>
          <p:cNvSpPr/>
          <p:nvPr/>
        </p:nvSpPr>
        <p:spPr>
          <a:xfrm>
            <a:off x="5899150" y="3004354"/>
            <a:ext cx="393700" cy="393700"/>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3" name="矩形 12">
            <a:extLst>
              <a:ext uri="{FF2B5EF4-FFF2-40B4-BE49-F238E27FC236}">
                <a16:creationId xmlns:a16="http://schemas.microsoft.com/office/drawing/2014/main" id="{F228B39F-4D75-84BF-4B38-191AEB8FC9B1}"/>
              </a:ext>
            </a:extLst>
          </p:cNvPr>
          <p:cNvSpPr/>
          <p:nvPr/>
        </p:nvSpPr>
        <p:spPr>
          <a:xfrm>
            <a:off x="2135678" y="4737576"/>
            <a:ext cx="7897322" cy="926624"/>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7" name="文字方塊 16">
            <a:extLst>
              <a:ext uri="{FF2B5EF4-FFF2-40B4-BE49-F238E27FC236}">
                <a16:creationId xmlns:a16="http://schemas.microsoft.com/office/drawing/2014/main" id="{3C46BFA7-2686-9212-ED1D-38E05997F3E5}"/>
              </a:ext>
            </a:extLst>
          </p:cNvPr>
          <p:cNvSpPr txBox="1"/>
          <p:nvPr/>
        </p:nvSpPr>
        <p:spPr>
          <a:xfrm>
            <a:off x="6292850" y="2795195"/>
            <a:ext cx="6150279" cy="646331"/>
          </a:xfrm>
          <a:prstGeom prst="rect">
            <a:avLst/>
          </a:prstGeom>
          <a:noFill/>
        </p:spPr>
        <p:txBody>
          <a:bodyPr wrap="square" rtlCol="0">
            <a:spAutoFit/>
          </a:bodyPr>
          <a:lstStyle/>
          <a:p>
            <a:r>
              <a:rPr kumimoji="1" lang="zh-TW" altLang="en-US" dirty="0">
                <a:solidFill>
                  <a:srgbClr val="FF0000"/>
                </a:solidFill>
              </a:rPr>
              <a:t>投放期間中途</a:t>
            </a:r>
            <a:r>
              <a:rPr kumimoji="1" lang="en-US" altLang="zh-TW" dirty="0">
                <a:solidFill>
                  <a:srgbClr val="FF0000"/>
                </a:solidFill>
              </a:rPr>
              <a:t>custom audience</a:t>
            </a:r>
            <a:r>
              <a:rPr kumimoji="1" lang="zh-TW" altLang="en-US" dirty="0">
                <a:solidFill>
                  <a:srgbClr val="FF0000"/>
                </a:solidFill>
              </a:rPr>
              <a:t> </a:t>
            </a:r>
            <a:r>
              <a:rPr kumimoji="1" lang="en-US" altLang="zh-TW" dirty="0">
                <a:solidFill>
                  <a:srgbClr val="FF0000"/>
                </a:solidFill>
              </a:rPr>
              <a:t>unselected</a:t>
            </a:r>
            <a:r>
              <a:rPr kumimoji="1" lang="zh-TW" altLang="en-US" dirty="0">
                <a:solidFill>
                  <a:srgbClr val="FF0000"/>
                </a:solidFill>
              </a:rPr>
              <a:t>或是</a:t>
            </a:r>
            <a:r>
              <a:rPr kumimoji="1" lang="en-US" altLang="zh-TW" dirty="0">
                <a:solidFill>
                  <a:srgbClr val="FF0000"/>
                </a:solidFill>
              </a:rPr>
              <a:t>audience</a:t>
            </a:r>
            <a:r>
              <a:rPr kumimoji="1" lang="zh-TW" altLang="en-US" dirty="0">
                <a:solidFill>
                  <a:srgbClr val="FF0000"/>
                </a:solidFill>
              </a:rPr>
              <a:t>本身</a:t>
            </a:r>
            <a:r>
              <a:rPr kumimoji="1" lang="en-US" altLang="zh-TW" dirty="0">
                <a:solidFill>
                  <a:srgbClr val="FF0000"/>
                </a:solidFill>
              </a:rPr>
              <a:t>expired, </a:t>
            </a:r>
            <a:r>
              <a:rPr kumimoji="1" lang="zh-TW" altLang="en-US" dirty="0">
                <a:solidFill>
                  <a:srgbClr val="FF0000"/>
                </a:solidFill>
              </a:rPr>
              <a:t>報表都要能顯示出曾經跑過的投放資料</a:t>
            </a:r>
          </a:p>
        </p:txBody>
      </p:sp>
      <p:sp>
        <p:nvSpPr>
          <p:cNvPr id="2" name="文字方塊 1">
            <a:extLst>
              <a:ext uri="{FF2B5EF4-FFF2-40B4-BE49-F238E27FC236}">
                <a16:creationId xmlns:a16="http://schemas.microsoft.com/office/drawing/2014/main" id="{3E4682C4-8EB8-1DAD-3051-318363E29BD9}"/>
              </a:ext>
            </a:extLst>
          </p:cNvPr>
          <p:cNvSpPr txBox="1"/>
          <p:nvPr/>
        </p:nvSpPr>
        <p:spPr>
          <a:xfrm>
            <a:off x="5962520" y="292796"/>
            <a:ext cx="4070480" cy="369332"/>
          </a:xfrm>
          <a:prstGeom prst="rect">
            <a:avLst/>
          </a:prstGeom>
          <a:noFill/>
        </p:spPr>
        <p:txBody>
          <a:bodyPr wrap="square" rtlCol="0">
            <a:spAutoFit/>
          </a:bodyPr>
          <a:lstStyle/>
          <a:p>
            <a:r>
              <a:rPr kumimoji="1" lang="zh-TW" altLang="en-US" dirty="0">
                <a:solidFill>
                  <a:srgbClr val="FF0000"/>
                </a:solidFill>
              </a:rPr>
              <a:t>客製受眾的廣告歸因也是校正過的結果</a:t>
            </a:r>
          </a:p>
        </p:txBody>
      </p:sp>
    </p:spTree>
    <p:extLst>
      <p:ext uri="{BB962C8B-B14F-4D97-AF65-F5344CB8AC3E}">
        <p14:creationId xmlns:p14="http://schemas.microsoft.com/office/powerpoint/2010/main" val="373172777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標題 3">
            <a:extLst>
              <a:ext uri="{FF2B5EF4-FFF2-40B4-BE49-F238E27FC236}">
                <a16:creationId xmlns:a16="http://schemas.microsoft.com/office/drawing/2014/main" id="{055017A3-4B47-2C91-C460-BA5781463B2A}"/>
              </a:ext>
            </a:extLst>
          </p:cNvPr>
          <p:cNvSpPr>
            <a:spLocks noGrp="1"/>
          </p:cNvSpPr>
          <p:nvPr>
            <p:ph type="title"/>
          </p:nvPr>
        </p:nvSpPr>
        <p:spPr/>
        <p:txBody>
          <a:bodyPr/>
          <a:lstStyle/>
          <a:p>
            <a:r>
              <a:rPr lang="en-US" altLang="zh-TW"/>
              <a:t>Behavior Change</a:t>
            </a:r>
            <a:endParaRPr lang="zh-TW" altLang="en-US"/>
          </a:p>
        </p:txBody>
      </p:sp>
      <p:sp>
        <p:nvSpPr>
          <p:cNvPr id="5" name="文字版面配置區 4">
            <a:extLst>
              <a:ext uri="{FF2B5EF4-FFF2-40B4-BE49-F238E27FC236}">
                <a16:creationId xmlns:a16="http://schemas.microsoft.com/office/drawing/2014/main" id="{94C4C723-3EF4-E3FE-8C67-DE05FE17E15A}"/>
              </a:ext>
            </a:extLst>
          </p:cNvPr>
          <p:cNvSpPr>
            <a:spLocks noGrp="1"/>
          </p:cNvSpPr>
          <p:nvPr>
            <p:ph type="body" idx="1"/>
          </p:nvPr>
        </p:nvSpPr>
        <p:spPr/>
        <p:txBody>
          <a:bodyPr/>
          <a:lstStyle/>
          <a:p>
            <a:endParaRPr lang="zh-TW" altLang="en-US"/>
          </a:p>
        </p:txBody>
      </p:sp>
    </p:spTree>
    <p:extLst>
      <p:ext uri="{BB962C8B-B14F-4D97-AF65-F5344CB8AC3E}">
        <p14:creationId xmlns:p14="http://schemas.microsoft.com/office/powerpoint/2010/main" val="4157252212"/>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標題 1">
            <a:extLst>
              <a:ext uri="{FF2B5EF4-FFF2-40B4-BE49-F238E27FC236}">
                <a16:creationId xmlns:a16="http://schemas.microsoft.com/office/drawing/2014/main" id="{D8FE7E14-21A5-DA91-0AC7-37629916EA2C}"/>
              </a:ext>
            </a:extLst>
          </p:cNvPr>
          <p:cNvSpPr txBox="1">
            <a:spLocks/>
          </p:cNvSpPr>
          <p:nvPr/>
        </p:nvSpPr>
        <p:spPr>
          <a:xfrm>
            <a:off x="0" y="0"/>
            <a:ext cx="11661644" cy="70560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kumimoji="1" lang="en-US" altLang="zh-TW" sz="2000" dirty="0"/>
              <a:t>Ad Group</a:t>
            </a:r>
            <a:r>
              <a:rPr kumimoji="1" lang="zh-TW" altLang="en-US" sz="2000" dirty="0"/>
              <a:t>顯示廣告活動</a:t>
            </a:r>
            <a:r>
              <a:rPr kumimoji="1" lang="en-US" altLang="zh-TW" sz="2000" dirty="0"/>
              <a:t>/</a:t>
            </a:r>
            <a:r>
              <a:rPr kumimoji="1" lang="zh-TW" altLang="en-US" sz="2000" dirty="0"/>
              <a:t>網站流量受眾包清單排序改成跟</a:t>
            </a:r>
            <a:r>
              <a:rPr kumimoji="1" lang="en-US" altLang="zh-TW" sz="2000" dirty="0"/>
              <a:t>Audience Planner</a:t>
            </a:r>
            <a:r>
              <a:rPr kumimoji="1" lang="zh-TW" altLang="en-US" sz="2000" dirty="0"/>
              <a:t>一樣</a:t>
            </a:r>
            <a:r>
              <a:rPr kumimoji="1" lang="en-US" altLang="zh-TW" sz="2000" dirty="0"/>
              <a:t>, Sort by “ID” </a:t>
            </a:r>
            <a:r>
              <a:rPr kumimoji="1" lang="zh-TW" altLang="en-US" sz="2000" dirty="0"/>
              <a:t>遞減</a:t>
            </a:r>
            <a:r>
              <a:rPr kumimoji="1" lang="en-US" altLang="zh-TW" sz="2000" dirty="0"/>
              <a:t>(</a:t>
            </a:r>
            <a:r>
              <a:rPr kumimoji="1" lang="zh-TW" altLang="en-US" sz="2000" dirty="0"/>
              <a:t>隱含</a:t>
            </a:r>
            <a:r>
              <a:rPr kumimoji="1" lang="en-US" altLang="zh-TW" sz="2000" dirty="0"/>
              <a:t>Created Date</a:t>
            </a:r>
            <a:r>
              <a:rPr kumimoji="1" lang="zh-TW" altLang="en-US" sz="2000" dirty="0"/>
              <a:t>排序</a:t>
            </a:r>
            <a:r>
              <a:rPr kumimoji="1" lang="en-US" altLang="zh-TW" sz="2000" dirty="0"/>
              <a:t>)</a:t>
            </a:r>
          </a:p>
        </p:txBody>
      </p:sp>
      <p:pic>
        <p:nvPicPr>
          <p:cNvPr id="9" name="圖片 8" descr="一張含有 文字, 螢幕擷取畫面, 字型, 行 的圖片&#10;&#10;AI 產生的內容可能不正確。">
            <a:extLst>
              <a:ext uri="{FF2B5EF4-FFF2-40B4-BE49-F238E27FC236}">
                <a16:creationId xmlns:a16="http://schemas.microsoft.com/office/drawing/2014/main" id="{FFEA4F8B-4C4D-2959-21D0-91CF5375466E}"/>
              </a:ext>
            </a:extLst>
          </p:cNvPr>
          <p:cNvPicPr>
            <a:picLocks noChangeAspect="1"/>
          </p:cNvPicPr>
          <p:nvPr/>
        </p:nvPicPr>
        <p:blipFill>
          <a:blip r:embed="rId2"/>
          <a:stretch>
            <a:fillRect/>
          </a:stretch>
        </p:blipFill>
        <p:spPr>
          <a:xfrm>
            <a:off x="0" y="1220728"/>
            <a:ext cx="5613722" cy="1897736"/>
          </a:xfrm>
          <a:prstGeom prst="rect">
            <a:avLst/>
          </a:prstGeom>
        </p:spPr>
      </p:pic>
      <p:pic>
        <p:nvPicPr>
          <p:cNvPr id="11" name="圖片 10" descr="一張含有 文字, 螢幕擷取畫面, 字型, 收據 的圖片&#10;&#10;AI 產生的內容可能不正確。">
            <a:extLst>
              <a:ext uri="{FF2B5EF4-FFF2-40B4-BE49-F238E27FC236}">
                <a16:creationId xmlns:a16="http://schemas.microsoft.com/office/drawing/2014/main" id="{8611984E-49B2-9B65-F22C-E794E72FCCD3}"/>
              </a:ext>
            </a:extLst>
          </p:cNvPr>
          <p:cNvPicPr>
            <a:picLocks noChangeAspect="1"/>
          </p:cNvPicPr>
          <p:nvPr/>
        </p:nvPicPr>
        <p:blipFill>
          <a:blip r:embed="rId3"/>
          <a:stretch>
            <a:fillRect/>
          </a:stretch>
        </p:blipFill>
        <p:spPr>
          <a:xfrm>
            <a:off x="0" y="3850431"/>
            <a:ext cx="5613722" cy="1819352"/>
          </a:xfrm>
          <a:prstGeom prst="rect">
            <a:avLst/>
          </a:prstGeom>
        </p:spPr>
      </p:pic>
      <p:pic>
        <p:nvPicPr>
          <p:cNvPr id="12" name="圖片 11" descr="一張含有 文字, 螢幕擷取畫面, 字型, 行 的圖片&#10;&#10;AI 產生的內容可能不正確。">
            <a:extLst>
              <a:ext uri="{FF2B5EF4-FFF2-40B4-BE49-F238E27FC236}">
                <a16:creationId xmlns:a16="http://schemas.microsoft.com/office/drawing/2014/main" id="{15FA07C6-EB5D-8BD2-FD51-5643A2553B8E}"/>
              </a:ext>
            </a:extLst>
          </p:cNvPr>
          <p:cNvPicPr>
            <a:picLocks noChangeAspect="1"/>
          </p:cNvPicPr>
          <p:nvPr/>
        </p:nvPicPr>
        <p:blipFill>
          <a:blip r:embed="rId2"/>
          <a:stretch>
            <a:fillRect/>
          </a:stretch>
        </p:blipFill>
        <p:spPr>
          <a:xfrm>
            <a:off x="6578278" y="1220728"/>
            <a:ext cx="5613722" cy="1897736"/>
          </a:xfrm>
          <a:prstGeom prst="rect">
            <a:avLst/>
          </a:prstGeom>
        </p:spPr>
      </p:pic>
      <p:pic>
        <p:nvPicPr>
          <p:cNvPr id="13" name="圖片 12" descr="一張含有 文字, 螢幕擷取畫面, 字型, 收據 的圖片&#10;&#10;AI 產生的內容可能不正確。">
            <a:extLst>
              <a:ext uri="{FF2B5EF4-FFF2-40B4-BE49-F238E27FC236}">
                <a16:creationId xmlns:a16="http://schemas.microsoft.com/office/drawing/2014/main" id="{922E5008-418E-E6F6-6A30-DE2347551090}"/>
              </a:ext>
            </a:extLst>
          </p:cNvPr>
          <p:cNvPicPr>
            <a:picLocks noChangeAspect="1"/>
          </p:cNvPicPr>
          <p:nvPr/>
        </p:nvPicPr>
        <p:blipFill>
          <a:blip r:embed="rId3"/>
          <a:stretch>
            <a:fillRect/>
          </a:stretch>
        </p:blipFill>
        <p:spPr>
          <a:xfrm>
            <a:off x="6578278" y="3850431"/>
            <a:ext cx="5613722" cy="1819352"/>
          </a:xfrm>
          <a:prstGeom prst="rect">
            <a:avLst/>
          </a:prstGeom>
        </p:spPr>
      </p:pic>
      <p:sp>
        <p:nvSpPr>
          <p:cNvPr id="14" name="文字方塊 13">
            <a:extLst>
              <a:ext uri="{FF2B5EF4-FFF2-40B4-BE49-F238E27FC236}">
                <a16:creationId xmlns:a16="http://schemas.microsoft.com/office/drawing/2014/main" id="{9E14E79D-E70F-EE4E-4B82-5C894DA2E3FA}"/>
              </a:ext>
            </a:extLst>
          </p:cNvPr>
          <p:cNvSpPr txBox="1"/>
          <p:nvPr/>
        </p:nvSpPr>
        <p:spPr>
          <a:xfrm>
            <a:off x="844952" y="2245487"/>
            <a:ext cx="1284790" cy="369332"/>
          </a:xfrm>
          <a:prstGeom prst="rect">
            <a:avLst/>
          </a:prstGeom>
          <a:noFill/>
        </p:spPr>
        <p:txBody>
          <a:bodyPr wrap="square" rtlCol="0">
            <a:spAutoFit/>
          </a:bodyPr>
          <a:lstStyle/>
          <a:p>
            <a:r>
              <a:rPr kumimoji="1" lang="en-US" altLang="zh-TW">
                <a:solidFill>
                  <a:srgbClr val="FF0000"/>
                </a:solidFill>
              </a:rPr>
              <a:t>id=120</a:t>
            </a:r>
            <a:endParaRPr kumimoji="1" lang="zh-TW" altLang="en-US">
              <a:solidFill>
                <a:srgbClr val="FF0000"/>
              </a:solidFill>
            </a:endParaRPr>
          </a:p>
        </p:txBody>
      </p:sp>
      <p:sp>
        <p:nvSpPr>
          <p:cNvPr id="15" name="文字方塊 14">
            <a:extLst>
              <a:ext uri="{FF2B5EF4-FFF2-40B4-BE49-F238E27FC236}">
                <a16:creationId xmlns:a16="http://schemas.microsoft.com/office/drawing/2014/main" id="{D89D054B-F344-C302-507B-6EFCBF99E5FC}"/>
              </a:ext>
            </a:extLst>
          </p:cNvPr>
          <p:cNvSpPr txBox="1"/>
          <p:nvPr/>
        </p:nvSpPr>
        <p:spPr>
          <a:xfrm>
            <a:off x="844952" y="2614819"/>
            <a:ext cx="1284790" cy="369332"/>
          </a:xfrm>
          <a:prstGeom prst="rect">
            <a:avLst/>
          </a:prstGeom>
          <a:noFill/>
        </p:spPr>
        <p:txBody>
          <a:bodyPr wrap="square" rtlCol="0">
            <a:spAutoFit/>
          </a:bodyPr>
          <a:lstStyle/>
          <a:p>
            <a:r>
              <a:rPr kumimoji="1" lang="en-US" altLang="zh-TW">
                <a:solidFill>
                  <a:srgbClr val="FF0000"/>
                </a:solidFill>
              </a:rPr>
              <a:t>id=126</a:t>
            </a:r>
            <a:endParaRPr kumimoji="1" lang="zh-TW" altLang="en-US">
              <a:solidFill>
                <a:srgbClr val="FF0000"/>
              </a:solidFill>
            </a:endParaRPr>
          </a:p>
        </p:txBody>
      </p:sp>
      <p:sp>
        <p:nvSpPr>
          <p:cNvPr id="17" name="文字方塊 16">
            <a:extLst>
              <a:ext uri="{FF2B5EF4-FFF2-40B4-BE49-F238E27FC236}">
                <a16:creationId xmlns:a16="http://schemas.microsoft.com/office/drawing/2014/main" id="{F930B3DB-F24C-AE78-64AE-40BC1BB6D4E3}"/>
              </a:ext>
            </a:extLst>
          </p:cNvPr>
          <p:cNvSpPr txBox="1"/>
          <p:nvPr/>
        </p:nvSpPr>
        <p:spPr>
          <a:xfrm>
            <a:off x="1321444" y="4793243"/>
            <a:ext cx="1284790" cy="369332"/>
          </a:xfrm>
          <a:prstGeom prst="rect">
            <a:avLst/>
          </a:prstGeom>
          <a:noFill/>
        </p:spPr>
        <p:txBody>
          <a:bodyPr wrap="square" rtlCol="0">
            <a:spAutoFit/>
          </a:bodyPr>
          <a:lstStyle/>
          <a:p>
            <a:r>
              <a:rPr kumimoji="1" lang="en-US" altLang="zh-TW">
                <a:solidFill>
                  <a:srgbClr val="FF0000"/>
                </a:solidFill>
              </a:rPr>
              <a:t>id=123</a:t>
            </a:r>
            <a:endParaRPr kumimoji="1" lang="zh-TW" altLang="en-US">
              <a:solidFill>
                <a:srgbClr val="FF0000"/>
              </a:solidFill>
            </a:endParaRPr>
          </a:p>
        </p:txBody>
      </p:sp>
      <p:sp>
        <p:nvSpPr>
          <p:cNvPr id="18" name="文字方塊 17">
            <a:extLst>
              <a:ext uri="{FF2B5EF4-FFF2-40B4-BE49-F238E27FC236}">
                <a16:creationId xmlns:a16="http://schemas.microsoft.com/office/drawing/2014/main" id="{3C5DF4CF-6543-F812-1019-808FEDB71630}"/>
              </a:ext>
            </a:extLst>
          </p:cNvPr>
          <p:cNvSpPr txBox="1"/>
          <p:nvPr/>
        </p:nvSpPr>
        <p:spPr>
          <a:xfrm>
            <a:off x="1803722" y="5197300"/>
            <a:ext cx="1284790" cy="369332"/>
          </a:xfrm>
          <a:prstGeom prst="rect">
            <a:avLst/>
          </a:prstGeom>
          <a:noFill/>
        </p:spPr>
        <p:txBody>
          <a:bodyPr wrap="square" rtlCol="0">
            <a:spAutoFit/>
          </a:bodyPr>
          <a:lstStyle/>
          <a:p>
            <a:r>
              <a:rPr kumimoji="1" lang="en-US" altLang="zh-TW">
                <a:solidFill>
                  <a:srgbClr val="FF0000"/>
                </a:solidFill>
              </a:rPr>
              <a:t>id=124</a:t>
            </a:r>
            <a:endParaRPr kumimoji="1" lang="zh-TW" altLang="en-US">
              <a:solidFill>
                <a:srgbClr val="FF0000"/>
              </a:solidFill>
            </a:endParaRPr>
          </a:p>
        </p:txBody>
      </p:sp>
      <p:sp>
        <p:nvSpPr>
          <p:cNvPr id="19" name="文字方塊 18">
            <a:extLst>
              <a:ext uri="{FF2B5EF4-FFF2-40B4-BE49-F238E27FC236}">
                <a16:creationId xmlns:a16="http://schemas.microsoft.com/office/drawing/2014/main" id="{FE6FFEB7-BB76-C95C-DBB0-0A6FF3F80870}"/>
              </a:ext>
            </a:extLst>
          </p:cNvPr>
          <p:cNvSpPr txBox="1"/>
          <p:nvPr/>
        </p:nvSpPr>
        <p:spPr>
          <a:xfrm>
            <a:off x="6858000" y="2245487"/>
            <a:ext cx="995423" cy="276999"/>
          </a:xfrm>
          <a:prstGeom prst="rect">
            <a:avLst/>
          </a:prstGeom>
          <a:solidFill>
            <a:schemeClr val="bg1"/>
          </a:solidFill>
        </p:spPr>
        <p:txBody>
          <a:bodyPr wrap="square" rtlCol="0">
            <a:spAutoFit/>
          </a:bodyPr>
          <a:lstStyle/>
          <a:p>
            <a:r>
              <a:rPr kumimoji="1" lang="zh-TW" altLang="en-US" sz="1200"/>
              <a:t>測試用</a:t>
            </a:r>
          </a:p>
        </p:txBody>
      </p:sp>
      <p:sp>
        <p:nvSpPr>
          <p:cNvPr id="20" name="文字方塊 19">
            <a:extLst>
              <a:ext uri="{FF2B5EF4-FFF2-40B4-BE49-F238E27FC236}">
                <a16:creationId xmlns:a16="http://schemas.microsoft.com/office/drawing/2014/main" id="{449D43B7-9A4F-A4D3-4AF6-5C28F91AD7CD}"/>
              </a:ext>
            </a:extLst>
          </p:cNvPr>
          <p:cNvSpPr txBox="1"/>
          <p:nvPr/>
        </p:nvSpPr>
        <p:spPr>
          <a:xfrm>
            <a:off x="6858000" y="2660985"/>
            <a:ext cx="995423" cy="276999"/>
          </a:xfrm>
          <a:prstGeom prst="rect">
            <a:avLst/>
          </a:prstGeom>
          <a:solidFill>
            <a:schemeClr val="bg1"/>
          </a:solidFill>
        </p:spPr>
        <p:txBody>
          <a:bodyPr wrap="square" rtlCol="0">
            <a:spAutoFit/>
          </a:bodyPr>
          <a:lstStyle/>
          <a:p>
            <a:r>
              <a:rPr kumimoji="1" lang="zh-TW" altLang="en-US" sz="1200"/>
              <a:t>廣告</a:t>
            </a:r>
            <a:r>
              <a:rPr kumimoji="1" lang="en-US" altLang="zh-TW" sz="1200"/>
              <a:t>RT</a:t>
            </a:r>
            <a:endParaRPr kumimoji="1" lang="zh-TW" altLang="en-US" sz="1200"/>
          </a:p>
        </p:txBody>
      </p:sp>
      <p:sp>
        <p:nvSpPr>
          <p:cNvPr id="21" name="文字方塊 20">
            <a:extLst>
              <a:ext uri="{FF2B5EF4-FFF2-40B4-BE49-F238E27FC236}">
                <a16:creationId xmlns:a16="http://schemas.microsoft.com/office/drawing/2014/main" id="{2DD5E6E1-EE69-E5A7-0C33-09946BD7EB34}"/>
              </a:ext>
            </a:extLst>
          </p:cNvPr>
          <p:cNvSpPr txBox="1"/>
          <p:nvPr/>
        </p:nvSpPr>
        <p:spPr>
          <a:xfrm>
            <a:off x="6858000" y="4862559"/>
            <a:ext cx="2251276" cy="276999"/>
          </a:xfrm>
          <a:prstGeom prst="rect">
            <a:avLst/>
          </a:prstGeom>
          <a:solidFill>
            <a:schemeClr val="bg1"/>
          </a:solidFill>
        </p:spPr>
        <p:txBody>
          <a:bodyPr wrap="square" rtlCol="0">
            <a:spAutoFit/>
          </a:bodyPr>
          <a:lstStyle/>
          <a:p>
            <a:r>
              <a:rPr kumimoji="1" lang="zh-TW" altLang="en-US" sz="1200"/>
              <a:t>果實旅遊活動頁訪客 </a:t>
            </a:r>
            <a:r>
              <a:rPr kumimoji="1" lang="en-US" altLang="zh-TW" sz="1200"/>
              <a:t>- </a:t>
            </a:r>
            <a:r>
              <a:rPr kumimoji="1" lang="zh-TW" altLang="en-US" sz="1200"/>
              <a:t>夏日</a:t>
            </a:r>
          </a:p>
        </p:txBody>
      </p:sp>
      <p:sp>
        <p:nvSpPr>
          <p:cNvPr id="22" name="文字方塊 21">
            <a:extLst>
              <a:ext uri="{FF2B5EF4-FFF2-40B4-BE49-F238E27FC236}">
                <a16:creationId xmlns:a16="http://schemas.microsoft.com/office/drawing/2014/main" id="{C1CF3C98-21E9-330E-091F-488CDD601881}"/>
              </a:ext>
            </a:extLst>
          </p:cNvPr>
          <p:cNvSpPr txBox="1"/>
          <p:nvPr/>
        </p:nvSpPr>
        <p:spPr>
          <a:xfrm>
            <a:off x="6858000" y="5266171"/>
            <a:ext cx="2251276" cy="276999"/>
          </a:xfrm>
          <a:prstGeom prst="rect">
            <a:avLst/>
          </a:prstGeom>
          <a:solidFill>
            <a:schemeClr val="bg1"/>
          </a:solidFill>
        </p:spPr>
        <p:txBody>
          <a:bodyPr wrap="square" rtlCol="0">
            <a:spAutoFit/>
          </a:bodyPr>
          <a:lstStyle/>
          <a:p>
            <a:r>
              <a:rPr kumimoji="1" lang="zh-TW" altLang="en-US" sz="1200"/>
              <a:t>果實旅遊官網訪客</a:t>
            </a:r>
          </a:p>
        </p:txBody>
      </p:sp>
      <p:sp>
        <p:nvSpPr>
          <p:cNvPr id="23" name="向右箭號 22">
            <a:extLst>
              <a:ext uri="{FF2B5EF4-FFF2-40B4-BE49-F238E27FC236}">
                <a16:creationId xmlns:a16="http://schemas.microsoft.com/office/drawing/2014/main" id="{B867EF93-7583-5A15-C8D2-35F28BA0EEBD}"/>
              </a:ext>
            </a:extLst>
          </p:cNvPr>
          <p:cNvSpPr/>
          <p:nvPr/>
        </p:nvSpPr>
        <p:spPr>
          <a:xfrm>
            <a:off x="5824884" y="2169596"/>
            <a:ext cx="541192" cy="352890"/>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24" name="向右箭號 23">
            <a:extLst>
              <a:ext uri="{FF2B5EF4-FFF2-40B4-BE49-F238E27FC236}">
                <a16:creationId xmlns:a16="http://schemas.microsoft.com/office/drawing/2014/main" id="{F68CF575-AE5C-CF93-74BF-B3C4C1042529}"/>
              </a:ext>
            </a:extLst>
          </p:cNvPr>
          <p:cNvSpPr/>
          <p:nvPr/>
        </p:nvSpPr>
        <p:spPr>
          <a:xfrm>
            <a:off x="5824884" y="4686114"/>
            <a:ext cx="541192" cy="352890"/>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Tree>
    <p:extLst>
      <p:ext uri="{BB962C8B-B14F-4D97-AF65-F5344CB8AC3E}">
        <p14:creationId xmlns:p14="http://schemas.microsoft.com/office/powerpoint/2010/main" val="918591502"/>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標題 3">
            <a:extLst>
              <a:ext uri="{FF2B5EF4-FFF2-40B4-BE49-F238E27FC236}">
                <a16:creationId xmlns:a16="http://schemas.microsoft.com/office/drawing/2014/main" id="{CA722994-5D16-22D8-5897-B42DDC47B017}"/>
              </a:ext>
            </a:extLst>
          </p:cNvPr>
          <p:cNvSpPr>
            <a:spLocks noGrp="1"/>
          </p:cNvSpPr>
          <p:nvPr>
            <p:ph type="title"/>
          </p:nvPr>
        </p:nvSpPr>
        <p:spPr/>
        <p:txBody>
          <a:bodyPr/>
          <a:lstStyle/>
          <a:p>
            <a:r>
              <a:rPr kumimoji="1" lang="en-US" altLang="zh-TW" dirty="0"/>
              <a:t>User/Platform Permission</a:t>
            </a:r>
          </a:p>
        </p:txBody>
      </p:sp>
      <p:sp>
        <p:nvSpPr>
          <p:cNvPr id="5" name="文字版面配置區 4">
            <a:extLst>
              <a:ext uri="{FF2B5EF4-FFF2-40B4-BE49-F238E27FC236}">
                <a16:creationId xmlns:a16="http://schemas.microsoft.com/office/drawing/2014/main" id="{18E8B617-5E2B-7361-77D9-797A388A2891}"/>
              </a:ext>
            </a:extLst>
          </p:cNvPr>
          <p:cNvSpPr>
            <a:spLocks noGrp="1"/>
          </p:cNvSpPr>
          <p:nvPr>
            <p:ph type="body" idx="1"/>
          </p:nvPr>
        </p:nvSpPr>
        <p:spPr/>
        <p:txBody>
          <a:bodyPr/>
          <a:lstStyle/>
          <a:p>
            <a:endParaRPr lang="zh-TW" altLang="en-US"/>
          </a:p>
        </p:txBody>
      </p:sp>
    </p:spTree>
    <p:extLst>
      <p:ext uri="{BB962C8B-B14F-4D97-AF65-F5344CB8AC3E}">
        <p14:creationId xmlns:p14="http://schemas.microsoft.com/office/powerpoint/2010/main" val="2822478370"/>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標題 1">
            <a:extLst>
              <a:ext uri="{FF2B5EF4-FFF2-40B4-BE49-F238E27FC236}">
                <a16:creationId xmlns:a16="http://schemas.microsoft.com/office/drawing/2014/main" id="{E69E0C24-350C-1714-E22A-309BF0E7D13B}"/>
              </a:ext>
            </a:extLst>
          </p:cNvPr>
          <p:cNvSpPr txBox="1">
            <a:spLocks/>
          </p:cNvSpPr>
          <p:nvPr/>
        </p:nvSpPr>
        <p:spPr>
          <a:xfrm>
            <a:off x="0" y="0"/>
            <a:ext cx="11661644" cy="70560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kumimoji="1" lang="en-US" altLang="zh-TW" sz="2000" dirty="0"/>
              <a:t>Permission</a:t>
            </a:r>
          </a:p>
          <a:p>
            <a:endParaRPr kumimoji="1" lang="en-US" altLang="zh-TW" sz="2000" dirty="0"/>
          </a:p>
        </p:txBody>
      </p:sp>
      <p:graphicFrame>
        <p:nvGraphicFramePr>
          <p:cNvPr id="11" name="表格 10">
            <a:extLst>
              <a:ext uri="{FF2B5EF4-FFF2-40B4-BE49-F238E27FC236}">
                <a16:creationId xmlns:a16="http://schemas.microsoft.com/office/drawing/2014/main" id="{E9B96C96-3E69-3C51-968E-0EBC0CCDE9DD}"/>
              </a:ext>
            </a:extLst>
          </p:cNvPr>
          <p:cNvGraphicFramePr>
            <a:graphicFrameLocks noGrp="1"/>
          </p:cNvGraphicFramePr>
          <p:nvPr>
            <p:extLst>
              <p:ext uri="{D42A27DB-BD31-4B8C-83A1-F6EECF244321}">
                <p14:modId xmlns:p14="http://schemas.microsoft.com/office/powerpoint/2010/main" val="3265291591"/>
              </p:ext>
            </p:extLst>
          </p:nvPr>
        </p:nvGraphicFramePr>
        <p:xfrm>
          <a:off x="593126" y="478098"/>
          <a:ext cx="11068518" cy="6293405"/>
        </p:xfrm>
        <a:graphic>
          <a:graphicData uri="http://schemas.openxmlformats.org/drawingml/2006/table">
            <a:tbl>
              <a:tblPr firstRow="1" bandRow="1">
                <a:tableStyleId>{5C22544A-7EE6-4342-B048-85BDC9FD1C3A}</a:tableStyleId>
              </a:tblPr>
              <a:tblGrid>
                <a:gridCol w="2125362">
                  <a:extLst>
                    <a:ext uri="{9D8B030D-6E8A-4147-A177-3AD203B41FA5}">
                      <a16:colId xmlns:a16="http://schemas.microsoft.com/office/drawing/2014/main" val="4050911103"/>
                    </a:ext>
                  </a:extLst>
                </a:gridCol>
                <a:gridCol w="4312509">
                  <a:extLst>
                    <a:ext uri="{9D8B030D-6E8A-4147-A177-3AD203B41FA5}">
                      <a16:colId xmlns:a16="http://schemas.microsoft.com/office/drawing/2014/main" val="2726044015"/>
                    </a:ext>
                  </a:extLst>
                </a:gridCol>
                <a:gridCol w="4630647">
                  <a:extLst>
                    <a:ext uri="{9D8B030D-6E8A-4147-A177-3AD203B41FA5}">
                      <a16:colId xmlns:a16="http://schemas.microsoft.com/office/drawing/2014/main" val="3664227365"/>
                    </a:ext>
                  </a:extLst>
                </a:gridCol>
              </a:tblGrid>
              <a:tr h="361203">
                <a:tc>
                  <a:txBody>
                    <a:bodyPr/>
                    <a:lstStyle/>
                    <a:p>
                      <a:r>
                        <a:rPr lang="en-US" altLang="zh-TW" dirty="0"/>
                        <a:t>Permission Type</a:t>
                      </a:r>
                      <a:endParaRPr lang="zh-TW" altLang="en-US" dirty="0"/>
                    </a:p>
                  </a:txBody>
                  <a:tcPr/>
                </a:tc>
                <a:tc>
                  <a:txBody>
                    <a:bodyPr/>
                    <a:lstStyle/>
                    <a:p>
                      <a:r>
                        <a:rPr lang="en-US" altLang="zh-TW" dirty="0"/>
                        <a:t>Permission</a:t>
                      </a:r>
                      <a:endParaRPr lang="zh-TW" altLang="en-US" dirty="0"/>
                    </a:p>
                  </a:txBody>
                  <a:tcPr/>
                </a:tc>
                <a:tc>
                  <a:txBody>
                    <a:bodyPr/>
                    <a:lstStyle/>
                    <a:p>
                      <a:r>
                        <a:rPr lang="en-US" altLang="zh-TW" dirty="0"/>
                        <a:t>Note</a:t>
                      </a:r>
                      <a:endParaRPr lang="zh-TW" altLang="en-US" dirty="0"/>
                    </a:p>
                  </a:txBody>
                  <a:tcPr/>
                </a:tc>
                <a:extLst>
                  <a:ext uri="{0D108BD9-81ED-4DB2-BD59-A6C34878D82A}">
                    <a16:rowId xmlns:a16="http://schemas.microsoft.com/office/drawing/2014/main" val="3846889547"/>
                  </a:ext>
                </a:extLst>
              </a:tr>
              <a:tr h="1430823">
                <a:tc>
                  <a:txBody>
                    <a:bodyPr/>
                    <a:lstStyle/>
                    <a:p>
                      <a:r>
                        <a:rPr lang="en-US" altLang="zh-TW" dirty="0"/>
                        <a:t>User</a:t>
                      </a:r>
                      <a:endParaRPr lang="zh-TW" altLang="en-US" dirty="0"/>
                    </a:p>
                  </a:txBody>
                  <a:tcPr/>
                </a:tc>
                <a:tc>
                  <a:txBody>
                    <a:bodyPr/>
                    <a:lstStyle/>
                    <a:p>
                      <a:r>
                        <a:rPr lang="zh-TW" altLang="en-US" dirty="0"/>
                        <a:t>不需處理</a:t>
                      </a:r>
                      <a:r>
                        <a:rPr lang="en-US" altLang="zh-TW" dirty="0"/>
                        <a:t>, </a:t>
                      </a:r>
                      <a:r>
                        <a:rPr lang="zh-TW" altLang="en-US" dirty="0"/>
                        <a:t>因為</a:t>
                      </a:r>
                      <a:r>
                        <a:rPr lang="en-US" altLang="zh-TW" dirty="0"/>
                        <a:t>custom audience</a:t>
                      </a:r>
                      <a:r>
                        <a:rPr lang="zh-TW" altLang="en-US" dirty="0"/>
                        <a:t>沒有讓使用者可操作的功能</a:t>
                      </a:r>
                    </a:p>
                  </a:txBody>
                  <a:tcPr/>
                </a:tc>
                <a:tc>
                  <a:txBody>
                    <a:bodyPr/>
                    <a:lstStyle/>
                    <a:p>
                      <a:endParaRPr lang="en-US" altLang="zh-TW" dirty="0"/>
                    </a:p>
                    <a:p>
                      <a:endParaRPr lang="en-US" altLang="zh-TW" dirty="0"/>
                    </a:p>
                    <a:p>
                      <a:endParaRPr lang="en-US" altLang="zh-TW" dirty="0"/>
                    </a:p>
                    <a:p>
                      <a:endParaRPr lang="en-US" altLang="zh-TW" dirty="0"/>
                    </a:p>
                    <a:p>
                      <a:endParaRPr lang="en-US" altLang="zh-TW" dirty="0"/>
                    </a:p>
                  </a:txBody>
                  <a:tcPr/>
                </a:tc>
                <a:extLst>
                  <a:ext uri="{0D108BD9-81ED-4DB2-BD59-A6C34878D82A}">
                    <a16:rowId xmlns:a16="http://schemas.microsoft.com/office/drawing/2014/main" val="3840809122"/>
                  </a:ext>
                </a:extLst>
              </a:tr>
              <a:tr h="894265">
                <a:tc>
                  <a:txBody>
                    <a:bodyPr/>
                    <a:lstStyle/>
                    <a:p>
                      <a:r>
                        <a:rPr lang="en-US" altLang="zh-TW" dirty="0"/>
                        <a:t>Platform-Agency</a:t>
                      </a:r>
                      <a:endParaRPr lang="zh-TW" altLang="en-US" dirty="0"/>
                    </a:p>
                  </a:txBody>
                  <a:tcPr/>
                </a:tc>
                <a:tc>
                  <a:txBody>
                    <a:bodyPr/>
                    <a:lstStyle/>
                    <a:p>
                      <a:r>
                        <a:rPr lang="zh-TW" altLang="en-US" dirty="0"/>
                        <a:t>顯示</a:t>
                      </a:r>
                      <a:r>
                        <a:rPr lang="en-US" altLang="zh-TW" dirty="0"/>
                        <a:t>”Custom Audience Pack List” Tab</a:t>
                      </a:r>
                    </a:p>
                    <a:p>
                      <a:endParaRPr lang="en-US" altLang="zh-TW" dirty="0"/>
                    </a:p>
                    <a:p>
                      <a:endParaRPr lang="zh-TW" altLang="en-US" dirty="0"/>
                    </a:p>
                  </a:txBody>
                  <a:tcPr/>
                </a:tc>
                <a:tc rowSpan="2">
                  <a:txBody>
                    <a:bodyPr/>
                    <a:lstStyle/>
                    <a:p>
                      <a:endParaRPr lang="en-US" altLang="zh-TW" dirty="0"/>
                    </a:p>
                    <a:p>
                      <a:endParaRPr lang="en-US" altLang="zh-TW" dirty="0"/>
                    </a:p>
                    <a:p>
                      <a:endParaRPr lang="en-US" altLang="zh-TW" dirty="0"/>
                    </a:p>
                    <a:p>
                      <a:endParaRPr lang="en-US" altLang="zh-TW" dirty="0"/>
                    </a:p>
                    <a:p>
                      <a:endParaRPr lang="en-US" altLang="zh-TW" dirty="0"/>
                    </a:p>
                    <a:p>
                      <a:endParaRPr lang="en-US" altLang="zh-TW" dirty="0"/>
                    </a:p>
                    <a:p>
                      <a:endParaRPr lang="en-US" altLang="zh-TW" dirty="0"/>
                    </a:p>
                  </a:txBody>
                  <a:tcPr/>
                </a:tc>
                <a:extLst>
                  <a:ext uri="{0D108BD9-81ED-4DB2-BD59-A6C34878D82A}">
                    <a16:rowId xmlns:a16="http://schemas.microsoft.com/office/drawing/2014/main" val="1760893630"/>
                  </a:ext>
                </a:extLst>
              </a:tr>
              <a:tr h="107311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dirty="0"/>
                        <a:t>Platform-Client</a:t>
                      </a:r>
                      <a:endParaRPr lang="zh-TW" altLang="en-US"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TW" altLang="en-US" dirty="0"/>
                        <a:t>顯示</a:t>
                      </a:r>
                      <a:r>
                        <a:rPr lang="en-US" altLang="zh-TW" dirty="0"/>
                        <a:t>”Custom Audience Pack List” Tab</a:t>
                      </a:r>
                      <a:endParaRPr lang="zh-TW" altLang="en-US" dirty="0"/>
                    </a:p>
                  </a:txBody>
                  <a:tcPr/>
                </a:tc>
                <a:tc vMerge="1">
                  <a:txBody>
                    <a:bodyPr/>
                    <a:lstStyle/>
                    <a:p>
                      <a:endParaRPr dirty="0"/>
                    </a:p>
                  </a:txBody>
                  <a:tcPr/>
                </a:tc>
                <a:extLst>
                  <a:ext uri="{0D108BD9-81ED-4DB2-BD59-A6C34878D82A}">
                    <a16:rowId xmlns:a16="http://schemas.microsoft.com/office/drawing/2014/main" val="3254610885"/>
                  </a:ext>
                </a:extLst>
              </a:tr>
              <a:tr h="245292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dirty="0"/>
                        <a:t>Platform-Media</a:t>
                      </a:r>
                      <a:endParaRPr lang="zh-TW" altLang="en-US" dirty="0"/>
                    </a:p>
                  </a:txBody>
                  <a:tcPr/>
                </a:tc>
                <a:tc>
                  <a:txBody>
                    <a:bodyPr/>
                    <a:lstStyle/>
                    <a:p>
                      <a:r>
                        <a:rPr lang="zh-TW" altLang="en-US" dirty="0"/>
                        <a:t>現況沒有提供</a:t>
                      </a:r>
                      <a:r>
                        <a:rPr lang="en-US" altLang="zh-TW" dirty="0"/>
                        <a:t>Audience Planner, </a:t>
                      </a:r>
                      <a:r>
                        <a:rPr lang="zh-TW" altLang="en-US" dirty="0"/>
                        <a:t>可不用特別處理</a:t>
                      </a:r>
                    </a:p>
                  </a:txBody>
                  <a:tcPr/>
                </a:tc>
                <a:tc>
                  <a:txBody>
                    <a:bodyPr/>
                    <a:lstStyle/>
                    <a:p>
                      <a:endParaRPr lang="en-US" altLang="zh-TW" dirty="0"/>
                    </a:p>
                    <a:p>
                      <a:endParaRPr lang="en-US" altLang="zh-TW" dirty="0"/>
                    </a:p>
                    <a:p>
                      <a:endParaRPr lang="en-US" altLang="zh-TW" dirty="0"/>
                    </a:p>
                    <a:p>
                      <a:endParaRPr lang="en-US" altLang="zh-TW" dirty="0"/>
                    </a:p>
                    <a:p>
                      <a:endParaRPr lang="en-US" altLang="zh-TW" dirty="0"/>
                    </a:p>
                    <a:p>
                      <a:endParaRPr lang="en-US" altLang="zh-TW" dirty="0"/>
                    </a:p>
                    <a:p>
                      <a:endParaRPr lang="en-US" altLang="zh-TW" dirty="0"/>
                    </a:p>
                  </a:txBody>
                  <a:tcPr/>
                </a:tc>
                <a:extLst>
                  <a:ext uri="{0D108BD9-81ED-4DB2-BD59-A6C34878D82A}">
                    <a16:rowId xmlns:a16="http://schemas.microsoft.com/office/drawing/2014/main" val="3753095890"/>
                  </a:ext>
                </a:extLst>
              </a:tr>
            </a:tbl>
          </a:graphicData>
        </a:graphic>
      </p:graphicFrame>
      <p:pic>
        <p:nvPicPr>
          <p:cNvPr id="7" name="圖片 6" descr="一張含有 文字, 字型, 螢幕擷取畫面, 設計 的圖片&#10;&#10;AI 產生的內容可能不正確。">
            <a:extLst>
              <a:ext uri="{FF2B5EF4-FFF2-40B4-BE49-F238E27FC236}">
                <a16:creationId xmlns:a16="http://schemas.microsoft.com/office/drawing/2014/main" id="{8030B363-3754-05A8-97E6-156880B9EAB5}"/>
              </a:ext>
            </a:extLst>
          </p:cNvPr>
          <p:cNvPicPr>
            <a:picLocks noChangeAspect="1"/>
          </p:cNvPicPr>
          <p:nvPr/>
        </p:nvPicPr>
        <p:blipFill>
          <a:blip r:embed="rId2"/>
          <a:stretch>
            <a:fillRect/>
          </a:stretch>
        </p:blipFill>
        <p:spPr>
          <a:xfrm>
            <a:off x="7227972" y="940378"/>
            <a:ext cx="2578100" cy="1282700"/>
          </a:xfrm>
          <a:prstGeom prst="rect">
            <a:avLst/>
          </a:prstGeom>
        </p:spPr>
      </p:pic>
      <p:pic>
        <p:nvPicPr>
          <p:cNvPr id="15" name="圖片 14" descr="一張含有 文字, 字型, 軟體, 數字 的圖片&#10;&#10;AI 產生的內容可能不正確。">
            <a:extLst>
              <a:ext uri="{FF2B5EF4-FFF2-40B4-BE49-F238E27FC236}">
                <a16:creationId xmlns:a16="http://schemas.microsoft.com/office/drawing/2014/main" id="{D4028D63-C391-7ADC-BEAD-698BB3DB719A}"/>
              </a:ext>
            </a:extLst>
          </p:cNvPr>
          <p:cNvPicPr>
            <a:picLocks noChangeAspect="1"/>
          </p:cNvPicPr>
          <p:nvPr/>
        </p:nvPicPr>
        <p:blipFill>
          <a:blip r:embed="rId3"/>
          <a:stretch>
            <a:fillRect/>
          </a:stretch>
        </p:blipFill>
        <p:spPr>
          <a:xfrm>
            <a:off x="7227972" y="2411885"/>
            <a:ext cx="3781898" cy="1865601"/>
          </a:xfrm>
          <a:prstGeom prst="rect">
            <a:avLst/>
          </a:prstGeom>
        </p:spPr>
      </p:pic>
      <p:pic>
        <p:nvPicPr>
          <p:cNvPr id="17" name="圖片 16" descr="一張含有 文字, 螢幕擷取畫面, 軟體, 電腦圖示 的圖片&#10;&#10;AI 產生的內容可能不正確。">
            <a:extLst>
              <a:ext uri="{FF2B5EF4-FFF2-40B4-BE49-F238E27FC236}">
                <a16:creationId xmlns:a16="http://schemas.microsoft.com/office/drawing/2014/main" id="{2EA291E9-82D8-2611-6F36-CC80EF25C5A2}"/>
              </a:ext>
            </a:extLst>
          </p:cNvPr>
          <p:cNvPicPr>
            <a:picLocks noChangeAspect="1"/>
          </p:cNvPicPr>
          <p:nvPr/>
        </p:nvPicPr>
        <p:blipFill>
          <a:blip r:embed="rId4"/>
          <a:stretch>
            <a:fillRect/>
          </a:stretch>
        </p:blipFill>
        <p:spPr>
          <a:xfrm>
            <a:off x="7227972" y="4392151"/>
            <a:ext cx="1644179" cy="2339142"/>
          </a:xfrm>
          <a:prstGeom prst="rect">
            <a:avLst/>
          </a:prstGeom>
        </p:spPr>
      </p:pic>
    </p:spTree>
    <p:extLst>
      <p:ext uri="{BB962C8B-B14F-4D97-AF65-F5344CB8AC3E}">
        <p14:creationId xmlns:p14="http://schemas.microsoft.com/office/powerpoint/2010/main" val="226500974"/>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標題 3">
            <a:extLst>
              <a:ext uri="{FF2B5EF4-FFF2-40B4-BE49-F238E27FC236}">
                <a16:creationId xmlns:a16="http://schemas.microsoft.com/office/drawing/2014/main" id="{73BDE7FA-89A1-7DA8-15AF-59B014AC7561}"/>
              </a:ext>
            </a:extLst>
          </p:cNvPr>
          <p:cNvSpPr>
            <a:spLocks noGrp="1"/>
          </p:cNvSpPr>
          <p:nvPr>
            <p:ph type="title"/>
          </p:nvPr>
        </p:nvSpPr>
        <p:spPr/>
        <p:txBody>
          <a:bodyPr/>
          <a:lstStyle/>
          <a:p>
            <a:r>
              <a:rPr lang="zh-TW" altLang="en-US"/>
              <a:t>中英對照</a:t>
            </a:r>
          </a:p>
        </p:txBody>
      </p:sp>
      <p:sp>
        <p:nvSpPr>
          <p:cNvPr id="5" name="文字版面配置區 4">
            <a:extLst>
              <a:ext uri="{FF2B5EF4-FFF2-40B4-BE49-F238E27FC236}">
                <a16:creationId xmlns:a16="http://schemas.microsoft.com/office/drawing/2014/main" id="{09C81578-8A18-BFFD-C473-2EC0FE3A5AE3}"/>
              </a:ext>
            </a:extLst>
          </p:cNvPr>
          <p:cNvSpPr>
            <a:spLocks noGrp="1"/>
          </p:cNvSpPr>
          <p:nvPr>
            <p:ph type="body" idx="1"/>
          </p:nvPr>
        </p:nvSpPr>
        <p:spPr/>
        <p:txBody>
          <a:bodyPr/>
          <a:lstStyle/>
          <a:p>
            <a:endParaRPr lang="zh-TW" altLang="en-US"/>
          </a:p>
        </p:txBody>
      </p:sp>
    </p:spTree>
    <p:extLst>
      <p:ext uri="{BB962C8B-B14F-4D97-AF65-F5344CB8AC3E}">
        <p14:creationId xmlns:p14="http://schemas.microsoft.com/office/powerpoint/2010/main" val="4178000610"/>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圖片 3" descr="一張含有 螢幕擷取畫面, 文字, 軟體 的圖片&#10;&#10;AI 產生的內容可能不正確。">
            <a:extLst>
              <a:ext uri="{FF2B5EF4-FFF2-40B4-BE49-F238E27FC236}">
                <a16:creationId xmlns:a16="http://schemas.microsoft.com/office/drawing/2014/main" id="{5E409FA8-2773-9903-58EB-D3050C1E11E2}"/>
              </a:ext>
            </a:extLst>
          </p:cNvPr>
          <p:cNvPicPr>
            <a:picLocks noChangeAspect="1"/>
          </p:cNvPicPr>
          <p:nvPr/>
        </p:nvPicPr>
        <p:blipFill>
          <a:blip r:embed="rId2"/>
          <a:stretch>
            <a:fillRect/>
          </a:stretch>
        </p:blipFill>
        <p:spPr>
          <a:xfrm>
            <a:off x="0" y="1089576"/>
            <a:ext cx="12210070" cy="4963983"/>
          </a:xfrm>
          <a:prstGeom prst="rect">
            <a:avLst/>
          </a:prstGeom>
        </p:spPr>
      </p:pic>
      <p:cxnSp>
        <p:nvCxnSpPr>
          <p:cNvPr id="5" name="直線接點 4">
            <a:extLst>
              <a:ext uri="{FF2B5EF4-FFF2-40B4-BE49-F238E27FC236}">
                <a16:creationId xmlns:a16="http://schemas.microsoft.com/office/drawing/2014/main" id="{28D6B7AF-5592-12BD-6CB4-12AF8E375B25}"/>
              </a:ext>
            </a:extLst>
          </p:cNvPr>
          <p:cNvCxnSpPr>
            <a:cxnSpLocks/>
          </p:cNvCxnSpPr>
          <p:nvPr/>
        </p:nvCxnSpPr>
        <p:spPr>
          <a:xfrm>
            <a:off x="1646618" y="1940566"/>
            <a:ext cx="1468800" cy="0"/>
          </a:xfrm>
          <a:prstGeom prst="line">
            <a:avLst/>
          </a:prstGeom>
          <a:ln>
            <a:solidFill>
              <a:srgbClr val="2993FF"/>
            </a:solidFill>
          </a:ln>
        </p:spPr>
        <p:style>
          <a:lnRef idx="2">
            <a:schemeClr val="accent1"/>
          </a:lnRef>
          <a:fillRef idx="0">
            <a:schemeClr val="accent1"/>
          </a:fillRef>
          <a:effectRef idx="1">
            <a:schemeClr val="accent1"/>
          </a:effectRef>
          <a:fontRef idx="minor">
            <a:schemeClr val="tx1"/>
          </a:fontRef>
        </p:style>
      </p:cxnSp>
      <p:cxnSp>
        <p:nvCxnSpPr>
          <p:cNvPr id="6" name="直線接點 5">
            <a:extLst>
              <a:ext uri="{FF2B5EF4-FFF2-40B4-BE49-F238E27FC236}">
                <a16:creationId xmlns:a16="http://schemas.microsoft.com/office/drawing/2014/main" id="{8236C4AF-B377-4477-50AC-E690CF11CB16}"/>
              </a:ext>
            </a:extLst>
          </p:cNvPr>
          <p:cNvCxnSpPr>
            <a:cxnSpLocks/>
          </p:cNvCxnSpPr>
          <p:nvPr/>
        </p:nvCxnSpPr>
        <p:spPr>
          <a:xfrm>
            <a:off x="698066" y="1942334"/>
            <a:ext cx="950400" cy="0"/>
          </a:xfrm>
          <a:prstGeom prst="line">
            <a:avLst/>
          </a:prstGeom>
          <a:ln>
            <a:solidFill>
              <a:srgbClr val="E5E7ED"/>
            </a:solidFill>
          </a:ln>
        </p:spPr>
        <p:style>
          <a:lnRef idx="2">
            <a:schemeClr val="accent1"/>
          </a:lnRef>
          <a:fillRef idx="0">
            <a:schemeClr val="accent1"/>
          </a:fillRef>
          <a:effectRef idx="1">
            <a:schemeClr val="accent1"/>
          </a:effectRef>
          <a:fontRef idx="minor">
            <a:schemeClr val="tx1"/>
          </a:fontRef>
        </p:style>
      </p:cxnSp>
      <p:sp>
        <p:nvSpPr>
          <p:cNvPr id="7" name="文字方塊 6">
            <a:extLst>
              <a:ext uri="{FF2B5EF4-FFF2-40B4-BE49-F238E27FC236}">
                <a16:creationId xmlns:a16="http://schemas.microsoft.com/office/drawing/2014/main" id="{69B6EA47-F916-8C10-3007-319660668F84}"/>
              </a:ext>
            </a:extLst>
          </p:cNvPr>
          <p:cNvSpPr txBox="1"/>
          <p:nvPr/>
        </p:nvSpPr>
        <p:spPr>
          <a:xfrm>
            <a:off x="614498" y="1682241"/>
            <a:ext cx="1114749" cy="230832"/>
          </a:xfrm>
          <a:prstGeom prst="rect">
            <a:avLst/>
          </a:prstGeom>
          <a:solidFill>
            <a:srgbClr val="F5F8FE"/>
          </a:solidFill>
        </p:spPr>
        <p:txBody>
          <a:bodyPr wrap="square" rtlCol="0">
            <a:spAutoFit/>
          </a:bodyPr>
          <a:lstStyle/>
          <a:p>
            <a:r>
              <a:rPr kumimoji="1" lang="en-US" altLang="zh-TW" sz="900">
                <a:solidFill>
                  <a:srgbClr val="202022"/>
                </a:solidFill>
              </a:rPr>
              <a:t>Audience Pack List</a:t>
            </a:r>
            <a:endParaRPr kumimoji="1" lang="zh-TW" altLang="en-US" sz="900">
              <a:solidFill>
                <a:srgbClr val="202022"/>
              </a:solidFill>
            </a:endParaRPr>
          </a:p>
        </p:txBody>
      </p:sp>
      <p:sp>
        <p:nvSpPr>
          <p:cNvPr id="8" name="文字方塊 7">
            <a:extLst>
              <a:ext uri="{FF2B5EF4-FFF2-40B4-BE49-F238E27FC236}">
                <a16:creationId xmlns:a16="http://schemas.microsoft.com/office/drawing/2014/main" id="{EF5655BD-EA10-2626-2711-F27B3FA947B1}"/>
              </a:ext>
            </a:extLst>
          </p:cNvPr>
          <p:cNvSpPr txBox="1"/>
          <p:nvPr/>
        </p:nvSpPr>
        <p:spPr>
          <a:xfrm>
            <a:off x="1610729" y="1680825"/>
            <a:ext cx="1561828" cy="230832"/>
          </a:xfrm>
          <a:prstGeom prst="rect">
            <a:avLst/>
          </a:prstGeom>
          <a:noFill/>
        </p:spPr>
        <p:txBody>
          <a:bodyPr wrap="square" rtlCol="0">
            <a:spAutoFit/>
          </a:bodyPr>
          <a:lstStyle/>
          <a:p>
            <a:r>
              <a:rPr kumimoji="1" lang="en-US" altLang="zh-TW" sz="900">
                <a:solidFill>
                  <a:srgbClr val="2993FF"/>
                </a:solidFill>
              </a:rPr>
              <a:t>Custom Audience Pack List</a:t>
            </a:r>
            <a:endParaRPr kumimoji="1" lang="zh-TW" altLang="en-US" sz="900">
              <a:solidFill>
                <a:srgbClr val="2993FF"/>
              </a:solidFill>
            </a:endParaRPr>
          </a:p>
        </p:txBody>
      </p:sp>
      <p:graphicFrame>
        <p:nvGraphicFramePr>
          <p:cNvPr id="9" name="表格 8">
            <a:extLst>
              <a:ext uri="{FF2B5EF4-FFF2-40B4-BE49-F238E27FC236}">
                <a16:creationId xmlns:a16="http://schemas.microsoft.com/office/drawing/2014/main" id="{1D5532D7-760D-F654-EA43-4F9DB5C18225}"/>
              </a:ext>
            </a:extLst>
          </p:cNvPr>
          <p:cNvGraphicFramePr>
            <a:graphicFrameLocks noGrp="1"/>
          </p:cNvGraphicFramePr>
          <p:nvPr>
            <p:extLst>
              <p:ext uri="{D42A27DB-BD31-4B8C-83A1-F6EECF244321}">
                <p14:modId xmlns:p14="http://schemas.microsoft.com/office/powerpoint/2010/main" val="1318437480"/>
              </p:ext>
            </p:extLst>
          </p:nvPr>
        </p:nvGraphicFramePr>
        <p:xfrm>
          <a:off x="719332" y="2426458"/>
          <a:ext cx="11380522" cy="2287255"/>
        </p:xfrm>
        <a:graphic>
          <a:graphicData uri="http://schemas.openxmlformats.org/drawingml/2006/table">
            <a:tbl>
              <a:tblPr firstRow="1" bandRow="1">
                <a:tableStyleId>{5940675A-B579-460E-94D1-54222C63F5DA}</a:tableStyleId>
              </a:tblPr>
              <a:tblGrid>
                <a:gridCol w="737716">
                  <a:extLst>
                    <a:ext uri="{9D8B030D-6E8A-4147-A177-3AD203B41FA5}">
                      <a16:colId xmlns:a16="http://schemas.microsoft.com/office/drawing/2014/main" val="2132221474"/>
                    </a:ext>
                  </a:extLst>
                </a:gridCol>
                <a:gridCol w="1796516">
                  <a:extLst>
                    <a:ext uri="{9D8B030D-6E8A-4147-A177-3AD203B41FA5}">
                      <a16:colId xmlns:a16="http://schemas.microsoft.com/office/drawing/2014/main" val="4011186730"/>
                    </a:ext>
                  </a:extLst>
                </a:gridCol>
                <a:gridCol w="2594344">
                  <a:extLst>
                    <a:ext uri="{9D8B030D-6E8A-4147-A177-3AD203B41FA5}">
                      <a16:colId xmlns:a16="http://schemas.microsoft.com/office/drawing/2014/main" val="2814822502"/>
                    </a:ext>
                  </a:extLst>
                </a:gridCol>
                <a:gridCol w="1499191">
                  <a:extLst>
                    <a:ext uri="{9D8B030D-6E8A-4147-A177-3AD203B41FA5}">
                      <a16:colId xmlns:a16="http://schemas.microsoft.com/office/drawing/2014/main" val="3195966690"/>
                    </a:ext>
                  </a:extLst>
                </a:gridCol>
                <a:gridCol w="1180214">
                  <a:extLst>
                    <a:ext uri="{9D8B030D-6E8A-4147-A177-3AD203B41FA5}">
                      <a16:colId xmlns:a16="http://schemas.microsoft.com/office/drawing/2014/main" val="288521062"/>
                    </a:ext>
                  </a:extLst>
                </a:gridCol>
                <a:gridCol w="1063255">
                  <a:extLst>
                    <a:ext uri="{9D8B030D-6E8A-4147-A177-3AD203B41FA5}">
                      <a16:colId xmlns:a16="http://schemas.microsoft.com/office/drawing/2014/main" val="1609414602"/>
                    </a:ext>
                  </a:extLst>
                </a:gridCol>
                <a:gridCol w="1175352">
                  <a:extLst>
                    <a:ext uri="{9D8B030D-6E8A-4147-A177-3AD203B41FA5}">
                      <a16:colId xmlns:a16="http://schemas.microsoft.com/office/drawing/2014/main" val="2336893862"/>
                    </a:ext>
                  </a:extLst>
                </a:gridCol>
                <a:gridCol w="1333934">
                  <a:extLst>
                    <a:ext uri="{9D8B030D-6E8A-4147-A177-3AD203B41FA5}">
                      <a16:colId xmlns:a16="http://schemas.microsoft.com/office/drawing/2014/main" val="2221016226"/>
                    </a:ext>
                  </a:extLst>
                </a:gridCol>
              </a:tblGrid>
              <a:tr h="298955">
                <a:tc>
                  <a:txBody>
                    <a:bodyPr/>
                    <a:lstStyle/>
                    <a:p>
                      <a:r>
                        <a:rPr kumimoji="1" lang="en-US" altLang="zh-TW" sz="1000" kern="1200">
                          <a:solidFill>
                            <a:srgbClr val="4E4E4E"/>
                          </a:solidFill>
                          <a:latin typeface="+mn-lt"/>
                          <a:ea typeface="+mn-ea"/>
                          <a:cs typeface="+mn-cs"/>
                        </a:rPr>
                        <a:t>ID</a:t>
                      </a:r>
                      <a:endParaRPr kumimoji="1" lang="zh-TW" altLang="en-US" sz="1000" kern="1200">
                        <a:solidFill>
                          <a:srgbClr val="4E4E4E"/>
                        </a:solidFill>
                        <a:latin typeface="+mn-lt"/>
                        <a:ea typeface="+mn-ea"/>
                        <a:cs typeface="+mn-cs"/>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FAFAFA"/>
                    </a:solidFill>
                  </a:tcPr>
                </a:tc>
                <a:tc>
                  <a:txBody>
                    <a:bodyPr/>
                    <a:lstStyle/>
                    <a:p>
                      <a:r>
                        <a:rPr kumimoji="1" lang="en-US" altLang="zh-TW" sz="1000" kern="1200" dirty="0">
                          <a:solidFill>
                            <a:srgbClr val="4E4E4E"/>
                          </a:solidFill>
                          <a:latin typeface="+mn-lt"/>
                          <a:ea typeface="+mn-ea"/>
                          <a:cs typeface="+mn-cs"/>
                        </a:rPr>
                        <a:t>Type</a:t>
                      </a:r>
                      <a:endParaRPr kumimoji="1" lang="zh-TW" altLang="en-US" sz="1000" kern="1200" dirty="0">
                        <a:solidFill>
                          <a:srgbClr val="4E4E4E"/>
                        </a:solidFill>
                        <a:latin typeface="+mn-lt"/>
                        <a:ea typeface="+mn-ea"/>
                        <a:cs typeface="+mn-cs"/>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FAFAFA"/>
                    </a:solidFill>
                  </a:tcPr>
                </a:tc>
                <a:tc>
                  <a:txBody>
                    <a:bodyPr/>
                    <a:lstStyle/>
                    <a:p>
                      <a:r>
                        <a:rPr kumimoji="1" lang="en-US" altLang="zh-TW" sz="1000" kern="1200">
                          <a:solidFill>
                            <a:srgbClr val="4E4E4E"/>
                          </a:solidFill>
                          <a:latin typeface="+mn-lt"/>
                          <a:ea typeface="+mn-ea"/>
                          <a:cs typeface="+mn-cs"/>
                        </a:rPr>
                        <a:t>Audience Pack Name</a:t>
                      </a:r>
                      <a:endParaRPr kumimoji="1" lang="zh-TW" altLang="en-US" sz="1000" kern="1200">
                        <a:solidFill>
                          <a:srgbClr val="4E4E4E"/>
                        </a:solidFill>
                        <a:latin typeface="+mn-lt"/>
                        <a:ea typeface="+mn-ea"/>
                        <a:cs typeface="+mn-cs"/>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FAFAFA"/>
                    </a:solidFill>
                  </a:tcPr>
                </a:tc>
                <a:tc>
                  <a:txBody>
                    <a:bodyPr/>
                    <a:lstStyle/>
                    <a:p>
                      <a:r>
                        <a:rPr kumimoji="1" lang="en" altLang="zh-TW" sz="1000" kern="1200">
                          <a:solidFill>
                            <a:srgbClr val="4E4E4E"/>
                          </a:solidFill>
                          <a:latin typeface="+mn-lt"/>
                          <a:ea typeface="+mn-ea"/>
                          <a:cs typeface="+mn-cs"/>
                        </a:rPr>
                        <a:t>Audience Size (UU)</a:t>
                      </a:r>
                      <a:endParaRPr kumimoji="1" lang="zh-TW" altLang="en-US" sz="1000" kern="1200">
                        <a:solidFill>
                          <a:srgbClr val="4E4E4E"/>
                        </a:solidFill>
                        <a:latin typeface="+mn-lt"/>
                        <a:ea typeface="+mn-ea"/>
                        <a:cs typeface="+mn-cs"/>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FAFAFA"/>
                    </a:solidFill>
                  </a:tcPr>
                </a:tc>
                <a:tc>
                  <a:txBody>
                    <a:bodyPr/>
                    <a:lstStyle/>
                    <a:p>
                      <a:r>
                        <a:rPr kumimoji="1" lang="en-US" altLang="zh-TW" sz="1000" kern="1200">
                          <a:solidFill>
                            <a:srgbClr val="4E4E4E"/>
                          </a:solidFill>
                          <a:latin typeface="+mn-lt"/>
                          <a:ea typeface="+mn-ea"/>
                          <a:cs typeface="+mn-cs"/>
                        </a:rPr>
                        <a:t>Created Date</a:t>
                      </a:r>
                      <a:endParaRPr kumimoji="1" lang="zh-TW" altLang="en-US" sz="1000" kern="1200">
                        <a:solidFill>
                          <a:srgbClr val="4E4E4E"/>
                        </a:solidFill>
                        <a:latin typeface="+mn-lt"/>
                        <a:ea typeface="+mn-ea"/>
                        <a:cs typeface="+mn-cs"/>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FAFAFA"/>
                    </a:solidFill>
                  </a:tcPr>
                </a:tc>
                <a:tc>
                  <a:txBody>
                    <a:bodyPr/>
                    <a:lstStyle/>
                    <a:p>
                      <a:r>
                        <a:rPr kumimoji="1" lang="en-US" altLang="zh-TW" sz="1000" kern="1200">
                          <a:solidFill>
                            <a:srgbClr val="4E4E4E"/>
                          </a:solidFill>
                          <a:latin typeface="+mn-lt"/>
                          <a:ea typeface="+mn-ea"/>
                          <a:cs typeface="+mn-cs"/>
                        </a:rPr>
                        <a:t>Expired Date</a:t>
                      </a:r>
                      <a:endParaRPr kumimoji="1" lang="zh-TW" altLang="en-US" sz="1000" kern="1200">
                        <a:solidFill>
                          <a:srgbClr val="4E4E4E"/>
                        </a:solidFill>
                        <a:latin typeface="+mn-lt"/>
                        <a:ea typeface="+mn-ea"/>
                        <a:cs typeface="+mn-cs"/>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FAFAFA"/>
                    </a:solidFill>
                  </a:tcPr>
                </a:tc>
                <a:tc>
                  <a:txBody>
                    <a:bodyPr/>
                    <a:lstStyle/>
                    <a:p>
                      <a:r>
                        <a:rPr kumimoji="1" lang="en-US" altLang="zh-TW" sz="1000" kern="1200">
                          <a:solidFill>
                            <a:srgbClr val="4E4E4E"/>
                          </a:solidFill>
                          <a:latin typeface="+mn-lt"/>
                          <a:ea typeface="+mn-ea"/>
                          <a:cs typeface="+mn-cs"/>
                        </a:rPr>
                        <a:t>Status</a:t>
                      </a:r>
                      <a:endParaRPr kumimoji="1" lang="zh-TW" altLang="en-US" sz="1000" kern="1200">
                        <a:solidFill>
                          <a:srgbClr val="4E4E4E"/>
                        </a:solidFill>
                        <a:latin typeface="+mn-lt"/>
                        <a:ea typeface="+mn-ea"/>
                        <a:cs typeface="+mn-cs"/>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FAFAFA"/>
                    </a:solidFill>
                  </a:tcPr>
                </a:tc>
                <a:tc>
                  <a:txBody>
                    <a:bodyPr/>
                    <a:lstStyle/>
                    <a:p>
                      <a:r>
                        <a:rPr kumimoji="1" lang="en-US" altLang="zh-TW" sz="1000" kern="1200">
                          <a:solidFill>
                            <a:srgbClr val="4E4E4E"/>
                          </a:solidFill>
                          <a:latin typeface="+mn-lt"/>
                          <a:ea typeface="+mn-ea"/>
                          <a:cs typeface="+mn-cs"/>
                        </a:rPr>
                        <a:t>Settings</a:t>
                      </a:r>
                      <a:endParaRPr kumimoji="1" lang="zh-TW" altLang="en-US" sz="1000" kern="1200">
                        <a:solidFill>
                          <a:srgbClr val="4E4E4E"/>
                        </a:solidFill>
                        <a:latin typeface="+mn-lt"/>
                        <a:ea typeface="+mn-ea"/>
                        <a:cs typeface="+mn-cs"/>
                      </a:endParaRPr>
                    </a:p>
                  </a:txBody>
                  <a:tcPr anchor="ctr">
                    <a:lnL w="12700" cap="flat" cmpd="sng" algn="ctr">
                      <a:no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FAFAFA"/>
                    </a:solidFill>
                  </a:tcPr>
                </a:tc>
                <a:extLst>
                  <a:ext uri="{0D108BD9-81ED-4DB2-BD59-A6C34878D82A}">
                    <a16:rowId xmlns:a16="http://schemas.microsoft.com/office/drawing/2014/main" val="382988244"/>
                  </a:ext>
                </a:extLst>
              </a:tr>
              <a:tr h="29895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zh-TW" sz="1000" kern="1200">
                          <a:solidFill>
                            <a:srgbClr val="4E4E4E"/>
                          </a:solidFill>
                          <a:latin typeface="+mn-lt"/>
                          <a:ea typeface="+mn-ea"/>
                          <a:cs typeface="+mn-cs"/>
                        </a:rPr>
                        <a:t>12157</a:t>
                      </a:r>
                      <a:endParaRPr kumimoji="1" lang="zh-TW" altLang="en-US" sz="1000" kern="1200">
                        <a:solidFill>
                          <a:srgbClr val="4E4E4E"/>
                        </a:solidFill>
                        <a:latin typeface="+mn-lt"/>
                        <a:ea typeface="+mn-ea"/>
                        <a:cs typeface="+mn-cs"/>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 altLang="zh-TW" sz="1000" kern="1200">
                          <a:solidFill>
                            <a:srgbClr val="4E4E4E"/>
                          </a:solidFill>
                          <a:latin typeface="+mn-lt"/>
                          <a:ea typeface="+mn-ea"/>
                          <a:cs typeface="+mn-cs"/>
                        </a:rPr>
                        <a:t>Brand Keyword AI Exploration</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zh-TW" sz="1000" kern="1200">
                          <a:solidFill>
                            <a:srgbClr val="4E4E4E"/>
                          </a:solidFill>
                          <a:latin typeface="+mn-lt"/>
                          <a:ea typeface="+mn-ea"/>
                          <a:cs typeface="+mn-cs"/>
                        </a:rPr>
                        <a:t>[</a:t>
                      </a:r>
                      <a:r>
                        <a:rPr kumimoji="1" lang="zh-TW" altLang="en-US" sz="1000" kern="1200">
                          <a:solidFill>
                            <a:srgbClr val="4E4E4E"/>
                          </a:solidFill>
                          <a:latin typeface="+mn-lt"/>
                          <a:ea typeface="+mn-ea"/>
                          <a:cs typeface="+mn-cs"/>
                        </a:rPr>
                        <a:t>關鍵字</a:t>
                      </a:r>
                      <a:r>
                        <a:rPr kumimoji="1" lang="en-US" altLang="zh-TW" sz="1000" kern="1200">
                          <a:solidFill>
                            <a:srgbClr val="4E4E4E"/>
                          </a:solidFill>
                          <a:latin typeface="+mn-lt"/>
                          <a:ea typeface="+mn-ea"/>
                          <a:cs typeface="+mn-cs"/>
                        </a:rPr>
                        <a:t>] </a:t>
                      </a:r>
                      <a:r>
                        <a:rPr kumimoji="1" lang="zh-TW" altLang="en-US" sz="1000" kern="1200">
                          <a:solidFill>
                            <a:srgbClr val="4E4E4E"/>
                          </a:solidFill>
                          <a:latin typeface="+mn-lt"/>
                          <a:ea typeface="+mn-ea"/>
                          <a:cs typeface="+mn-cs"/>
                        </a:rPr>
                        <a:t>合利他命</a:t>
                      </a:r>
                      <a:r>
                        <a:rPr kumimoji="1" lang="en" altLang="zh-TW" sz="1000" kern="1200">
                          <a:solidFill>
                            <a:srgbClr val="4E4E4E"/>
                          </a:solidFill>
                          <a:latin typeface="+mn-lt"/>
                          <a:ea typeface="+mn-ea"/>
                          <a:cs typeface="+mn-cs"/>
                        </a:rPr>
                        <a:t>EXPLUS 10</a:t>
                      </a:r>
                      <a:r>
                        <a:rPr kumimoji="1" lang="zh-TW" altLang="en-US" sz="1000" kern="1200">
                          <a:solidFill>
                            <a:srgbClr val="4E4E4E"/>
                          </a:solidFill>
                          <a:latin typeface="+mn-lt"/>
                          <a:ea typeface="+mn-ea"/>
                          <a:cs typeface="+mn-cs"/>
                        </a:rPr>
                        <a:t>月</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zh-TW" sz="1000" kern="1200">
                          <a:solidFill>
                            <a:srgbClr val="4E4E4E"/>
                          </a:solidFill>
                          <a:latin typeface="+mn-lt"/>
                          <a:ea typeface="+mn-ea"/>
                          <a:cs typeface="+mn-cs"/>
                        </a:rPr>
                        <a:t>--</a:t>
                      </a:r>
                      <a:endParaRPr kumimoji="1" lang="zh-TW" altLang="en-US" sz="1000" kern="1200">
                        <a:solidFill>
                          <a:srgbClr val="4E4E4E"/>
                        </a:solidFill>
                        <a:latin typeface="+mn-lt"/>
                        <a:ea typeface="+mn-ea"/>
                        <a:cs typeface="+mn-cs"/>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zh-TW" sz="1000" kern="1200">
                          <a:solidFill>
                            <a:srgbClr val="4E4E4E"/>
                          </a:solidFill>
                          <a:latin typeface="+mn-lt"/>
                          <a:ea typeface="+mn-ea"/>
                          <a:cs typeface="+mn-cs"/>
                        </a:rPr>
                        <a:t>2025-10-16</a:t>
                      </a:r>
                      <a:endParaRPr kumimoji="1" lang="zh-TW" altLang="en-US" sz="1000" kern="1200">
                        <a:solidFill>
                          <a:srgbClr val="4E4E4E"/>
                        </a:solidFill>
                        <a:latin typeface="+mn-lt"/>
                        <a:ea typeface="+mn-ea"/>
                        <a:cs typeface="+mn-cs"/>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zh-TW" sz="1000" b="0" i="0" u="none" strike="noStrike" kern="1200" cap="none" spc="0" normalizeH="0" baseline="0" noProof="0">
                          <a:ln>
                            <a:noFill/>
                          </a:ln>
                          <a:solidFill>
                            <a:srgbClr val="4E4E4E"/>
                          </a:solidFill>
                          <a:effectLst/>
                          <a:uLnTx/>
                          <a:uFillTx/>
                          <a:latin typeface="+mn-lt"/>
                          <a:ea typeface="+mn-ea"/>
                          <a:cs typeface="+mn-cs"/>
                        </a:rPr>
                        <a:t>2025-10-30</a:t>
                      </a:r>
                      <a:endParaRPr kumimoji="1" lang="zh-TW" altLang="en-US" sz="1000" b="0" i="0" u="none" strike="noStrike" kern="1200" cap="none" spc="0" normalizeH="0" baseline="0" noProof="0">
                        <a:ln>
                          <a:noFill/>
                        </a:ln>
                        <a:solidFill>
                          <a:srgbClr val="4E4E4E"/>
                        </a:solidFill>
                        <a:effectLst/>
                        <a:uLnTx/>
                        <a:uFillTx/>
                        <a:latin typeface="+mn-lt"/>
                        <a:ea typeface="+mn-ea"/>
                        <a:cs typeface="+mn-cs"/>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zh-TW" sz="1000" kern="1200">
                          <a:solidFill>
                            <a:srgbClr val="4E4E4E"/>
                          </a:solidFill>
                          <a:latin typeface="+mn-lt"/>
                          <a:ea typeface="+mn-ea"/>
                          <a:cs typeface="+mn-cs"/>
                        </a:rPr>
                        <a:t>Processing</a:t>
                      </a:r>
                      <a:endParaRPr kumimoji="1" lang="zh-TW" altLang="en-US" sz="1000" kern="1200">
                        <a:solidFill>
                          <a:srgbClr val="4E4E4E"/>
                        </a:solidFill>
                        <a:latin typeface="+mn-lt"/>
                        <a:ea typeface="+mn-ea"/>
                        <a:cs typeface="+mn-cs"/>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zh-TW" sz="1000" kern="1200" dirty="0">
                          <a:solidFill>
                            <a:srgbClr val="2993FF"/>
                          </a:solidFill>
                          <a:latin typeface="+mn-lt"/>
                          <a:ea typeface="+mn-ea"/>
                          <a:cs typeface="+mn-cs"/>
                        </a:rPr>
                        <a:t>In Used(0)</a:t>
                      </a:r>
                      <a:endParaRPr kumimoji="1" lang="zh-TW" altLang="en-US" sz="1000" kern="1200" dirty="0">
                        <a:solidFill>
                          <a:srgbClr val="2993FF"/>
                        </a:solidFill>
                        <a:latin typeface="+mn-lt"/>
                        <a:ea typeface="+mn-ea"/>
                        <a:cs typeface="+mn-cs"/>
                      </a:endParaRPr>
                    </a:p>
                  </a:txBody>
                  <a:tcPr anchor="ctr">
                    <a:lnL w="12700" cap="flat" cmpd="sng" algn="ctr">
                      <a:no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3705966175"/>
                  </a:ext>
                </a:extLst>
              </a:tr>
              <a:tr h="29895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zh-TW" sz="1000" kern="1200">
                          <a:solidFill>
                            <a:srgbClr val="4E4E4E"/>
                          </a:solidFill>
                          <a:latin typeface="+mn-lt"/>
                          <a:ea typeface="+mn-ea"/>
                          <a:cs typeface="+mn-cs"/>
                        </a:rPr>
                        <a:t>12146</a:t>
                      </a:r>
                      <a:endParaRPr kumimoji="1" lang="zh-TW" altLang="en-US" sz="1000" kern="1200">
                        <a:solidFill>
                          <a:srgbClr val="4E4E4E"/>
                        </a:solidFill>
                        <a:latin typeface="+mn-lt"/>
                        <a:ea typeface="+mn-ea"/>
                        <a:cs typeface="+mn-cs"/>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 altLang="zh-TW" sz="1000" kern="1200" dirty="0">
                          <a:solidFill>
                            <a:srgbClr val="4E4E4E"/>
                          </a:solidFill>
                          <a:latin typeface="+mn-lt"/>
                          <a:ea typeface="+mn-ea"/>
                          <a:cs typeface="+mn-cs"/>
                        </a:rPr>
                        <a:t>Offline Point of Interest (POI)</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zh-TW" sz="1000" kern="1200">
                          <a:solidFill>
                            <a:srgbClr val="4E4E4E"/>
                          </a:solidFill>
                          <a:latin typeface="+mn-lt"/>
                          <a:ea typeface="+mn-ea"/>
                          <a:cs typeface="+mn-cs"/>
                        </a:rPr>
                        <a:t>[</a:t>
                      </a:r>
                      <a:r>
                        <a:rPr kumimoji="1" lang="zh-TW" altLang="en-US" sz="1000" kern="1200">
                          <a:solidFill>
                            <a:srgbClr val="4E4E4E"/>
                          </a:solidFill>
                          <a:latin typeface="+mn-lt"/>
                          <a:ea typeface="+mn-ea"/>
                          <a:cs typeface="+mn-cs"/>
                        </a:rPr>
                        <a:t>線下</a:t>
                      </a:r>
                      <a:r>
                        <a:rPr kumimoji="1" lang="en" altLang="zh-TW" sz="1000" kern="1200">
                          <a:solidFill>
                            <a:srgbClr val="4E4E4E"/>
                          </a:solidFill>
                          <a:latin typeface="+mn-lt"/>
                          <a:ea typeface="+mn-ea"/>
                          <a:cs typeface="+mn-cs"/>
                        </a:rPr>
                        <a:t>POI] </a:t>
                      </a:r>
                      <a:r>
                        <a:rPr kumimoji="1" lang="zh-TW" altLang="en-US" sz="1000" kern="1200">
                          <a:solidFill>
                            <a:srgbClr val="4E4E4E"/>
                          </a:solidFill>
                          <a:latin typeface="+mn-lt"/>
                          <a:ea typeface="+mn-ea"/>
                          <a:cs typeface="+mn-cs"/>
                        </a:rPr>
                        <a:t>合利他命</a:t>
                      </a:r>
                      <a:r>
                        <a:rPr kumimoji="1" lang="en" altLang="zh-TW" sz="1000" kern="1200">
                          <a:solidFill>
                            <a:srgbClr val="4E4E4E"/>
                          </a:solidFill>
                          <a:latin typeface="+mn-lt"/>
                          <a:ea typeface="+mn-ea"/>
                          <a:cs typeface="+mn-cs"/>
                        </a:rPr>
                        <a:t>EXPLUS 10</a:t>
                      </a:r>
                      <a:r>
                        <a:rPr kumimoji="1" lang="zh-TW" altLang="en-US" sz="1000" kern="1200">
                          <a:solidFill>
                            <a:srgbClr val="4E4E4E"/>
                          </a:solidFill>
                          <a:latin typeface="+mn-lt"/>
                          <a:ea typeface="+mn-ea"/>
                          <a:cs typeface="+mn-cs"/>
                        </a:rPr>
                        <a:t>月</a:t>
                      </a:r>
                      <a:endParaRPr kumimoji="1" lang="zh-TW" altLang="en-US" sz="1000" kern="1200" noProof="0">
                        <a:solidFill>
                          <a:srgbClr val="4E4E4E"/>
                        </a:solidFill>
                        <a:latin typeface="+mn-lt"/>
                        <a:ea typeface="+mn-ea"/>
                        <a:cs typeface="+mn-cs"/>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zh-TW" sz="1000" kern="1200" noProof="0">
                          <a:solidFill>
                            <a:srgbClr val="4E4E4E"/>
                          </a:solidFill>
                          <a:latin typeface="+mn-lt"/>
                          <a:ea typeface="+mn-ea"/>
                          <a:cs typeface="+mn-cs"/>
                        </a:rPr>
                        <a:t>0</a:t>
                      </a:r>
                      <a:endParaRPr kumimoji="1" lang="zh-TW" altLang="en-US" sz="1000" kern="1200" noProof="0">
                        <a:solidFill>
                          <a:srgbClr val="4E4E4E"/>
                        </a:solidFill>
                        <a:latin typeface="+mn-lt"/>
                        <a:ea typeface="+mn-ea"/>
                        <a:cs typeface="+mn-cs"/>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zh-TW" sz="1000" b="0" i="0" u="none" strike="noStrike" kern="1200" cap="none" spc="0" normalizeH="0" baseline="0" noProof="0">
                          <a:ln>
                            <a:noFill/>
                          </a:ln>
                          <a:solidFill>
                            <a:srgbClr val="4E4E4E"/>
                          </a:solidFill>
                          <a:effectLst/>
                          <a:uLnTx/>
                          <a:uFillTx/>
                          <a:latin typeface="Aptos" panose="02110004020202020204"/>
                          <a:ea typeface="新細明體" panose="02020500000000000000" pitchFamily="18" charset="-120"/>
                          <a:cs typeface="+mn-cs"/>
                        </a:rPr>
                        <a:t>2025-09-30</a:t>
                      </a:r>
                      <a:endParaRPr kumimoji="1" lang="zh-TW" altLang="en-US" sz="1000" b="0" i="0" u="none" strike="noStrike" kern="1200" cap="none" spc="0" normalizeH="0" baseline="0" noProof="0">
                        <a:ln>
                          <a:noFill/>
                        </a:ln>
                        <a:solidFill>
                          <a:srgbClr val="4E4E4E"/>
                        </a:solidFill>
                        <a:effectLst/>
                        <a:uLnTx/>
                        <a:uFillTx/>
                        <a:latin typeface="Aptos" panose="02110004020202020204"/>
                        <a:ea typeface="新細明體" panose="02020500000000000000" pitchFamily="18" charset="-120"/>
                        <a:cs typeface="+mn-cs"/>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zh-TW" sz="1000" b="0" i="0" u="none" strike="noStrike" kern="1200" cap="none" spc="0" normalizeH="0" baseline="0" noProof="0">
                          <a:ln>
                            <a:noFill/>
                          </a:ln>
                          <a:solidFill>
                            <a:srgbClr val="4E4E4E"/>
                          </a:solidFill>
                          <a:effectLst/>
                          <a:uLnTx/>
                          <a:uFillTx/>
                          <a:latin typeface="+mn-lt"/>
                          <a:ea typeface="+mn-ea"/>
                          <a:cs typeface="+mn-cs"/>
                        </a:rPr>
                        <a:t>2025-10-30</a:t>
                      </a:r>
                      <a:endParaRPr kumimoji="1" lang="zh-TW" altLang="en-US" sz="1000" b="0" i="0" u="none" strike="noStrike" kern="1200" cap="none" spc="0" normalizeH="0" baseline="0" noProof="0">
                        <a:ln>
                          <a:noFill/>
                        </a:ln>
                        <a:solidFill>
                          <a:srgbClr val="4E4E4E"/>
                        </a:solidFill>
                        <a:effectLst/>
                        <a:uLnTx/>
                        <a:uFillTx/>
                        <a:latin typeface="+mn-lt"/>
                        <a:ea typeface="+mn-ea"/>
                        <a:cs typeface="+mn-cs"/>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zh-TW" sz="1000" b="0" i="0" u="none" strike="noStrike" kern="1200" cap="none" spc="0" normalizeH="0" baseline="0" noProof="0" dirty="0">
                          <a:ln>
                            <a:noFill/>
                          </a:ln>
                          <a:solidFill>
                            <a:srgbClr val="4E4E4E"/>
                          </a:solidFill>
                          <a:effectLst/>
                          <a:uLnTx/>
                          <a:uFillTx/>
                          <a:latin typeface="+mn-lt"/>
                          <a:ea typeface="+mn-ea"/>
                          <a:cs typeface="+mn-cs"/>
                        </a:rPr>
                        <a:t>Completed</a:t>
                      </a:r>
                      <a:endParaRPr kumimoji="1" lang="zh-TW" altLang="en-US" sz="1000" b="0" i="0" u="none" strike="noStrike" kern="1200" cap="none" spc="0" normalizeH="0" baseline="0" noProof="0" dirty="0">
                        <a:ln>
                          <a:noFill/>
                        </a:ln>
                        <a:solidFill>
                          <a:srgbClr val="4E4E4E"/>
                        </a:solidFill>
                        <a:effectLst/>
                        <a:uLnTx/>
                        <a:uFillTx/>
                        <a:latin typeface="+mn-lt"/>
                        <a:ea typeface="+mn-ea"/>
                        <a:cs typeface="+mn-cs"/>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zh-TW" sz="1000" kern="1200">
                          <a:solidFill>
                            <a:srgbClr val="2993FF"/>
                          </a:solidFill>
                          <a:latin typeface="+mn-lt"/>
                          <a:ea typeface="+mn-ea"/>
                          <a:cs typeface="+mn-cs"/>
                        </a:rPr>
                        <a:t>In Used(1)</a:t>
                      </a:r>
                      <a:endParaRPr kumimoji="1" lang="zh-TW" altLang="en-US" sz="1000" kern="1200">
                        <a:solidFill>
                          <a:srgbClr val="2993FF"/>
                        </a:solidFill>
                        <a:latin typeface="+mn-lt"/>
                        <a:ea typeface="+mn-ea"/>
                        <a:cs typeface="+mn-cs"/>
                      </a:endParaRPr>
                    </a:p>
                  </a:txBody>
                  <a:tcPr anchor="ctr">
                    <a:lnL w="12700" cap="flat" cmpd="sng" algn="ctr">
                      <a:no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3805930247"/>
                  </a:ext>
                </a:extLst>
              </a:tr>
              <a:tr h="36882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zh-TW" sz="1000" kern="1200">
                          <a:solidFill>
                            <a:srgbClr val="4E4E4E"/>
                          </a:solidFill>
                          <a:latin typeface="+mn-lt"/>
                          <a:ea typeface="+mn-ea"/>
                          <a:cs typeface="+mn-cs"/>
                        </a:rPr>
                        <a:t>12130</a:t>
                      </a:r>
                      <a:endParaRPr kumimoji="1" lang="zh-TW" altLang="en-US" sz="1000" kern="1200">
                        <a:solidFill>
                          <a:srgbClr val="4E4E4E"/>
                        </a:solidFill>
                        <a:latin typeface="+mn-lt"/>
                        <a:ea typeface="+mn-ea"/>
                        <a:cs typeface="+mn-cs"/>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fontAlgn="base" latinLnBrk="0">
                        <a:buNone/>
                      </a:pPr>
                      <a:r>
                        <a:rPr kumimoji="1" lang="en" altLang="zh-TW" sz="1000" kern="1200" dirty="0">
                          <a:solidFill>
                            <a:srgbClr val="4E4E4E"/>
                          </a:solidFill>
                          <a:latin typeface="+mn-lt"/>
                          <a:ea typeface="+mn-ea"/>
                          <a:cs typeface="+mn-cs"/>
                        </a:rPr>
                        <a:t>Webb Retail Data (Purchase)</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 altLang="zh-TW" sz="1000" kern="1200">
                          <a:solidFill>
                            <a:srgbClr val="4E4E4E"/>
                          </a:solidFill>
                          <a:latin typeface="+mn-lt"/>
                          <a:ea typeface="+mn-ea"/>
                          <a:cs typeface="+mn-cs"/>
                        </a:rPr>
                        <a:t>[Webb</a:t>
                      </a:r>
                      <a:r>
                        <a:rPr kumimoji="1" lang="zh-TW" altLang="en-US" sz="1000" kern="1200">
                          <a:solidFill>
                            <a:srgbClr val="4E4E4E"/>
                          </a:solidFill>
                          <a:latin typeface="+mn-lt"/>
                          <a:ea typeface="+mn-ea"/>
                          <a:cs typeface="+mn-cs"/>
                        </a:rPr>
                        <a:t>零售數據</a:t>
                      </a:r>
                      <a:r>
                        <a:rPr kumimoji="1" lang="en-US" altLang="zh-TW" sz="1000" kern="1200">
                          <a:solidFill>
                            <a:srgbClr val="4E4E4E"/>
                          </a:solidFill>
                          <a:latin typeface="+mn-lt"/>
                          <a:ea typeface="+mn-ea"/>
                          <a:cs typeface="+mn-cs"/>
                        </a:rPr>
                        <a:t>-</a:t>
                      </a:r>
                      <a:r>
                        <a:rPr kumimoji="1" lang="zh-TW" altLang="en-US" sz="1000" kern="1200">
                          <a:solidFill>
                            <a:srgbClr val="4E4E4E"/>
                          </a:solidFill>
                          <a:latin typeface="+mn-lt"/>
                          <a:ea typeface="+mn-ea"/>
                          <a:cs typeface="+mn-cs"/>
                        </a:rPr>
                        <a:t>購買</a:t>
                      </a:r>
                      <a:r>
                        <a:rPr kumimoji="1" lang="en-US" altLang="zh-TW" sz="1000" kern="1200">
                          <a:solidFill>
                            <a:srgbClr val="4E4E4E"/>
                          </a:solidFill>
                          <a:latin typeface="+mn-lt"/>
                          <a:ea typeface="+mn-ea"/>
                          <a:cs typeface="+mn-cs"/>
                        </a:rPr>
                        <a:t>] </a:t>
                      </a:r>
                      <a:r>
                        <a:rPr kumimoji="1" lang="zh-TW" altLang="en-US" sz="1000" kern="1200">
                          <a:solidFill>
                            <a:srgbClr val="4E4E4E"/>
                          </a:solidFill>
                          <a:latin typeface="+mn-lt"/>
                          <a:ea typeface="+mn-ea"/>
                          <a:cs typeface="+mn-cs"/>
                        </a:rPr>
                        <a:t>合利他命</a:t>
                      </a:r>
                      <a:r>
                        <a:rPr kumimoji="1" lang="en" altLang="zh-TW" sz="1000" kern="1200">
                          <a:solidFill>
                            <a:srgbClr val="4E4E4E"/>
                          </a:solidFill>
                          <a:latin typeface="+mn-lt"/>
                          <a:ea typeface="+mn-ea"/>
                          <a:cs typeface="+mn-cs"/>
                        </a:rPr>
                        <a:t>EXPLUS 10</a:t>
                      </a:r>
                      <a:r>
                        <a:rPr kumimoji="1" lang="zh-TW" altLang="en-US" sz="1000" kern="1200">
                          <a:solidFill>
                            <a:srgbClr val="4E4E4E"/>
                          </a:solidFill>
                          <a:latin typeface="+mn-lt"/>
                          <a:ea typeface="+mn-ea"/>
                          <a:cs typeface="+mn-cs"/>
                        </a:rPr>
                        <a:t>月</a:t>
                      </a:r>
                      <a:endParaRPr kumimoji="1" lang="zh-TW" altLang="en-US" sz="1000" kern="1200" noProof="0">
                        <a:solidFill>
                          <a:srgbClr val="4E4E4E"/>
                        </a:solidFill>
                        <a:latin typeface="+mn-lt"/>
                        <a:ea typeface="+mn-ea"/>
                        <a:cs typeface="+mn-cs"/>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zh-TW" sz="1000" kern="1200">
                          <a:solidFill>
                            <a:srgbClr val="4E4E4E"/>
                          </a:solidFill>
                          <a:latin typeface="+mn-lt"/>
                          <a:ea typeface="+mn-ea"/>
                          <a:cs typeface="+mn-cs"/>
                        </a:rPr>
                        <a:t>46,167</a:t>
                      </a:r>
                      <a:endParaRPr kumimoji="1" lang="zh-TW" altLang="en-US" sz="1000" kern="1200" noProof="0">
                        <a:solidFill>
                          <a:srgbClr val="4E4E4E"/>
                        </a:solidFill>
                        <a:latin typeface="+mn-lt"/>
                        <a:ea typeface="+mn-ea"/>
                        <a:cs typeface="+mn-cs"/>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zh-TW" sz="1000" b="0" i="0" u="none" strike="noStrike" kern="1200" cap="none" spc="0" normalizeH="0" baseline="0" noProof="0">
                          <a:ln>
                            <a:noFill/>
                          </a:ln>
                          <a:solidFill>
                            <a:srgbClr val="4E4E4E"/>
                          </a:solidFill>
                          <a:effectLst/>
                          <a:uLnTx/>
                          <a:uFillTx/>
                          <a:latin typeface="Aptos" panose="02110004020202020204"/>
                          <a:ea typeface="新細明體" panose="02020500000000000000" pitchFamily="18" charset="-120"/>
                          <a:cs typeface="+mn-cs"/>
                        </a:rPr>
                        <a:t>2025-09-30</a:t>
                      </a:r>
                      <a:endParaRPr kumimoji="1" lang="zh-TW" altLang="en-US" sz="1000" b="0" i="0" u="none" strike="noStrike" kern="1200" cap="none" spc="0" normalizeH="0" baseline="0" noProof="0">
                        <a:ln>
                          <a:noFill/>
                        </a:ln>
                        <a:solidFill>
                          <a:srgbClr val="4E4E4E"/>
                        </a:solidFill>
                        <a:effectLst/>
                        <a:uLnTx/>
                        <a:uFillTx/>
                        <a:latin typeface="Aptos" panose="02110004020202020204"/>
                        <a:ea typeface="新細明體" panose="02020500000000000000" pitchFamily="18" charset="-120"/>
                        <a:cs typeface="+mn-cs"/>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zh-TW" sz="1000" b="0" i="0" u="none" strike="noStrike" kern="1200" cap="none" spc="0" normalizeH="0" baseline="0" noProof="0">
                          <a:ln>
                            <a:noFill/>
                          </a:ln>
                          <a:solidFill>
                            <a:srgbClr val="4E4E4E"/>
                          </a:solidFill>
                          <a:effectLst/>
                          <a:uLnTx/>
                          <a:uFillTx/>
                          <a:latin typeface="+mn-lt"/>
                          <a:ea typeface="+mn-ea"/>
                          <a:cs typeface="+mn-cs"/>
                        </a:rPr>
                        <a:t>2025-10-30</a:t>
                      </a:r>
                      <a:endParaRPr kumimoji="1" lang="zh-TW" altLang="en-US" sz="1000" b="0" i="0" u="none" strike="noStrike" kern="1200" cap="none" spc="0" normalizeH="0" baseline="0" noProof="0">
                        <a:ln>
                          <a:noFill/>
                        </a:ln>
                        <a:solidFill>
                          <a:srgbClr val="4E4E4E"/>
                        </a:solidFill>
                        <a:effectLst/>
                        <a:uLnTx/>
                        <a:uFillTx/>
                        <a:latin typeface="+mn-lt"/>
                        <a:ea typeface="+mn-ea"/>
                        <a:cs typeface="+mn-cs"/>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zh-TW" sz="1000" b="0" i="0" u="none" strike="noStrike" kern="1200" cap="none" spc="0" normalizeH="0" baseline="0" noProof="0" dirty="0">
                          <a:ln>
                            <a:noFill/>
                          </a:ln>
                          <a:solidFill>
                            <a:srgbClr val="4E4E4E"/>
                          </a:solidFill>
                          <a:effectLst/>
                          <a:uLnTx/>
                          <a:uFillTx/>
                          <a:latin typeface="Aptos" panose="02110004020202020204"/>
                          <a:ea typeface="新細明體" panose="02020500000000000000" pitchFamily="18" charset="-120"/>
                          <a:cs typeface="+mn-cs"/>
                        </a:rPr>
                        <a:t>Completed</a:t>
                      </a:r>
                      <a:endParaRPr kumimoji="1" lang="zh-TW" altLang="en-US" sz="1000" b="0" i="0" u="none" strike="noStrike" kern="1200" cap="none" spc="0" normalizeH="0" baseline="0" noProof="0" dirty="0">
                        <a:ln>
                          <a:noFill/>
                        </a:ln>
                        <a:solidFill>
                          <a:srgbClr val="4E4E4E"/>
                        </a:solidFill>
                        <a:effectLst/>
                        <a:uLnTx/>
                        <a:uFillTx/>
                        <a:latin typeface="Aptos" panose="02110004020202020204"/>
                        <a:ea typeface="新細明體" panose="02020500000000000000" pitchFamily="18" charset="-120"/>
                        <a:cs typeface="+mn-cs"/>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zh-TW" sz="1000" kern="1200">
                          <a:solidFill>
                            <a:srgbClr val="2993FF"/>
                          </a:solidFill>
                          <a:latin typeface="+mn-lt"/>
                          <a:ea typeface="+mn-ea"/>
                          <a:cs typeface="+mn-cs"/>
                        </a:rPr>
                        <a:t>In Used(4)</a:t>
                      </a:r>
                      <a:endParaRPr kumimoji="1" lang="zh-TW" altLang="en-US" sz="1000" kern="1200">
                        <a:solidFill>
                          <a:srgbClr val="2993FF"/>
                        </a:solidFill>
                        <a:latin typeface="+mn-lt"/>
                        <a:ea typeface="+mn-ea"/>
                        <a:cs typeface="+mn-cs"/>
                      </a:endParaRPr>
                    </a:p>
                  </a:txBody>
                  <a:tcPr anchor="ctr">
                    <a:lnL w="12700" cap="flat" cmpd="sng" algn="ctr">
                      <a:no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189279743"/>
                  </a:ext>
                </a:extLst>
              </a:tr>
              <a:tr h="36882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zh-TW" sz="1000" kern="1200">
                          <a:solidFill>
                            <a:srgbClr val="4E4E4E"/>
                          </a:solidFill>
                          <a:latin typeface="+mn-lt"/>
                          <a:ea typeface="+mn-ea"/>
                          <a:cs typeface="+mn-cs"/>
                        </a:rPr>
                        <a:t>12120</a:t>
                      </a:r>
                      <a:endParaRPr kumimoji="1" lang="zh-TW" altLang="en-US" sz="1000" kern="1200">
                        <a:solidFill>
                          <a:srgbClr val="4E4E4E"/>
                        </a:solidFill>
                        <a:latin typeface="+mn-lt"/>
                        <a:ea typeface="+mn-ea"/>
                        <a:cs typeface="+mn-cs"/>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 altLang="zh-TW" sz="1000" kern="1200">
                          <a:solidFill>
                            <a:srgbClr val="4E4E4E"/>
                          </a:solidFill>
                          <a:latin typeface="+mn-lt"/>
                          <a:ea typeface="+mn-ea"/>
                          <a:cs typeface="+mn-cs"/>
                        </a:rPr>
                        <a:t>Industry Shopper Graph</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 altLang="zh-TW" sz="1000" kern="1200">
                          <a:solidFill>
                            <a:srgbClr val="4E4E4E"/>
                          </a:solidFill>
                          <a:latin typeface="+mn-lt"/>
                          <a:ea typeface="+mn-ea"/>
                          <a:cs typeface="+mn-cs"/>
                        </a:rPr>
                        <a:t>[</a:t>
                      </a:r>
                      <a:r>
                        <a:rPr kumimoji="1" lang="zh-TW" altLang="en-US" sz="1000" kern="1200">
                          <a:solidFill>
                            <a:srgbClr val="4E4E4E"/>
                          </a:solidFill>
                          <a:latin typeface="+mn-lt"/>
                          <a:ea typeface="+mn-ea"/>
                          <a:cs typeface="+mn-cs"/>
                        </a:rPr>
                        <a:t>產業 </a:t>
                      </a:r>
                      <a:r>
                        <a:rPr kumimoji="1" lang="en" altLang="zh-TW" sz="1000" kern="1200">
                          <a:solidFill>
                            <a:srgbClr val="4E4E4E"/>
                          </a:solidFill>
                          <a:latin typeface="+mn-lt"/>
                          <a:ea typeface="+mn-ea"/>
                          <a:cs typeface="+mn-cs"/>
                        </a:rPr>
                        <a:t>Shopper Graph</a:t>
                      </a:r>
                      <a:r>
                        <a:rPr kumimoji="1" lang="en-US" altLang="zh-TW" sz="1000" kern="1200">
                          <a:solidFill>
                            <a:srgbClr val="4E4E4E"/>
                          </a:solidFill>
                          <a:latin typeface="+mn-lt"/>
                          <a:ea typeface="+mn-ea"/>
                          <a:cs typeface="+mn-cs"/>
                        </a:rPr>
                        <a:t>] </a:t>
                      </a:r>
                      <a:r>
                        <a:rPr kumimoji="1" lang="zh-TW" altLang="en-US" sz="1000" kern="1200">
                          <a:solidFill>
                            <a:srgbClr val="4E4E4E"/>
                          </a:solidFill>
                          <a:latin typeface="+mn-lt"/>
                          <a:ea typeface="+mn-ea"/>
                          <a:cs typeface="+mn-cs"/>
                        </a:rPr>
                        <a:t>合利他命</a:t>
                      </a:r>
                      <a:r>
                        <a:rPr kumimoji="1" lang="en" altLang="zh-TW" sz="1000" kern="1200">
                          <a:solidFill>
                            <a:srgbClr val="4E4E4E"/>
                          </a:solidFill>
                          <a:latin typeface="+mn-lt"/>
                          <a:ea typeface="+mn-ea"/>
                          <a:cs typeface="+mn-cs"/>
                        </a:rPr>
                        <a:t>EXPLUS 9-10</a:t>
                      </a:r>
                      <a:r>
                        <a:rPr kumimoji="1" lang="zh-TW" altLang="en-US" sz="1000" kern="1200">
                          <a:solidFill>
                            <a:srgbClr val="4E4E4E"/>
                          </a:solidFill>
                          <a:latin typeface="+mn-lt"/>
                          <a:ea typeface="+mn-ea"/>
                          <a:cs typeface="+mn-cs"/>
                        </a:rPr>
                        <a:t>月</a:t>
                      </a:r>
                      <a:endParaRPr kumimoji="1" lang="zh-TW" altLang="en-US" sz="1000" kern="1200" noProof="0">
                        <a:solidFill>
                          <a:srgbClr val="4E4E4E"/>
                        </a:solidFill>
                        <a:latin typeface="+mn-lt"/>
                        <a:ea typeface="+mn-ea"/>
                        <a:cs typeface="+mn-cs"/>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zh-TW" sz="1000" kern="1200">
                          <a:solidFill>
                            <a:srgbClr val="4E4E4E"/>
                          </a:solidFill>
                          <a:latin typeface="+mn-lt"/>
                          <a:ea typeface="+mn-ea"/>
                          <a:cs typeface="+mn-cs"/>
                        </a:rPr>
                        <a:t>1,000,000</a:t>
                      </a:r>
                      <a:endParaRPr kumimoji="1" lang="zh-TW" altLang="en-US" sz="1000" kern="1200" noProof="0">
                        <a:solidFill>
                          <a:srgbClr val="4E4E4E"/>
                        </a:solidFill>
                        <a:latin typeface="+mn-lt"/>
                        <a:ea typeface="+mn-ea"/>
                        <a:cs typeface="+mn-cs"/>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zh-TW" sz="1000" b="0" i="0" u="none" strike="noStrike" kern="1200" cap="none" spc="0" normalizeH="0" baseline="0" noProof="0" dirty="0">
                          <a:ln>
                            <a:noFill/>
                          </a:ln>
                          <a:solidFill>
                            <a:srgbClr val="4E4E4E"/>
                          </a:solidFill>
                          <a:effectLst/>
                          <a:uLnTx/>
                          <a:uFillTx/>
                          <a:latin typeface="Aptos" panose="02110004020202020204"/>
                          <a:ea typeface="新細明體" panose="02020500000000000000" pitchFamily="18" charset="-120"/>
                          <a:cs typeface="+mn-cs"/>
                        </a:rPr>
                        <a:t>2025-07-25</a:t>
                      </a:r>
                      <a:endParaRPr kumimoji="1" lang="zh-TW" altLang="en-US" sz="1000" b="0" i="0" u="none" strike="noStrike" kern="1200" cap="none" spc="0" normalizeH="0" baseline="0" noProof="0" dirty="0">
                        <a:ln>
                          <a:noFill/>
                        </a:ln>
                        <a:solidFill>
                          <a:srgbClr val="4E4E4E"/>
                        </a:solidFill>
                        <a:effectLst/>
                        <a:uLnTx/>
                        <a:uFillTx/>
                        <a:latin typeface="Aptos" panose="02110004020202020204"/>
                        <a:ea typeface="新細明體" panose="02020500000000000000" pitchFamily="18" charset="-120"/>
                        <a:cs typeface="+mn-cs"/>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zh-TW" sz="1000" b="0" i="0" u="none" strike="noStrike" kern="1200" cap="none" spc="0" normalizeH="0" baseline="0" noProof="0">
                          <a:ln>
                            <a:noFill/>
                          </a:ln>
                          <a:solidFill>
                            <a:srgbClr val="4E4E4E"/>
                          </a:solidFill>
                          <a:effectLst/>
                          <a:uLnTx/>
                          <a:uFillTx/>
                          <a:latin typeface="+mn-lt"/>
                          <a:ea typeface="+mn-ea"/>
                          <a:cs typeface="+mn-cs"/>
                        </a:rPr>
                        <a:t>2025-10-25</a:t>
                      </a:r>
                      <a:endParaRPr kumimoji="1" lang="zh-TW" altLang="en-US" sz="1000" b="0" i="0" u="none" strike="noStrike" kern="1200" cap="none" spc="0" normalizeH="0" baseline="0" noProof="0">
                        <a:ln>
                          <a:noFill/>
                        </a:ln>
                        <a:solidFill>
                          <a:srgbClr val="4E4E4E"/>
                        </a:solidFill>
                        <a:effectLst/>
                        <a:uLnTx/>
                        <a:uFillTx/>
                        <a:latin typeface="+mn-lt"/>
                        <a:ea typeface="+mn-ea"/>
                        <a:cs typeface="+mn-cs"/>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zh-TW" sz="1000" b="0" i="0" u="none" strike="noStrike" kern="1200" cap="none" spc="0" normalizeH="0" baseline="0" noProof="0">
                          <a:ln>
                            <a:noFill/>
                          </a:ln>
                          <a:solidFill>
                            <a:srgbClr val="4E4E4E"/>
                          </a:solidFill>
                          <a:effectLst/>
                          <a:uLnTx/>
                          <a:uFillTx/>
                          <a:latin typeface="+mn-lt"/>
                          <a:ea typeface="+mn-ea"/>
                          <a:cs typeface="+mn-cs"/>
                        </a:rPr>
                        <a:t>Completed</a:t>
                      </a:r>
                      <a:endParaRPr kumimoji="1" lang="zh-TW" altLang="en-US" sz="1000" b="0" i="0" u="none" strike="noStrike" kern="1200" cap="none" spc="0" normalizeH="0" baseline="0" noProof="0">
                        <a:ln>
                          <a:noFill/>
                        </a:ln>
                        <a:solidFill>
                          <a:srgbClr val="4E4E4E"/>
                        </a:solidFill>
                        <a:effectLst/>
                        <a:uLnTx/>
                        <a:uFillTx/>
                        <a:latin typeface="+mn-lt"/>
                        <a:ea typeface="+mn-ea"/>
                        <a:cs typeface="+mn-cs"/>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zh-TW" sz="1000" kern="1200">
                          <a:solidFill>
                            <a:srgbClr val="2993FF"/>
                          </a:solidFill>
                          <a:latin typeface="+mn-lt"/>
                          <a:ea typeface="+mn-ea"/>
                          <a:cs typeface="+mn-cs"/>
                        </a:rPr>
                        <a:t>In Used(3)</a:t>
                      </a:r>
                      <a:endParaRPr kumimoji="1" lang="zh-TW" altLang="en-US" sz="1000" kern="1200">
                        <a:solidFill>
                          <a:srgbClr val="2993FF"/>
                        </a:solidFill>
                        <a:latin typeface="+mn-lt"/>
                        <a:ea typeface="+mn-ea"/>
                        <a:cs typeface="+mn-cs"/>
                      </a:endParaRPr>
                    </a:p>
                  </a:txBody>
                  <a:tcPr anchor="ctr">
                    <a:lnL w="12700" cap="flat" cmpd="sng" algn="ctr">
                      <a:no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2605622895"/>
                  </a:ext>
                </a:extLst>
              </a:tr>
              <a:tr h="29895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zh-TW" sz="1000" kern="1200">
                          <a:solidFill>
                            <a:srgbClr val="4E4E4E"/>
                          </a:solidFill>
                          <a:latin typeface="+mn-lt"/>
                          <a:ea typeface="+mn-ea"/>
                          <a:cs typeface="+mn-cs"/>
                        </a:rPr>
                        <a:t>11111</a:t>
                      </a:r>
                      <a:endParaRPr kumimoji="1" lang="zh-TW" altLang="en-US" sz="1000" kern="1200">
                        <a:solidFill>
                          <a:srgbClr val="4E4E4E"/>
                        </a:solidFill>
                        <a:latin typeface="+mn-lt"/>
                        <a:ea typeface="+mn-ea"/>
                        <a:cs typeface="+mn-cs"/>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 altLang="zh-TW" sz="1000" kern="1200" dirty="0">
                          <a:solidFill>
                            <a:srgbClr val="4E4E4E"/>
                          </a:solidFill>
                          <a:latin typeface="+mn-lt"/>
                          <a:ea typeface="+mn-ea"/>
                          <a:cs typeface="+mn-cs"/>
                        </a:rPr>
                        <a:t>Industry Shopper Graph</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 altLang="zh-TW" sz="1000" kern="1200" dirty="0">
                          <a:solidFill>
                            <a:srgbClr val="4E4E4E"/>
                          </a:solidFill>
                          <a:latin typeface="+mn-lt"/>
                          <a:ea typeface="+mn-ea"/>
                          <a:cs typeface="+mn-cs"/>
                        </a:rPr>
                        <a:t>[</a:t>
                      </a:r>
                      <a:r>
                        <a:rPr kumimoji="1" lang="zh-TW" altLang="en-US" sz="1000" kern="1200" dirty="0">
                          <a:solidFill>
                            <a:srgbClr val="4E4E4E"/>
                          </a:solidFill>
                          <a:latin typeface="+mn-lt"/>
                          <a:ea typeface="+mn-ea"/>
                          <a:cs typeface="+mn-cs"/>
                        </a:rPr>
                        <a:t>產業 </a:t>
                      </a:r>
                      <a:r>
                        <a:rPr kumimoji="1" lang="en" altLang="zh-TW" sz="1000" kern="1200" dirty="0">
                          <a:solidFill>
                            <a:srgbClr val="4E4E4E"/>
                          </a:solidFill>
                          <a:latin typeface="+mn-lt"/>
                          <a:ea typeface="+mn-ea"/>
                          <a:cs typeface="+mn-cs"/>
                        </a:rPr>
                        <a:t>Shopper Graph</a:t>
                      </a:r>
                      <a:r>
                        <a:rPr kumimoji="1" lang="en-US" altLang="zh-TW" sz="1000" kern="1200" dirty="0">
                          <a:solidFill>
                            <a:srgbClr val="4E4E4E"/>
                          </a:solidFill>
                          <a:latin typeface="+mn-lt"/>
                          <a:ea typeface="+mn-ea"/>
                          <a:cs typeface="+mn-cs"/>
                        </a:rPr>
                        <a:t>] </a:t>
                      </a:r>
                      <a:r>
                        <a:rPr kumimoji="1" lang="zh-TW" altLang="en-US" sz="1000" kern="1200" dirty="0">
                          <a:solidFill>
                            <a:srgbClr val="4E4E4E"/>
                          </a:solidFill>
                          <a:latin typeface="+mn-lt"/>
                          <a:ea typeface="+mn-ea"/>
                          <a:cs typeface="+mn-cs"/>
                        </a:rPr>
                        <a:t>合利他命</a:t>
                      </a:r>
                      <a:r>
                        <a:rPr kumimoji="1" lang="en" altLang="zh-TW" sz="1000" kern="1200" dirty="0">
                          <a:solidFill>
                            <a:srgbClr val="4E4E4E"/>
                          </a:solidFill>
                          <a:latin typeface="+mn-lt"/>
                          <a:ea typeface="+mn-ea"/>
                          <a:cs typeface="+mn-cs"/>
                        </a:rPr>
                        <a:t>EXPLUS 7</a:t>
                      </a:r>
                      <a:r>
                        <a:rPr kumimoji="1" lang="zh-TW" altLang="en-US" sz="1000" kern="1200" dirty="0">
                          <a:solidFill>
                            <a:srgbClr val="4E4E4E"/>
                          </a:solidFill>
                          <a:latin typeface="+mn-lt"/>
                          <a:ea typeface="+mn-ea"/>
                          <a:cs typeface="+mn-cs"/>
                        </a:rPr>
                        <a:t>月</a:t>
                      </a:r>
                      <a:endParaRPr kumimoji="1" lang="zh-TW" altLang="en-US" sz="1000" kern="1200" noProof="0" dirty="0">
                        <a:solidFill>
                          <a:srgbClr val="4E4E4E"/>
                        </a:solidFill>
                        <a:latin typeface="+mn-lt"/>
                        <a:ea typeface="+mn-ea"/>
                        <a:cs typeface="+mn-cs"/>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zh-TW" sz="1000" kern="1200" dirty="0">
                          <a:solidFill>
                            <a:srgbClr val="4E4E4E"/>
                          </a:solidFill>
                          <a:latin typeface="+mn-lt"/>
                          <a:ea typeface="+mn-ea"/>
                          <a:cs typeface="+mn-cs"/>
                        </a:rPr>
                        <a:t>800000</a:t>
                      </a:r>
                      <a:endParaRPr kumimoji="1" lang="zh-TW" altLang="en-US" sz="1000" kern="1200" noProof="0" dirty="0">
                        <a:solidFill>
                          <a:srgbClr val="4E4E4E"/>
                        </a:solidFill>
                        <a:latin typeface="+mn-lt"/>
                        <a:ea typeface="+mn-ea"/>
                        <a:cs typeface="+mn-cs"/>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zh-TW" sz="1000" b="0" i="0" u="none" strike="noStrike" kern="1200" cap="none" spc="0" normalizeH="0" baseline="0" noProof="0">
                          <a:ln>
                            <a:noFill/>
                          </a:ln>
                          <a:solidFill>
                            <a:srgbClr val="4E4E4E"/>
                          </a:solidFill>
                          <a:effectLst/>
                          <a:uLnTx/>
                          <a:uFillTx/>
                          <a:latin typeface="Aptos" panose="02110004020202020204"/>
                          <a:ea typeface="新細明體" panose="02020500000000000000" pitchFamily="18" charset="-120"/>
                          <a:cs typeface="+mn-cs"/>
                        </a:rPr>
                        <a:t>2025-06-25</a:t>
                      </a:r>
                      <a:endParaRPr kumimoji="1" lang="zh-TW" altLang="en-US" sz="1000" b="0" i="0" u="none" strike="noStrike" kern="1200" cap="none" spc="0" normalizeH="0" baseline="0" noProof="0">
                        <a:ln>
                          <a:noFill/>
                        </a:ln>
                        <a:solidFill>
                          <a:srgbClr val="4E4E4E"/>
                        </a:solidFill>
                        <a:effectLst/>
                        <a:uLnTx/>
                        <a:uFillTx/>
                        <a:latin typeface="Aptos" panose="02110004020202020204"/>
                        <a:ea typeface="新細明體" panose="02020500000000000000" pitchFamily="18" charset="-120"/>
                        <a:cs typeface="+mn-cs"/>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zh-TW" sz="1000" b="0" i="0" u="none" strike="noStrike" kern="1200" cap="none" spc="0" normalizeH="0" baseline="0" noProof="0">
                          <a:ln>
                            <a:noFill/>
                          </a:ln>
                          <a:solidFill>
                            <a:srgbClr val="4E4E4E"/>
                          </a:solidFill>
                          <a:effectLst/>
                          <a:uLnTx/>
                          <a:uFillTx/>
                          <a:latin typeface="+mn-lt"/>
                          <a:ea typeface="+mn-ea"/>
                          <a:cs typeface="+mn-cs"/>
                        </a:rPr>
                        <a:t>2025-07-31</a:t>
                      </a:r>
                      <a:endParaRPr kumimoji="1" lang="zh-TW" altLang="en-US" sz="1000" b="0" i="0" u="none" strike="noStrike" kern="1200" cap="none" spc="0" normalizeH="0" baseline="0" noProof="0">
                        <a:ln>
                          <a:noFill/>
                        </a:ln>
                        <a:solidFill>
                          <a:srgbClr val="4E4E4E"/>
                        </a:solidFill>
                        <a:effectLst/>
                        <a:uLnTx/>
                        <a:uFillTx/>
                        <a:latin typeface="+mn-lt"/>
                        <a:ea typeface="+mn-ea"/>
                        <a:cs typeface="+mn-cs"/>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zh-TW" sz="1000" b="0" i="0" u="none" strike="noStrike" kern="1200" cap="none" spc="0" normalizeH="0" baseline="0" noProof="0" dirty="0">
                          <a:ln>
                            <a:noFill/>
                          </a:ln>
                          <a:solidFill>
                            <a:srgbClr val="4E4E4E"/>
                          </a:solidFill>
                          <a:effectLst/>
                          <a:uLnTx/>
                          <a:uFillTx/>
                          <a:latin typeface="Aptos" panose="02110004020202020204"/>
                          <a:ea typeface="新細明體" panose="02020500000000000000" pitchFamily="18" charset="-120"/>
                          <a:cs typeface="+mn-cs"/>
                        </a:rPr>
                        <a:t>Expired</a:t>
                      </a:r>
                      <a:endParaRPr kumimoji="1" lang="zh-TW" altLang="en-US" sz="1000" b="0" i="0" u="none" strike="noStrike" kern="1200" cap="none" spc="0" normalizeH="0" baseline="0" noProof="0" dirty="0">
                        <a:ln>
                          <a:noFill/>
                        </a:ln>
                        <a:solidFill>
                          <a:srgbClr val="4E4E4E"/>
                        </a:solidFill>
                        <a:effectLst/>
                        <a:uLnTx/>
                        <a:uFillTx/>
                        <a:latin typeface="Aptos" panose="02110004020202020204"/>
                        <a:ea typeface="新細明體" panose="02020500000000000000" pitchFamily="18" charset="-120"/>
                        <a:cs typeface="+mn-cs"/>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zh-TW" sz="1000" kern="1200" dirty="0">
                          <a:solidFill>
                            <a:srgbClr val="2993FF"/>
                          </a:solidFill>
                          <a:latin typeface="+mn-lt"/>
                          <a:ea typeface="+mn-ea"/>
                          <a:cs typeface="+mn-cs"/>
                        </a:rPr>
                        <a:t>In Used(3)</a:t>
                      </a:r>
                      <a:endParaRPr kumimoji="1" lang="zh-TW" altLang="en-US" sz="1000" kern="1200" dirty="0">
                        <a:solidFill>
                          <a:srgbClr val="2993FF"/>
                        </a:solidFill>
                        <a:latin typeface="+mn-lt"/>
                        <a:ea typeface="+mn-ea"/>
                        <a:cs typeface="+mn-cs"/>
                      </a:endParaRPr>
                    </a:p>
                  </a:txBody>
                  <a:tcPr anchor="ctr">
                    <a:lnL w="12700" cap="flat" cmpd="sng" algn="ctr">
                      <a:no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3724327193"/>
                  </a:ext>
                </a:extLst>
              </a:tr>
              <a:tr h="29895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zh-TW" sz="1000" kern="1200" dirty="0">
                          <a:solidFill>
                            <a:srgbClr val="4E4E4E"/>
                          </a:solidFill>
                          <a:latin typeface="+mn-lt"/>
                          <a:ea typeface="+mn-ea"/>
                          <a:cs typeface="+mn-cs"/>
                        </a:rPr>
                        <a:t>10000</a:t>
                      </a:r>
                      <a:endParaRPr kumimoji="1" lang="zh-TW" altLang="en-US" sz="1000" kern="1200" dirty="0">
                        <a:solidFill>
                          <a:srgbClr val="4E4E4E"/>
                        </a:solidFill>
                        <a:latin typeface="+mn-lt"/>
                        <a:ea typeface="+mn-ea"/>
                        <a:cs typeface="+mn-cs"/>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 altLang="zh-TW" sz="1000" kern="1200" dirty="0">
                          <a:solidFill>
                            <a:srgbClr val="4E4E4E"/>
                          </a:solidFill>
                          <a:latin typeface="+mn-lt"/>
                          <a:ea typeface="+mn-ea"/>
                          <a:cs typeface="+mn-cs"/>
                        </a:rPr>
                        <a:t>Industry Shopper Graph</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 altLang="zh-TW" sz="1000" kern="1200" dirty="0">
                          <a:solidFill>
                            <a:srgbClr val="4E4E4E"/>
                          </a:solidFill>
                          <a:latin typeface="+mn-lt"/>
                          <a:ea typeface="+mn-ea"/>
                          <a:cs typeface="+mn-cs"/>
                        </a:rPr>
                        <a:t>[</a:t>
                      </a:r>
                      <a:r>
                        <a:rPr kumimoji="1" lang="zh-TW" altLang="en-US" sz="1000" kern="1200" dirty="0">
                          <a:solidFill>
                            <a:srgbClr val="4E4E4E"/>
                          </a:solidFill>
                          <a:latin typeface="+mn-lt"/>
                          <a:ea typeface="+mn-ea"/>
                          <a:cs typeface="+mn-cs"/>
                        </a:rPr>
                        <a:t>產業 </a:t>
                      </a:r>
                      <a:r>
                        <a:rPr kumimoji="1" lang="en" altLang="zh-TW" sz="1000" kern="1200" dirty="0">
                          <a:solidFill>
                            <a:srgbClr val="4E4E4E"/>
                          </a:solidFill>
                          <a:latin typeface="+mn-lt"/>
                          <a:ea typeface="+mn-ea"/>
                          <a:cs typeface="+mn-cs"/>
                        </a:rPr>
                        <a:t>Shopper Graph</a:t>
                      </a:r>
                      <a:r>
                        <a:rPr kumimoji="1" lang="en-US" altLang="zh-TW" sz="1000" kern="1200" dirty="0">
                          <a:solidFill>
                            <a:srgbClr val="4E4E4E"/>
                          </a:solidFill>
                          <a:latin typeface="+mn-lt"/>
                          <a:ea typeface="+mn-ea"/>
                          <a:cs typeface="+mn-cs"/>
                        </a:rPr>
                        <a:t>] </a:t>
                      </a:r>
                      <a:r>
                        <a:rPr kumimoji="1" lang="zh-TW" altLang="en-US" sz="1000" kern="1200" dirty="0">
                          <a:solidFill>
                            <a:srgbClr val="4E4E4E"/>
                          </a:solidFill>
                          <a:latin typeface="+mn-lt"/>
                          <a:ea typeface="+mn-ea"/>
                          <a:cs typeface="+mn-cs"/>
                        </a:rPr>
                        <a:t>合利他命</a:t>
                      </a:r>
                      <a:r>
                        <a:rPr kumimoji="1" lang="en" altLang="zh-TW" sz="1000" kern="1200" dirty="0">
                          <a:solidFill>
                            <a:srgbClr val="4E4E4E"/>
                          </a:solidFill>
                          <a:latin typeface="+mn-lt"/>
                          <a:ea typeface="+mn-ea"/>
                          <a:cs typeface="+mn-cs"/>
                        </a:rPr>
                        <a:t>EXPLUS 6</a:t>
                      </a:r>
                      <a:r>
                        <a:rPr kumimoji="1" lang="zh-TW" altLang="en-US" sz="1000" kern="1200" dirty="0">
                          <a:solidFill>
                            <a:srgbClr val="4E4E4E"/>
                          </a:solidFill>
                          <a:latin typeface="+mn-lt"/>
                          <a:ea typeface="+mn-ea"/>
                          <a:cs typeface="+mn-cs"/>
                        </a:rPr>
                        <a:t>月</a:t>
                      </a:r>
                      <a:endParaRPr kumimoji="1" lang="zh-TW" altLang="en-US" sz="1000" kern="1200" noProof="0" dirty="0">
                        <a:solidFill>
                          <a:srgbClr val="4E4E4E"/>
                        </a:solidFill>
                        <a:latin typeface="+mn-lt"/>
                        <a:ea typeface="+mn-ea"/>
                        <a:cs typeface="+mn-cs"/>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zh-TW" sz="1000" kern="1200" noProof="0" dirty="0">
                          <a:solidFill>
                            <a:srgbClr val="4E4E4E"/>
                          </a:solidFill>
                          <a:latin typeface="+mn-lt"/>
                          <a:ea typeface="+mn-ea"/>
                          <a:cs typeface="+mn-cs"/>
                        </a:rPr>
                        <a:t>--</a:t>
                      </a:r>
                      <a:endParaRPr kumimoji="1" lang="zh-TW" altLang="en-US" sz="1000" kern="1200" noProof="0" dirty="0">
                        <a:solidFill>
                          <a:srgbClr val="4E4E4E"/>
                        </a:solidFill>
                        <a:latin typeface="+mn-lt"/>
                        <a:ea typeface="+mn-ea"/>
                        <a:cs typeface="+mn-cs"/>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zh-TW" sz="1000" b="0" i="0" u="none" strike="noStrike" kern="1200" cap="none" spc="0" normalizeH="0" baseline="0" noProof="0" dirty="0">
                          <a:ln>
                            <a:noFill/>
                          </a:ln>
                          <a:solidFill>
                            <a:srgbClr val="4E4E4E"/>
                          </a:solidFill>
                          <a:effectLst/>
                          <a:uLnTx/>
                          <a:uFillTx/>
                          <a:latin typeface="Aptos" panose="02110004020202020204"/>
                          <a:ea typeface="新細明體" panose="02020500000000000000" pitchFamily="18" charset="-120"/>
                          <a:cs typeface="+mn-cs"/>
                        </a:rPr>
                        <a:t>2025-05-25</a:t>
                      </a:r>
                      <a:endParaRPr kumimoji="1" lang="zh-TW" altLang="en-US" sz="1000" b="0" i="0" u="none" strike="noStrike" kern="1200" cap="none" spc="0" normalizeH="0" baseline="0" noProof="0" dirty="0">
                        <a:ln>
                          <a:noFill/>
                        </a:ln>
                        <a:solidFill>
                          <a:srgbClr val="4E4E4E"/>
                        </a:solidFill>
                        <a:effectLst/>
                        <a:uLnTx/>
                        <a:uFillTx/>
                        <a:latin typeface="Aptos" panose="02110004020202020204"/>
                        <a:ea typeface="新細明體" panose="02020500000000000000" pitchFamily="18" charset="-120"/>
                        <a:cs typeface="+mn-cs"/>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zh-TW" sz="1000" b="0" i="0" u="none" strike="noStrike" kern="1200" cap="none" spc="0" normalizeH="0" baseline="0" noProof="0" dirty="0">
                          <a:ln>
                            <a:noFill/>
                          </a:ln>
                          <a:solidFill>
                            <a:srgbClr val="4E4E4E"/>
                          </a:solidFill>
                          <a:effectLst/>
                          <a:uLnTx/>
                          <a:uFillTx/>
                          <a:latin typeface="+mn-lt"/>
                          <a:ea typeface="+mn-ea"/>
                          <a:cs typeface="+mn-cs"/>
                        </a:rPr>
                        <a:t>2025-06-30</a:t>
                      </a:r>
                      <a:endParaRPr kumimoji="1" lang="zh-TW" altLang="en-US" sz="1000" b="0" i="0" u="none" strike="noStrike" kern="1200" cap="none" spc="0" normalizeH="0" baseline="0" noProof="0" dirty="0">
                        <a:ln>
                          <a:noFill/>
                        </a:ln>
                        <a:solidFill>
                          <a:srgbClr val="4E4E4E"/>
                        </a:solidFill>
                        <a:effectLst/>
                        <a:uLnTx/>
                        <a:uFillTx/>
                        <a:latin typeface="+mn-lt"/>
                        <a:ea typeface="+mn-ea"/>
                        <a:cs typeface="+mn-cs"/>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zh-TW" sz="1000" b="0" i="0" u="none" strike="noStrike" kern="1200" cap="none" spc="0" normalizeH="0" baseline="0" noProof="0" dirty="0">
                          <a:ln>
                            <a:noFill/>
                          </a:ln>
                          <a:solidFill>
                            <a:srgbClr val="4E4E4E"/>
                          </a:solidFill>
                          <a:effectLst/>
                          <a:uLnTx/>
                          <a:uFillTx/>
                          <a:latin typeface="+mn-lt"/>
                          <a:ea typeface="+mn-ea"/>
                          <a:cs typeface="+mn-cs"/>
                        </a:rPr>
                        <a:t>Expired</a:t>
                      </a:r>
                      <a:r>
                        <a:rPr kumimoji="1" lang="en-US" altLang="zh-TW" sz="1000" b="0" i="0" u="none" strike="noStrike" kern="1200" cap="none" spc="0" normalizeH="0" baseline="0" noProof="0" dirty="0">
                          <a:ln>
                            <a:noFill/>
                          </a:ln>
                          <a:solidFill>
                            <a:srgbClr val="4E4E4E"/>
                          </a:solidFill>
                          <a:effectLst/>
                          <a:uLnTx/>
                          <a:uFillTx/>
                          <a:latin typeface="Aptos" panose="02110004020202020204"/>
                          <a:ea typeface="新細明體" panose="02020500000000000000" pitchFamily="18" charset="-120"/>
                          <a:cs typeface="+mn-cs"/>
                        </a:rPr>
                        <a:t> </a:t>
                      </a:r>
                      <a:endParaRPr kumimoji="1" lang="zh-TW" altLang="en-US" sz="1000" b="0" i="0" u="none" strike="noStrike" kern="1200" cap="none" spc="0" normalizeH="0" baseline="0" noProof="0" dirty="0">
                        <a:ln>
                          <a:noFill/>
                        </a:ln>
                        <a:solidFill>
                          <a:srgbClr val="4E4E4E"/>
                        </a:solidFill>
                        <a:effectLst/>
                        <a:uLnTx/>
                        <a:uFillTx/>
                        <a:latin typeface="Aptos" panose="02110004020202020204"/>
                        <a:ea typeface="新細明體" panose="02020500000000000000" pitchFamily="18" charset="-120"/>
                        <a:cs typeface="+mn-cs"/>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zh-TW" sz="1000" kern="1200" dirty="0">
                          <a:solidFill>
                            <a:srgbClr val="2993FF"/>
                          </a:solidFill>
                          <a:latin typeface="+mn-lt"/>
                          <a:ea typeface="+mn-ea"/>
                          <a:cs typeface="+mn-cs"/>
                        </a:rPr>
                        <a:t>In Used(0)</a:t>
                      </a:r>
                      <a:endParaRPr kumimoji="1" lang="zh-TW" altLang="en-US" sz="1000" kern="1200" dirty="0">
                        <a:solidFill>
                          <a:srgbClr val="2993FF"/>
                        </a:solidFill>
                        <a:latin typeface="+mn-lt"/>
                        <a:ea typeface="+mn-ea"/>
                        <a:cs typeface="+mn-cs"/>
                      </a:endParaRPr>
                    </a:p>
                  </a:txBody>
                  <a:tcPr anchor="ctr">
                    <a:lnL w="12700" cap="flat" cmpd="sng" algn="ctr">
                      <a:no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4087557477"/>
                  </a:ext>
                </a:extLst>
              </a:tr>
            </a:tbl>
          </a:graphicData>
        </a:graphic>
      </p:graphicFrame>
      <p:sp>
        <p:nvSpPr>
          <p:cNvPr id="10" name="矩形 9">
            <a:extLst>
              <a:ext uri="{FF2B5EF4-FFF2-40B4-BE49-F238E27FC236}">
                <a16:creationId xmlns:a16="http://schemas.microsoft.com/office/drawing/2014/main" id="{BE349531-EEFA-83C7-7FE3-537C1383E770}"/>
              </a:ext>
            </a:extLst>
          </p:cNvPr>
          <p:cNvSpPr/>
          <p:nvPr/>
        </p:nvSpPr>
        <p:spPr>
          <a:xfrm>
            <a:off x="3425710" y="2031029"/>
            <a:ext cx="3313757" cy="355600"/>
          </a:xfrm>
          <a:prstGeom prst="rect">
            <a:avLst/>
          </a:prstGeom>
          <a:solidFill>
            <a:srgbClr val="F5F8F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1" name="圓角矩形 10">
            <a:extLst>
              <a:ext uri="{FF2B5EF4-FFF2-40B4-BE49-F238E27FC236}">
                <a16:creationId xmlns:a16="http://schemas.microsoft.com/office/drawing/2014/main" id="{A21B32C4-6512-3605-112D-5A57EF8FC999}"/>
              </a:ext>
            </a:extLst>
          </p:cNvPr>
          <p:cNvSpPr/>
          <p:nvPr/>
        </p:nvSpPr>
        <p:spPr>
          <a:xfrm>
            <a:off x="3425711" y="2061784"/>
            <a:ext cx="2670289" cy="275380"/>
          </a:xfrm>
          <a:prstGeom prst="roundRect">
            <a:avLst>
              <a:gd name="adj" fmla="val 0"/>
            </a:avLst>
          </a:prstGeom>
          <a:solidFill>
            <a:schemeClr val="bg1"/>
          </a:solidFill>
          <a:ln w="1270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2" name="圓角矩形 11">
            <a:extLst>
              <a:ext uri="{FF2B5EF4-FFF2-40B4-BE49-F238E27FC236}">
                <a16:creationId xmlns:a16="http://schemas.microsoft.com/office/drawing/2014/main" id="{A7990AA8-4422-3BC2-46B4-3297E9B8468F}"/>
              </a:ext>
            </a:extLst>
          </p:cNvPr>
          <p:cNvSpPr/>
          <p:nvPr/>
        </p:nvSpPr>
        <p:spPr>
          <a:xfrm>
            <a:off x="3489428" y="2102038"/>
            <a:ext cx="767780" cy="194872"/>
          </a:xfrm>
          <a:prstGeom prst="roundRect">
            <a:avLst/>
          </a:prstGeom>
          <a:solidFill>
            <a:srgbClr val="F4F4F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en-US" altLang="zh-TW" sz="800">
                <a:solidFill>
                  <a:schemeClr val="bg1">
                    <a:lumMod val="65000"/>
                  </a:schemeClr>
                </a:solidFill>
              </a:rPr>
              <a:t>Processing</a:t>
            </a:r>
            <a:endParaRPr kumimoji="1" lang="zh-TW" altLang="en-US" sz="800">
              <a:solidFill>
                <a:schemeClr val="bg1">
                  <a:lumMod val="65000"/>
                </a:schemeClr>
              </a:solidFill>
            </a:endParaRPr>
          </a:p>
        </p:txBody>
      </p:sp>
      <p:pic>
        <p:nvPicPr>
          <p:cNvPr id="13" name="圖片 12">
            <a:extLst>
              <a:ext uri="{FF2B5EF4-FFF2-40B4-BE49-F238E27FC236}">
                <a16:creationId xmlns:a16="http://schemas.microsoft.com/office/drawing/2014/main" id="{CCAB0557-AD59-A20C-16CA-2315F39DE288}"/>
              </a:ext>
            </a:extLst>
          </p:cNvPr>
          <p:cNvPicPr>
            <a:picLocks noChangeAspect="1"/>
          </p:cNvPicPr>
          <p:nvPr/>
        </p:nvPicPr>
        <p:blipFill>
          <a:blip r:embed="rId3"/>
          <a:stretch>
            <a:fillRect/>
          </a:stretch>
        </p:blipFill>
        <p:spPr>
          <a:xfrm>
            <a:off x="4105300" y="2139746"/>
            <a:ext cx="126977" cy="134446"/>
          </a:xfrm>
          <a:prstGeom prst="rect">
            <a:avLst/>
          </a:prstGeom>
        </p:spPr>
      </p:pic>
      <p:pic>
        <p:nvPicPr>
          <p:cNvPr id="17" name="圖片 16">
            <a:extLst>
              <a:ext uri="{FF2B5EF4-FFF2-40B4-BE49-F238E27FC236}">
                <a16:creationId xmlns:a16="http://schemas.microsoft.com/office/drawing/2014/main" id="{41D2C0CA-B9C3-C555-A07B-1F59D8CD532C}"/>
              </a:ext>
            </a:extLst>
          </p:cNvPr>
          <p:cNvPicPr>
            <a:picLocks noChangeAspect="1"/>
          </p:cNvPicPr>
          <p:nvPr/>
        </p:nvPicPr>
        <p:blipFill>
          <a:blip r:embed="rId4"/>
          <a:stretch>
            <a:fillRect/>
          </a:stretch>
        </p:blipFill>
        <p:spPr>
          <a:xfrm>
            <a:off x="5851842" y="2111734"/>
            <a:ext cx="194542" cy="162118"/>
          </a:xfrm>
          <a:prstGeom prst="rect">
            <a:avLst/>
          </a:prstGeom>
        </p:spPr>
      </p:pic>
      <p:sp>
        <p:nvSpPr>
          <p:cNvPr id="18" name="圓角矩形 17">
            <a:extLst>
              <a:ext uri="{FF2B5EF4-FFF2-40B4-BE49-F238E27FC236}">
                <a16:creationId xmlns:a16="http://schemas.microsoft.com/office/drawing/2014/main" id="{9E23CC2F-D605-0EA5-210F-E67F30DDA67A}"/>
              </a:ext>
            </a:extLst>
          </p:cNvPr>
          <p:cNvSpPr/>
          <p:nvPr/>
        </p:nvSpPr>
        <p:spPr>
          <a:xfrm>
            <a:off x="6159717" y="2061784"/>
            <a:ext cx="1840062" cy="275380"/>
          </a:xfrm>
          <a:prstGeom prst="roundRect">
            <a:avLst>
              <a:gd name="adj" fmla="val 0"/>
            </a:avLst>
          </a:prstGeom>
          <a:solidFill>
            <a:schemeClr val="bg1"/>
          </a:solidFill>
          <a:ln w="1270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en-US" altLang="zh-TW" sz="1000">
                <a:solidFill>
                  <a:schemeClr val="bg1">
                    <a:lumMod val="75000"/>
                  </a:schemeClr>
                </a:solidFill>
              </a:rPr>
              <a:t>Type</a:t>
            </a:r>
            <a:endParaRPr kumimoji="1" lang="zh-TW" altLang="en-US" sz="1000">
              <a:solidFill>
                <a:schemeClr val="bg1">
                  <a:lumMod val="75000"/>
                </a:schemeClr>
              </a:solidFill>
            </a:endParaRPr>
          </a:p>
        </p:txBody>
      </p:sp>
      <p:pic>
        <p:nvPicPr>
          <p:cNvPr id="19" name="圖片 18">
            <a:extLst>
              <a:ext uri="{FF2B5EF4-FFF2-40B4-BE49-F238E27FC236}">
                <a16:creationId xmlns:a16="http://schemas.microsoft.com/office/drawing/2014/main" id="{17D615E0-CEE8-2B05-1F55-59603089F03A}"/>
              </a:ext>
            </a:extLst>
          </p:cNvPr>
          <p:cNvPicPr>
            <a:picLocks noChangeAspect="1"/>
          </p:cNvPicPr>
          <p:nvPr/>
        </p:nvPicPr>
        <p:blipFill>
          <a:blip r:embed="rId4"/>
          <a:stretch>
            <a:fillRect/>
          </a:stretch>
        </p:blipFill>
        <p:spPr>
          <a:xfrm>
            <a:off x="7755621" y="2111734"/>
            <a:ext cx="194542" cy="162118"/>
          </a:xfrm>
          <a:prstGeom prst="rect">
            <a:avLst/>
          </a:prstGeom>
        </p:spPr>
      </p:pic>
      <p:pic>
        <p:nvPicPr>
          <p:cNvPr id="23" name="圖片 22" descr="一張含有 Rectangle, 行, 設計 的圖片&#10;&#10;AI 產生的內容可能不正確。">
            <a:extLst>
              <a:ext uri="{FF2B5EF4-FFF2-40B4-BE49-F238E27FC236}">
                <a16:creationId xmlns:a16="http://schemas.microsoft.com/office/drawing/2014/main" id="{405E65EB-588B-569E-B570-ACC3C0482AFD}"/>
              </a:ext>
            </a:extLst>
          </p:cNvPr>
          <p:cNvPicPr>
            <a:picLocks noChangeAspect="1"/>
          </p:cNvPicPr>
          <p:nvPr/>
        </p:nvPicPr>
        <p:blipFill>
          <a:blip r:embed="rId5"/>
          <a:stretch>
            <a:fillRect/>
          </a:stretch>
        </p:blipFill>
        <p:spPr>
          <a:xfrm>
            <a:off x="5906581" y="4723441"/>
            <a:ext cx="1036479" cy="366432"/>
          </a:xfrm>
          <a:prstGeom prst="rect">
            <a:avLst/>
          </a:prstGeom>
        </p:spPr>
      </p:pic>
      <p:sp>
        <p:nvSpPr>
          <p:cNvPr id="27" name="矩形 26">
            <a:extLst>
              <a:ext uri="{FF2B5EF4-FFF2-40B4-BE49-F238E27FC236}">
                <a16:creationId xmlns:a16="http://schemas.microsoft.com/office/drawing/2014/main" id="{0BAF29EF-2D24-79BF-33FD-43079CC31333}"/>
              </a:ext>
            </a:extLst>
          </p:cNvPr>
          <p:cNvSpPr/>
          <p:nvPr/>
        </p:nvSpPr>
        <p:spPr>
          <a:xfrm>
            <a:off x="1423686" y="2754775"/>
            <a:ext cx="1851949" cy="1998767"/>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28" name="文字方塊 27">
            <a:extLst>
              <a:ext uri="{FF2B5EF4-FFF2-40B4-BE49-F238E27FC236}">
                <a16:creationId xmlns:a16="http://schemas.microsoft.com/office/drawing/2014/main" id="{B7353491-33F3-C7FC-9147-7C05CF2655F9}"/>
              </a:ext>
            </a:extLst>
          </p:cNvPr>
          <p:cNvSpPr txBox="1"/>
          <p:nvPr/>
        </p:nvSpPr>
        <p:spPr>
          <a:xfrm>
            <a:off x="1363431" y="4852136"/>
            <a:ext cx="2349463" cy="646331"/>
          </a:xfrm>
          <a:prstGeom prst="rect">
            <a:avLst/>
          </a:prstGeom>
          <a:noFill/>
        </p:spPr>
        <p:txBody>
          <a:bodyPr wrap="square" rtlCol="0">
            <a:spAutoFit/>
          </a:bodyPr>
          <a:lstStyle/>
          <a:p>
            <a:r>
              <a:rPr kumimoji="1" lang="zh-TW" altLang="en-US" dirty="0">
                <a:solidFill>
                  <a:srgbClr val="FF0000"/>
                </a:solidFill>
              </a:rPr>
              <a:t>全部客製受眾包類型中英對照在下一頁</a:t>
            </a:r>
          </a:p>
        </p:txBody>
      </p:sp>
      <p:sp>
        <p:nvSpPr>
          <p:cNvPr id="35" name="文字方塊 34">
            <a:extLst>
              <a:ext uri="{FF2B5EF4-FFF2-40B4-BE49-F238E27FC236}">
                <a16:creationId xmlns:a16="http://schemas.microsoft.com/office/drawing/2014/main" id="{347C7F03-39D4-3A3C-5291-1CA5AE8DE8C6}"/>
              </a:ext>
            </a:extLst>
          </p:cNvPr>
          <p:cNvSpPr txBox="1"/>
          <p:nvPr/>
        </p:nvSpPr>
        <p:spPr>
          <a:xfrm>
            <a:off x="1646618" y="1282232"/>
            <a:ext cx="1783090" cy="369332"/>
          </a:xfrm>
          <a:prstGeom prst="rect">
            <a:avLst/>
          </a:prstGeom>
          <a:solidFill>
            <a:srgbClr val="FBE4D7"/>
          </a:solidFill>
        </p:spPr>
        <p:txBody>
          <a:bodyPr wrap="square">
            <a:spAutoFit/>
          </a:bodyPr>
          <a:lstStyle/>
          <a:p>
            <a:r>
              <a:rPr lang="zh-TW" altLang="en-US" b="0" i="0" dirty="0">
                <a:effectLst/>
                <a:latin typeface="fkGroteskNeue"/>
              </a:rPr>
              <a:t>客製受眾包總覽</a:t>
            </a:r>
            <a:endParaRPr lang="zh-TW" altLang="en-US" dirty="0"/>
          </a:p>
        </p:txBody>
      </p:sp>
      <p:sp>
        <p:nvSpPr>
          <p:cNvPr id="36" name="文字方塊 35">
            <a:extLst>
              <a:ext uri="{FF2B5EF4-FFF2-40B4-BE49-F238E27FC236}">
                <a16:creationId xmlns:a16="http://schemas.microsoft.com/office/drawing/2014/main" id="{42F550F3-9152-5981-7C93-2F8A2B695B61}"/>
              </a:ext>
            </a:extLst>
          </p:cNvPr>
          <p:cNvSpPr txBox="1"/>
          <p:nvPr/>
        </p:nvSpPr>
        <p:spPr>
          <a:xfrm>
            <a:off x="8561167" y="2060509"/>
            <a:ext cx="1103694" cy="369332"/>
          </a:xfrm>
          <a:prstGeom prst="rect">
            <a:avLst/>
          </a:prstGeom>
          <a:solidFill>
            <a:srgbClr val="FBE4D7"/>
          </a:solidFill>
        </p:spPr>
        <p:txBody>
          <a:bodyPr wrap="square">
            <a:spAutoFit/>
          </a:bodyPr>
          <a:lstStyle/>
          <a:p>
            <a:r>
              <a:rPr lang="zh-TW" altLang="en-US" b="0" i="0">
                <a:effectLst/>
                <a:latin typeface="fkGroteskNeue"/>
              </a:rPr>
              <a:t>過期時間</a:t>
            </a:r>
            <a:endParaRPr lang="zh-TW" altLang="en-US"/>
          </a:p>
        </p:txBody>
      </p:sp>
      <p:sp>
        <p:nvSpPr>
          <p:cNvPr id="37" name="文字方塊 36">
            <a:extLst>
              <a:ext uri="{FF2B5EF4-FFF2-40B4-BE49-F238E27FC236}">
                <a16:creationId xmlns:a16="http://schemas.microsoft.com/office/drawing/2014/main" id="{2CDFC9C7-5F82-69DB-3388-A939A7178218}"/>
              </a:ext>
            </a:extLst>
          </p:cNvPr>
          <p:cNvSpPr txBox="1"/>
          <p:nvPr/>
        </p:nvSpPr>
        <p:spPr>
          <a:xfrm>
            <a:off x="10368974" y="3371058"/>
            <a:ext cx="1103694" cy="369332"/>
          </a:xfrm>
          <a:prstGeom prst="rect">
            <a:avLst/>
          </a:prstGeom>
          <a:solidFill>
            <a:srgbClr val="FBE4D7"/>
          </a:solidFill>
        </p:spPr>
        <p:txBody>
          <a:bodyPr wrap="square">
            <a:spAutoFit/>
          </a:bodyPr>
          <a:lstStyle/>
          <a:p>
            <a:r>
              <a:rPr lang="zh-TW" altLang="en-US" b="0" i="0" dirty="0">
                <a:effectLst/>
                <a:latin typeface="fkGroteskNeue"/>
              </a:rPr>
              <a:t>已完成</a:t>
            </a:r>
            <a:endParaRPr lang="zh-TW" altLang="en-US" dirty="0"/>
          </a:p>
        </p:txBody>
      </p:sp>
      <p:sp>
        <p:nvSpPr>
          <p:cNvPr id="38" name="文字方塊 37">
            <a:extLst>
              <a:ext uri="{FF2B5EF4-FFF2-40B4-BE49-F238E27FC236}">
                <a16:creationId xmlns:a16="http://schemas.microsoft.com/office/drawing/2014/main" id="{7234E9DA-7548-3A89-64BE-BAA8BB92E625}"/>
              </a:ext>
            </a:extLst>
          </p:cNvPr>
          <p:cNvSpPr txBox="1"/>
          <p:nvPr/>
        </p:nvSpPr>
        <p:spPr>
          <a:xfrm>
            <a:off x="10368974" y="4046551"/>
            <a:ext cx="1103694" cy="369332"/>
          </a:xfrm>
          <a:prstGeom prst="rect">
            <a:avLst/>
          </a:prstGeom>
          <a:solidFill>
            <a:srgbClr val="FBE4D7"/>
          </a:solidFill>
        </p:spPr>
        <p:txBody>
          <a:bodyPr wrap="square">
            <a:spAutoFit/>
          </a:bodyPr>
          <a:lstStyle/>
          <a:p>
            <a:r>
              <a:rPr lang="zh-TW" altLang="en-US"/>
              <a:t>已過期</a:t>
            </a:r>
          </a:p>
        </p:txBody>
      </p:sp>
      <p:sp>
        <p:nvSpPr>
          <p:cNvPr id="39" name="文字方塊 38">
            <a:extLst>
              <a:ext uri="{FF2B5EF4-FFF2-40B4-BE49-F238E27FC236}">
                <a16:creationId xmlns:a16="http://schemas.microsoft.com/office/drawing/2014/main" id="{8FD9AF72-D9C8-1C18-82F2-8BFA26DF1534}"/>
              </a:ext>
            </a:extLst>
          </p:cNvPr>
          <p:cNvSpPr txBox="1"/>
          <p:nvPr/>
        </p:nvSpPr>
        <p:spPr>
          <a:xfrm>
            <a:off x="10309217" y="2582877"/>
            <a:ext cx="1103694" cy="369332"/>
          </a:xfrm>
          <a:prstGeom prst="rect">
            <a:avLst/>
          </a:prstGeom>
          <a:solidFill>
            <a:srgbClr val="FBE4D7"/>
          </a:solidFill>
        </p:spPr>
        <p:txBody>
          <a:bodyPr wrap="square">
            <a:spAutoFit/>
          </a:bodyPr>
          <a:lstStyle/>
          <a:p>
            <a:r>
              <a:rPr lang="zh-TW" altLang="en-US"/>
              <a:t>處理中</a:t>
            </a:r>
          </a:p>
        </p:txBody>
      </p:sp>
      <p:sp>
        <p:nvSpPr>
          <p:cNvPr id="2" name="圓角矩形 1">
            <a:extLst>
              <a:ext uri="{FF2B5EF4-FFF2-40B4-BE49-F238E27FC236}">
                <a16:creationId xmlns:a16="http://schemas.microsoft.com/office/drawing/2014/main" id="{117202AE-80B2-7D45-8C02-11E9CE01FB43}"/>
              </a:ext>
            </a:extLst>
          </p:cNvPr>
          <p:cNvSpPr/>
          <p:nvPr/>
        </p:nvSpPr>
        <p:spPr>
          <a:xfrm>
            <a:off x="5173481" y="2102038"/>
            <a:ext cx="340569" cy="194400"/>
          </a:xfrm>
          <a:prstGeom prst="roundRect">
            <a:avLst/>
          </a:prstGeom>
          <a:solidFill>
            <a:srgbClr val="F4F4F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en-US" altLang="zh-TW" sz="800" dirty="0">
                <a:solidFill>
                  <a:schemeClr val="bg1">
                    <a:lumMod val="65000"/>
                  </a:schemeClr>
                </a:solidFill>
              </a:rPr>
              <a:t>+ 1</a:t>
            </a:r>
            <a:endParaRPr kumimoji="1" lang="zh-TW" altLang="en-US" sz="800" dirty="0">
              <a:solidFill>
                <a:schemeClr val="bg1">
                  <a:lumMod val="65000"/>
                </a:schemeClr>
              </a:solidFill>
            </a:endParaRPr>
          </a:p>
        </p:txBody>
      </p:sp>
      <p:sp>
        <p:nvSpPr>
          <p:cNvPr id="3" name="圓角矩形 2">
            <a:extLst>
              <a:ext uri="{FF2B5EF4-FFF2-40B4-BE49-F238E27FC236}">
                <a16:creationId xmlns:a16="http://schemas.microsoft.com/office/drawing/2014/main" id="{6AEFE930-A6AB-8F18-8581-835AFE16E2AF}"/>
              </a:ext>
            </a:extLst>
          </p:cNvPr>
          <p:cNvSpPr/>
          <p:nvPr/>
        </p:nvSpPr>
        <p:spPr>
          <a:xfrm>
            <a:off x="4332026" y="2102038"/>
            <a:ext cx="767780" cy="194872"/>
          </a:xfrm>
          <a:prstGeom prst="roundRect">
            <a:avLst/>
          </a:prstGeom>
          <a:solidFill>
            <a:srgbClr val="F4F4F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en-US" altLang="zh-TW" sz="800" dirty="0">
                <a:solidFill>
                  <a:schemeClr val="bg1">
                    <a:lumMod val="65000"/>
                  </a:schemeClr>
                </a:solidFill>
              </a:rPr>
              <a:t>Completed</a:t>
            </a:r>
            <a:endParaRPr kumimoji="1" lang="zh-TW" altLang="en-US" sz="800" dirty="0">
              <a:solidFill>
                <a:schemeClr val="bg1">
                  <a:lumMod val="65000"/>
                </a:schemeClr>
              </a:solidFill>
            </a:endParaRPr>
          </a:p>
        </p:txBody>
      </p:sp>
      <p:pic>
        <p:nvPicPr>
          <p:cNvPr id="20" name="圖片 19">
            <a:extLst>
              <a:ext uri="{FF2B5EF4-FFF2-40B4-BE49-F238E27FC236}">
                <a16:creationId xmlns:a16="http://schemas.microsoft.com/office/drawing/2014/main" id="{DD724191-F4FA-0837-8DA2-6040B5354D48}"/>
              </a:ext>
            </a:extLst>
          </p:cNvPr>
          <p:cNvPicPr>
            <a:picLocks noChangeAspect="1"/>
          </p:cNvPicPr>
          <p:nvPr/>
        </p:nvPicPr>
        <p:blipFill>
          <a:blip r:embed="rId3"/>
          <a:stretch>
            <a:fillRect/>
          </a:stretch>
        </p:blipFill>
        <p:spPr>
          <a:xfrm>
            <a:off x="4947898" y="2139746"/>
            <a:ext cx="126977" cy="134446"/>
          </a:xfrm>
          <a:prstGeom prst="rect">
            <a:avLst/>
          </a:prstGeom>
        </p:spPr>
      </p:pic>
    </p:spTree>
    <p:extLst>
      <p:ext uri="{BB962C8B-B14F-4D97-AF65-F5344CB8AC3E}">
        <p14:creationId xmlns:p14="http://schemas.microsoft.com/office/powerpoint/2010/main" val="1817107128"/>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表格 3">
            <a:extLst>
              <a:ext uri="{FF2B5EF4-FFF2-40B4-BE49-F238E27FC236}">
                <a16:creationId xmlns:a16="http://schemas.microsoft.com/office/drawing/2014/main" id="{B2679795-4A71-78ED-5E83-A6546FBA8B4A}"/>
              </a:ext>
            </a:extLst>
          </p:cNvPr>
          <p:cNvGraphicFramePr>
            <a:graphicFrameLocks noGrp="1"/>
          </p:cNvGraphicFramePr>
          <p:nvPr>
            <p:extLst>
              <p:ext uri="{D42A27DB-BD31-4B8C-83A1-F6EECF244321}">
                <p14:modId xmlns:p14="http://schemas.microsoft.com/office/powerpoint/2010/main" val="1698653658"/>
              </p:ext>
            </p:extLst>
          </p:nvPr>
        </p:nvGraphicFramePr>
        <p:xfrm>
          <a:off x="3231032" y="152804"/>
          <a:ext cx="5729936" cy="6552391"/>
        </p:xfrm>
        <a:graphic>
          <a:graphicData uri="http://schemas.openxmlformats.org/drawingml/2006/table">
            <a:tbl>
              <a:tblPr>
                <a:tableStyleId>{5940675A-B579-460E-94D1-54222C63F5DA}</a:tableStyleId>
              </a:tblPr>
              <a:tblGrid>
                <a:gridCol w="2864968">
                  <a:extLst>
                    <a:ext uri="{9D8B030D-6E8A-4147-A177-3AD203B41FA5}">
                      <a16:colId xmlns:a16="http://schemas.microsoft.com/office/drawing/2014/main" val="2973807253"/>
                    </a:ext>
                  </a:extLst>
                </a:gridCol>
                <a:gridCol w="2864968">
                  <a:extLst>
                    <a:ext uri="{9D8B030D-6E8A-4147-A177-3AD203B41FA5}">
                      <a16:colId xmlns:a16="http://schemas.microsoft.com/office/drawing/2014/main" val="2740121488"/>
                    </a:ext>
                  </a:extLst>
                </a:gridCol>
              </a:tblGrid>
              <a:tr h="267072">
                <a:tc>
                  <a:txBody>
                    <a:bodyPr/>
                    <a:lstStyle/>
                    <a:p>
                      <a:pPr algn="l" fontAlgn="t" latinLnBrk="0">
                        <a:buNone/>
                      </a:pPr>
                      <a:r>
                        <a:rPr lang="zh-TW" altLang="en-US" sz="900" b="0">
                          <a:effectLst/>
                        </a:rPr>
                        <a:t>中文名稱</a:t>
                      </a:r>
                    </a:p>
                  </a:txBody>
                  <a:tcPr marL="36330" marR="36330" marT="36330" marB="36330"/>
                </a:tc>
                <a:tc>
                  <a:txBody>
                    <a:bodyPr/>
                    <a:lstStyle/>
                    <a:p>
                      <a:pPr algn="l" fontAlgn="t" latinLnBrk="0">
                        <a:buNone/>
                      </a:pPr>
                      <a:r>
                        <a:rPr lang="zh-TW" altLang="en-US" sz="900" b="0">
                          <a:effectLst/>
                        </a:rPr>
                        <a:t>英文名稱</a:t>
                      </a:r>
                    </a:p>
                  </a:txBody>
                  <a:tcPr marL="36330" marR="36330" marT="36330" marB="36330"/>
                </a:tc>
                <a:extLst>
                  <a:ext uri="{0D108BD9-81ED-4DB2-BD59-A6C34878D82A}">
                    <a16:rowId xmlns:a16="http://schemas.microsoft.com/office/drawing/2014/main" val="131292405"/>
                  </a:ext>
                </a:extLst>
              </a:tr>
              <a:tr h="230374">
                <a:tc>
                  <a:txBody>
                    <a:bodyPr/>
                    <a:lstStyle/>
                    <a:p>
                      <a:pPr fontAlgn="base" latinLnBrk="0">
                        <a:buNone/>
                      </a:pPr>
                      <a:r>
                        <a:rPr lang="en-US" altLang="zh-TW" sz="900">
                          <a:effectLst/>
                        </a:rPr>
                        <a:t>1 - </a:t>
                      </a:r>
                      <a:r>
                        <a:rPr lang="zh-TW" altLang="en-US" sz="900">
                          <a:effectLst/>
                        </a:rPr>
                        <a:t>客戶有感</a:t>
                      </a:r>
                    </a:p>
                  </a:txBody>
                  <a:tcPr marL="36330" marR="36330" marT="21798" marB="21798" anchor="ctr"/>
                </a:tc>
                <a:tc>
                  <a:txBody>
                    <a:bodyPr/>
                    <a:lstStyle/>
                    <a:p>
                      <a:pPr fontAlgn="base" latinLnBrk="0">
                        <a:buNone/>
                      </a:pPr>
                      <a:r>
                        <a:rPr lang="en" sz="900" dirty="0">
                          <a:effectLst/>
                        </a:rPr>
                        <a:t>Customer Awareness</a:t>
                      </a:r>
                    </a:p>
                  </a:txBody>
                  <a:tcPr marL="36330" marR="36330" marT="21798" marB="21798" anchor="ctr">
                    <a:solidFill>
                      <a:srgbClr val="FBE5D8"/>
                    </a:solidFill>
                  </a:tcPr>
                </a:tc>
                <a:extLst>
                  <a:ext uri="{0D108BD9-81ED-4DB2-BD59-A6C34878D82A}">
                    <a16:rowId xmlns:a16="http://schemas.microsoft.com/office/drawing/2014/main" val="3702372722"/>
                  </a:ext>
                </a:extLst>
              </a:tr>
              <a:tr h="230374">
                <a:tc>
                  <a:txBody>
                    <a:bodyPr/>
                    <a:lstStyle/>
                    <a:p>
                      <a:pPr fontAlgn="base" latinLnBrk="0">
                        <a:buNone/>
                      </a:pPr>
                      <a:r>
                        <a:rPr lang="en" sz="900">
                          <a:effectLst/>
                        </a:rPr>
                        <a:t>2 - </a:t>
                      </a:r>
                      <a:r>
                        <a:rPr lang="en" sz="900" err="1">
                          <a:effectLst/>
                        </a:rPr>
                        <a:t>AdLearn</a:t>
                      </a:r>
                      <a:endParaRPr lang="en" sz="900">
                        <a:effectLst/>
                      </a:endParaRPr>
                    </a:p>
                  </a:txBody>
                  <a:tcPr marL="36330" marR="36330" marT="21798" marB="21798" anchor="ctr"/>
                </a:tc>
                <a:tc>
                  <a:txBody>
                    <a:bodyPr/>
                    <a:lstStyle/>
                    <a:p>
                      <a:pPr fontAlgn="base" latinLnBrk="0">
                        <a:buNone/>
                      </a:pPr>
                      <a:r>
                        <a:rPr lang="en" sz="900" dirty="0" err="1">
                          <a:effectLst/>
                        </a:rPr>
                        <a:t>AdLearn</a:t>
                      </a:r>
                      <a:endParaRPr lang="en" sz="900" dirty="0">
                        <a:effectLst/>
                      </a:endParaRPr>
                    </a:p>
                  </a:txBody>
                  <a:tcPr marL="36330" marR="36330" marT="21798" marB="21798" anchor="ctr">
                    <a:solidFill>
                      <a:srgbClr val="FBE5D8"/>
                    </a:solidFill>
                  </a:tcPr>
                </a:tc>
                <a:extLst>
                  <a:ext uri="{0D108BD9-81ED-4DB2-BD59-A6C34878D82A}">
                    <a16:rowId xmlns:a16="http://schemas.microsoft.com/office/drawing/2014/main" val="2518846660"/>
                  </a:ext>
                </a:extLst>
              </a:tr>
              <a:tr h="230374">
                <a:tc>
                  <a:txBody>
                    <a:bodyPr/>
                    <a:lstStyle/>
                    <a:p>
                      <a:pPr fontAlgn="base" latinLnBrk="0">
                        <a:buNone/>
                      </a:pPr>
                      <a:r>
                        <a:rPr lang="en" sz="900">
                          <a:effectLst/>
                        </a:rPr>
                        <a:t>3 - OTR </a:t>
                      </a:r>
                      <a:r>
                        <a:rPr lang="zh-TW" altLang="en-US" sz="900">
                          <a:effectLst/>
                        </a:rPr>
                        <a:t>常備包</a:t>
                      </a:r>
                    </a:p>
                  </a:txBody>
                  <a:tcPr marL="36330" marR="36330" marT="21798" marB="21798" anchor="ctr"/>
                </a:tc>
                <a:tc>
                  <a:txBody>
                    <a:bodyPr/>
                    <a:lstStyle/>
                    <a:p>
                      <a:pPr fontAlgn="base" latinLnBrk="0">
                        <a:buNone/>
                      </a:pPr>
                      <a:r>
                        <a:rPr lang="en" sz="900" dirty="0">
                          <a:effectLst/>
                        </a:rPr>
                        <a:t>OTR Standard Pack</a:t>
                      </a:r>
                    </a:p>
                  </a:txBody>
                  <a:tcPr marL="36330" marR="36330" marT="21798" marB="21798" anchor="ctr">
                    <a:solidFill>
                      <a:srgbClr val="FBE5D8"/>
                    </a:solidFill>
                  </a:tcPr>
                </a:tc>
                <a:extLst>
                  <a:ext uri="{0D108BD9-81ED-4DB2-BD59-A6C34878D82A}">
                    <a16:rowId xmlns:a16="http://schemas.microsoft.com/office/drawing/2014/main" val="4119812602"/>
                  </a:ext>
                </a:extLst>
              </a:tr>
              <a:tr h="230374">
                <a:tc>
                  <a:txBody>
                    <a:bodyPr/>
                    <a:lstStyle/>
                    <a:p>
                      <a:pPr fontAlgn="base" latinLnBrk="0">
                        <a:buNone/>
                      </a:pPr>
                      <a:r>
                        <a:rPr lang="en-US" altLang="zh-TW" sz="900">
                          <a:effectLst/>
                        </a:rPr>
                        <a:t>4 - </a:t>
                      </a:r>
                      <a:r>
                        <a:rPr lang="zh-TW" altLang="en-US" sz="900">
                          <a:effectLst/>
                        </a:rPr>
                        <a:t>興趣特定議題</a:t>
                      </a:r>
                    </a:p>
                  </a:txBody>
                  <a:tcPr marL="36330" marR="36330" marT="21798" marB="21798" anchor="ctr"/>
                </a:tc>
                <a:tc>
                  <a:txBody>
                    <a:bodyPr/>
                    <a:lstStyle/>
                    <a:p>
                      <a:pPr fontAlgn="base" latinLnBrk="0">
                        <a:buNone/>
                      </a:pPr>
                      <a:r>
                        <a:rPr lang="en" sz="900" dirty="0">
                          <a:effectLst/>
                        </a:rPr>
                        <a:t>Interest-specific Topics</a:t>
                      </a:r>
                    </a:p>
                  </a:txBody>
                  <a:tcPr marL="36330" marR="36330" marT="21798" marB="21798" anchor="ctr">
                    <a:solidFill>
                      <a:srgbClr val="FBE5D8"/>
                    </a:solidFill>
                  </a:tcPr>
                </a:tc>
                <a:extLst>
                  <a:ext uri="{0D108BD9-81ED-4DB2-BD59-A6C34878D82A}">
                    <a16:rowId xmlns:a16="http://schemas.microsoft.com/office/drawing/2014/main" val="1334013424"/>
                  </a:ext>
                </a:extLst>
              </a:tr>
              <a:tr h="230374">
                <a:tc>
                  <a:txBody>
                    <a:bodyPr/>
                    <a:lstStyle/>
                    <a:p>
                      <a:pPr fontAlgn="base" latinLnBrk="0">
                        <a:buNone/>
                      </a:pPr>
                      <a:r>
                        <a:rPr lang="en-US" altLang="zh-TW" sz="900">
                          <a:effectLst/>
                        </a:rPr>
                        <a:t>5 - </a:t>
                      </a:r>
                      <a:r>
                        <a:rPr lang="zh-TW" altLang="en-US" sz="900">
                          <a:effectLst/>
                        </a:rPr>
                        <a:t>線上 </a:t>
                      </a:r>
                      <a:r>
                        <a:rPr lang="en" sz="900">
                          <a:effectLst/>
                        </a:rPr>
                        <a:t>POI</a:t>
                      </a:r>
                    </a:p>
                  </a:txBody>
                  <a:tcPr marL="36330" marR="36330" marT="21798" marB="21798" anchor="ctr"/>
                </a:tc>
                <a:tc>
                  <a:txBody>
                    <a:bodyPr/>
                    <a:lstStyle/>
                    <a:p>
                      <a:pPr fontAlgn="base" latinLnBrk="0">
                        <a:buNone/>
                      </a:pPr>
                      <a:r>
                        <a:rPr lang="en" sz="900" dirty="0">
                          <a:effectLst/>
                        </a:rPr>
                        <a:t>Online Point of Interest (POI)</a:t>
                      </a:r>
                    </a:p>
                  </a:txBody>
                  <a:tcPr marL="36330" marR="36330" marT="21798" marB="21798" anchor="ctr">
                    <a:solidFill>
                      <a:srgbClr val="FBE5D8"/>
                    </a:solidFill>
                  </a:tcPr>
                </a:tc>
                <a:extLst>
                  <a:ext uri="{0D108BD9-81ED-4DB2-BD59-A6C34878D82A}">
                    <a16:rowId xmlns:a16="http://schemas.microsoft.com/office/drawing/2014/main" val="1539344455"/>
                  </a:ext>
                </a:extLst>
              </a:tr>
              <a:tr h="230374">
                <a:tc>
                  <a:txBody>
                    <a:bodyPr/>
                    <a:lstStyle/>
                    <a:p>
                      <a:pPr fontAlgn="base" latinLnBrk="0">
                        <a:buNone/>
                      </a:pPr>
                      <a:r>
                        <a:rPr lang="en-US" altLang="zh-TW" sz="900">
                          <a:effectLst/>
                        </a:rPr>
                        <a:t>6 - </a:t>
                      </a:r>
                      <a:r>
                        <a:rPr lang="zh-TW" altLang="en-US" sz="900">
                          <a:effectLst/>
                        </a:rPr>
                        <a:t>特定族群</a:t>
                      </a:r>
                    </a:p>
                  </a:txBody>
                  <a:tcPr marL="36330" marR="36330" marT="21798" marB="21798" anchor="ctr"/>
                </a:tc>
                <a:tc>
                  <a:txBody>
                    <a:bodyPr/>
                    <a:lstStyle/>
                    <a:p>
                      <a:pPr fontAlgn="base" latinLnBrk="0">
                        <a:buNone/>
                      </a:pPr>
                      <a:r>
                        <a:rPr lang="en" sz="900" dirty="0">
                          <a:effectLst/>
                        </a:rPr>
                        <a:t>Specific Demographic</a:t>
                      </a:r>
                    </a:p>
                  </a:txBody>
                  <a:tcPr marL="36330" marR="36330" marT="21798" marB="21798" anchor="ctr">
                    <a:solidFill>
                      <a:srgbClr val="FBE5D8"/>
                    </a:solidFill>
                  </a:tcPr>
                </a:tc>
                <a:extLst>
                  <a:ext uri="{0D108BD9-81ED-4DB2-BD59-A6C34878D82A}">
                    <a16:rowId xmlns:a16="http://schemas.microsoft.com/office/drawing/2014/main" val="2438921781"/>
                  </a:ext>
                </a:extLst>
              </a:tr>
              <a:tr h="230374">
                <a:tc>
                  <a:txBody>
                    <a:bodyPr/>
                    <a:lstStyle/>
                    <a:p>
                      <a:pPr fontAlgn="base" latinLnBrk="0">
                        <a:buNone/>
                      </a:pPr>
                      <a:r>
                        <a:rPr lang="en-US" altLang="zh-TW" sz="900">
                          <a:effectLst/>
                        </a:rPr>
                        <a:t>7 - </a:t>
                      </a:r>
                      <a:r>
                        <a:rPr lang="zh-TW" altLang="en-US" sz="900">
                          <a:effectLst/>
                        </a:rPr>
                        <a:t>產業鑽石受眾</a:t>
                      </a:r>
                    </a:p>
                  </a:txBody>
                  <a:tcPr marL="36330" marR="36330" marT="21798" marB="21798" anchor="ctr"/>
                </a:tc>
                <a:tc>
                  <a:txBody>
                    <a:bodyPr/>
                    <a:lstStyle/>
                    <a:p>
                      <a:pPr fontAlgn="base" latinLnBrk="0">
                        <a:buNone/>
                      </a:pPr>
                      <a:r>
                        <a:rPr lang="en" sz="900" dirty="0">
                          <a:effectLst/>
                        </a:rPr>
                        <a:t>Industry Diamond Audience</a:t>
                      </a:r>
                    </a:p>
                  </a:txBody>
                  <a:tcPr marL="36330" marR="36330" marT="21798" marB="21798" anchor="ctr">
                    <a:solidFill>
                      <a:srgbClr val="FBE5D8"/>
                    </a:solidFill>
                  </a:tcPr>
                </a:tc>
                <a:extLst>
                  <a:ext uri="{0D108BD9-81ED-4DB2-BD59-A6C34878D82A}">
                    <a16:rowId xmlns:a16="http://schemas.microsoft.com/office/drawing/2014/main" val="2615520164"/>
                  </a:ext>
                </a:extLst>
              </a:tr>
              <a:tr h="230374">
                <a:tc>
                  <a:txBody>
                    <a:bodyPr/>
                    <a:lstStyle/>
                    <a:p>
                      <a:pPr fontAlgn="base" latinLnBrk="0">
                        <a:buNone/>
                      </a:pPr>
                      <a:r>
                        <a:rPr lang="en-US" altLang="zh-TW" sz="900">
                          <a:effectLst/>
                        </a:rPr>
                        <a:t>8 - </a:t>
                      </a:r>
                      <a:r>
                        <a:rPr lang="zh-TW" altLang="en-US" sz="900">
                          <a:effectLst/>
                        </a:rPr>
                        <a:t>產業 </a:t>
                      </a:r>
                      <a:r>
                        <a:rPr lang="en" sz="900">
                          <a:effectLst/>
                        </a:rPr>
                        <a:t>Shopper Graph</a:t>
                      </a:r>
                    </a:p>
                  </a:txBody>
                  <a:tcPr marL="36330" marR="36330" marT="21798" marB="21798" anchor="ctr"/>
                </a:tc>
                <a:tc>
                  <a:txBody>
                    <a:bodyPr/>
                    <a:lstStyle/>
                    <a:p>
                      <a:pPr fontAlgn="base" latinLnBrk="0">
                        <a:buNone/>
                      </a:pPr>
                      <a:r>
                        <a:rPr lang="en" sz="900" dirty="0">
                          <a:effectLst/>
                        </a:rPr>
                        <a:t>Industry Shopper Graph</a:t>
                      </a:r>
                    </a:p>
                  </a:txBody>
                  <a:tcPr marL="36330" marR="36330" marT="21798" marB="21798" anchor="ctr">
                    <a:solidFill>
                      <a:srgbClr val="FBE5D8"/>
                    </a:solidFill>
                  </a:tcPr>
                </a:tc>
                <a:extLst>
                  <a:ext uri="{0D108BD9-81ED-4DB2-BD59-A6C34878D82A}">
                    <a16:rowId xmlns:a16="http://schemas.microsoft.com/office/drawing/2014/main" val="2943220951"/>
                  </a:ext>
                </a:extLst>
              </a:tr>
              <a:tr h="230374">
                <a:tc>
                  <a:txBody>
                    <a:bodyPr/>
                    <a:lstStyle/>
                    <a:p>
                      <a:pPr fontAlgn="base" latinLnBrk="0">
                        <a:buNone/>
                      </a:pPr>
                      <a:r>
                        <a:rPr lang="en-US" altLang="zh-TW" sz="900">
                          <a:effectLst/>
                        </a:rPr>
                        <a:t>9 - </a:t>
                      </a:r>
                      <a:r>
                        <a:rPr lang="zh-TW" altLang="en-US" sz="900">
                          <a:effectLst/>
                        </a:rPr>
                        <a:t>品牌關鍵字 </a:t>
                      </a:r>
                      <a:r>
                        <a:rPr lang="en" sz="900">
                          <a:effectLst/>
                        </a:rPr>
                        <a:t>AI </a:t>
                      </a:r>
                      <a:r>
                        <a:rPr lang="zh-TW" altLang="en-US" sz="900">
                          <a:effectLst/>
                        </a:rPr>
                        <a:t>探索</a:t>
                      </a:r>
                    </a:p>
                  </a:txBody>
                  <a:tcPr marL="36330" marR="36330" marT="21798" marB="21798" anchor="ctr"/>
                </a:tc>
                <a:tc>
                  <a:txBody>
                    <a:bodyPr/>
                    <a:lstStyle/>
                    <a:p>
                      <a:pPr fontAlgn="base" latinLnBrk="0">
                        <a:buNone/>
                      </a:pPr>
                      <a:r>
                        <a:rPr lang="en" sz="900" dirty="0">
                          <a:effectLst/>
                        </a:rPr>
                        <a:t>Brand Keyword AI Exploration</a:t>
                      </a:r>
                    </a:p>
                  </a:txBody>
                  <a:tcPr marL="36330" marR="36330" marT="21798" marB="21798" anchor="ctr">
                    <a:solidFill>
                      <a:srgbClr val="FBE5D8"/>
                    </a:solidFill>
                  </a:tcPr>
                </a:tc>
                <a:extLst>
                  <a:ext uri="{0D108BD9-81ED-4DB2-BD59-A6C34878D82A}">
                    <a16:rowId xmlns:a16="http://schemas.microsoft.com/office/drawing/2014/main" val="779926819"/>
                  </a:ext>
                </a:extLst>
              </a:tr>
              <a:tr h="405697">
                <a:tc>
                  <a:txBody>
                    <a:bodyPr/>
                    <a:lstStyle/>
                    <a:p>
                      <a:pPr fontAlgn="base" latinLnBrk="0">
                        <a:buNone/>
                      </a:pPr>
                      <a:r>
                        <a:rPr lang="en" sz="900">
                          <a:effectLst/>
                        </a:rPr>
                        <a:t>10 - Webb </a:t>
                      </a:r>
                      <a:r>
                        <a:rPr lang="zh-TW" altLang="en-US" sz="900">
                          <a:effectLst/>
                        </a:rPr>
                        <a:t>零售數據 </a:t>
                      </a:r>
                      <a:r>
                        <a:rPr lang="en-US" altLang="zh-TW" sz="900">
                          <a:effectLst/>
                        </a:rPr>
                        <a:t>(</a:t>
                      </a:r>
                      <a:r>
                        <a:rPr lang="zh-TW" altLang="en-US" sz="900">
                          <a:effectLst/>
                        </a:rPr>
                        <a:t>比價</a:t>
                      </a:r>
                      <a:r>
                        <a:rPr lang="en-US" altLang="zh-TW" sz="900">
                          <a:effectLst/>
                        </a:rPr>
                        <a:t>)</a:t>
                      </a:r>
                    </a:p>
                  </a:txBody>
                  <a:tcPr marL="36330" marR="36330" marT="21798" marB="21798" anchor="ctr"/>
                </a:tc>
                <a:tc>
                  <a:txBody>
                    <a:bodyPr/>
                    <a:lstStyle/>
                    <a:p>
                      <a:pPr fontAlgn="base" latinLnBrk="0">
                        <a:buNone/>
                      </a:pPr>
                      <a:r>
                        <a:rPr lang="en" sz="900" dirty="0">
                          <a:effectLst/>
                        </a:rPr>
                        <a:t>Webb Retail Data (Price Comparison)</a:t>
                      </a:r>
                    </a:p>
                  </a:txBody>
                  <a:tcPr marL="36330" marR="36330" marT="21798" marB="21798" anchor="ctr">
                    <a:solidFill>
                      <a:srgbClr val="FBE5D8"/>
                    </a:solidFill>
                  </a:tcPr>
                </a:tc>
                <a:extLst>
                  <a:ext uri="{0D108BD9-81ED-4DB2-BD59-A6C34878D82A}">
                    <a16:rowId xmlns:a16="http://schemas.microsoft.com/office/drawing/2014/main" val="3937117084"/>
                  </a:ext>
                </a:extLst>
              </a:tr>
              <a:tr h="230374">
                <a:tc>
                  <a:txBody>
                    <a:bodyPr/>
                    <a:lstStyle/>
                    <a:p>
                      <a:pPr fontAlgn="base" latinLnBrk="0">
                        <a:buNone/>
                      </a:pPr>
                      <a:r>
                        <a:rPr lang="en" sz="900">
                          <a:effectLst/>
                        </a:rPr>
                        <a:t>11 - Webb </a:t>
                      </a:r>
                      <a:r>
                        <a:rPr lang="zh-TW" altLang="en-US" sz="900">
                          <a:effectLst/>
                        </a:rPr>
                        <a:t>零售數據 </a:t>
                      </a:r>
                      <a:r>
                        <a:rPr lang="en-US" altLang="zh-TW" sz="900">
                          <a:effectLst/>
                        </a:rPr>
                        <a:t>(</a:t>
                      </a:r>
                      <a:r>
                        <a:rPr lang="zh-TW" altLang="en-US" sz="900">
                          <a:effectLst/>
                        </a:rPr>
                        <a:t>購買</a:t>
                      </a:r>
                      <a:r>
                        <a:rPr lang="en-US" altLang="zh-TW" sz="900">
                          <a:effectLst/>
                        </a:rPr>
                        <a:t>)</a:t>
                      </a:r>
                    </a:p>
                  </a:txBody>
                  <a:tcPr marL="36330" marR="36330" marT="21798" marB="21798" anchor="ctr"/>
                </a:tc>
                <a:tc>
                  <a:txBody>
                    <a:bodyPr/>
                    <a:lstStyle/>
                    <a:p>
                      <a:pPr fontAlgn="base" latinLnBrk="0">
                        <a:buNone/>
                      </a:pPr>
                      <a:r>
                        <a:rPr lang="en" sz="900" dirty="0">
                          <a:effectLst/>
                        </a:rPr>
                        <a:t>Webb Retail Data (Purchase)</a:t>
                      </a:r>
                    </a:p>
                  </a:txBody>
                  <a:tcPr marL="36330" marR="36330" marT="21798" marB="21798" anchor="ctr">
                    <a:solidFill>
                      <a:srgbClr val="FBE5D8"/>
                    </a:solidFill>
                  </a:tcPr>
                </a:tc>
                <a:extLst>
                  <a:ext uri="{0D108BD9-81ED-4DB2-BD59-A6C34878D82A}">
                    <a16:rowId xmlns:a16="http://schemas.microsoft.com/office/drawing/2014/main" val="357677970"/>
                  </a:ext>
                </a:extLst>
              </a:tr>
              <a:tr h="230374">
                <a:tc>
                  <a:txBody>
                    <a:bodyPr/>
                    <a:lstStyle/>
                    <a:p>
                      <a:pPr fontAlgn="base" latinLnBrk="0">
                        <a:buNone/>
                      </a:pPr>
                      <a:r>
                        <a:rPr lang="en-US" altLang="zh-TW" sz="900">
                          <a:effectLst/>
                        </a:rPr>
                        <a:t>12 - </a:t>
                      </a:r>
                      <a:r>
                        <a:rPr lang="zh-TW" altLang="en-US" sz="900">
                          <a:effectLst/>
                        </a:rPr>
                        <a:t>官網佈署再行銷</a:t>
                      </a:r>
                    </a:p>
                  </a:txBody>
                  <a:tcPr marL="36330" marR="36330" marT="21798" marB="21798" anchor="ctr"/>
                </a:tc>
                <a:tc>
                  <a:txBody>
                    <a:bodyPr/>
                    <a:lstStyle/>
                    <a:p>
                      <a:pPr fontAlgn="base" latinLnBrk="0">
                        <a:buNone/>
                      </a:pPr>
                      <a:r>
                        <a:rPr lang="en" sz="900" dirty="0">
                          <a:effectLst/>
                        </a:rPr>
                        <a:t>Official Website Retargeting</a:t>
                      </a:r>
                    </a:p>
                  </a:txBody>
                  <a:tcPr marL="36330" marR="36330" marT="21798" marB="21798" anchor="ctr">
                    <a:solidFill>
                      <a:srgbClr val="FBE5D8"/>
                    </a:solidFill>
                  </a:tcPr>
                </a:tc>
                <a:extLst>
                  <a:ext uri="{0D108BD9-81ED-4DB2-BD59-A6C34878D82A}">
                    <a16:rowId xmlns:a16="http://schemas.microsoft.com/office/drawing/2014/main" val="1506679267"/>
                  </a:ext>
                </a:extLst>
              </a:tr>
              <a:tr h="230374">
                <a:tc>
                  <a:txBody>
                    <a:bodyPr/>
                    <a:lstStyle/>
                    <a:p>
                      <a:pPr fontAlgn="base" latinLnBrk="0">
                        <a:buNone/>
                      </a:pPr>
                      <a:r>
                        <a:rPr lang="en-US" altLang="zh-TW" sz="900">
                          <a:effectLst/>
                        </a:rPr>
                        <a:t>13 - </a:t>
                      </a:r>
                      <a:r>
                        <a:rPr lang="zh-TW" altLang="en-US" sz="900">
                          <a:effectLst/>
                        </a:rPr>
                        <a:t>廣告曝光再行銷</a:t>
                      </a:r>
                    </a:p>
                  </a:txBody>
                  <a:tcPr marL="36330" marR="36330" marT="21798" marB="21798" anchor="ctr"/>
                </a:tc>
                <a:tc>
                  <a:txBody>
                    <a:bodyPr/>
                    <a:lstStyle/>
                    <a:p>
                      <a:pPr fontAlgn="base" latinLnBrk="0">
                        <a:buNone/>
                      </a:pPr>
                      <a:r>
                        <a:rPr lang="en" sz="900" dirty="0">
                          <a:effectLst/>
                        </a:rPr>
                        <a:t>Ad Impression Retargeting</a:t>
                      </a:r>
                    </a:p>
                  </a:txBody>
                  <a:tcPr marL="36330" marR="36330" marT="21798" marB="21798" anchor="ctr">
                    <a:solidFill>
                      <a:srgbClr val="FBE5D8"/>
                    </a:solidFill>
                  </a:tcPr>
                </a:tc>
                <a:extLst>
                  <a:ext uri="{0D108BD9-81ED-4DB2-BD59-A6C34878D82A}">
                    <a16:rowId xmlns:a16="http://schemas.microsoft.com/office/drawing/2014/main" val="4111018382"/>
                  </a:ext>
                </a:extLst>
              </a:tr>
              <a:tr h="230374">
                <a:tc>
                  <a:txBody>
                    <a:bodyPr/>
                    <a:lstStyle/>
                    <a:p>
                      <a:pPr fontAlgn="base" latinLnBrk="0">
                        <a:buNone/>
                      </a:pPr>
                      <a:r>
                        <a:rPr lang="en-US" altLang="zh-TW" sz="900">
                          <a:effectLst/>
                        </a:rPr>
                        <a:t>14 - </a:t>
                      </a:r>
                      <a:r>
                        <a:rPr lang="zh-TW" altLang="en-US" sz="900">
                          <a:effectLst/>
                        </a:rPr>
                        <a:t>品牌 </a:t>
                      </a:r>
                      <a:r>
                        <a:rPr lang="en" sz="900">
                          <a:effectLst/>
                        </a:rPr>
                        <a:t>HPC</a:t>
                      </a:r>
                    </a:p>
                  </a:txBody>
                  <a:tcPr marL="36330" marR="36330" marT="21798" marB="21798" anchor="ctr"/>
                </a:tc>
                <a:tc>
                  <a:txBody>
                    <a:bodyPr/>
                    <a:lstStyle/>
                    <a:p>
                      <a:pPr fontAlgn="base" latinLnBrk="0">
                        <a:buNone/>
                      </a:pPr>
                      <a:r>
                        <a:rPr lang="en" sz="900" dirty="0">
                          <a:effectLst/>
                        </a:rPr>
                        <a:t>Brand HPC</a:t>
                      </a:r>
                    </a:p>
                  </a:txBody>
                  <a:tcPr marL="36330" marR="36330" marT="21798" marB="21798" anchor="ctr">
                    <a:solidFill>
                      <a:srgbClr val="FBE5D8"/>
                    </a:solidFill>
                  </a:tcPr>
                </a:tc>
                <a:extLst>
                  <a:ext uri="{0D108BD9-81ED-4DB2-BD59-A6C34878D82A}">
                    <a16:rowId xmlns:a16="http://schemas.microsoft.com/office/drawing/2014/main" val="1587568639"/>
                  </a:ext>
                </a:extLst>
              </a:tr>
              <a:tr h="230374">
                <a:tc>
                  <a:txBody>
                    <a:bodyPr/>
                    <a:lstStyle/>
                    <a:p>
                      <a:pPr fontAlgn="base" latinLnBrk="0">
                        <a:buNone/>
                      </a:pPr>
                      <a:r>
                        <a:rPr lang="en-US" altLang="zh-TW" sz="900">
                          <a:effectLst/>
                        </a:rPr>
                        <a:t>15 - </a:t>
                      </a:r>
                      <a:r>
                        <a:rPr lang="zh-TW" altLang="en-US" sz="900">
                          <a:effectLst/>
                        </a:rPr>
                        <a:t>其他</a:t>
                      </a:r>
                    </a:p>
                  </a:txBody>
                  <a:tcPr marL="36330" marR="36330" marT="21798" marB="21798" anchor="ctr"/>
                </a:tc>
                <a:tc>
                  <a:txBody>
                    <a:bodyPr/>
                    <a:lstStyle/>
                    <a:p>
                      <a:pPr fontAlgn="base" latinLnBrk="0">
                        <a:buNone/>
                      </a:pPr>
                      <a:r>
                        <a:rPr lang="en" sz="900" dirty="0">
                          <a:effectLst/>
                        </a:rPr>
                        <a:t>Others</a:t>
                      </a:r>
                    </a:p>
                  </a:txBody>
                  <a:tcPr marL="36330" marR="36330" marT="21798" marB="21798" anchor="ctr">
                    <a:solidFill>
                      <a:srgbClr val="FBE5D8"/>
                    </a:solidFill>
                  </a:tcPr>
                </a:tc>
                <a:extLst>
                  <a:ext uri="{0D108BD9-81ED-4DB2-BD59-A6C34878D82A}">
                    <a16:rowId xmlns:a16="http://schemas.microsoft.com/office/drawing/2014/main" val="1824843018"/>
                  </a:ext>
                </a:extLst>
              </a:tr>
              <a:tr h="230374">
                <a:tc>
                  <a:txBody>
                    <a:bodyPr/>
                    <a:lstStyle/>
                    <a:p>
                      <a:pPr fontAlgn="base" latinLnBrk="0">
                        <a:buNone/>
                      </a:pPr>
                      <a:r>
                        <a:rPr lang="en" sz="900">
                          <a:effectLst/>
                        </a:rPr>
                        <a:t>16 - Brand lift</a:t>
                      </a:r>
                    </a:p>
                  </a:txBody>
                  <a:tcPr marL="36330" marR="36330" marT="21798" marB="21798" anchor="ctr"/>
                </a:tc>
                <a:tc>
                  <a:txBody>
                    <a:bodyPr/>
                    <a:lstStyle/>
                    <a:p>
                      <a:pPr fontAlgn="base" latinLnBrk="0">
                        <a:buNone/>
                      </a:pPr>
                      <a:r>
                        <a:rPr lang="en" sz="900" dirty="0">
                          <a:effectLst/>
                        </a:rPr>
                        <a:t>Brand Lift</a:t>
                      </a:r>
                    </a:p>
                  </a:txBody>
                  <a:tcPr marL="36330" marR="36330" marT="21798" marB="21798" anchor="ctr">
                    <a:solidFill>
                      <a:srgbClr val="FBE5D8"/>
                    </a:solidFill>
                  </a:tcPr>
                </a:tc>
                <a:extLst>
                  <a:ext uri="{0D108BD9-81ED-4DB2-BD59-A6C34878D82A}">
                    <a16:rowId xmlns:a16="http://schemas.microsoft.com/office/drawing/2014/main" val="3615270141"/>
                  </a:ext>
                </a:extLst>
              </a:tr>
              <a:tr h="230374">
                <a:tc>
                  <a:txBody>
                    <a:bodyPr/>
                    <a:lstStyle/>
                    <a:p>
                      <a:pPr fontAlgn="base" latinLnBrk="0">
                        <a:buNone/>
                      </a:pPr>
                      <a:r>
                        <a:rPr lang="en-US" altLang="zh-TW" sz="900">
                          <a:effectLst/>
                        </a:rPr>
                        <a:t>17 - </a:t>
                      </a:r>
                      <a:r>
                        <a:rPr lang="zh-TW" altLang="en-US" sz="900">
                          <a:effectLst/>
                        </a:rPr>
                        <a:t>線下 </a:t>
                      </a:r>
                      <a:r>
                        <a:rPr lang="en" sz="900">
                          <a:effectLst/>
                        </a:rPr>
                        <a:t>POI</a:t>
                      </a:r>
                    </a:p>
                  </a:txBody>
                  <a:tcPr marL="36330" marR="36330" marT="21798" marB="21798" anchor="ctr"/>
                </a:tc>
                <a:tc>
                  <a:txBody>
                    <a:bodyPr/>
                    <a:lstStyle/>
                    <a:p>
                      <a:pPr fontAlgn="base" latinLnBrk="0">
                        <a:buNone/>
                      </a:pPr>
                      <a:r>
                        <a:rPr lang="en" sz="900" dirty="0">
                          <a:effectLst/>
                        </a:rPr>
                        <a:t>Offline Point of Interest (POI)</a:t>
                      </a:r>
                    </a:p>
                  </a:txBody>
                  <a:tcPr marL="36330" marR="36330" marT="21798" marB="21798" anchor="ctr">
                    <a:solidFill>
                      <a:srgbClr val="FBE5D8"/>
                    </a:solidFill>
                  </a:tcPr>
                </a:tc>
                <a:extLst>
                  <a:ext uri="{0D108BD9-81ED-4DB2-BD59-A6C34878D82A}">
                    <a16:rowId xmlns:a16="http://schemas.microsoft.com/office/drawing/2014/main" val="667821029"/>
                  </a:ext>
                </a:extLst>
              </a:tr>
              <a:tr h="230374">
                <a:tc>
                  <a:txBody>
                    <a:bodyPr/>
                    <a:lstStyle/>
                    <a:p>
                      <a:pPr fontAlgn="base" latinLnBrk="0">
                        <a:buNone/>
                      </a:pPr>
                      <a:r>
                        <a:rPr lang="en" sz="900">
                          <a:effectLst/>
                        </a:rPr>
                        <a:t>18 - ProductKey</a:t>
                      </a:r>
                    </a:p>
                  </a:txBody>
                  <a:tcPr marL="36330" marR="36330" marT="21798" marB="21798" anchor="ctr"/>
                </a:tc>
                <a:tc>
                  <a:txBody>
                    <a:bodyPr/>
                    <a:lstStyle/>
                    <a:p>
                      <a:pPr fontAlgn="base" latinLnBrk="0">
                        <a:buNone/>
                      </a:pPr>
                      <a:r>
                        <a:rPr lang="en" sz="900" dirty="0" err="1">
                          <a:effectLst/>
                        </a:rPr>
                        <a:t>ProductKey</a:t>
                      </a:r>
                      <a:endParaRPr lang="en" sz="900" dirty="0">
                        <a:effectLst/>
                      </a:endParaRPr>
                    </a:p>
                  </a:txBody>
                  <a:tcPr marL="36330" marR="36330" marT="21798" marB="21798" anchor="ctr">
                    <a:solidFill>
                      <a:srgbClr val="FBE5D8"/>
                    </a:solidFill>
                  </a:tcPr>
                </a:tc>
                <a:extLst>
                  <a:ext uri="{0D108BD9-81ED-4DB2-BD59-A6C34878D82A}">
                    <a16:rowId xmlns:a16="http://schemas.microsoft.com/office/drawing/2014/main" val="1055759809"/>
                  </a:ext>
                </a:extLst>
              </a:tr>
              <a:tr h="405697">
                <a:tc>
                  <a:txBody>
                    <a:bodyPr/>
                    <a:lstStyle/>
                    <a:p>
                      <a:pPr fontAlgn="base" latinLnBrk="0">
                        <a:buNone/>
                      </a:pPr>
                      <a:r>
                        <a:rPr lang="en-US" altLang="zh-TW" sz="900">
                          <a:effectLst/>
                        </a:rPr>
                        <a:t>19 - </a:t>
                      </a:r>
                      <a:r>
                        <a:rPr lang="zh-TW" altLang="en-US" sz="900">
                          <a:effectLst/>
                        </a:rPr>
                        <a:t>特定族群 </a:t>
                      </a:r>
                      <a:r>
                        <a:rPr lang="en-US" altLang="zh-TW" sz="900">
                          <a:effectLst/>
                        </a:rPr>
                        <a:t>(</a:t>
                      </a:r>
                      <a:r>
                        <a:rPr lang="zh-TW" altLang="en-US" sz="900">
                          <a:effectLst/>
                        </a:rPr>
                        <a:t>產業主題</a:t>
                      </a:r>
                      <a:r>
                        <a:rPr lang="en-US" altLang="zh-TW" sz="900">
                          <a:effectLst/>
                        </a:rPr>
                        <a:t>)</a:t>
                      </a:r>
                    </a:p>
                  </a:txBody>
                  <a:tcPr marL="36330" marR="36330" marT="21798" marB="21798" anchor="ctr"/>
                </a:tc>
                <a:tc>
                  <a:txBody>
                    <a:bodyPr/>
                    <a:lstStyle/>
                    <a:p>
                      <a:pPr fontAlgn="base" latinLnBrk="0">
                        <a:buNone/>
                      </a:pPr>
                      <a:r>
                        <a:rPr lang="en" sz="900" dirty="0">
                          <a:effectLst/>
                        </a:rPr>
                        <a:t>Specific Demographic (Industry Themes)</a:t>
                      </a:r>
                    </a:p>
                  </a:txBody>
                  <a:tcPr marL="36330" marR="36330" marT="21798" marB="21798" anchor="ctr">
                    <a:solidFill>
                      <a:srgbClr val="FBE5D8"/>
                    </a:solidFill>
                  </a:tcPr>
                </a:tc>
                <a:extLst>
                  <a:ext uri="{0D108BD9-81ED-4DB2-BD59-A6C34878D82A}">
                    <a16:rowId xmlns:a16="http://schemas.microsoft.com/office/drawing/2014/main" val="3399390858"/>
                  </a:ext>
                </a:extLst>
              </a:tr>
              <a:tr h="230374">
                <a:tc>
                  <a:txBody>
                    <a:bodyPr/>
                    <a:lstStyle/>
                    <a:p>
                      <a:pPr fontAlgn="base" latinLnBrk="0">
                        <a:buNone/>
                      </a:pPr>
                      <a:r>
                        <a:rPr lang="en" sz="900">
                          <a:effectLst/>
                        </a:rPr>
                        <a:t>20 - Webb </a:t>
                      </a:r>
                      <a:r>
                        <a:rPr lang="zh-TW" altLang="en-US" sz="900">
                          <a:effectLst/>
                        </a:rPr>
                        <a:t>通路購買者</a:t>
                      </a:r>
                    </a:p>
                  </a:txBody>
                  <a:tcPr marL="36330" marR="36330" marT="21798" marB="21798" anchor="ctr"/>
                </a:tc>
                <a:tc>
                  <a:txBody>
                    <a:bodyPr/>
                    <a:lstStyle/>
                    <a:p>
                      <a:pPr fontAlgn="base" latinLnBrk="0">
                        <a:buNone/>
                      </a:pPr>
                      <a:r>
                        <a:rPr lang="en" sz="900" dirty="0">
                          <a:effectLst/>
                        </a:rPr>
                        <a:t>Webb Channel Buyers</a:t>
                      </a:r>
                    </a:p>
                  </a:txBody>
                  <a:tcPr marL="36330" marR="36330" marT="21798" marB="21798" anchor="ctr">
                    <a:solidFill>
                      <a:srgbClr val="FBE5D8"/>
                    </a:solidFill>
                  </a:tcPr>
                </a:tc>
                <a:extLst>
                  <a:ext uri="{0D108BD9-81ED-4DB2-BD59-A6C34878D82A}">
                    <a16:rowId xmlns:a16="http://schemas.microsoft.com/office/drawing/2014/main" val="1630134977"/>
                  </a:ext>
                </a:extLst>
              </a:tr>
              <a:tr h="230374">
                <a:tc>
                  <a:txBody>
                    <a:bodyPr/>
                    <a:lstStyle/>
                    <a:p>
                      <a:pPr fontAlgn="base" latinLnBrk="0">
                        <a:buNone/>
                      </a:pPr>
                      <a:r>
                        <a:rPr lang="en" sz="900">
                          <a:effectLst/>
                        </a:rPr>
                        <a:t>21 - Webb </a:t>
                      </a:r>
                      <a:r>
                        <a:rPr lang="zh-TW" altLang="en-US" sz="900">
                          <a:effectLst/>
                        </a:rPr>
                        <a:t>商品購買者</a:t>
                      </a:r>
                    </a:p>
                  </a:txBody>
                  <a:tcPr marL="36330" marR="36330" marT="21798" marB="21798" anchor="ctr"/>
                </a:tc>
                <a:tc>
                  <a:txBody>
                    <a:bodyPr/>
                    <a:lstStyle/>
                    <a:p>
                      <a:pPr fontAlgn="base" latinLnBrk="0">
                        <a:buNone/>
                      </a:pPr>
                      <a:r>
                        <a:rPr lang="en" sz="900" dirty="0">
                          <a:effectLst/>
                        </a:rPr>
                        <a:t>Webb Product Buyers</a:t>
                      </a:r>
                    </a:p>
                  </a:txBody>
                  <a:tcPr marL="36330" marR="36330" marT="21798" marB="21798" anchor="ctr">
                    <a:solidFill>
                      <a:srgbClr val="FBE5D8"/>
                    </a:solidFill>
                  </a:tcPr>
                </a:tc>
                <a:extLst>
                  <a:ext uri="{0D108BD9-81ED-4DB2-BD59-A6C34878D82A}">
                    <a16:rowId xmlns:a16="http://schemas.microsoft.com/office/drawing/2014/main" val="3827150431"/>
                  </a:ext>
                </a:extLst>
              </a:tr>
              <a:tr h="405697">
                <a:tc>
                  <a:txBody>
                    <a:bodyPr/>
                    <a:lstStyle/>
                    <a:p>
                      <a:pPr fontAlgn="base" latinLnBrk="0">
                        <a:buNone/>
                      </a:pPr>
                      <a:r>
                        <a:rPr lang="en" sz="900">
                          <a:effectLst/>
                        </a:rPr>
                        <a:t>22 - Webb </a:t>
                      </a:r>
                      <a:r>
                        <a:rPr lang="zh-TW" altLang="en-US" sz="900">
                          <a:effectLst/>
                        </a:rPr>
                        <a:t>特色商圈</a:t>
                      </a:r>
                    </a:p>
                  </a:txBody>
                  <a:tcPr marL="36330" marR="36330" marT="21798" marB="21798" anchor="ctr"/>
                </a:tc>
                <a:tc>
                  <a:txBody>
                    <a:bodyPr/>
                    <a:lstStyle/>
                    <a:p>
                      <a:pPr fontAlgn="base" latinLnBrk="0">
                        <a:buNone/>
                      </a:pPr>
                      <a:r>
                        <a:rPr lang="en" sz="900" dirty="0">
                          <a:effectLst/>
                        </a:rPr>
                        <a:t>Webb Featured Commercial Areas</a:t>
                      </a:r>
                    </a:p>
                  </a:txBody>
                  <a:tcPr marL="36330" marR="36330" marT="21798" marB="21798" anchor="ctr">
                    <a:solidFill>
                      <a:srgbClr val="FBE5D8"/>
                    </a:solidFill>
                  </a:tcPr>
                </a:tc>
                <a:extLst>
                  <a:ext uri="{0D108BD9-81ED-4DB2-BD59-A6C34878D82A}">
                    <a16:rowId xmlns:a16="http://schemas.microsoft.com/office/drawing/2014/main" val="481696791"/>
                  </a:ext>
                </a:extLst>
              </a:tr>
              <a:tr h="230374">
                <a:tc>
                  <a:txBody>
                    <a:bodyPr/>
                    <a:lstStyle/>
                    <a:p>
                      <a:pPr fontAlgn="base" latinLnBrk="0">
                        <a:buNone/>
                      </a:pPr>
                      <a:r>
                        <a:rPr lang="en-US" altLang="zh-TW" sz="900">
                          <a:effectLst/>
                        </a:rPr>
                        <a:t>23 - </a:t>
                      </a:r>
                      <a:r>
                        <a:rPr lang="zh-TW" altLang="en-US" sz="900">
                          <a:effectLst/>
                        </a:rPr>
                        <a:t>專案數據包</a:t>
                      </a:r>
                    </a:p>
                  </a:txBody>
                  <a:tcPr marL="36330" marR="36330" marT="21798" marB="21798" anchor="ctr"/>
                </a:tc>
                <a:tc>
                  <a:txBody>
                    <a:bodyPr/>
                    <a:lstStyle/>
                    <a:p>
                      <a:pPr fontAlgn="base" latinLnBrk="0">
                        <a:buNone/>
                      </a:pPr>
                      <a:r>
                        <a:rPr lang="en" sz="900" dirty="0">
                          <a:effectLst/>
                        </a:rPr>
                        <a:t>Project Data Package</a:t>
                      </a:r>
                    </a:p>
                  </a:txBody>
                  <a:tcPr marL="36330" marR="36330" marT="21798" marB="21798" anchor="ctr">
                    <a:solidFill>
                      <a:srgbClr val="FBE5D8"/>
                    </a:solidFill>
                  </a:tcPr>
                </a:tc>
                <a:extLst>
                  <a:ext uri="{0D108BD9-81ED-4DB2-BD59-A6C34878D82A}">
                    <a16:rowId xmlns:a16="http://schemas.microsoft.com/office/drawing/2014/main" val="2992153070"/>
                  </a:ext>
                </a:extLst>
              </a:tr>
              <a:tr h="230374">
                <a:tc>
                  <a:txBody>
                    <a:bodyPr/>
                    <a:lstStyle/>
                    <a:p>
                      <a:pPr fontAlgn="base" latinLnBrk="0">
                        <a:buNone/>
                      </a:pPr>
                      <a:r>
                        <a:rPr lang="en-US" altLang="zh-TW" sz="900">
                          <a:effectLst/>
                        </a:rPr>
                        <a:t>24 - </a:t>
                      </a:r>
                      <a:r>
                        <a:rPr lang="zh-TW" altLang="en-US" sz="900">
                          <a:effectLst/>
                        </a:rPr>
                        <a:t>媽咪圈</a:t>
                      </a:r>
                    </a:p>
                  </a:txBody>
                  <a:tcPr marL="36330" marR="36330" marT="21798" marB="21798" anchor="ctr"/>
                </a:tc>
                <a:tc>
                  <a:txBody>
                    <a:bodyPr/>
                    <a:lstStyle/>
                    <a:p>
                      <a:pPr fontAlgn="base" latinLnBrk="0">
                        <a:buNone/>
                      </a:pPr>
                      <a:r>
                        <a:rPr lang="en" sz="900" dirty="0">
                          <a:effectLst/>
                        </a:rPr>
                        <a:t>Mommy Community</a:t>
                      </a:r>
                    </a:p>
                  </a:txBody>
                  <a:tcPr marL="36330" marR="36330" marT="21798" marB="21798" anchor="ctr">
                    <a:solidFill>
                      <a:srgbClr val="FBE5D8"/>
                    </a:solidFill>
                  </a:tcPr>
                </a:tc>
                <a:extLst>
                  <a:ext uri="{0D108BD9-81ED-4DB2-BD59-A6C34878D82A}">
                    <a16:rowId xmlns:a16="http://schemas.microsoft.com/office/drawing/2014/main" val="2482973696"/>
                  </a:ext>
                </a:extLst>
              </a:tr>
              <a:tr h="230374">
                <a:tc>
                  <a:txBody>
                    <a:bodyPr/>
                    <a:lstStyle/>
                    <a:p>
                      <a:pPr fontAlgn="base" latinLnBrk="0">
                        <a:buNone/>
                      </a:pPr>
                      <a:r>
                        <a:rPr lang="en-US" altLang="zh-TW" sz="900">
                          <a:effectLst/>
                        </a:rPr>
                        <a:t>25 - </a:t>
                      </a:r>
                      <a:r>
                        <a:rPr lang="zh-TW" altLang="en-US" sz="900">
                          <a:effectLst/>
                        </a:rPr>
                        <a:t>電信數據</a:t>
                      </a:r>
                    </a:p>
                  </a:txBody>
                  <a:tcPr marL="36330" marR="36330" marT="21798" marB="21798" anchor="ctr"/>
                </a:tc>
                <a:tc>
                  <a:txBody>
                    <a:bodyPr/>
                    <a:lstStyle/>
                    <a:p>
                      <a:pPr fontAlgn="base" latinLnBrk="0">
                        <a:buNone/>
                      </a:pPr>
                      <a:r>
                        <a:rPr lang="en" sz="900" dirty="0">
                          <a:effectLst/>
                        </a:rPr>
                        <a:t>Telecom Data</a:t>
                      </a:r>
                    </a:p>
                  </a:txBody>
                  <a:tcPr marL="36330" marR="36330" marT="21798" marB="21798" anchor="ctr">
                    <a:solidFill>
                      <a:srgbClr val="FBE5D8"/>
                    </a:solidFill>
                  </a:tcPr>
                </a:tc>
                <a:extLst>
                  <a:ext uri="{0D108BD9-81ED-4DB2-BD59-A6C34878D82A}">
                    <a16:rowId xmlns:a16="http://schemas.microsoft.com/office/drawing/2014/main" val="2202172034"/>
                  </a:ext>
                </a:extLst>
              </a:tr>
            </a:tbl>
          </a:graphicData>
        </a:graphic>
      </p:graphicFrame>
    </p:spTree>
    <p:extLst>
      <p:ext uri="{BB962C8B-B14F-4D97-AF65-F5344CB8AC3E}">
        <p14:creationId xmlns:p14="http://schemas.microsoft.com/office/powerpoint/2010/main" val="1326929555"/>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圖片 3" descr="一張含有 文字, 螢幕擷取畫面 的圖片&#10;&#10;AI 產生的內容可能不正確。">
            <a:extLst>
              <a:ext uri="{FF2B5EF4-FFF2-40B4-BE49-F238E27FC236}">
                <a16:creationId xmlns:a16="http://schemas.microsoft.com/office/drawing/2014/main" id="{4996E8DB-69B4-61E5-7F0C-E700086D3F8E}"/>
              </a:ext>
            </a:extLst>
          </p:cNvPr>
          <p:cNvPicPr>
            <a:picLocks noChangeAspect="1"/>
          </p:cNvPicPr>
          <p:nvPr/>
        </p:nvPicPr>
        <p:blipFill>
          <a:blip r:embed="rId2"/>
          <a:srcRect b="32699"/>
          <a:stretch>
            <a:fillRect/>
          </a:stretch>
        </p:blipFill>
        <p:spPr>
          <a:xfrm>
            <a:off x="2209800" y="882065"/>
            <a:ext cx="7772400" cy="3162300"/>
          </a:xfrm>
          <a:prstGeom prst="rect">
            <a:avLst/>
          </a:prstGeom>
        </p:spPr>
      </p:pic>
      <p:pic>
        <p:nvPicPr>
          <p:cNvPr id="5" name="圖片 4" descr="一張含有 文字, 螢幕擷取畫面 的圖片&#10;&#10;AI 產生的內容可能不正確。">
            <a:extLst>
              <a:ext uri="{FF2B5EF4-FFF2-40B4-BE49-F238E27FC236}">
                <a16:creationId xmlns:a16="http://schemas.microsoft.com/office/drawing/2014/main" id="{C42781A0-43BD-7659-DC6F-CAF9D1040B97}"/>
              </a:ext>
            </a:extLst>
          </p:cNvPr>
          <p:cNvPicPr>
            <a:picLocks noChangeAspect="1"/>
          </p:cNvPicPr>
          <p:nvPr/>
        </p:nvPicPr>
        <p:blipFill>
          <a:blip r:embed="rId2"/>
          <a:srcRect t="68504"/>
          <a:stretch>
            <a:fillRect/>
          </a:stretch>
        </p:blipFill>
        <p:spPr>
          <a:xfrm>
            <a:off x="2209800" y="4347689"/>
            <a:ext cx="7772400" cy="1479951"/>
          </a:xfrm>
          <a:prstGeom prst="rect">
            <a:avLst/>
          </a:prstGeom>
        </p:spPr>
      </p:pic>
      <p:sp>
        <p:nvSpPr>
          <p:cNvPr id="6" name="圓角矩形 5">
            <a:extLst>
              <a:ext uri="{FF2B5EF4-FFF2-40B4-BE49-F238E27FC236}">
                <a16:creationId xmlns:a16="http://schemas.microsoft.com/office/drawing/2014/main" id="{C019734D-2D3F-D51E-F220-A65385DA950C}"/>
              </a:ext>
            </a:extLst>
          </p:cNvPr>
          <p:cNvSpPr/>
          <p:nvPr/>
        </p:nvSpPr>
        <p:spPr>
          <a:xfrm>
            <a:off x="2475214" y="3927010"/>
            <a:ext cx="7257327" cy="393539"/>
          </a:xfrm>
          <a:prstGeom prst="roundRect">
            <a:avLst>
              <a:gd name="adj" fmla="val 13726"/>
            </a:avLst>
          </a:prstGeom>
          <a:solidFill>
            <a:schemeClr val="bg1"/>
          </a:solidFill>
          <a:ln w="6350">
            <a:solidFill>
              <a:srgbClr val="E4E8E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7" name="矩形 6">
            <a:extLst>
              <a:ext uri="{FF2B5EF4-FFF2-40B4-BE49-F238E27FC236}">
                <a16:creationId xmlns:a16="http://schemas.microsoft.com/office/drawing/2014/main" id="{90327182-06BC-DB62-5747-24A73E1620E7}"/>
              </a:ext>
            </a:extLst>
          </p:cNvPr>
          <p:cNvSpPr/>
          <p:nvPr/>
        </p:nvSpPr>
        <p:spPr>
          <a:xfrm>
            <a:off x="2475214" y="3846705"/>
            <a:ext cx="7236000" cy="10800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8" name="文字方塊 7">
            <a:extLst>
              <a:ext uri="{FF2B5EF4-FFF2-40B4-BE49-F238E27FC236}">
                <a16:creationId xmlns:a16="http://schemas.microsoft.com/office/drawing/2014/main" id="{A69FAAAA-99C7-8EBA-2607-F22A4999E18B}"/>
              </a:ext>
            </a:extLst>
          </p:cNvPr>
          <p:cNvSpPr txBox="1"/>
          <p:nvPr/>
        </p:nvSpPr>
        <p:spPr>
          <a:xfrm>
            <a:off x="2539012" y="3925888"/>
            <a:ext cx="1993900" cy="261610"/>
          </a:xfrm>
          <a:prstGeom prst="rect">
            <a:avLst/>
          </a:prstGeom>
          <a:noFill/>
        </p:spPr>
        <p:txBody>
          <a:bodyPr wrap="square" rtlCol="0">
            <a:spAutoFit/>
          </a:bodyPr>
          <a:lstStyle/>
          <a:p>
            <a:r>
              <a:rPr kumimoji="1" lang="en-US" altLang="zh-TW" sz="1100">
                <a:solidFill>
                  <a:srgbClr val="1C1E20"/>
                </a:solidFill>
              </a:rPr>
              <a:t>Custom Audience</a:t>
            </a:r>
            <a:endParaRPr kumimoji="1" lang="zh-TW" altLang="en-US" sz="1100">
              <a:solidFill>
                <a:srgbClr val="1C1E20"/>
              </a:solidFill>
            </a:endParaRPr>
          </a:p>
        </p:txBody>
      </p:sp>
      <p:sp>
        <p:nvSpPr>
          <p:cNvPr id="9" name="圓角矩形 8">
            <a:extLst>
              <a:ext uri="{FF2B5EF4-FFF2-40B4-BE49-F238E27FC236}">
                <a16:creationId xmlns:a16="http://schemas.microsoft.com/office/drawing/2014/main" id="{AA6B43EE-C25C-64B7-FB8D-54BCFD050E6A}"/>
              </a:ext>
            </a:extLst>
          </p:cNvPr>
          <p:cNvSpPr/>
          <p:nvPr/>
        </p:nvSpPr>
        <p:spPr>
          <a:xfrm>
            <a:off x="2477939" y="5507273"/>
            <a:ext cx="7257327" cy="393539"/>
          </a:xfrm>
          <a:prstGeom prst="roundRect">
            <a:avLst>
              <a:gd name="adj" fmla="val 13726"/>
            </a:avLst>
          </a:prstGeom>
          <a:solidFill>
            <a:schemeClr val="bg1"/>
          </a:solidFill>
          <a:ln w="6350">
            <a:solidFill>
              <a:srgbClr val="E4E8E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0" name="矩形 9">
            <a:extLst>
              <a:ext uri="{FF2B5EF4-FFF2-40B4-BE49-F238E27FC236}">
                <a16:creationId xmlns:a16="http://schemas.microsoft.com/office/drawing/2014/main" id="{D87C1A1C-C65F-916C-3D10-671530799FBB}"/>
              </a:ext>
            </a:extLst>
          </p:cNvPr>
          <p:cNvSpPr/>
          <p:nvPr/>
        </p:nvSpPr>
        <p:spPr>
          <a:xfrm>
            <a:off x="2477939" y="5426968"/>
            <a:ext cx="7236000" cy="10800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1" name="文字方塊 10">
            <a:extLst>
              <a:ext uri="{FF2B5EF4-FFF2-40B4-BE49-F238E27FC236}">
                <a16:creationId xmlns:a16="http://schemas.microsoft.com/office/drawing/2014/main" id="{9BF2A39F-36E2-49E8-4707-6E0989ACBBE0}"/>
              </a:ext>
            </a:extLst>
          </p:cNvPr>
          <p:cNvSpPr txBox="1"/>
          <p:nvPr/>
        </p:nvSpPr>
        <p:spPr>
          <a:xfrm>
            <a:off x="2541737" y="5506151"/>
            <a:ext cx="1993900" cy="261610"/>
          </a:xfrm>
          <a:prstGeom prst="rect">
            <a:avLst/>
          </a:prstGeom>
          <a:noFill/>
        </p:spPr>
        <p:txBody>
          <a:bodyPr wrap="square" rtlCol="0">
            <a:spAutoFit/>
          </a:bodyPr>
          <a:lstStyle/>
          <a:p>
            <a:r>
              <a:rPr kumimoji="1" lang="en-US" altLang="zh-TW" sz="1100">
                <a:solidFill>
                  <a:srgbClr val="1C1E20"/>
                </a:solidFill>
              </a:rPr>
              <a:t>Custom Audience</a:t>
            </a:r>
            <a:endParaRPr kumimoji="1" lang="zh-TW" altLang="en-US" sz="1100">
              <a:solidFill>
                <a:srgbClr val="1C1E20"/>
              </a:solidFill>
            </a:endParaRPr>
          </a:p>
        </p:txBody>
      </p:sp>
      <p:pic>
        <p:nvPicPr>
          <p:cNvPr id="12" name="圖片 11" descr="一張含有 白色, 設計 的圖片&#10;&#10;AI 產生的內容可能不正確。">
            <a:extLst>
              <a:ext uri="{FF2B5EF4-FFF2-40B4-BE49-F238E27FC236}">
                <a16:creationId xmlns:a16="http://schemas.microsoft.com/office/drawing/2014/main" id="{2020B3B0-EF23-C2B5-05BB-B9ABF51CF4D4}"/>
              </a:ext>
            </a:extLst>
          </p:cNvPr>
          <p:cNvPicPr>
            <a:picLocks noChangeAspect="1"/>
          </p:cNvPicPr>
          <p:nvPr/>
        </p:nvPicPr>
        <p:blipFill>
          <a:blip r:embed="rId3"/>
          <a:srcRect b="24767"/>
          <a:stretch>
            <a:fillRect/>
          </a:stretch>
        </p:blipFill>
        <p:spPr>
          <a:xfrm>
            <a:off x="2107788" y="4035010"/>
            <a:ext cx="361370" cy="470107"/>
          </a:xfrm>
          <a:prstGeom prst="rect">
            <a:avLst/>
          </a:prstGeom>
        </p:spPr>
      </p:pic>
      <p:pic>
        <p:nvPicPr>
          <p:cNvPr id="13" name="圖片 12" descr="一張含有 白色, 設計 的圖片&#10;&#10;AI 產生的內容可能不正確。">
            <a:extLst>
              <a:ext uri="{FF2B5EF4-FFF2-40B4-BE49-F238E27FC236}">
                <a16:creationId xmlns:a16="http://schemas.microsoft.com/office/drawing/2014/main" id="{9D8D676B-2A5C-78DD-C14B-343489455F2C}"/>
              </a:ext>
            </a:extLst>
          </p:cNvPr>
          <p:cNvPicPr>
            <a:picLocks noChangeAspect="1"/>
          </p:cNvPicPr>
          <p:nvPr/>
        </p:nvPicPr>
        <p:blipFill>
          <a:blip r:embed="rId4"/>
          <a:stretch>
            <a:fillRect/>
          </a:stretch>
        </p:blipFill>
        <p:spPr>
          <a:xfrm>
            <a:off x="9732541" y="4027697"/>
            <a:ext cx="376319" cy="477420"/>
          </a:xfrm>
          <a:prstGeom prst="rect">
            <a:avLst/>
          </a:prstGeom>
        </p:spPr>
      </p:pic>
      <p:pic>
        <p:nvPicPr>
          <p:cNvPr id="16" name="圖片 15">
            <a:extLst>
              <a:ext uri="{FF2B5EF4-FFF2-40B4-BE49-F238E27FC236}">
                <a16:creationId xmlns:a16="http://schemas.microsoft.com/office/drawing/2014/main" id="{BC1459E1-7E72-145B-66D4-ACA1508C3227}"/>
              </a:ext>
            </a:extLst>
          </p:cNvPr>
          <p:cNvPicPr>
            <a:picLocks noChangeAspect="1"/>
          </p:cNvPicPr>
          <p:nvPr/>
        </p:nvPicPr>
        <p:blipFill>
          <a:blip r:embed="rId5"/>
          <a:stretch>
            <a:fillRect/>
          </a:stretch>
        </p:blipFill>
        <p:spPr>
          <a:xfrm>
            <a:off x="9188100" y="5473506"/>
            <a:ext cx="272510" cy="261610"/>
          </a:xfrm>
          <a:prstGeom prst="rect">
            <a:avLst/>
          </a:prstGeom>
        </p:spPr>
      </p:pic>
      <p:sp>
        <p:nvSpPr>
          <p:cNvPr id="17" name="文字方塊 16">
            <a:extLst>
              <a:ext uri="{FF2B5EF4-FFF2-40B4-BE49-F238E27FC236}">
                <a16:creationId xmlns:a16="http://schemas.microsoft.com/office/drawing/2014/main" id="{C1E0E676-D08A-630C-6951-D5BF715CD4D8}"/>
              </a:ext>
            </a:extLst>
          </p:cNvPr>
          <p:cNvSpPr txBox="1"/>
          <p:nvPr/>
        </p:nvSpPr>
        <p:spPr>
          <a:xfrm>
            <a:off x="1149863" y="3886839"/>
            <a:ext cx="1328076" cy="369332"/>
          </a:xfrm>
          <a:prstGeom prst="rect">
            <a:avLst/>
          </a:prstGeom>
          <a:solidFill>
            <a:srgbClr val="FBE4D7"/>
          </a:solidFill>
        </p:spPr>
        <p:txBody>
          <a:bodyPr wrap="square">
            <a:spAutoFit/>
          </a:bodyPr>
          <a:lstStyle/>
          <a:p>
            <a:r>
              <a:rPr lang="zh-TW" altLang="en-US" b="0" i="0">
                <a:effectLst/>
                <a:latin typeface="fkGroteskNeue"/>
              </a:rPr>
              <a:t>客製受眾包</a:t>
            </a:r>
            <a:endParaRPr lang="zh-TW" altLang="en-US"/>
          </a:p>
        </p:txBody>
      </p:sp>
      <p:sp>
        <p:nvSpPr>
          <p:cNvPr id="18" name="文字方塊 17">
            <a:extLst>
              <a:ext uri="{FF2B5EF4-FFF2-40B4-BE49-F238E27FC236}">
                <a16:creationId xmlns:a16="http://schemas.microsoft.com/office/drawing/2014/main" id="{A832EB03-9671-A9B6-1572-4F08919A011D}"/>
              </a:ext>
            </a:extLst>
          </p:cNvPr>
          <p:cNvSpPr txBox="1"/>
          <p:nvPr/>
        </p:nvSpPr>
        <p:spPr>
          <a:xfrm>
            <a:off x="1149863" y="5411200"/>
            <a:ext cx="1328076" cy="369332"/>
          </a:xfrm>
          <a:prstGeom prst="rect">
            <a:avLst/>
          </a:prstGeom>
          <a:solidFill>
            <a:srgbClr val="FBE4D7"/>
          </a:solidFill>
        </p:spPr>
        <p:txBody>
          <a:bodyPr wrap="square">
            <a:spAutoFit/>
          </a:bodyPr>
          <a:lstStyle/>
          <a:p>
            <a:r>
              <a:rPr lang="zh-TW" altLang="en-US" b="0" i="0">
                <a:effectLst/>
                <a:latin typeface="fkGroteskNeue"/>
              </a:rPr>
              <a:t>客製受眾包</a:t>
            </a:r>
            <a:endParaRPr lang="zh-TW" altLang="en-US"/>
          </a:p>
        </p:txBody>
      </p:sp>
    </p:spTree>
    <p:extLst>
      <p:ext uri="{BB962C8B-B14F-4D97-AF65-F5344CB8AC3E}">
        <p14:creationId xmlns:p14="http://schemas.microsoft.com/office/powerpoint/2010/main" val="3311800842"/>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圖片 3" descr="一張含有 文字, 軟體, 網頁, 網站 的圖片&#10;&#10;AI 產生的內容可能不正確。">
            <a:extLst>
              <a:ext uri="{FF2B5EF4-FFF2-40B4-BE49-F238E27FC236}">
                <a16:creationId xmlns:a16="http://schemas.microsoft.com/office/drawing/2014/main" id="{32DBA945-A28E-69FE-1D15-00ADAD71943A}"/>
              </a:ext>
            </a:extLst>
          </p:cNvPr>
          <p:cNvPicPr>
            <a:picLocks noChangeAspect="1"/>
          </p:cNvPicPr>
          <p:nvPr/>
        </p:nvPicPr>
        <p:blipFill>
          <a:blip r:embed="rId2"/>
          <a:stretch>
            <a:fillRect/>
          </a:stretch>
        </p:blipFill>
        <p:spPr>
          <a:xfrm>
            <a:off x="2368299" y="326272"/>
            <a:ext cx="7772400" cy="6205455"/>
          </a:xfrm>
          <a:prstGeom prst="rect">
            <a:avLst/>
          </a:prstGeom>
        </p:spPr>
      </p:pic>
      <p:sp>
        <p:nvSpPr>
          <p:cNvPr id="5" name="文字方塊 4">
            <a:extLst>
              <a:ext uri="{FF2B5EF4-FFF2-40B4-BE49-F238E27FC236}">
                <a16:creationId xmlns:a16="http://schemas.microsoft.com/office/drawing/2014/main" id="{5366C1A9-D1DA-3CC8-4848-4F6215D79830}"/>
              </a:ext>
            </a:extLst>
          </p:cNvPr>
          <p:cNvSpPr txBox="1"/>
          <p:nvPr/>
        </p:nvSpPr>
        <p:spPr>
          <a:xfrm>
            <a:off x="4657268" y="411263"/>
            <a:ext cx="3194462" cy="307777"/>
          </a:xfrm>
          <a:prstGeom prst="rect">
            <a:avLst/>
          </a:prstGeom>
          <a:solidFill>
            <a:srgbClr val="F5F8FE"/>
          </a:solidFill>
        </p:spPr>
        <p:txBody>
          <a:bodyPr wrap="square" rtlCol="0">
            <a:spAutoFit/>
          </a:bodyPr>
          <a:lstStyle/>
          <a:p>
            <a:pPr algn="ctr"/>
            <a:r>
              <a:rPr kumimoji="1" lang="en-US" altLang="zh-TW" sz="1400">
                <a:solidFill>
                  <a:srgbClr val="1C1E20"/>
                </a:solidFill>
              </a:rPr>
              <a:t>Targeting - Custom Audience</a:t>
            </a:r>
            <a:endParaRPr kumimoji="1" lang="zh-TW" altLang="en-US" sz="1400">
              <a:solidFill>
                <a:srgbClr val="1C1E20"/>
              </a:solidFill>
            </a:endParaRPr>
          </a:p>
        </p:txBody>
      </p:sp>
      <p:sp>
        <p:nvSpPr>
          <p:cNvPr id="6" name="文字方塊 5">
            <a:extLst>
              <a:ext uri="{FF2B5EF4-FFF2-40B4-BE49-F238E27FC236}">
                <a16:creationId xmlns:a16="http://schemas.microsoft.com/office/drawing/2014/main" id="{22BCD8A6-AF6E-EED5-A9AD-0035E50FCDFE}"/>
              </a:ext>
            </a:extLst>
          </p:cNvPr>
          <p:cNvSpPr txBox="1"/>
          <p:nvPr/>
        </p:nvSpPr>
        <p:spPr>
          <a:xfrm>
            <a:off x="2757788" y="1346510"/>
            <a:ext cx="3432646" cy="261610"/>
          </a:xfrm>
          <a:prstGeom prst="rect">
            <a:avLst/>
          </a:prstGeom>
          <a:solidFill>
            <a:schemeClr val="bg1"/>
          </a:solidFill>
        </p:spPr>
        <p:txBody>
          <a:bodyPr wrap="square">
            <a:spAutoFit/>
          </a:bodyPr>
          <a:lstStyle/>
          <a:p>
            <a:pPr lvl="0">
              <a:defRPr/>
            </a:pPr>
            <a:r>
              <a:rPr kumimoji="1" lang="en-US" altLang="zh-TW" sz="1100">
                <a:solidFill>
                  <a:srgbClr val="4E4E4E"/>
                </a:solidFill>
              </a:rPr>
              <a:t>[</a:t>
            </a:r>
            <a:r>
              <a:rPr kumimoji="1" lang="zh-TW" altLang="en-US" sz="1100">
                <a:solidFill>
                  <a:srgbClr val="4E4E4E"/>
                </a:solidFill>
              </a:rPr>
              <a:t>線下</a:t>
            </a:r>
            <a:r>
              <a:rPr kumimoji="1" lang="en" altLang="zh-TW" sz="1100">
                <a:solidFill>
                  <a:srgbClr val="4E4E4E"/>
                </a:solidFill>
              </a:rPr>
              <a:t>POI] </a:t>
            </a:r>
            <a:r>
              <a:rPr kumimoji="1" lang="zh-TW" altLang="en-US" sz="1100">
                <a:solidFill>
                  <a:srgbClr val="4E4E4E"/>
                </a:solidFill>
              </a:rPr>
              <a:t>合利他命</a:t>
            </a:r>
            <a:r>
              <a:rPr kumimoji="1" lang="en" altLang="zh-TW" sz="1100">
                <a:solidFill>
                  <a:srgbClr val="4E4E4E"/>
                </a:solidFill>
              </a:rPr>
              <a:t>EXPLUS 10</a:t>
            </a:r>
            <a:r>
              <a:rPr kumimoji="1" lang="zh-TW" altLang="en-US" sz="1100">
                <a:solidFill>
                  <a:srgbClr val="4E4E4E"/>
                </a:solidFill>
              </a:rPr>
              <a:t>月</a:t>
            </a:r>
          </a:p>
        </p:txBody>
      </p:sp>
      <p:sp>
        <p:nvSpPr>
          <p:cNvPr id="7" name="文字方塊 6">
            <a:extLst>
              <a:ext uri="{FF2B5EF4-FFF2-40B4-BE49-F238E27FC236}">
                <a16:creationId xmlns:a16="http://schemas.microsoft.com/office/drawing/2014/main" id="{33D373DC-2F9E-7186-3B77-0E1C3DD83A7D}"/>
              </a:ext>
            </a:extLst>
          </p:cNvPr>
          <p:cNvSpPr txBox="1"/>
          <p:nvPr/>
        </p:nvSpPr>
        <p:spPr>
          <a:xfrm>
            <a:off x="2764953" y="1555522"/>
            <a:ext cx="3432647" cy="215444"/>
          </a:xfrm>
          <a:prstGeom prst="rect">
            <a:avLst/>
          </a:prstGeom>
          <a:solidFill>
            <a:schemeClr val="bg1"/>
          </a:solidFill>
        </p:spPr>
        <p:txBody>
          <a:bodyPr wrap="square">
            <a:spAutoFit/>
          </a:bodyPr>
          <a:lstStyle/>
          <a:p>
            <a:pPr lvl="0">
              <a:defRPr/>
            </a:pPr>
            <a:r>
              <a:rPr kumimoji="1" lang="en" altLang="zh-TW" sz="800">
                <a:solidFill>
                  <a:schemeClr val="bg1">
                    <a:lumMod val="65000"/>
                  </a:schemeClr>
                </a:solidFill>
              </a:rPr>
              <a:t>Offline Point of Interest (POI)</a:t>
            </a:r>
          </a:p>
        </p:txBody>
      </p:sp>
      <p:sp>
        <p:nvSpPr>
          <p:cNvPr id="8" name="文字方塊 7">
            <a:extLst>
              <a:ext uri="{FF2B5EF4-FFF2-40B4-BE49-F238E27FC236}">
                <a16:creationId xmlns:a16="http://schemas.microsoft.com/office/drawing/2014/main" id="{DC73A63E-5860-BDE8-E98D-24CAD5EB2248}"/>
              </a:ext>
            </a:extLst>
          </p:cNvPr>
          <p:cNvSpPr txBox="1"/>
          <p:nvPr/>
        </p:nvSpPr>
        <p:spPr>
          <a:xfrm>
            <a:off x="2764953" y="1878503"/>
            <a:ext cx="3432646" cy="261610"/>
          </a:xfrm>
          <a:prstGeom prst="rect">
            <a:avLst/>
          </a:prstGeom>
          <a:solidFill>
            <a:schemeClr val="bg1"/>
          </a:solidFill>
        </p:spPr>
        <p:txBody>
          <a:bodyPr wrap="square">
            <a:spAutoFit/>
          </a:bodyPr>
          <a:lstStyle/>
          <a:p>
            <a:pPr lvl="0">
              <a:defRPr/>
            </a:pPr>
            <a:r>
              <a:rPr kumimoji="1" lang="en" altLang="zh-TW" sz="1100">
                <a:solidFill>
                  <a:srgbClr val="4E4E4E"/>
                </a:solidFill>
              </a:rPr>
              <a:t>[Webb</a:t>
            </a:r>
            <a:r>
              <a:rPr kumimoji="1" lang="zh-TW" altLang="en-US" sz="1100">
                <a:solidFill>
                  <a:srgbClr val="4E4E4E"/>
                </a:solidFill>
              </a:rPr>
              <a:t>零售數據</a:t>
            </a:r>
            <a:r>
              <a:rPr kumimoji="1" lang="en-US" altLang="zh-TW" sz="1100">
                <a:solidFill>
                  <a:srgbClr val="4E4E4E"/>
                </a:solidFill>
              </a:rPr>
              <a:t>-</a:t>
            </a:r>
            <a:r>
              <a:rPr kumimoji="1" lang="zh-TW" altLang="en-US" sz="1100">
                <a:solidFill>
                  <a:srgbClr val="4E4E4E"/>
                </a:solidFill>
              </a:rPr>
              <a:t>購買</a:t>
            </a:r>
            <a:r>
              <a:rPr kumimoji="1" lang="en-US" altLang="zh-TW" sz="1100">
                <a:solidFill>
                  <a:srgbClr val="4E4E4E"/>
                </a:solidFill>
              </a:rPr>
              <a:t>] </a:t>
            </a:r>
            <a:r>
              <a:rPr kumimoji="1" lang="zh-TW" altLang="en-US" sz="1100">
                <a:solidFill>
                  <a:srgbClr val="4E4E4E"/>
                </a:solidFill>
              </a:rPr>
              <a:t>合利他命</a:t>
            </a:r>
            <a:r>
              <a:rPr kumimoji="1" lang="en" altLang="zh-TW" sz="1100">
                <a:solidFill>
                  <a:srgbClr val="4E4E4E"/>
                </a:solidFill>
              </a:rPr>
              <a:t>EXPLUS 10</a:t>
            </a:r>
            <a:r>
              <a:rPr kumimoji="1" lang="zh-TW" altLang="en-US" sz="1100">
                <a:solidFill>
                  <a:srgbClr val="4E4E4E"/>
                </a:solidFill>
              </a:rPr>
              <a:t>月</a:t>
            </a:r>
          </a:p>
        </p:txBody>
      </p:sp>
      <p:sp>
        <p:nvSpPr>
          <p:cNvPr id="9" name="文字方塊 8">
            <a:extLst>
              <a:ext uri="{FF2B5EF4-FFF2-40B4-BE49-F238E27FC236}">
                <a16:creationId xmlns:a16="http://schemas.microsoft.com/office/drawing/2014/main" id="{D9F8F333-3A12-6995-24B3-3209F48609B9}"/>
              </a:ext>
            </a:extLst>
          </p:cNvPr>
          <p:cNvSpPr txBox="1"/>
          <p:nvPr/>
        </p:nvSpPr>
        <p:spPr>
          <a:xfrm>
            <a:off x="2772118" y="2087515"/>
            <a:ext cx="3432647" cy="215444"/>
          </a:xfrm>
          <a:prstGeom prst="rect">
            <a:avLst/>
          </a:prstGeom>
          <a:solidFill>
            <a:schemeClr val="bg1"/>
          </a:solidFill>
        </p:spPr>
        <p:txBody>
          <a:bodyPr wrap="square">
            <a:spAutoFit/>
          </a:bodyPr>
          <a:lstStyle/>
          <a:p>
            <a:pPr fontAlgn="base"/>
            <a:r>
              <a:rPr kumimoji="1" lang="en" altLang="zh-TW" sz="800">
                <a:solidFill>
                  <a:schemeClr val="bg1">
                    <a:lumMod val="65000"/>
                  </a:schemeClr>
                </a:solidFill>
              </a:rPr>
              <a:t>Webb Retail Data (Purchase)</a:t>
            </a:r>
          </a:p>
        </p:txBody>
      </p:sp>
      <p:sp>
        <p:nvSpPr>
          <p:cNvPr id="10" name="文字方塊 9">
            <a:extLst>
              <a:ext uri="{FF2B5EF4-FFF2-40B4-BE49-F238E27FC236}">
                <a16:creationId xmlns:a16="http://schemas.microsoft.com/office/drawing/2014/main" id="{803717A5-5B3E-4C5F-A479-32BC4D380584}"/>
              </a:ext>
            </a:extLst>
          </p:cNvPr>
          <p:cNvSpPr txBox="1"/>
          <p:nvPr/>
        </p:nvSpPr>
        <p:spPr>
          <a:xfrm>
            <a:off x="2757787" y="2405106"/>
            <a:ext cx="3432646" cy="261610"/>
          </a:xfrm>
          <a:prstGeom prst="rect">
            <a:avLst/>
          </a:prstGeom>
          <a:solidFill>
            <a:schemeClr val="bg1"/>
          </a:solidFill>
        </p:spPr>
        <p:txBody>
          <a:bodyPr wrap="square">
            <a:spAutoFit/>
          </a:bodyPr>
          <a:lstStyle/>
          <a:p>
            <a:pPr lvl="0">
              <a:defRPr/>
            </a:pPr>
            <a:r>
              <a:rPr kumimoji="1" lang="en" altLang="zh-TW" sz="1100">
                <a:solidFill>
                  <a:srgbClr val="4E4E4E"/>
                </a:solidFill>
              </a:rPr>
              <a:t>[</a:t>
            </a:r>
            <a:r>
              <a:rPr kumimoji="1" lang="zh-TW" altLang="en-US" sz="1100">
                <a:solidFill>
                  <a:srgbClr val="4E4E4E"/>
                </a:solidFill>
              </a:rPr>
              <a:t>產業 </a:t>
            </a:r>
            <a:r>
              <a:rPr kumimoji="1" lang="en" altLang="zh-TW" sz="1100">
                <a:solidFill>
                  <a:srgbClr val="4E4E4E"/>
                </a:solidFill>
              </a:rPr>
              <a:t>Shopper Graph</a:t>
            </a:r>
            <a:r>
              <a:rPr kumimoji="1" lang="en-US" altLang="zh-TW" sz="1100">
                <a:solidFill>
                  <a:srgbClr val="4E4E4E"/>
                </a:solidFill>
              </a:rPr>
              <a:t>] </a:t>
            </a:r>
            <a:r>
              <a:rPr kumimoji="1" lang="zh-TW" altLang="en-US" sz="1100">
                <a:solidFill>
                  <a:srgbClr val="4E4E4E"/>
                </a:solidFill>
              </a:rPr>
              <a:t>合利他命</a:t>
            </a:r>
            <a:r>
              <a:rPr kumimoji="1" lang="en" altLang="zh-TW" sz="1100">
                <a:solidFill>
                  <a:srgbClr val="4E4E4E"/>
                </a:solidFill>
              </a:rPr>
              <a:t>EXPLUS 9-10</a:t>
            </a:r>
            <a:r>
              <a:rPr kumimoji="1" lang="zh-TW" altLang="en-US" sz="1100">
                <a:solidFill>
                  <a:srgbClr val="4E4E4E"/>
                </a:solidFill>
              </a:rPr>
              <a:t>月</a:t>
            </a:r>
          </a:p>
        </p:txBody>
      </p:sp>
      <p:sp>
        <p:nvSpPr>
          <p:cNvPr id="11" name="文字方塊 10">
            <a:extLst>
              <a:ext uri="{FF2B5EF4-FFF2-40B4-BE49-F238E27FC236}">
                <a16:creationId xmlns:a16="http://schemas.microsoft.com/office/drawing/2014/main" id="{BDC7FF92-8DE5-46C0-1219-EE8888F2073A}"/>
              </a:ext>
            </a:extLst>
          </p:cNvPr>
          <p:cNvSpPr txBox="1"/>
          <p:nvPr/>
        </p:nvSpPr>
        <p:spPr>
          <a:xfrm>
            <a:off x="2764952" y="2614118"/>
            <a:ext cx="3432647" cy="215444"/>
          </a:xfrm>
          <a:prstGeom prst="rect">
            <a:avLst/>
          </a:prstGeom>
          <a:solidFill>
            <a:schemeClr val="bg1"/>
          </a:solidFill>
        </p:spPr>
        <p:txBody>
          <a:bodyPr wrap="square">
            <a:spAutoFit/>
          </a:bodyPr>
          <a:lstStyle/>
          <a:p>
            <a:pPr lvl="0">
              <a:defRPr/>
            </a:pPr>
            <a:r>
              <a:rPr kumimoji="1" lang="en" altLang="zh-TW" sz="800">
                <a:solidFill>
                  <a:schemeClr val="bg1">
                    <a:lumMod val="65000"/>
                  </a:schemeClr>
                </a:solidFill>
              </a:rPr>
              <a:t>Industry Shopper Graph</a:t>
            </a:r>
          </a:p>
        </p:txBody>
      </p:sp>
      <p:sp>
        <p:nvSpPr>
          <p:cNvPr id="12" name="文字方塊 11">
            <a:extLst>
              <a:ext uri="{FF2B5EF4-FFF2-40B4-BE49-F238E27FC236}">
                <a16:creationId xmlns:a16="http://schemas.microsoft.com/office/drawing/2014/main" id="{75DBE213-C5EC-1A29-5C73-874ADBC4564C}"/>
              </a:ext>
            </a:extLst>
          </p:cNvPr>
          <p:cNvSpPr txBox="1"/>
          <p:nvPr/>
        </p:nvSpPr>
        <p:spPr>
          <a:xfrm>
            <a:off x="2772118" y="2921022"/>
            <a:ext cx="3432646" cy="261610"/>
          </a:xfrm>
          <a:prstGeom prst="rect">
            <a:avLst/>
          </a:prstGeom>
          <a:solidFill>
            <a:schemeClr val="bg1"/>
          </a:solid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zh-TW" sz="1100" kern="1200">
                <a:solidFill>
                  <a:srgbClr val="1C1E20"/>
                </a:solidFill>
                <a:latin typeface="+mn-lt"/>
                <a:ea typeface="+mn-ea"/>
                <a:cs typeface="+mn-cs"/>
              </a:rPr>
              <a:t>[</a:t>
            </a:r>
            <a:r>
              <a:rPr kumimoji="1" lang="zh-TW" altLang="en-US" sz="1100" kern="1200">
                <a:solidFill>
                  <a:srgbClr val="1C1E20"/>
                </a:solidFill>
                <a:latin typeface="+mn-lt"/>
                <a:ea typeface="+mn-ea"/>
                <a:cs typeface="+mn-cs"/>
              </a:rPr>
              <a:t>關鍵字</a:t>
            </a:r>
            <a:r>
              <a:rPr kumimoji="1" lang="en-US" altLang="zh-TW" sz="1100" kern="1200">
                <a:solidFill>
                  <a:srgbClr val="1C1E20"/>
                </a:solidFill>
                <a:latin typeface="+mn-lt"/>
                <a:ea typeface="+mn-ea"/>
                <a:cs typeface="+mn-cs"/>
              </a:rPr>
              <a:t>] </a:t>
            </a:r>
            <a:r>
              <a:rPr kumimoji="1" lang="zh-TW" altLang="en-US" sz="1100" kern="1200">
                <a:solidFill>
                  <a:srgbClr val="1C1E20"/>
                </a:solidFill>
                <a:latin typeface="+mn-lt"/>
                <a:ea typeface="+mn-ea"/>
                <a:cs typeface="+mn-cs"/>
              </a:rPr>
              <a:t>合利他命</a:t>
            </a:r>
            <a:r>
              <a:rPr kumimoji="1" lang="en" altLang="zh-TW" sz="1100" kern="1200">
                <a:solidFill>
                  <a:srgbClr val="1C1E20"/>
                </a:solidFill>
                <a:latin typeface="+mn-lt"/>
                <a:ea typeface="+mn-ea"/>
                <a:cs typeface="+mn-cs"/>
              </a:rPr>
              <a:t>EXPLUS 10</a:t>
            </a:r>
            <a:r>
              <a:rPr kumimoji="1" lang="zh-TW" altLang="en-US" sz="1100" kern="1200">
                <a:solidFill>
                  <a:srgbClr val="1C1E20"/>
                </a:solidFill>
                <a:latin typeface="+mn-lt"/>
                <a:ea typeface="+mn-ea"/>
                <a:cs typeface="+mn-cs"/>
              </a:rPr>
              <a:t>月</a:t>
            </a:r>
          </a:p>
        </p:txBody>
      </p:sp>
      <p:sp>
        <p:nvSpPr>
          <p:cNvPr id="13" name="文字方塊 12">
            <a:extLst>
              <a:ext uri="{FF2B5EF4-FFF2-40B4-BE49-F238E27FC236}">
                <a16:creationId xmlns:a16="http://schemas.microsoft.com/office/drawing/2014/main" id="{06518184-AF04-D09B-0A5F-2895D607D7B5}"/>
              </a:ext>
            </a:extLst>
          </p:cNvPr>
          <p:cNvSpPr txBox="1"/>
          <p:nvPr/>
        </p:nvSpPr>
        <p:spPr>
          <a:xfrm>
            <a:off x="2779283" y="3130034"/>
            <a:ext cx="3432647" cy="215444"/>
          </a:xfrm>
          <a:prstGeom prst="rect">
            <a:avLst/>
          </a:prstGeom>
          <a:solidFill>
            <a:schemeClr val="bg1"/>
          </a:solidFill>
        </p:spPr>
        <p:txBody>
          <a:bodyPr wrap="square">
            <a:spAutoFit/>
          </a:bodyPr>
          <a:lstStyle/>
          <a:p>
            <a:pPr lvl="0">
              <a:defRPr/>
            </a:pPr>
            <a:r>
              <a:rPr kumimoji="1" lang="en" altLang="zh-TW" sz="800">
                <a:solidFill>
                  <a:schemeClr val="bg1">
                    <a:lumMod val="65000"/>
                  </a:schemeClr>
                </a:solidFill>
              </a:rPr>
              <a:t>Brand Keyword AI Exploration</a:t>
            </a:r>
          </a:p>
        </p:txBody>
      </p:sp>
      <p:sp>
        <p:nvSpPr>
          <p:cNvPr id="14" name="文字方塊 13">
            <a:extLst>
              <a:ext uri="{FF2B5EF4-FFF2-40B4-BE49-F238E27FC236}">
                <a16:creationId xmlns:a16="http://schemas.microsoft.com/office/drawing/2014/main" id="{4E58FAD9-E171-95D2-CF6E-72AF20B80F4E}"/>
              </a:ext>
            </a:extLst>
          </p:cNvPr>
          <p:cNvSpPr txBox="1"/>
          <p:nvPr/>
        </p:nvSpPr>
        <p:spPr>
          <a:xfrm>
            <a:off x="2779283" y="3439370"/>
            <a:ext cx="3432646" cy="261610"/>
          </a:xfrm>
          <a:prstGeom prst="rect">
            <a:avLst/>
          </a:prstGeom>
          <a:solidFill>
            <a:schemeClr val="bg1"/>
          </a:solid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zh-TW" sz="1100" kern="1200">
                <a:solidFill>
                  <a:srgbClr val="1C1E20"/>
                </a:solidFill>
                <a:latin typeface="+mn-lt"/>
                <a:ea typeface="+mn-ea"/>
                <a:cs typeface="+mn-cs"/>
              </a:rPr>
              <a:t>[</a:t>
            </a:r>
            <a:r>
              <a:rPr kumimoji="1" lang="zh-TW" altLang="en-US" sz="1100" kern="1200">
                <a:solidFill>
                  <a:srgbClr val="1C1E20"/>
                </a:solidFill>
                <a:latin typeface="+mn-lt"/>
                <a:ea typeface="+mn-ea"/>
                <a:cs typeface="+mn-cs"/>
              </a:rPr>
              <a:t>關鍵字</a:t>
            </a:r>
            <a:r>
              <a:rPr kumimoji="1" lang="en-US" altLang="zh-TW" sz="1100" kern="1200">
                <a:solidFill>
                  <a:srgbClr val="1C1E20"/>
                </a:solidFill>
                <a:latin typeface="+mn-lt"/>
                <a:ea typeface="+mn-ea"/>
                <a:cs typeface="+mn-cs"/>
              </a:rPr>
              <a:t>] </a:t>
            </a:r>
            <a:r>
              <a:rPr kumimoji="1" lang="zh-TW" altLang="en-US" sz="1100" kern="1200">
                <a:solidFill>
                  <a:srgbClr val="1C1E20"/>
                </a:solidFill>
                <a:latin typeface="+mn-lt"/>
                <a:ea typeface="+mn-ea"/>
                <a:cs typeface="+mn-cs"/>
              </a:rPr>
              <a:t>合利他命</a:t>
            </a:r>
            <a:r>
              <a:rPr kumimoji="1" lang="en" altLang="zh-TW" sz="1100" kern="1200">
                <a:solidFill>
                  <a:srgbClr val="1C1E20"/>
                </a:solidFill>
                <a:latin typeface="+mn-lt"/>
                <a:ea typeface="+mn-ea"/>
                <a:cs typeface="+mn-cs"/>
              </a:rPr>
              <a:t>EXPLUS 10</a:t>
            </a:r>
            <a:r>
              <a:rPr kumimoji="1" lang="zh-TW" altLang="en-US" sz="1100" kern="1200">
                <a:solidFill>
                  <a:srgbClr val="1C1E20"/>
                </a:solidFill>
                <a:latin typeface="+mn-lt"/>
                <a:ea typeface="+mn-ea"/>
                <a:cs typeface="+mn-cs"/>
              </a:rPr>
              <a:t>月</a:t>
            </a:r>
          </a:p>
        </p:txBody>
      </p:sp>
      <p:sp>
        <p:nvSpPr>
          <p:cNvPr id="15" name="文字方塊 14">
            <a:extLst>
              <a:ext uri="{FF2B5EF4-FFF2-40B4-BE49-F238E27FC236}">
                <a16:creationId xmlns:a16="http://schemas.microsoft.com/office/drawing/2014/main" id="{CD158C3D-A4ED-D75C-3DC4-5CBD2749C548}"/>
              </a:ext>
            </a:extLst>
          </p:cNvPr>
          <p:cNvSpPr txBox="1"/>
          <p:nvPr/>
        </p:nvSpPr>
        <p:spPr>
          <a:xfrm>
            <a:off x="2786448" y="3648382"/>
            <a:ext cx="3432647" cy="215444"/>
          </a:xfrm>
          <a:prstGeom prst="rect">
            <a:avLst/>
          </a:prstGeom>
          <a:solidFill>
            <a:schemeClr val="bg1"/>
          </a:solidFill>
        </p:spPr>
        <p:txBody>
          <a:bodyPr wrap="square">
            <a:spAutoFit/>
          </a:bodyPr>
          <a:lstStyle/>
          <a:p>
            <a:pPr lvl="0">
              <a:defRPr/>
            </a:pPr>
            <a:r>
              <a:rPr kumimoji="1" lang="en" altLang="zh-TW" sz="800">
                <a:solidFill>
                  <a:schemeClr val="bg1">
                    <a:lumMod val="65000"/>
                  </a:schemeClr>
                </a:solidFill>
              </a:rPr>
              <a:t>Brand Keyword AI Exploration</a:t>
            </a:r>
          </a:p>
        </p:txBody>
      </p:sp>
      <p:sp>
        <p:nvSpPr>
          <p:cNvPr id="16" name="矩形 15">
            <a:extLst>
              <a:ext uri="{FF2B5EF4-FFF2-40B4-BE49-F238E27FC236}">
                <a16:creationId xmlns:a16="http://schemas.microsoft.com/office/drawing/2014/main" id="{AED6FA57-0DBB-58E1-56F7-A258EBA6B6BE}"/>
              </a:ext>
            </a:extLst>
          </p:cNvPr>
          <p:cNvSpPr/>
          <p:nvPr/>
        </p:nvSpPr>
        <p:spPr>
          <a:xfrm>
            <a:off x="2529365" y="2875728"/>
            <a:ext cx="3744000" cy="3019420"/>
          </a:xfrm>
          <a:prstGeom prst="rect">
            <a:avLst/>
          </a:prstGeom>
          <a:solidFill>
            <a:srgbClr val="F5F8F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7" name="矩形 16">
            <a:extLst>
              <a:ext uri="{FF2B5EF4-FFF2-40B4-BE49-F238E27FC236}">
                <a16:creationId xmlns:a16="http://schemas.microsoft.com/office/drawing/2014/main" id="{C0EA7814-2199-03A8-85C9-342986E55279}"/>
              </a:ext>
            </a:extLst>
          </p:cNvPr>
          <p:cNvSpPr/>
          <p:nvPr/>
        </p:nvSpPr>
        <p:spPr>
          <a:xfrm>
            <a:off x="6204764" y="1304175"/>
            <a:ext cx="68601" cy="620494"/>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pic>
        <p:nvPicPr>
          <p:cNvPr id="18" name="圖片 17">
            <a:extLst>
              <a:ext uri="{FF2B5EF4-FFF2-40B4-BE49-F238E27FC236}">
                <a16:creationId xmlns:a16="http://schemas.microsoft.com/office/drawing/2014/main" id="{E2F86943-DD0E-8822-0EF7-745942FCCA57}"/>
              </a:ext>
            </a:extLst>
          </p:cNvPr>
          <p:cNvPicPr>
            <a:picLocks noChangeAspect="1"/>
          </p:cNvPicPr>
          <p:nvPr/>
        </p:nvPicPr>
        <p:blipFill>
          <a:blip r:embed="rId3"/>
          <a:stretch>
            <a:fillRect/>
          </a:stretch>
        </p:blipFill>
        <p:spPr>
          <a:xfrm>
            <a:off x="4137561" y="1574437"/>
            <a:ext cx="184348" cy="184348"/>
          </a:xfrm>
          <a:prstGeom prst="rect">
            <a:avLst/>
          </a:prstGeom>
        </p:spPr>
      </p:pic>
      <p:sp>
        <p:nvSpPr>
          <p:cNvPr id="27" name="圓角矩形圖說文字 26">
            <a:extLst>
              <a:ext uri="{FF2B5EF4-FFF2-40B4-BE49-F238E27FC236}">
                <a16:creationId xmlns:a16="http://schemas.microsoft.com/office/drawing/2014/main" id="{FCA49F61-3755-0B74-12ED-8D2239AE6260}"/>
              </a:ext>
            </a:extLst>
          </p:cNvPr>
          <p:cNvSpPr/>
          <p:nvPr/>
        </p:nvSpPr>
        <p:spPr>
          <a:xfrm>
            <a:off x="4242250" y="1088200"/>
            <a:ext cx="1112981" cy="310159"/>
          </a:xfrm>
          <a:prstGeom prst="wedgeRoundRectCallout">
            <a:avLst>
              <a:gd name="adj1" fmla="val -47230"/>
              <a:gd name="adj2" fmla="val 90609"/>
              <a:gd name="adj3" fmla="val 16667"/>
            </a:avLst>
          </a:prstGeom>
          <a:solidFill>
            <a:srgbClr val="2F313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fontAlgn="base"/>
            <a:r>
              <a:rPr lang="en-US" altLang="zh-TW" sz="1000">
                <a:solidFill>
                  <a:schemeClr val="bg1"/>
                </a:solidFill>
                <a:latin typeface="Google Sans Text"/>
              </a:rPr>
              <a:t>No unique users.</a:t>
            </a:r>
            <a:endParaRPr lang="en" altLang="zh-TW" sz="1000">
              <a:solidFill>
                <a:schemeClr val="bg1"/>
              </a:solidFill>
              <a:latin typeface="Google Sans Text"/>
            </a:endParaRPr>
          </a:p>
        </p:txBody>
      </p:sp>
      <p:sp>
        <p:nvSpPr>
          <p:cNvPr id="28" name="文字方塊 27">
            <a:extLst>
              <a:ext uri="{FF2B5EF4-FFF2-40B4-BE49-F238E27FC236}">
                <a16:creationId xmlns:a16="http://schemas.microsoft.com/office/drawing/2014/main" id="{8E4FCFC8-BBDB-31B4-FBCB-02150329D583}"/>
              </a:ext>
            </a:extLst>
          </p:cNvPr>
          <p:cNvSpPr txBox="1"/>
          <p:nvPr/>
        </p:nvSpPr>
        <p:spPr>
          <a:xfrm>
            <a:off x="4137561" y="690794"/>
            <a:ext cx="1603482" cy="369332"/>
          </a:xfrm>
          <a:prstGeom prst="rect">
            <a:avLst/>
          </a:prstGeom>
          <a:solidFill>
            <a:srgbClr val="FBE4D7"/>
          </a:solidFill>
        </p:spPr>
        <p:txBody>
          <a:bodyPr wrap="square">
            <a:spAutoFit/>
          </a:bodyPr>
          <a:lstStyle/>
          <a:p>
            <a:r>
              <a:rPr lang="zh-TW" altLang="en-US"/>
              <a:t>無有效受眾。</a:t>
            </a:r>
          </a:p>
        </p:txBody>
      </p:sp>
      <p:sp>
        <p:nvSpPr>
          <p:cNvPr id="29" name="文字方塊 28">
            <a:extLst>
              <a:ext uri="{FF2B5EF4-FFF2-40B4-BE49-F238E27FC236}">
                <a16:creationId xmlns:a16="http://schemas.microsoft.com/office/drawing/2014/main" id="{ED60486A-C097-A803-F176-BE3A7BB4A515}"/>
              </a:ext>
            </a:extLst>
          </p:cNvPr>
          <p:cNvSpPr txBox="1"/>
          <p:nvPr/>
        </p:nvSpPr>
        <p:spPr>
          <a:xfrm>
            <a:off x="5100188" y="32290"/>
            <a:ext cx="2608551" cy="369332"/>
          </a:xfrm>
          <a:prstGeom prst="rect">
            <a:avLst/>
          </a:prstGeom>
          <a:solidFill>
            <a:srgbClr val="FBE4D7"/>
          </a:solidFill>
        </p:spPr>
        <p:txBody>
          <a:bodyPr wrap="square">
            <a:spAutoFit/>
          </a:bodyPr>
          <a:lstStyle/>
          <a:p>
            <a:r>
              <a:rPr lang="zh-TW" altLang="en-US"/>
              <a:t>數據鎖定 </a:t>
            </a:r>
            <a:r>
              <a:rPr lang="en-US" altLang="zh-TW"/>
              <a:t>– </a:t>
            </a:r>
            <a:r>
              <a:rPr lang="zh-TW" altLang="en-US"/>
              <a:t>客製受眾包</a:t>
            </a:r>
          </a:p>
        </p:txBody>
      </p:sp>
      <p:sp>
        <p:nvSpPr>
          <p:cNvPr id="30" name="文字方塊 29">
            <a:extLst>
              <a:ext uri="{FF2B5EF4-FFF2-40B4-BE49-F238E27FC236}">
                <a16:creationId xmlns:a16="http://schemas.microsoft.com/office/drawing/2014/main" id="{5602A6B7-CF8E-104F-A7A8-DB234E143B1B}"/>
              </a:ext>
            </a:extLst>
          </p:cNvPr>
          <p:cNvSpPr txBox="1"/>
          <p:nvPr/>
        </p:nvSpPr>
        <p:spPr>
          <a:xfrm>
            <a:off x="378381" y="1503781"/>
            <a:ext cx="2386571" cy="369332"/>
          </a:xfrm>
          <a:prstGeom prst="rect">
            <a:avLst/>
          </a:prstGeom>
          <a:solidFill>
            <a:srgbClr val="FBE4D7"/>
          </a:solidFill>
        </p:spPr>
        <p:txBody>
          <a:bodyPr wrap="square">
            <a:spAutoFit/>
          </a:bodyPr>
          <a:lstStyle/>
          <a:p>
            <a:r>
              <a:rPr lang="zh-TW" altLang="en-US"/>
              <a:t>線下 </a:t>
            </a:r>
            <a:r>
              <a:rPr lang="en" altLang="zh-TW"/>
              <a:t>POI</a:t>
            </a:r>
            <a:endParaRPr lang="zh-TW" altLang="en-US"/>
          </a:p>
        </p:txBody>
      </p:sp>
      <p:sp>
        <p:nvSpPr>
          <p:cNvPr id="31" name="文字方塊 30">
            <a:extLst>
              <a:ext uri="{FF2B5EF4-FFF2-40B4-BE49-F238E27FC236}">
                <a16:creationId xmlns:a16="http://schemas.microsoft.com/office/drawing/2014/main" id="{BAAE4363-1A18-2E4C-A211-9B339FD20D11}"/>
              </a:ext>
            </a:extLst>
          </p:cNvPr>
          <p:cNvSpPr txBox="1"/>
          <p:nvPr/>
        </p:nvSpPr>
        <p:spPr>
          <a:xfrm>
            <a:off x="381965" y="2073449"/>
            <a:ext cx="2372240" cy="369332"/>
          </a:xfrm>
          <a:prstGeom prst="rect">
            <a:avLst/>
          </a:prstGeom>
          <a:solidFill>
            <a:srgbClr val="FBE4D7"/>
          </a:solidFill>
        </p:spPr>
        <p:txBody>
          <a:bodyPr wrap="square">
            <a:spAutoFit/>
          </a:bodyPr>
          <a:lstStyle/>
          <a:p>
            <a:r>
              <a:rPr lang="en" altLang="zh-TW"/>
              <a:t>Webb </a:t>
            </a:r>
            <a:r>
              <a:rPr lang="zh-TW" altLang="en-US"/>
              <a:t>零售數據 </a:t>
            </a:r>
            <a:r>
              <a:rPr lang="en-US" altLang="zh-TW"/>
              <a:t>(</a:t>
            </a:r>
            <a:r>
              <a:rPr lang="zh-TW" altLang="en-US"/>
              <a:t>購買</a:t>
            </a:r>
            <a:r>
              <a:rPr lang="en-US" altLang="zh-TW"/>
              <a:t>)</a:t>
            </a:r>
            <a:endParaRPr lang="zh-TW" altLang="en-US"/>
          </a:p>
        </p:txBody>
      </p:sp>
      <p:sp>
        <p:nvSpPr>
          <p:cNvPr id="32" name="文字方塊 31">
            <a:extLst>
              <a:ext uri="{FF2B5EF4-FFF2-40B4-BE49-F238E27FC236}">
                <a16:creationId xmlns:a16="http://schemas.microsoft.com/office/drawing/2014/main" id="{E0B71337-169D-F7BB-791E-41C7956B07D6}"/>
              </a:ext>
            </a:extLst>
          </p:cNvPr>
          <p:cNvSpPr txBox="1"/>
          <p:nvPr/>
        </p:nvSpPr>
        <p:spPr>
          <a:xfrm>
            <a:off x="378381" y="2621023"/>
            <a:ext cx="2372240" cy="369332"/>
          </a:xfrm>
          <a:prstGeom prst="rect">
            <a:avLst/>
          </a:prstGeom>
          <a:solidFill>
            <a:srgbClr val="FBE4D7"/>
          </a:solidFill>
        </p:spPr>
        <p:txBody>
          <a:bodyPr wrap="square">
            <a:spAutoFit/>
          </a:bodyPr>
          <a:lstStyle/>
          <a:p>
            <a:r>
              <a:rPr lang="zh-TW" altLang="en-US"/>
              <a:t>產業 </a:t>
            </a:r>
            <a:r>
              <a:rPr lang="en" altLang="zh-TW"/>
              <a:t>Shopper Graph</a:t>
            </a:r>
            <a:endParaRPr lang="zh-TW" altLang="en-US"/>
          </a:p>
        </p:txBody>
      </p:sp>
    </p:spTree>
    <p:extLst>
      <p:ext uri="{BB962C8B-B14F-4D97-AF65-F5344CB8AC3E}">
        <p14:creationId xmlns:p14="http://schemas.microsoft.com/office/powerpoint/2010/main" val="4220138619"/>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圖片 7" descr="一張含有 文字, 數字, 字型, 螢幕擷取畫面 的圖片&#10;&#10;AI 產生的內容可能不正確。">
            <a:extLst>
              <a:ext uri="{FF2B5EF4-FFF2-40B4-BE49-F238E27FC236}">
                <a16:creationId xmlns:a16="http://schemas.microsoft.com/office/drawing/2014/main" id="{1931C15C-F71B-ECC2-ADBA-CD613F75F4BE}"/>
              </a:ext>
            </a:extLst>
          </p:cNvPr>
          <p:cNvPicPr>
            <a:picLocks noChangeAspect="1"/>
          </p:cNvPicPr>
          <p:nvPr/>
        </p:nvPicPr>
        <p:blipFill>
          <a:blip r:embed="rId2"/>
          <a:srcRect b="29706"/>
          <a:stretch>
            <a:fillRect/>
          </a:stretch>
        </p:blipFill>
        <p:spPr>
          <a:xfrm>
            <a:off x="930954" y="883056"/>
            <a:ext cx="10330092" cy="4526918"/>
          </a:xfrm>
          <a:prstGeom prst="rect">
            <a:avLst/>
          </a:prstGeom>
        </p:spPr>
      </p:pic>
      <p:sp>
        <p:nvSpPr>
          <p:cNvPr id="9" name="文字方塊 8">
            <a:extLst>
              <a:ext uri="{FF2B5EF4-FFF2-40B4-BE49-F238E27FC236}">
                <a16:creationId xmlns:a16="http://schemas.microsoft.com/office/drawing/2014/main" id="{1AA3669C-2529-9CB0-D259-8EC86FAA8D91}"/>
              </a:ext>
            </a:extLst>
          </p:cNvPr>
          <p:cNvSpPr txBox="1"/>
          <p:nvPr/>
        </p:nvSpPr>
        <p:spPr>
          <a:xfrm>
            <a:off x="1357912" y="1896443"/>
            <a:ext cx="1993900" cy="307777"/>
          </a:xfrm>
          <a:prstGeom prst="rect">
            <a:avLst/>
          </a:prstGeom>
          <a:solidFill>
            <a:schemeClr val="bg1"/>
          </a:solidFill>
        </p:spPr>
        <p:txBody>
          <a:bodyPr wrap="square" rtlCol="0">
            <a:spAutoFit/>
          </a:bodyPr>
          <a:lstStyle/>
          <a:p>
            <a:r>
              <a:rPr kumimoji="1" lang="en-US" altLang="zh-TW" sz="1400">
                <a:solidFill>
                  <a:srgbClr val="1C1E20"/>
                </a:solidFill>
              </a:rPr>
              <a:t>Custom Audience</a:t>
            </a:r>
            <a:endParaRPr kumimoji="1" lang="zh-TW" altLang="en-US" sz="1400">
              <a:solidFill>
                <a:srgbClr val="1C1E20"/>
              </a:solidFill>
            </a:endParaRPr>
          </a:p>
        </p:txBody>
      </p:sp>
      <p:sp>
        <p:nvSpPr>
          <p:cNvPr id="10" name="文字方塊 9">
            <a:extLst>
              <a:ext uri="{FF2B5EF4-FFF2-40B4-BE49-F238E27FC236}">
                <a16:creationId xmlns:a16="http://schemas.microsoft.com/office/drawing/2014/main" id="{27CCFF53-CC8B-160E-D28D-C39AC61D4084}"/>
              </a:ext>
            </a:extLst>
          </p:cNvPr>
          <p:cNvSpPr txBox="1"/>
          <p:nvPr/>
        </p:nvSpPr>
        <p:spPr>
          <a:xfrm>
            <a:off x="1357912" y="4600054"/>
            <a:ext cx="1993900" cy="307777"/>
          </a:xfrm>
          <a:prstGeom prst="rect">
            <a:avLst/>
          </a:prstGeom>
          <a:solidFill>
            <a:schemeClr val="bg1"/>
          </a:solidFill>
        </p:spPr>
        <p:txBody>
          <a:bodyPr wrap="square" rtlCol="0">
            <a:spAutoFit/>
          </a:bodyPr>
          <a:lstStyle/>
          <a:p>
            <a:r>
              <a:rPr kumimoji="1" lang="en-US" altLang="zh-TW" sz="1400">
                <a:solidFill>
                  <a:srgbClr val="1C1E20"/>
                </a:solidFill>
              </a:rPr>
              <a:t>Campaign Audience</a:t>
            </a:r>
            <a:endParaRPr kumimoji="1" lang="zh-TW" altLang="en-US" sz="1400">
              <a:solidFill>
                <a:srgbClr val="1C1E20"/>
              </a:solidFill>
            </a:endParaRPr>
          </a:p>
        </p:txBody>
      </p:sp>
      <p:sp>
        <p:nvSpPr>
          <p:cNvPr id="11" name="矩形 10">
            <a:extLst>
              <a:ext uri="{FF2B5EF4-FFF2-40B4-BE49-F238E27FC236}">
                <a16:creationId xmlns:a16="http://schemas.microsoft.com/office/drawing/2014/main" id="{08A181ED-53D6-70A1-291F-950BCF54CF1A}"/>
              </a:ext>
            </a:extLst>
          </p:cNvPr>
          <p:cNvSpPr/>
          <p:nvPr/>
        </p:nvSpPr>
        <p:spPr>
          <a:xfrm>
            <a:off x="1231899" y="5274691"/>
            <a:ext cx="9732433" cy="348324"/>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2" name="文字方塊 11">
            <a:extLst>
              <a:ext uri="{FF2B5EF4-FFF2-40B4-BE49-F238E27FC236}">
                <a16:creationId xmlns:a16="http://schemas.microsoft.com/office/drawing/2014/main" id="{81AAA518-F2E9-E407-68CA-55C83E6B5AA0}"/>
              </a:ext>
            </a:extLst>
          </p:cNvPr>
          <p:cNvSpPr txBox="1"/>
          <p:nvPr/>
        </p:nvSpPr>
        <p:spPr>
          <a:xfrm>
            <a:off x="1357912" y="5047348"/>
            <a:ext cx="1993900" cy="307777"/>
          </a:xfrm>
          <a:prstGeom prst="rect">
            <a:avLst/>
          </a:prstGeom>
          <a:solidFill>
            <a:schemeClr val="bg1"/>
          </a:solidFill>
        </p:spPr>
        <p:txBody>
          <a:bodyPr wrap="square" rtlCol="0">
            <a:spAutoFit/>
          </a:bodyPr>
          <a:lstStyle/>
          <a:p>
            <a:r>
              <a:rPr kumimoji="1" lang="en-US" altLang="zh-TW" sz="1400">
                <a:solidFill>
                  <a:srgbClr val="1C1E20"/>
                </a:solidFill>
              </a:rPr>
              <a:t>Web Traffic Audience</a:t>
            </a:r>
            <a:endParaRPr kumimoji="1" lang="zh-TW" altLang="en-US" sz="1400">
              <a:solidFill>
                <a:srgbClr val="1C1E20"/>
              </a:solidFill>
            </a:endParaRPr>
          </a:p>
        </p:txBody>
      </p:sp>
      <p:sp>
        <p:nvSpPr>
          <p:cNvPr id="13" name="文字方塊 12">
            <a:extLst>
              <a:ext uri="{FF2B5EF4-FFF2-40B4-BE49-F238E27FC236}">
                <a16:creationId xmlns:a16="http://schemas.microsoft.com/office/drawing/2014/main" id="{35F80F04-5071-BB25-A73B-7E4EA4EA4B77}"/>
              </a:ext>
            </a:extLst>
          </p:cNvPr>
          <p:cNvSpPr txBox="1"/>
          <p:nvPr/>
        </p:nvSpPr>
        <p:spPr>
          <a:xfrm>
            <a:off x="4456712" y="1896443"/>
            <a:ext cx="3658588" cy="538609"/>
          </a:xfrm>
          <a:prstGeom prst="rect">
            <a:avLst/>
          </a:prstGeom>
          <a:solidFill>
            <a:schemeClr val="bg1"/>
          </a:solidFill>
        </p:spPr>
        <p:txBody>
          <a:bodyPr wrap="square" rtlCol="0">
            <a:spAutoFit/>
          </a:bodyPr>
          <a:lstStyle/>
          <a:p>
            <a:pPr lvl="0">
              <a:defRPr/>
            </a:pPr>
            <a:r>
              <a:rPr kumimoji="1" lang="en-US" altLang="zh-TW" sz="1200">
                <a:solidFill>
                  <a:srgbClr val="4E4E4E"/>
                </a:solidFill>
              </a:rPr>
              <a:t>[</a:t>
            </a:r>
            <a:r>
              <a:rPr kumimoji="1" lang="zh-TW" altLang="en-US" sz="1200">
                <a:solidFill>
                  <a:srgbClr val="4E4E4E"/>
                </a:solidFill>
              </a:rPr>
              <a:t>線下</a:t>
            </a:r>
            <a:r>
              <a:rPr kumimoji="1" lang="en" altLang="zh-TW" sz="1200">
                <a:solidFill>
                  <a:srgbClr val="4E4E4E"/>
                </a:solidFill>
              </a:rPr>
              <a:t>POI] </a:t>
            </a:r>
            <a:r>
              <a:rPr kumimoji="1" lang="zh-TW" altLang="en-US" sz="1200">
                <a:solidFill>
                  <a:srgbClr val="4E4E4E"/>
                </a:solidFill>
              </a:rPr>
              <a:t>合利他命</a:t>
            </a:r>
            <a:r>
              <a:rPr kumimoji="1" lang="en" altLang="zh-TW" sz="1200">
                <a:solidFill>
                  <a:srgbClr val="4E4E4E"/>
                </a:solidFill>
              </a:rPr>
              <a:t>EXPLUS 10</a:t>
            </a:r>
            <a:r>
              <a:rPr kumimoji="1" lang="zh-TW" altLang="en-US" sz="1200">
                <a:solidFill>
                  <a:srgbClr val="4E4E4E"/>
                </a:solidFill>
              </a:rPr>
              <a:t>月</a:t>
            </a:r>
            <a:endParaRPr kumimoji="1" lang="en-US" altLang="zh-TW" sz="1200">
              <a:solidFill>
                <a:srgbClr val="4E4E4E"/>
              </a:solidFill>
            </a:endParaRPr>
          </a:p>
          <a:p>
            <a:pPr lvl="0">
              <a:defRPr/>
            </a:pPr>
            <a:endParaRPr kumimoji="1" lang="en-US" altLang="zh-TW" sz="500">
              <a:solidFill>
                <a:srgbClr val="4E4E4E"/>
              </a:solidFill>
            </a:endParaRPr>
          </a:p>
          <a:p>
            <a:pPr>
              <a:defRPr/>
            </a:pPr>
            <a:r>
              <a:rPr kumimoji="1" lang="en" altLang="zh-TW" sz="1200">
                <a:solidFill>
                  <a:srgbClr val="4E4E4E"/>
                </a:solidFill>
              </a:rPr>
              <a:t>[Webb</a:t>
            </a:r>
            <a:r>
              <a:rPr kumimoji="1" lang="zh-TW" altLang="en-US" sz="1200">
                <a:solidFill>
                  <a:srgbClr val="4E4E4E"/>
                </a:solidFill>
              </a:rPr>
              <a:t>零售數據</a:t>
            </a:r>
            <a:r>
              <a:rPr kumimoji="1" lang="en-US" altLang="zh-TW" sz="1200">
                <a:solidFill>
                  <a:srgbClr val="4E4E4E"/>
                </a:solidFill>
              </a:rPr>
              <a:t>-</a:t>
            </a:r>
            <a:r>
              <a:rPr kumimoji="1" lang="zh-TW" altLang="en-US" sz="1200">
                <a:solidFill>
                  <a:srgbClr val="4E4E4E"/>
                </a:solidFill>
              </a:rPr>
              <a:t>購買</a:t>
            </a:r>
            <a:r>
              <a:rPr kumimoji="1" lang="en-US" altLang="zh-TW" sz="1200">
                <a:solidFill>
                  <a:srgbClr val="4E4E4E"/>
                </a:solidFill>
              </a:rPr>
              <a:t>] </a:t>
            </a:r>
            <a:r>
              <a:rPr kumimoji="1" lang="zh-TW" altLang="en-US" sz="1200">
                <a:solidFill>
                  <a:srgbClr val="4E4E4E"/>
                </a:solidFill>
              </a:rPr>
              <a:t>合利他命</a:t>
            </a:r>
            <a:r>
              <a:rPr kumimoji="1" lang="en" altLang="zh-TW" sz="1200">
                <a:solidFill>
                  <a:srgbClr val="4E4E4E"/>
                </a:solidFill>
              </a:rPr>
              <a:t>EXPLUS 10</a:t>
            </a:r>
            <a:r>
              <a:rPr kumimoji="1" lang="zh-TW" altLang="en-US" sz="1200">
                <a:solidFill>
                  <a:srgbClr val="4E4E4E"/>
                </a:solidFill>
              </a:rPr>
              <a:t>月</a:t>
            </a:r>
            <a:endParaRPr kumimoji="1" lang="en-US" altLang="zh-TW" sz="1200">
              <a:solidFill>
                <a:srgbClr val="4E4E4E"/>
              </a:solidFill>
            </a:endParaRPr>
          </a:p>
        </p:txBody>
      </p:sp>
      <p:pic>
        <p:nvPicPr>
          <p:cNvPr id="14" name="圖片 13">
            <a:extLst>
              <a:ext uri="{FF2B5EF4-FFF2-40B4-BE49-F238E27FC236}">
                <a16:creationId xmlns:a16="http://schemas.microsoft.com/office/drawing/2014/main" id="{AE2A8AB9-CD29-066F-E5C4-E1D1D0F81231}"/>
              </a:ext>
            </a:extLst>
          </p:cNvPr>
          <p:cNvPicPr>
            <a:picLocks noChangeAspect="1"/>
          </p:cNvPicPr>
          <p:nvPr/>
        </p:nvPicPr>
        <p:blipFill>
          <a:blip r:embed="rId3"/>
          <a:stretch>
            <a:fillRect/>
          </a:stretch>
        </p:blipFill>
        <p:spPr>
          <a:xfrm>
            <a:off x="6692594" y="1910096"/>
            <a:ext cx="251999" cy="251999"/>
          </a:xfrm>
          <a:prstGeom prst="rect">
            <a:avLst/>
          </a:prstGeom>
        </p:spPr>
      </p:pic>
      <p:pic>
        <p:nvPicPr>
          <p:cNvPr id="15" name="圖片 14">
            <a:extLst>
              <a:ext uri="{FF2B5EF4-FFF2-40B4-BE49-F238E27FC236}">
                <a16:creationId xmlns:a16="http://schemas.microsoft.com/office/drawing/2014/main" id="{02874431-771A-1667-71EC-A2B1F8A1D863}"/>
              </a:ext>
            </a:extLst>
          </p:cNvPr>
          <p:cNvPicPr>
            <a:picLocks noChangeAspect="1"/>
          </p:cNvPicPr>
          <p:nvPr/>
        </p:nvPicPr>
        <p:blipFill>
          <a:blip r:embed="rId4"/>
          <a:stretch>
            <a:fillRect/>
          </a:stretch>
        </p:blipFill>
        <p:spPr>
          <a:xfrm flipH="1">
            <a:off x="7503924" y="2159659"/>
            <a:ext cx="254609" cy="254609"/>
          </a:xfrm>
          <a:prstGeom prst="rect">
            <a:avLst/>
          </a:prstGeom>
        </p:spPr>
      </p:pic>
      <p:sp>
        <p:nvSpPr>
          <p:cNvPr id="16" name="圓角矩形圖說文字 15">
            <a:extLst>
              <a:ext uri="{FF2B5EF4-FFF2-40B4-BE49-F238E27FC236}">
                <a16:creationId xmlns:a16="http://schemas.microsoft.com/office/drawing/2014/main" id="{7183D65C-980F-4538-BA85-B13E64DA688A}"/>
              </a:ext>
            </a:extLst>
          </p:cNvPr>
          <p:cNvSpPr/>
          <p:nvPr/>
        </p:nvSpPr>
        <p:spPr>
          <a:xfrm>
            <a:off x="6661364" y="1402854"/>
            <a:ext cx="1112981" cy="310159"/>
          </a:xfrm>
          <a:prstGeom prst="wedgeRoundRectCallout">
            <a:avLst>
              <a:gd name="adj1" fmla="val -35819"/>
              <a:gd name="adj2" fmla="val 106988"/>
              <a:gd name="adj3" fmla="val 16667"/>
            </a:avLst>
          </a:prstGeom>
          <a:solidFill>
            <a:srgbClr val="2F313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fontAlgn="base"/>
            <a:r>
              <a:rPr lang="en-US" altLang="zh-TW" sz="1000">
                <a:solidFill>
                  <a:schemeClr val="bg1"/>
                </a:solidFill>
                <a:latin typeface="Google Sans Text"/>
              </a:rPr>
              <a:t>No unique users.</a:t>
            </a:r>
            <a:endParaRPr lang="en" altLang="zh-TW" sz="1000">
              <a:solidFill>
                <a:schemeClr val="bg1"/>
              </a:solidFill>
              <a:latin typeface="Google Sans Text"/>
            </a:endParaRPr>
          </a:p>
        </p:txBody>
      </p:sp>
      <p:sp>
        <p:nvSpPr>
          <p:cNvPr id="17" name="圓角矩形圖說文字 16">
            <a:extLst>
              <a:ext uri="{FF2B5EF4-FFF2-40B4-BE49-F238E27FC236}">
                <a16:creationId xmlns:a16="http://schemas.microsoft.com/office/drawing/2014/main" id="{1CF3E4E6-5A42-C7A2-1801-82ECAD9B8615}"/>
              </a:ext>
            </a:extLst>
          </p:cNvPr>
          <p:cNvSpPr/>
          <p:nvPr/>
        </p:nvSpPr>
        <p:spPr>
          <a:xfrm>
            <a:off x="7868788" y="1217515"/>
            <a:ext cx="2426867" cy="692581"/>
          </a:xfrm>
          <a:prstGeom prst="wedgeRoundRectCallout">
            <a:avLst>
              <a:gd name="adj1" fmla="val -54556"/>
              <a:gd name="adj2" fmla="val 97944"/>
              <a:gd name="adj3" fmla="val 16667"/>
            </a:avLst>
          </a:prstGeom>
          <a:solidFill>
            <a:srgbClr val="2F313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fontAlgn="base"/>
            <a:r>
              <a:rPr lang="en" altLang="zh-TW" sz="1000"/>
              <a:t>The audience pack has expired and will be automatically removed from the ad group upon saving.</a:t>
            </a:r>
            <a:endParaRPr lang="en" altLang="zh-TW" sz="1000">
              <a:solidFill>
                <a:schemeClr val="bg1"/>
              </a:solidFill>
              <a:latin typeface="Google Sans Text"/>
            </a:endParaRPr>
          </a:p>
        </p:txBody>
      </p:sp>
      <p:sp>
        <p:nvSpPr>
          <p:cNvPr id="7" name="文字方塊 6">
            <a:extLst>
              <a:ext uri="{FF2B5EF4-FFF2-40B4-BE49-F238E27FC236}">
                <a16:creationId xmlns:a16="http://schemas.microsoft.com/office/drawing/2014/main" id="{0248B95B-DB83-268F-33D9-2821FF004973}"/>
              </a:ext>
            </a:extLst>
          </p:cNvPr>
          <p:cNvSpPr txBox="1"/>
          <p:nvPr/>
        </p:nvSpPr>
        <p:spPr>
          <a:xfrm>
            <a:off x="7868788" y="230894"/>
            <a:ext cx="3492500" cy="923330"/>
          </a:xfrm>
          <a:prstGeom prst="rect">
            <a:avLst/>
          </a:prstGeom>
          <a:solidFill>
            <a:srgbClr val="FBE4D7"/>
          </a:solidFill>
        </p:spPr>
        <p:txBody>
          <a:bodyPr wrap="square">
            <a:spAutoFit/>
          </a:bodyPr>
          <a:lstStyle/>
          <a:p>
            <a:r>
              <a:rPr lang="zh-TW" altLang="en-US" b="0" i="0">
                <a:effectLst/>
                <a:latin typeface="fkGroteskNeue"/>
              </a:rPr>
              <a:t>受眾包已過期，系統會在儲存廣告組合時自動將其從廣告組合中移除。</a:t>
            </a:r>
            <a:endParaRPr lang="zh-TW" altLang="en-US"/>
          </a:p>
        </p:txBody>
      </p:sp>
      <p:sp>
        <p:nvSpPr>
          <p:cNvPr id="2" name="文字方塊 1">
            <a:extLst>
              <a:ext uri="{FF2B5EF4-FFF2-40B4-BE49-F238E27FC236}">
                <a16:creationId xmlns:a16="http://schemas.microsoft.com/office/drawing/2014/main" id="{72809ADC-2E82-54BB-5146-53A83B79A739}"/>
              </a:ext>
            </a:extLst>
          </p:cNvPr>
          <p:cNvSpPr txBox="1"/>
          <p:nvPr/>
        </p:nvSpPr>
        <p:spPr>
          <a:xfrm>
            <a:off x="6165064" y="989932"/>
            <a:ext cx="1603482" cy="369332"/>
          </a:xfrm>
          <a:prstGeom prst="rect">
            <a:avLst/>
          </a:prstGeom>
          <a:solidFill>
            <a:srgbClr val="FBE4D7"/>
          </a:solidFill>
        </p:spPr>
        <p:txBody>
          <a:bodyPr wrap="square">
            <a:spAutoFit/>
          </a:bodyPr>
          <a:lstStyle/>
          <a:p>
            <a:r>
              <a:rPr lang="zh-TW" altLang="en-US"/>
              <a:t>無有效受眾。</a:t>
            </a:r>
          </a:p>
        </p:txBody>
      </p:sp>
      <p:sp>
        <p:nvSpPr>
          <p:cNvPr id="3" name="文字方塊 2">
            <a:extLst>
              <a:ext uri="{FF2B5EF4-FFF2-40B4-BE49-F238E27FC236}">
                <a16:creationId xmlns:a16="http://schemas.microsoft.com/office/drawing/2014/main" id="{488570E7-7207-2668-E45B-3D067774EF6A}"/>
              </a:ext>
            </a:extLst>
          </p:cNvPr>
          <p:cNvSpPr txBox="1"/>
          <p:nvPr/>
        </p:nvSpPr>
        <p:spPr>
          <a:xfrm>
            <a:off x="29836" y="1850239"/>
            <a:ext cx="1328076" cy="369332"/>
          </a:xfrm>
          <a:prstGeom prst="rect">
            <a:avLst/>
          </a:prstGeom>
          <a:solidFill>
            <a:srgbClr val="FBE4D7"/>
          </a:solidFill>
        </p:spPr>
        <p:txBody>
          <a:bodyPr wrap="square">
            <a:spAutoFit/>
          </a:bodyPr>
          <a:lstStyle/>
          <a:p>
            <a:r>
              <a:rPr lang="zh-TW" altLang="en-US" b="0" i="0">
                <a:effectLst/>
                <a:latin typeface="fkGroteskNeue"/>
              </a:rPr>
              <a:t>客製受眾包</a:t>
            </a:r>
            <a:endParaRPr lang="zh-TW" altLang="en-US"/>
          </a:p>
        </p:txBody>
      </p:sp>
    </p:spTree>
    <p:extLst>
      <p:ext uri="{BB962C8B-B14F-4D97-AF65-F5344CB8AC3E}">
        <p14:creationId xmlns:p14="http://schemas.microsoft.com/office/powerpoint/2010/main" val="3691551814"/>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圖片 3" descr="一張含有 文字, 軟體, 網頁, 網站 的圖片&#10;&#10;AI 產生的內容可能不正確。">
            <a:extLst>
              <a:ext uri="{FF2B5EF4-FFF2-40B4-BE49-F238E27FC236}">
                <a16:creationId xmlns:a16="http://schemas.microsoft.com/office/drawing/2014/main" id="{FBFEB0C6-D077-7C53-87DD-AA204BEBC155}"/>
              </a:ext>
            </a:extLst>
          </p:cNvPr>
          <p:cNvPicPr>
            <a:picLocks noChangeAspect="1"/>
          </p:cNvPicPr>
          <p:nvPr/>
        </p:nvPicPr>
        <p:blipFill>
          <a:blip r:embed="rId2"/>
          <a:stretch>
            <a:fillRect/>
          </a:stretch>
        </p:blipFill>
        <p:spPr>
          <a:xfrm>
            <a:off x="2342899" y="652545"/>
            <a:ext cx="7772400" cy="6205455"/>
          </a:xfrm>
          <a:prstGeom prst="rect">
            <a:avLst/>
          </a:prstGeom>
        </p:spPr>
      </p:pic>
      <p:sp>
        <p:nvSpPr>
          <p:cNvPr id="5" name="文字方塊 4">
            <a:extLst>
              <a:ext uri="{FF2B5EF4-FFF2-40B4-BE49-F238E27FC236}">
                <a16:creationId xmlns:a16="http://schemas.microsoft.com/office/drawing/2014/main" id="{66695825-33CD-B779-B0E7-1F6701654393}"/>
              </a:ext>
            </a:extLst>
          </p:cNvPr>
          <p:cNvSpPr txBox="1"/>
          <p:nvPr/>
        </p:nvSpPr>
        <p:spPr>
          <a:xfrm>
            <a:off x="4631868" y="737536"/>
            <a:ext cx="3194462" cy="307777"/>
          </a:xfrm>
          <a:prstGeom prst="rect">
            <a:avLst/>
          </a:prstGeom>
          <a:solidFill>
            <a:srgbClr val="F5F8FE"/>
          </a:solidFill>
        </p:spPr>
        <p:txBody>
          <a:bodyPr wrap="square" rtlCol="0">
            <a:spAutoFit/>
          </a:bodyPr>
          <a:lstStyle/>
          <a:p>
            <a:pPr algn="ctr"/>
            <a:r>
              <a:rPr kumimoji="1" lang="en-US" altLang="zh-TW" sz="1400">
                <a:solidFill>
                  <a:srgbClr val="1C1E20"/>
                </a:solidFill>
              </a:rPr>
              <a:t>Targeting - Custom Audience</a:t>
            </a:r>
            <a:endParaRPr kumimoji="1" lang="zh-TW" altLang="en-US" sz="1400">
              <a:solidFill>
                <a:srgbClr val="1C1E20"/>
              </a:solidFill>
            </a:endParaRPr>
          </a:p>
        </p:txBody>
      </p:sp>
      <p:sp>
        <p:nvSpPr>
          <p:cNvPr id="6" name="文字方塊 5">
            <a:extLst>
              <a:ext uri="{FF2B5EF4-FFF2-40B4-BE49-F238E27FC236}">
                <a16:creationId xmlns:a16="http://schemas.microsoft.com/office/drawing/2014/main" id="{DD419E8C-BD3C-F62B-58C3-2F81BE092622}"/>
              </a:ext>
            </a:extLst>
          </p:cNvPr>
          <p:cNvSpPr txBox="1"/>
          <p:nvPr/>
        </p:nvSpPr>
        <p:spPr>
          <a:xfrm>
            <a:off x="2732388" y="1672783"/>
            <a:ext cx="3432646" cy="261610"/>
          </a:xfrm>
          <a:prstGeom prst="rect">
            <a:avLst/>
          </a:prstGeom>
          <a:solidFill>
            <a:schemeClr val="bg1"/>
          </a:solidFill>
        </p:spPr>
        <p:txBody>
          <a:bodyPr wrap="square">
            <a:spAutoFit/>
          </a:bodyPr>
          <a:lstStyle/>
          <a:p>
            <a:pPr>
              <a:defRPr/>
            </a:pPr>
            <a:r>
              <a:rPr kumimoji="1" lang="en" altLang="zh-TW" sz="1100" dirty="0">
                <a:solidFill>
                  <a:srgbClr val="4E4E4E"/>
                </a:solidFill>
              </a:rPr>
              <a:t>[Webb</a:t>
            </a:r>
            <a:r>
              <a:rPr kumimoji="1" lang="zh-TW" altLang="en-US" sz="1100" dirty="0">
                <a:solidFill>
                  <a:srgbClr val="4E4E4E"/>
                </a:solidFill>
              </a:rPr>
              <a:t>零售數據</a:t>
            </a:r>
            <a:r>
              <a:rPr kumimoji="1" lang="en-US" altLang="zh-TW" sz="1100" dirty="0">
                <a:solidFill>
                  <a:srgbClr val="4E4E4E"/>
                </a:solidFill>
              </a:rPr>
              <a:t>-</a:t>
            </a:r>
            <a:r>
              <a:rPr kumimoji="1" lang="zh-TW" altLang="en-US" sz="1100" dirty="0">
                <a:solidFill>
                  <a:srgbClr val="4E4E4E"/>
                </a:solidFill>
              </a:rPr>
              <a:t>購買</a:t>
            </a:r>
            <a:r>
              <a:rPr kumimoji="1" lang="en-US" altLang="zh-TW" sz="1100" dirty="0">
                <a:solidFill>
                  <a:srgbClr val="4E4E4E"/>
                </a:solidFill>
              </a:rPr>
              <a:t>] </a:t>
            </a:r>
            <a:r>
              <a:rPr kumimoji="1" lang="zh-TW" altLang="en-US" sz="1100" dirty="0">
                <a:solidFill>
                  <a:srgbClr val="4E4E4E"/>
                </a:solidFill>
              </a:rPr>
              <a:t>合利他命</a:t>
            </a:r>
            <a:r>
              <a:rPr kumimoji="1" lang="en" altLang="zh-TW" sz="1100" dirty="0">
                <a:solidFill>
                  <a:srgbClr val="4E4E4E"/>
                </a:solidFill>
              </a:rPr>
              <a:t>EXPLUS 10</a:t>
            </a:r>
            <a:r>
              <a:rPr kumimoji="1" lang="zh-TW" altLang="en-US" sz="1100" dirty="0">
                <a:solidFill>
                  <a:srgbClr val="4E4E4E"/>
                </a:solidFill>
              </a:rPr>
              <a:t>月</a:t>
            </a:r>
            <a:endParaRPr kumimoji="1" lang="en-US" altLang="zh-TW" sz="1100" dirty="0">
              <a:solidFill>
                <a:srgbClr val="4E4E4E"/>
              </a:solidFill>
            </a:endParaRPr>
          </a:p>
        </p:txBody>
      </p:sp>
      <p:sp>
        <p:nvSpPr>
          <p:cNvPr id="7" name="文字方塊 6">
            <a:extLst>
              <a:ext uri="{FF2B5EF4-FFF2-40B4-BE49-F238E27FC236}">
                <a16:creationId xmlns:a16="http://schemas.microsoft.com/office/drawing/2014/main" id="{D628E1C0-720B-02BB-B6EC-80C254D17D73}"/>
              </a:ext>
            </a:extLst>
          </p:cNvPr>
          <p:cNvSpPr txBox="1"/>
          <p:nvPr/>
        </p:nvSpPr>
        <p:spPr>
          <a:xfrm>
            <a:off x="2739553" y="1881795"/>
            <a:ext cx="3432647" cy="215444"/>
          </a:xfrm>
          <a:prstGeom prst="rect">
            <a:avLst/>
          </a:prstGeom>
          <a:solidFill>
            <a:schemeClr val="bg1"/>
          </a:solidFill>
        </p:spPr>
        <p:txBody>
          <a:bodyPr wrap="square">
            <a:spAutoFit/>
          </a:bodyPr>
          <a:lstStyle/>
          <a:p>
            <a:pPr fontAlgn="base"/>
            <a:r>
              <a:rPr kumimoji="1" lang="en" altLang="zh-TW" sz="800" dirty="0">
                <a:solidFill>
                  <a:schemeClr val="bg1">
                    <a:lumMod val="65000"/>
                  </a:schemeClr>
                </a:solidFill>
              </a:rPr>
              <a:t>Webb Retail Data (Purchase)</a:t>
            </a:r>
          </a:p>
        </p:txBody>
      </p:sp>
      <p:sp>
        <p:nvSpPr>
          <p:cNvPr id="8" name="文字方塊 7">
            <a:extLst>
              <a:ext uri="{FF2B5EF4-FFF2-40B4-BE49-F238E27FC236}">
                <a16:creationId xmlns:a16="http://schemas.microsoft.com/office/drawing/2014/main" id="{232E4586-EE68-FAC2-1576-98AFBC718810}"/>
              </a:ext>
            </a:extLst>
          </p:cNvPr>
          <p:cNvSpPr txBox="1"/>
          <p:nvPr/>
        </p:nvSpPr>
        <p:spPr>
          <a:xfrm>
            <a:off x="2739553" y="2204776"/>
            <a:ext cx="3432646" cy="430887"/>
          </a:xfrm>
          <a:prstGeom prst="rect">
            <a:avLst/>
          </a:prstGeom>
          <a:solidFill>
            <a:schemeClr val="bg1"/>
          </a:solidFill>
        </p:spPr>
        <p:txBody>
          <a:bodyPr wrap="square">
            <a:spAutoFit/>
          </a:bodyPr>
          <a:lstStyle/>
          <a:p>
            <a:pPr>
              <a:defRPr/>
            </a:pPr>
            <a:r>
              <a:rPr kumimoji="1" lang="en" altLang="zh-TW" sz="1100" dirty="0">
                <a:solidFill>
                  <a:srgbClr val="4E4E4E"/>
                </a:solidFill>
              </a:rPr>
              <a:t>[</a:t>
            </a:r>
            <a:r>
              <a:rPr kumimoji="1" lang="zh-TW" altLang="en-US" sz="1100" dirty="0">
                <a:solidFill>
                  <a:srgbClr val="4E4E4E"/>
                </a:solidFill>
              </a:rPr>
              <a:t>產業 </a:t>
            </a:r>
            <a:r>
              <a:rPr kumimoji="1" lang="en" altLang="zh-TW" sz="1100" dirty="0">
                <a:solidFill>
                  <a:srgbClr val="4E4E4E"/>
                </a:solidFill>
              </a:rPr>
              <a:t>Shopper Graph</a:t>
            </a:r>
            <a:r>
              <a:rPr kumimoji="1" lang="en-US" altLang="zh-TW" sz="1100" dirty="0">
                <a:solidFill>
                  <a:srgbClr val="4E4E4E"/>
                </a:solidFill>
              </a:rPr>
              <a:t>] </a:t>
            </a:r>
            <a:r>
              <a:rPr kumimoji="1" lang="zh-TW" altLang="en-US" sz="1100" dirty="0">
                <a:solidFill>
                  <a:srgbClr val="4E4E4E"/>
                </a:solidFill>
              </a:rPr>
              <a:t>合利他命</a:t>
            </a:r>
            <a:r>
              <a:rPr kumimoji="1" lang="en" altLang="zh-TW" sz="1100" dirty="0">
                <a:solidFill>
                  <a:srgbClr val="4E4E4E"/>
                </a:solidFill>
              </a:rPr>
              <a:t>EXPLUS 9-10</a:t>
            </a:r>
            <a:r>
              <a:rPr kumimoji="1" lang="zh-TW" altLang="en-US" sz="1100" dirty="0">
                <a:solidFill>
                  <a:srgbClr val="4E4E4E"/>
                </a:solidFill>
              </a:rPr>
              <a:t>月</a:t>
            </a:r>
          </a:p>
          <a:p>
            <a:pPr lvl="0">
              <a:defRPr/>
            </a:pPr>
            <a:endParaRPr kumimoji="1" lang="zh-TW" altLang="en-US" sz="1100" dirty="0">
              <a:solidFill>
                <a:srgbClr val="4E4E4E"/>
              </a:solidFill>
            </a:endParaRPr>
          </a:p>
        </p:txBody>
      </p:sp>
      <p:sp>
        <p:nvSpPr>
          <p:cNvPr id="9" name="文字方塊 8">
            <a:extLst>
              <a:ext uri="{FF2B5EF4-FFF2-40B4-BE49-F238E27FC236}">
                <a16:creationId xmlns:a16="http://schemas.microsoft.com/office/drawing/2014/main" id="{D3656700-7046-7E68-5BAB-F3E8BBBCBFA9}"/>
              </a:ext>
            </a:extLst>
          </p:cNvPr>
          <p:cNvSpPr txBox="1"/>
          <p:nvPr/>
        </p:nvSpPr>
        <p:spPr>
          <a:xfrm>
            <a:off x="2746718" y="2413788"/>
            <a:ext cx="3432647" cy="215444"/>
          </a:xfrm>
          <a:prstGeom prst="rect">
            <a:avLst/>
          </a:prstGeom>
          <a:solidFill>
            <a:schemeClr val="bg1"/>
          </a:solidFill>
        </p:spPr>
        <p:txBody>
          <a:bodyPr wrap="square">
            <a:spAutoFit/>
          </a:bodyPr>
          <a:lstStyle/>
          <a:p>
            <a:pPr lvl="0">
              <a:defRPr/>
            </a:pPr>
            <a:r>
              <a:rPr kumimoji="1" lang="en" altLang="zh-TW" sz="800" dirty="0">
                <a:solidFill>
                  <a:schemeClr val="bg1">
                    <a:lumMod val="65000"/>
                  </a:schemeClr>
                </a:solidFill>
              </a:rPr>
              <a:t>Industry Shopper Graph</a:t>
            </a:r>
          </a:p>
        </p:txBody>
      </p:sp>
      <p:sp>
        <p:nvSpPr>
          <p:cNvPr id="10" name="文字方塊 9">
            <a:extLst>
              <a:ext uri="{FF2B5EF4-FFF2-40B4-BE49-F238E27FC236}">
                <a16:creationId xmlns:a16="http://schemas.microsoft.com/office/drawing/2014/main" id="{3C2DD969-D6D8-D4EF-9FE9-6E374D7B6B40}"/>
              </a:ext>
            </a:extLst>
          </p:cNvPr>
          <p:cNvSpPr txBox="1"/>
          <p:nvPr/>
        </p:nvSpPr>
        <p:spPr>
          <a:xfrm>
            <a:off x="2732387" y="2731379"/>
            <a:ext cx="3432646" cy="261610"/>
          </a:xfrm>
          <a:prstGeom prst="rect">
            <a:avLst/>
          </a:prstGeom>
          <a:solidFill>
            <a:schemeClr val="bg1"/>
          </a:solidFill>
        </p:spPr>
        <p:txBody>
          <a:bodyPr wrap="square">
            <a:spAutoFit/>
          </a:bodyPr>
          <a:lstStyle/>
          <a:p>
            <a:pPr lvl="0">
              <a:defRPr/>
            </a:pPr>
            <a:r>
              <a:rPr kumimoji="1" lang="en" altLang="zh-TW" sz="1100">
                <a:solidFill>
                  <a:srgbClr val="4E4E4E"/>
                </a:solidFill>
              </a:rPr>
              <a:t>[</a:t>
            </a:r>
            <a:r>
              <a:rPr kumimoji="1" lang="zh-TW" altLang="en-US" sz="1100">
                <a:solidFill>
                  <a:srgbClr val="4E4E4E"/>
                </a:solidFill>
              </a:rPr>
              <a:t>產業 </a:t>
            </a:r>
            <a:r>
              <a:rPr kumimoji="1" lang="en" altLang="zh-TW" sz="1100">
                <a:solidFill>
                  <a:srgbClr val="4E4E4E"/>
                </a:solidFill>
              </a:rPr>
              <a:t>Shopper Graph</a:t>
            </a:r>
            <a:r>
              <a:rPr kumimoji="1" lang="en-US" altLang="zh-TW" sz="1100">
                <a:solidFill>
                  <a:srgbClr val="4E4E4E"/>
                </a:solidFill>
              </a:rPr>
              <a:t>] </a:t>
            </a:r>
            <a:r>
              <a:rPr kumimoji="1" lang="zh-TW" altLang="en-US" sz="1100">
                <a:solidFill>
                  <a:srgbClr val="4E4E4E"/>
                </a:solidFill>
              </a:rPr>
              <a:t>合利他命</a:t>
            </a:r>
            <a:r>
              <a:rPr kumimoji="1" lang="en" altLang="zh-TW" sz="1100">
                <a:solidFill>
                  <a:srgbClr val="4E4E4E"/>
                </a:solidFill>
              </a:rPr>
              <a:t>EXPLUS 9-10</a:t>
            </a:r>
            <a:r>
              <a:rPr kumimoji="1" lang="zh-TW" altLang="en-US" sz="1100">
                <a:solidFill>
                  <a:srgbClr val="4E4E4E"/>
                </a:solidFill>
              </a:rPr>
              <a:t>月</a:t>
            </a:r>
          </a:p>
        </p:txBody>
      </p:sp>
      <p:sp>
        <p:nvSpPr>
          <p:cNvPr id="11" name="文字方塊 10">
            <a:extLst>
              <a:ext uri="{FF2B5EF4-FFF2-40B4-BE49-F238E27FC236}">
                <a16:creationId xmlns:a16="http://schemas.microsoft.com/office/drawing/2014/main" id="{772FDDE0-F217-84D3-D6EC-8C402226AEFB}"/>
              </a:ext>
            </a:extLst>
          </p:cNvPr>
          <p:cNvSpPr txBox="1"/>
          <p:nvPr/>
        </p:nvSpPr>
        <p:spPr>
          <a:xfrm>
            <a:off x="2739552" y="2940391"/>
            <a:ext cx="3432647" cy="215444"/>
          </a:xfrm>
          <a:prstGeom prst="rect">
            <a:avLst/>
          </a:prstGeom>
          <a:solidFill>
            <a:schemeClr val="bg1"/>
          </a:solidFill>
        </p:spPr>
        <p:txBody>
          <a:bodyPr wrap="square">
            <a:spAutoFit/>
          </a:bodyPr>
          <a:lstStyle/>
          <a:p>
            <a:pPr lvl="0">
              <a:defRPr/>
            </a:pPr>
            <a:r>
              <a:rPr kumimoji="1" lang="en" altLang="zh-TW" sz="800">
                <a:solidFill>
                  <a:schemeClr val="bg1">
                    <a:lumMod val="65000"/>
                  </a:schemeClr>
                </a:solidFill>
              </a:rPr>
              <a:t>Industry Shopper Graph</a:t>
            </a:r>
          </a:p>
        </p:txBody>
      </p:sp>
      <p:sp>
        <p:nvSpPr>
          <p:cNvPr id="12" name="文字方塊 11">
            <a:extLst>
              <a:ext uri="{FF2B5EF4-FFF2-40B4-BE49-F238E27FC236}">
                <a16:creationId xmlns:a16="http://schemas.microsoft.com/office/drawing/2014/main" id="{982B9BD9-EEDA-226F-9AC8-0B4BD01BEC1F}"/>
              </a:ext>
            </a:extLst>
          </p:cNvPr>
          <p:cNvSpPr txBox="1"/>
          <p:nvPr/>
        </p:nvSpPr>
        <p:spPr>
          <a:xfrm>
            <a:off x="2746718" y="3247295"/>
            <a:ext cx="3432646" cy="261610"/>
          </a:xfrm>
          <a:prstGeom prst="rect">
            <a:avLst/>
          </a:prstGeom>
          <a:solidFill>
            <a:schemeClr val="bg1"/>
          </a:solid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zh-TW" sz="1100" kern="1200">
                <a:solidFill>
                  <a:srgbClr val="1C1E20"/>
                </a:solidFill>
                <a:latin typeface="+mn-lt"/>
                <a:ea typeface="+mn-ea"/>
                <a:cs typeface="+mn-cs"/>
              </a:rPr>
              <a:t>[</a:t>
            </a:r>
            <a:r>
              <a:rPr kumimoji="1" lang="zh-TW" altLang="en-US" sz="1100" kern="1200">
                <a:solidFill>
                  <a:srgbClr val="1C1E20"/>
                </a:solidFill>
                <a:latin typeface="+mn-lt"/>
                <a:ea typeface="+mn-ea"/>
                <a:cs typeface="+mn-cs"/>
              </a:rPr>
              <a:t>關鍵字</a:t>
            </a:r>
            <a:r>
              <a:rPr kumimoji="1" lang="en-US" altLang="zh-TW" sz="1100" kern="1200">
                <a:solidFill>
                  <a:srgbClr val="1C1E20"/>
                </a:solidFill>
                <a:latin typeface="+mn-lt"/>
                <a:ea typeface="+mn-ea"/>
                <a:cs typeface="+mn-cs"/>
              </a:rPr>
              <a:t>] </a:t>
            </a:r>
            <a:r>
              <a:rPr kumimoji="1" lang="zh-TW" altLang="en-US" sz="1100" kern="1200">
                <a:solidFill>
                  <a:srgbClr val="1C1E20"/>
                </a:solidFill>
                <a:latin typeface="+mn-lt"/>
                <a:ea typeface="+mn-ea"/>
                <a:cs typeface="+mn-cs"/>
              </a:rPr>
              <a:t>合利他命</a:t>
            </a:r>
            <a:r>
              <a:rPr kumimoji="1" lang="en" altLang="zh-TW" sz="1100" kern="1200">
                <a:solidFill>
                  <a:srgbClr val="1C1E20"/>
                </a:solidFill>
                <a:latin typeface="+mn-lt"/>
                <a:ea typeface="+mn-ea"/>
                <a:cs typeface="+mn-cs"/>
              </a:rPr>
              <a:t>EXPLUS 10</a:t>
            </a:r>
            <a:r>
              <a:rPr kumimoji="1" lang="zh-TW" altLang="en-US" sz="1100" kern="1200">
                <a:solidFill>
                  <a:srgbClr val="1C1E20"/>
                </a:solidFill>
                <a:latin typeface="+mn-lt"/>
                <a:ea typeface="+mn-ea"/>
                <a:cs typeface="+mn-cs"/>
              </a:rPr>
              <a:t>月</a:t>
            </a:r>
          </a:p>
        </p:txBody>
      </p:sp>
      <p:sp>
        <p:nvSpPr>
          <p:cNvPr id="13" name="文字方塊 12">
            <a:extLst>
              <a:ext uri="{FF2B5EF4-FFF2-40B4-BE49-F238E27FC236}">
                <a16:creationId xmlns:a16="http://schemas.microsoft.com/office/drawing/2014/main" id="{086C99EC-0876-9EEC-99E1-F4F864E67727}"/>
              </a:ext>
            </a:extLst>
          </p:cNvPr>
          <p:cNvSpPr txBox="1"/>
          <p:nvPr/>
        </p:nvSpPr>
        <p:spPr>
          <a:xfrm>
            <a:off x="2753883" y="3456307"/>
            <a:ext cx="3432647" cy="215444"/>
          </a:xfrm>
          <a:prstGeom prst="rect">
            <a:avLst/>
          </a:prstGeom>
          <a:solidFill>
            <a:schemeClr val="bg1"/>
          </a:solidFill>
        </p:spPr>
        <p:txBody>
          <a:bodyPr wrap="square">
            <a:spAutoFit/>
          </a:bodyPr>
          <a:lstStyle/>
          <a:p>
            <a:pPr lvl="0">
              <a:defRPr/>
            </a:pPr>
            <a:r>
              <a:rPr kumimoji="1" lang="en" altLang="zh-TW" sz="800">
                <a:solidFill>
                  <a:schemeClr val="bg1">
                    <a:lumMod val="65000"/>
                  </a:schemeClr>
                </a:solidFill>
              </a:rPr>
              <a:t>Brand Keyword AI Exploration</a:t>
            </a:r>
          </a:p>
        </p:txBody>
      </p:sp>
      <p:sp>
        <p:nvSpPr>
          <p:cNvPr id="14" name="文字方塊 13">
            <a:extLst>
              <a:ext uri="{FF2B5EF4-FFF2-40B4-BE49-F238E27FC236}">
                <a16:creationId xmlns:a16="http://schemas.microsoft.com/office/drawing/2014/main" id="{16408CC6-9FAE-D2C9-EB4D-7E88FE6507C0}"/>
              </a:ext>
            </a:extLst>
          </p:cNvPr>
          <p:cNvSpPr txBox="1"/>
          <p:nvPr/>
        </p:nvSpPr>
        <p:spPr>
          <a:xfrm>
            <a:off x="2753883" y="3765643"/>
            <a:ext cx="3432646" cy="261610"/>
          </a:xfrm>
          <a:prstGeom prst="rect">
            <a:avLst/>
          </a:prstGeom>
          <a:solidFill>
            <a:schemeClr val="bg1"/>
          </a:solid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zh-TW" sz="1100" kern="1200">
                <a:solidFill>
                  <a:srgbClr val="1C1E20"/>
                </a:solidFill>
                <a:latin typeface="+mn-lt"/>
                <a:ea typeface="+mn-ea"/>
                <a:cs typeface="+mn-cs"/>
              </a:rPr>
              <a:t>[</a:t>
            </a:r>
            <a:r>
              <a:rPr kumimoji="1" lang="zh-TW" altLang="en-US" sz="1100" kern="1200">
                <a:solidFill>
                  <a:srgbClr val="1C1E20"/>
                </a:solidFill>
                <a:latin typeface="+mn-lt"/>
                <a:ea typeface="+mn-ea"/>
                <a:cs typeface="+mn-cs"/>
              </a:rPr>
              <a:t>關鍵字</a:t>
            </a:r>
            <a:r>
              <a:rPr kumimoji="1" lang="en-US" altLang="zh-TW" sz="1100" kern="1200">
                <a:solidFill>
                  <a:srgbClr val="1C1E20"/>
                </a:solidFill>
                <a:latin typeface="+mn-lt"/>
                <a:ea typeface="+mn-ea"/>
                <a:cs typeface="+mn-cs"/>
              </a:rPr>
              <a:t>] </a:t>
            </a:r>
            <a:r>
              <a:rPr kumimoji="1" lang="zh-TW" altLang="en-US" sz="1100" kern="1200">
                <a:solidFill>
                  <a:srgbClr val="1C1E20"/>
                </a:solidFill>
                <a:latin typeface="+mn-lt"/>
                <a:ea typeface="+mn-ea"/>
                <a:cs typeface="+mn-cs"/>
              </a:rPr>
              <a:t>合利他命</a:t>
            </a:r>
            <a:r>
              <a:rPr kumimoji="1" lang="en" altLang="zh-TW" sz="1100" kern="1200">
                <a:solidFill>
                  <a:srgbClr val="1C1E20"/>
                </a:solidFill>
                <a:latin typeface="+mn-lt"/>
                <a:ea typeface="+mn-ea"/>
                <a:cs typeface="+mn-cs"/>
              </a:rPr>
              <a:t>EXPLUS 10</a:t>
            </a:r>
            <a:r>
              <a:rPr kumimoji="1" lang="zh-TW" altLang="en-US" sz="1100" kern="1200">
                <a:solidFill>
                  <a:srgbClr val="1C1E20"/>
                </a:solidFill>
                <a:latin typeface="+mn-lt"/>
                <a:ea typeface="+mn-ea"/>
                <a:cs typeface="+mn-cs"/>
              </a:rPr>
              <a:t>月</a:t>
            </a:r>
          </a:p>
        </p:txBody>
      </p:sp>
      <p:sp>
        <p:nvSpPr>
          <p:cNvPr id="15" name="文字方塊 14">
            <a:extLst>
              <a:ext uri="{FF2B5EF4-FFF2-40B4-BE49-F238E27FC236}">
                <a16:creationId xmlns:a16="http://schemas.microsoft.com/office/drawing/2014/main" id="{4AF980D1-21AF-982D-354F-29EA6601AC4D}"/>
              </a:ext>
            </a:extLst>
          </p:cNvPr>
          <p:cNvSpPr txBox="1"/>
          <p:nvPr/>
        </p:nvSpPr>
        <p:spPr>
          <a:xfrm>
            <a:off x="2761048" y="3974655"/>
            <a:ext cx="3432647" cy="215444"/>
          </a:xfrm>
          <a:prstGeom prst="rect">
            <a:avLst/>
          </a:prstGeom>
          <a:solidFill>
            <a:schemeClr val="bg1"/>
          </a:solidFill>
        </p:spPr>
        <p:txBody>
          <a:bodyPr wrap="square">
            <a:spAutoFit/>
          </a:bodyPr>
          <a:lstStyle/>
          <a:p>
            <a:pPr lvl="0">
              <a:defRPr/>
            </a:pPr>
            <a:r>
              <a:rPr kumimoji="1" lang="en" altLang="zh-TW" sz="800">
                <a:solidFill>
                  <a:schemeClr val="bg1">
                    <a:lumMod val="65000"/>
                  </a:schemeClr>
                </a:solidFill>
              </a:rPr>
              <a:t>Brand Keyword AI Exploration</a:t>
            </a:r>
          </a:p>
        </p:txBody>
      </p:sp>
      <p:sp>
        <p:nvSpPr>
          <p:cNvPr id="16" name="矩形 15">
            <a:extLst>
              <a:ext uri="{FF2B5EF4-FFF2-40B4-BE49-F238E27FC236}">
                <a16:creationId xmlns:a16="http://schemas.microsoft.com/office/drawing/2014/main" id="{5DE0628E-E0A4-FB12-A567-DE9DB32D3B94}"/>
              </a:ext>
            </a:extLst>
          </p:cNvPr>
          <p:cNvSpPr/>
          <p:nvPr/>
        </p:nvSpPr>
        <p:spPr>
          <a:xfrm>
            <a:off x="6179364" y="1630448"/>
            <a:ext cx="68601" cy="620494"/>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pic>
        <p:nvPicPr>
          <p:cNvPr id="17" name="圖片 16" descr="一張含有 文字, 字型, 螢幕擷取畫面 的圖片&#10;&#10;AI 產生的內容可能不正確。">
            <a:extLst>
              <a:ext uri="{FF2B5EF4-FFF2-40B4-BE49-F238E27FC236}">
                <a16:creationId xmlns:a16="http://schemas.microsoft.com/office/drawing/2014/main" id="{08ECEE89-B721-4FAD-71C5-5F64EBD63544}"/>
              </a:ext>
            </a:extLst>
          </p:cNvPr>
          <p:cNvPicPr>
            <a:picLocks noChangeAspect="1"/>
          </p:cNvPicPr>
          <p:nvPr/>
        </p:nvPicPr>
        <p:blipFill>
          <a:blip r:embed="rId3"/>
          <a:stretch>
            <a:fillRect/>
          </a:stretch>
        </p:blipFill>
        <p:spPr>
          <a:xfrm>
            <a:off x="6287260" y="1307677"/>
            <a:ext cx="3728570" cy="1384897"/>
          </a:xfrm>
          <a:prstGeom prst="rect">
            <a:avLst/>
          </a:prstGeom>
        </p:spPr>
      </p:pic>
      <p:sp>
        <p:nvSpPr>
          <p:cNvPr id="18" name="矩形 17">
            <a:extLst>
              <a:ext uri="{FF2B5EF4-FFF2-40B4-BE49-F238E27FC236}">
                <a16:creationId xmlns:a16="http://schemas.microsoft.com/office/drawing/2014/main" id="{126DF008-3131-01EC-5FC8-083B1A06A681}"/>
              </a:ext>
            </a:extLst>
          </p:cNvPr>
          <p:cNvSpPr/>
          <p:nvPr/>
        </p:nvSpPr>
        <p:spPr>
          <a:xfrm>
            <a:off x="6287260" y="2143405"/>
            <a:ext cx="3744000" cy="4059464"/>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9" name="文字方塊 18">
            <a:extLst>
              <a:ext uri="{FF2B5EF4-FFF2-40B4-BE49-F238E27FC236}">
                <a16:creationId xmlns:a16="http://schemas.microsoft.com/office/drawing/2014/main" id="{A0E34E65-BB03-C9BF-F9FE-76957F48C77A}"/>
              </a:ext>
            </a:extLst>
          </p:cNvPr>
          <p:cNvSpPr txBox="1"/>
          <p:nvPr/>
        </p:nvSpPr>
        <p:spPr>
          <a:xfrm>
            <a:off x="6524547" y="1678631"/>
            <a:ext cx="3432646" cy="261610"/>
          </a:xfrm>
          <a:prstGeom prst="rect">
            <a:avLst/>
          </a:prstGeom>
          <a:solidFill>
            <a:schemeClr val="bg1"/>
          </a:solidFill>
        </p:spPr>
        <p:txBody>
          <a:bodyPr wrap="square">
            <a:spAutoFit/>
          </a:bodyPr>
          <a:lstStyle/>
          <a:p>
            <a:pPr lvl="0">
              <a:defRPr/>
            </a:pPr>
            <a:r>
              <a:rPr kumimoji="1" lang="en-US" altLang="zh-TW" sz="1100">
                <a:solidFill>
                  <a:srgbClr val="2993FF"/>
                </a:solidFill>
              </a:rPr>
              <a:t>[</a:t>
            </a:r>
            <a:r>
              <a:rPr kumimoji="1" lang="zh-TW" altLang="en-US" sz="1100">
                <a:solidFill>
                  <a:srgbClr val="2993FF"/>
                </a:solidFill>
              </a:rPr>
              <a:t>線下</a:t>
            </a:r>
            <a:r>
              <a:rPr kumimoji="1" lang="en" altLang="zh-TW" sz="1100">
                <a:solidFill>
                  <a:srgbClr val="2993FF"/>
                </a:solidFill>
              </a:rPr>
              <a:t>POI] </a:t>
            </a:r>
            <a:r>
              <a:rPr kumimoji="1" lang="zh-TW" altLang="en-US" sz="1100">
                <a:solidFill>
                  <a:srgbClr val="2993FF"/>
                </a:solidFill>
              </a:rPr>
              <a:t>合利他命</a:t>
            </a:r>
            <a:r>
              <a:rPr kumimoji="1" lang="en" altLang="zh-TW" sz="1100">
                <a:solidFill>
                  <a:srgbClr val="2993FF"/>
                </a:solidFill>
              </a:rPr>
              <a:t>EXPLUS 10</a:t>
            </a:r>
            <a:r>
              <a:rPr kumimoji="1" lang="zh-TW" altLang="en-US" sz="1100">
                <a:solidFill>
                  <a:srgbClr val="2993FF"/>
                </a:solidFill>
              </a:rPr>
              <a:t>月</a:t>
            </a:r>
          </a:p>
        </p:txBody>
      </p:sp>
      <p:sp>
        <p:nvSpPr>
          <p:cNvPr id="20" name="文字方塊 19">
            <a:extLst>
              <a:ext uri="{FF2B5EF4-FFF2-40B4-BE49-F238E27FC236}">
                <a16:creationId xmlns:a16="http://schemas.microsoft.com/office/drawing/2014/main" id="{1C4782AA-8FC0-2F79-55FD-215F0C887C36}"/>
              </a:ext>
            </a:extLst>
          </p:cNvPr>
          <p:cNvSpPr txBox="1"/>
          <p:nvPr/>
        </p:nvSpPr>
        <p:spPr>
          <a:xfrm>
            <a:off x="6524546" y="1881795"/>
            <a:ext cx="3432647" cy="215444"/>
          </a:xfrm>
          <a:prstGeom prst="rect">
            <a:avLst/>
          </a:prstGeom>
          <a:solidFill>
            <a:schemeClr val="bg1"/>
          </a:solidFill>
        </p:spPr>
        <p:txBody>
          <a:bodyPr wrap="square">
            <a:spAutoFit/>
          </a:bodyPr>
          <a:lstStyle/>
          <a:p>
            <a:pPr lvl="0">
              <a:defRPr/>
            </a:pPr>
            <a:r>
              <a:rPr kumimoji="1" lang="en" altLang="zh-TW" sz="800">
                <a:solidFill>
                  <a:schemeClr val="bg1">
                    <a:lumMod val="65000"/>
                  </a:schemeClr>
                </a:solidFill>
              </a:rPr>
              <a:t>Offline Point of Interest (POI)</a:t>
            </a:r>
          </a:p>
        </p:txBody>
      </p:sp>
      <p:pic>
        <p:nvPicPr>
          <p:cNvPr id="21" name="圖片 20">
            <a:extLst>
              <a:ext uri="{FF2B5EF4-FFF2-40B4-BE49-F238E27FC236}">
                <a16:creationId xmlns:a16="http://schemas.microsoft.com/office/drawing/2014/main" id="{2DD7E5C7-5C00-0B57-123B-DDA650EDD3B4}"/>
              </a:ext>
            </a:extLst>
          </p:cNvPr>
          <p:cNvPicPr>
            <a:picLocks noChangeAspect="1"/>
          </p:cNvPicPr>
          <p:nvPr/>
        </p:nvPicPr>
        <p:blipFill>
          <a:blip r:embed="rId4"/>
          <a:stretch>
            <a:fillRect/>
          </a:stretch>
        </p:blipFill>
        <p:spPr>
          <a:xfrm>
            <a:off x="7897154" y="1900710"/>
            <a:ext cx="184348" cy="184348"/>
          </a:xfrm>
          <a:prstGeom prst="rect">
            <a:avLst/>
          </a:prstGeom>
        </p:spPr>
      </p:pic>
      <p:sp>
        <p:nvSpPr>
          <p:cNvPr id="22" name="矩形 21">
            <a:extLst>
              <a:ext uri="{FF2B5EF4-FFF2-40B4-BE49-F238E27FC236}">
                <a16:creationId xmlns:a16="http://schemas.microsoft.com/office/drawing/2014/main" id="{D16E1496-A0FE-24AA-1860-1F7C8B3A953A}"/>
              </a:ext>
            </a:extLst>
          </p:cNvPr>
          <p:cNvSpPr/>
          <p:nvPr/>
        </p:nvSpPr>
        <p:spPr>
          <a:xfrm>
            <a:off x="2503965" y="2692573"/>
            <a:ext cx="3744000" cy="3528847"/>
          </a:xfrm>
          <a:prstGeom prst="rect">
            <a:avLst/>
          </a:prstGeom>
          <a:solidFill>
            <a:srgbClr val="F5F8F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23" name="矩形 22">
            <a:extLst>
              <a:ext uri="{FF2B5EF4-FFF2-40B4-BE49-F238E27FC236}">
                <a16:creationId xmlns:a16="http://schemas.microsoft.com/office/drawing/2014/main" id="{F5A609DC-D2C3-4D41-C2F7-08DEA99A0C8D}"/>
              </a:ext>
            </a:extLst>
          </p:cNvPr>
          <p:cNvSpPr/>
          <p:nvPr/>
        </p:nvSpPr>
        <p:spPr>
          <a:xfrm>
            <a:off x="2503965" y="1630448"/>
            <a:ext cx="3744000" cy="512957"/>
          </a:xfrm>
          <a:prstGeom prst="rect">
            <a:avLst/>
          </a:prstGeom>
          <a:solidFill>
            <a:schemeClr val="bg1">
              <a:lumMod val="50000"/>
              <a:alpha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pic>
        <p:nvPicPr>
          <p:cNvPr id="24" name="圖片 23">
            <a:extLst>
              <a:ext uri="{FF2B5EF4-FFF2-40B4-BE49-F238E27FC236}">
                <a16:creationId xmlns:a16="http://schemas.microsoft.com/office/drawing/2014/main" id="{8655D13F-5733-A915-0875-DDD4C2696360}"/>
              </a:ext>
            </a:extLst>
          </p:cNvPr>
          <p:cNvPicPr>
            <a:picLocks noChangeAspect="1"/>
          </p:cNvPicPr>
          <p:nvPr/>
        </p:nvPicPr>
        <p:blipFill>
          <a:blip r:embed="rId5"/>
          <a:stretch>
            <a:fillRect/>
          </a:stretch>
        </p:blipFill>
        <p:spPr>
          <a:xfrm flipH="1">
            <a:off x="4079879" y="1873214"/>
            <a:ext cx="254609" cy="254609"/>
          </a:xfrm>
          <a:prstGeom prst="rect">
            <a:avLst/>
          </a:prstGeom>
        </p:spPr>
      </p:pic>
      <p:sp>
        <p:nvSpPr>
          <p:cNvPr id="25" name="圓角矩形圖說文字 24">
            <a:extLst>
              <a:ext uri="{FF2B5EF4-FFF2-40B4-BE49-F238E27FC236}">
                <a16:creationId xmlns:a16="http://schemas.microsoft.com/office/drawing/2014/main" id="{73CE7E00-B684-884C-3BA8-F497DF8DC902}"/>
              </a:ext>
            </a:extLst>
          </p:cNvPr>
          <p:cNvSpPr/>
          <p:nvPr/>
        </p:nvSpPr>
        <p:spPr>
          <a:xfrm>
            <a:off x="4375965" y="979869"/>
            <a:ext cx="2426867" cy="692581"/>
          </a:xfrm>
          <a:prstGeom prst="wedgeRoundRectCallout">
            <a:avLst>
              <a:gd name="adj1" fmla="val -54556"/>
              <a:gd name="adj2" fmla="val 97944"/>
              <a:gd name="adj3" fmla="val 16667"/>
            </a:avLst>
          </a:prstGeom>
          <a:solidFill>
            <a:srgbClr val="2F313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 altLang="zh-TW" sz="1000" dirty="0">
                <a:solidFill>
                  <a:schemeClr val="bg1"/>
                </a:solidFill>
              </a:rPr>
              <a:t>The audience pack has expired. It can no longer be selected in the audience pack list.﻿</a:t>
            </a:r>
            <a:endParaRPr lang="zh-TW" altLang="en-US" sz="1000" dirty="0">
              <a:solidFill>
                <a:schemeClr val="bg1"/>
              </a:solidFill>
            </a:endParaRPr>
          </a:p>
        </p:txBody>
      </p:sp>
      <p:sp>
        <p:nvSpPr>
          <p:cNvPr id="3" name="文字方塊 2">
            <a:extLst>
              <a:ext uri="{FF2B5EF4-FFF2-40B4-BE49-F238E27FC236}">
                <a16:creationId xmlns:a16="http://schemas.microsoft.com/office/drawing/2014/main" id="{BDC0F790-A112-A461-611A-4D4FF5025B4C}"/>
              </a:ext>
            </a:extLst>
          </p:cNvPr>
          <p:cNvSpPr txBox="1"/>
          <p:nvPr/>
        </p:nvSpPr>
        <p:spPr>
          <a:xfrm>
            <a:off x="6917893" y="853330"/>
            <a:ext cx="3553441" cy="646331"/>
          </a:xfrm>
          <a:prstGeom prst="rect">
            <a:avLst/>
          </a:prstGeom>
          <a:solidFill>
            <a:srgbClr val="FBE4D7"/>
          </a:solidFill>
        </p:spPr>
        <p:txBody>
          <a:bodyPr wrap="square">
            <a:spAutoFit/>
          </a:bodyPr>
          <a:lstStyle/>
          <a:p>
            <a:r>
              <a:rPr lang="zh-TW" altLang="en-US" dirty="0"/>
              <a:t>受眾包已過期，無法再於受眾包清單中被選擇。</a:t>
            </a:r>
            <a:endParaRPr kumimoji="1" lang="zh-TW" altLang="en-US" dirty="0"/>
          </a:p>
        </p:txBody>
      </p:sp>
    </p:spTree>
    <p:extLst>
      <p:ext uri="{BB962C8B-B14F-4D97-AF65-F5344CB8AC3E}">
        <p14:creationId xmlns:p14="http://schemas.microsoft.com/office/powerpoint/2010/main" val="2433048993"/>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圖片 3" descr="一張含有 文字, 軟體, 網頁, 網站 的圖片&#10;&#10;AI 產生的內容可能不正確。">
            <a:extLst>
              <a:ext uri="{FF2B5EF4-FFF2-40B4-BE49-F238E27FC236}">
                <a16:creationId xmlns:a16="http://schemas.microsoft.com/office/drawing/2014/main" id="{DC3C8FC5-76D1-E5BC-13D5-5BD7EA50619D}"/>
              </a:ext>
            </a:extLst>
          </p:cNvPr>
          <p:cNvPicPr>
            <a:picLocks noChangeAspect="1"/>
          </p:cNvPicPr>
          <p:nvPr/>
        </p:nvPicPr>
        <p:blipFill>
          <a:blip r:embed="rId2"/>
          <a:stretch>
            <a:fillRect/>
          </a:stretch>
        </p:blipFill>
        <p:spPr>
          <a:xfrm>
            <a:off x="2342899" y="652545"/>
            <a:ext cx="7772400" cy="6205455"/>
          </a:xfrm>
          <a:prstGeom prst="rect">
            <a:avLst/>
          </a:prstGeom>
        </p:spPr>
      </p:pic>
      <p:sp>
        <p:nvSpPr>
          <p:cNvPr id="5" name="文字方塊 4">
            <a:extLst>
              <a:ext uri="{FF2B5EF4-FFF2-40B4-BE49-F238E27FC236}">
                <a16:creationId xmlns:a16="http://schemas.microsoft.com/office/drawing/2014/main" id="{80AE5EA9-E388-EC5E-25C5-4313C7506DE2}"/>
              </a:ext>
            </a:extLst>
          </p:cNvPr>
          <p:cNvSpPr txBox="1"/>
          <p:nvPr/>
        </p:nvSpPr>
        <p:spPr>
          <a:xfrm>
            <a:off x="4631868" y="737536"/>
            <a:ext cx="3194462" cy="307777"/>
          </a:xfrm>
          <a:prstGeom prst="rect">
            <a:avLst/>
          </a:prstGeom>
          <a:solidFill>
            <a:srgbClr val="F5F8FE"/>
          </a:solidFill>
        </p:spPr>
        <p:txBody>
          <a:bodyPr wrap="square" rtlCol="0">
            <a:spAutoFit/>
          </a:bodyPr>
          <a:lstStyle/>
          <a:p>
            <a:pPr algn="ctr"/>
            <a:r>
              <a:rPr kumimoji="1" lang="en-US" altLang="zh-TW" sz="1400">
                <a:solidFill>
                  <a:srgbClr val="1C1E20"/>
                </a:solidFill>
              </a:rPr>
              <a:t>Targeting - Custom Audience</a:t>
            </a:r>
            <a:endParaRPr kumimoji="1" lang="zh-TW" altLang="en-US" sz="1400">
              <a:solidFill>
                <a:srgbClr val="1C1E20"/>
              </a:solidFill>
            </a:endParaRPr>
          </a:p>
        </p:txBody>
      </p:sp>
      <p:sp>
        <p:nvSpPr>
          <p:cNvPr id="6" name="文字方塊 5">
            <a:extLst>
              <a:ext uri="{FF2B5EF4-FFF2-40B4-BE49-F238E27FC236}">
                <a16:creationId xmlns:a16="http://schemas.microsoft.com/office/drawing/2014/main" id="{0096100F-9227-339A-184E-A6819BEAA882}"/>
              </a:ext>
            </a:extLst>
          </p:cNvPr>
          <p:cNvSpPr txBox="1"/>
          <p:nvPr/>
        </p:nvSpPr>
        <p:spPr>
          <a:xfrm>
            <a:off x="2732388" y="1672783"/>
            <a:ext cx="3432646" cy="261610"/>
          </a:xfrm>
          <a:prstGeom prst="rect">
            <a:avLst/>
          </a:prstGeom>
          <a:solidFill>
            <a:schemeClr val="bg1"/>
          </a:solidFill>
        </p:spPr>
        <p:txBody>
          <a:bodyPr wrap="square">
            <a:spAutoFit/>
          </a:bodyPr>
          <a:lstStyle/>
          <a:p>
            <a:pPr lvl="0">
              <a:defRPr/>
            </a:pPr>
            <a:r>
              <a:rPr kumimoji="1" lang="en" altLang="zh-TW" sz="1100">
                <a:solidFill>
                  <a:srgbClr val="4E4E4E"/>
                </a:solidFill>
              </a:rPr>
              <a:t>[</a:t>
            </a:r>
            <a:r>
              <a:rPr kumimoji="1" lang="zh-TW" altLang="en-US" sz="1100">
                <a:solidFill>
                  <a:srgbClr val="4E4E4E"/>
                </a:solidFill>
              </a:rPr>
              <a:t>產業 </a:t>
            </a:r>
            <a:r>
              <a:rPr kumimoji="1" lang="en" altLang="zh-TW" sz="1100">
                <a:solidFill>
                  <a:srgbClr val="4E4E4E"/>
                </a:solidFill>
              </a:rPr>
              <a:t>Shopper Graph</a:t>
            </a:r>
            <a:r>
              <a:rPr kumimoji="1" lang="en-US" altLang="zh-TW" sz="1100">
                <a:solidFill>
                  <a:srgbClr val="4E4E4E"/>
                </a:solidFill>
              </a:rPr>
              <a:t>] </a:t>
            </a:r>
            <a:r>
              <a:rPr kumimoji="1" lang="zh-TW" altLang="en-US" sz="1100">
                <a:solidFill>
                  <a:srgbClr val="4E4E4E"/>
                </a:solidFill>
              </a:rPr>
              <a:t>合利他命</a:t>
            </a:r>
            <a:r>
              <a:rPr kumimoji="1" lang="en" altLang="zh-TW" sz="1100">
                <a:solidFill>
                  <a:srgbClr val="4E4E4E"/>
                </a:solidFill>
              </a:rPr>
              <a:t>EXPLUS 9-10</a:t>
            </a:r>
            <a:r>
              <a:rPr kumimoji="1" lang="zh-TW" altLang="en-US" sz="1100">
                <a:solidFill>
                  <a:srgbClr val="4E4E4E"/>
                </a:solidFill>
              </a:rPr>
              <a:t>月</a:t>
            </a:r>
          </a:p>
        </p:txBody>
      </p:sp>
      <p:sp>
        <p:nvSpPr>
          <p:cNvPr id="7" name="文字方塊 6">
            <a:extLst>
              <a:ext uri="{FF2B5EF4-FFF2-40B4-BE49-F238E27FC236}">
                <a16:creationId xmlns:a16="http://schemas.microsoft.com/office/drawing/2014/main" id="{12CC2CB6-C7C8-60F7-1F42-B1052DEB0C89}"/>
              </a:ext>
            </a:extLst>
          </p:cNvPr>
          <p:cNvSpPr txBox="1"/>
          <p:nvPr/>
        </p:nvSpPr>
        <p:spPr>
          <a:xfrm>
            <a:off x="2739553" y="1881795"/>
            <a:ext cx="3432647" cy="215444"/>
          </a:xfrm>
          <a:prstGeom prst="rect">
            <a:avLst/>
          </a:prstGeom>
          <a:solidFill>
            <a:schemeClr val="bg1"/>
          </a:solidFill>
        </p:spPr>
        <p:txBody>
          <a:bodyPr wrap="square">
            <a:spAutoFit/>
          </a:bodyPr>
          <a:lstStyle/>
          <a:p>
            <a:pPr lvl="0">
              <a:defRPr/>
            </a:pPr>
            <a:r>
              <a:rPr kumimoji="1" lang="en" altLang="zh-TW" sz="800">
                <a:solidFill>
                  <a:schemeClr val="bg1">
                    <a:lumMod val="65000"/>
                  </a:schemeClr>
                </a:solidFill>
              </a:rPr>
              <a:t>Industry Shopper Graph</a:t>
            </a:r>
          </a:p>
        </p:txBody>
      </p:sp>
      <p:sp>
        <p:nvSpPr>
          <p:cNvPr id="8" name="文字方塊 7">
            <a:extLst>
              <a:ext uri="{FF2B5EF4-FFF2-40B4-BE49-F238E27FC236}">
                <a16:creationId xmlns:a16="http://schemas.microsoft.com/office/drawing/2014/main" id="{48304476-65F6-2121-AEEE-A27C2EFA60B7}"/>
              </a:ext>
            </a:extLst>
          </p:cNvPr>
          <p:cNvSpPr txBox="1"/>
          <p:nvPr/>
        </p:nvSpPr>
        <p:spPr>
          <a:xfrm>
            <a:off x="2739553" y="2204776"/>
            <a:ext cx="3432646" cy="261610"/>
          </a:xfrm>
          <a:prstGeom prst="rect">
            <a:avLst/>
          </a:prstGeom>
          <a:solidFill>
            <a:schemeClr val="bg1"/>
          </a:solidFill>
        </p:spPr>
        <p:txBody>
          <a:bodyPr wrap="square">
            <a:spAutoFit/>
          </a:bodyPr>
          <a:lstStyle/>
          <a:p>
            <a:pPr lvl="0">
              <a:defRPr/>
            </a:pPr>
            <a:r>
              <a:rPr kumimoji="1" lang="en" altLang="zh-TW" sz="1100">
                <a:solidFill>
                  <a:srgbClr val="4E4E4E"/>
                </a:solidFill>
              </a:rPr>
              <a:t>[Webb</a:t>
            </a:r>
            <a:r>
              <a:rPr kumimoji="1" lang="zh-TW" altLang="en-US" sz="1100">
                <a:solidFill>
                  <a:srgbClr val="4E4E4E"/>
                </a:solidFill>
              </a:rPr>
              <a:t>零售數據</a:t>
            </a:r>
            <a:r>
              <a:rPr kumimoji="1" lang="en-US" altLang="zh-TW" sz="1100">
                <a:solidFill>
                  <a:srgbClr val="4E4E4E"/>
                </a:solidFill>
              </a:rPr>
              <a:t>-</a:t>
            </a:r>
            <a:r>
              <a:rPr kumimoji="1" lang="zh-TW" altLang="en-US" sz="1100">
                <a:solidFill>
                  <a:srgbClr val="4E4E4E"/>
                </a:solidFill>
              </a:rPr>
              <a:t>購買</a:t>
            </a:r>
            <a:r>
              <a:rPr kumimoji="1" lang="en-US" altLang="zh-TW" sz="1100">
                <a:solidFill>
                  <a:srgbClr val="4E4E4E"/>
                </a:solidFill>
              </a:rPr>
              <a:t>] </a:t>
            </a:r>
            <a:r>
              <a:rPr kumimoji="1" lang="zh-TW" altLang="en-US" sz="1100">
                <a:solidFill>
                  <a:srgbClr val="4E4E4E"/>
                </a:solidFill>
              </a:rPr>
              <a:t>合利他命</a:t>
            </a:r>
            <a:r>
              <a:rPr kumimoji="1" lang="en" altLang="zh-TW" sz="1100">
                <a:solidFill>
                  <a:srgbClr val="4E4E4E"/>
                </a:solidFill>
              </a:rPr>
              <a:t>EXPLUS 10</a:t>
            </a:r>
            <a:r>
              <a:rPr kumimoji="1" lang="zh-TW" altLang="en-US" sz="1100">
                <a:solidFill>
                  <a:srgbClr val="4E4E4E"/>
                </a:solidFill>
              </a:rPr>
              <a:t>月</a:t>
            </a:r>
          </a:p>
        </p:txBody>
      </p:sp>
      <p:sp>
        <p:nvSpPr>
          <p:cNvPr id="9" name="文字方塊 8">
            <a:extLst>
              <a:ext uri="{FF2B5EF4-FFF2-40B4-BE49-F238E27FC236}">
                <a16:creationId xmlns:a16="http://schemas.microsoft.com/office/drawing/2014/main" id="{751990A9-0A55-3785-1813-6844A1272C4C}"/>
              </a:ext>
            </a:extLst>
          </p:cNvPr>
          <p:cNvSpPr txBox="1"/>
          <p:nvPr/>
        </p:nvSpPr>
        <p:spPr>
          <a:xfrm>
            <a:off x="2746718" y="2413788"/>
            <a:ext cx="3432647" cy="215444"/>
          </a:xfrm>
          <a:prstGeom prst="rect">
            <a:avLst/>
          </a:prstGeom>
          <a:solidFill>
            <a:schemeClr val="bg1"/>
          </a:solidFill>
        </p:spPr>
        <p:txBody>
          <a:bodyPr wrap="square">
            <a:spAutoFit/>
          </a:bodyPr>
          <a:lstStyle/>
          <a:p>
            <a:pPr fontAlgn="base"/>
            <a:r>
              <a:rPr kumimoji="1" lang="en" altLang="zh-TW" sz="800">
                <a:solidFill>
                  <a:schemeClr val="bg1">
                    <a:lumMod val="65000"/>
                  </a:schemeClr>
                </a:solidFill>
              </a:rPr>
              <a:t>Webb Retail Data (Purchase)</a:t>
            </a:r>
          </a:p>
        </p:txBody>
      </p:sp>
      <p:sp>
        <p:nvSpPr>
          <p:cNvPr id="10" name="文字方塊 9">
            <a:extLst>
              <a:ext uri="{FF2B5EF4-FFF2-40B4-BE49-F238E27FC236}">
                <a16:creationId xmlns:a16="http://schemas.microsoft.com/office/drawing/2014/main" id="{2721B6A9-119D-8715-C65B-216D68540228}"/>
              </a:ext>
            </a:extLst>
          </p:cNvPr>
          <p:cNvSpPr txBox="1"/>
          <p:nvPr/>
        </p:nvSpPr>
        <p:spPr>
          <a:xfrm>
            <a:off x="2732387" y="2731379"/>
            <a:ext cx="3432646" cy="261610"/>
          </a:xfrm>
          <a:prstGeom prst="rect">
            <a:avLst/>
          </a:prstGeom>
          <a:solidFill>
            <a:schemeClr val="bg1"/>
          </a:solidFill>
        </p:spPr>
        <p:txBody>
          <a:bodyPr wrap="square">
            <a:spAutoFit/>
          </a:bodyPr>
          <a:lstStyle/>
          <a:p>
            <a:pPr lvl="0">
              <a:defRPr/>
            </a:pPr>
            <a:r>
              <a:rPr kumimoji="1" lang="en" altLang="zh-TW" sz="1100">
                <a:solidFill>
                  <a:srgbClr val="4E4E4E"/>
                </a:solidFill>
              </a:rPr>
              <a:t>[</a:t>
            </a:r>
            <a:r>
              <a:rPr kumimoji="1" lang="zh-TW" altLang="en-US" sz="1100">
                <a:solidFill>
                  <a:srgbClr val="4E4E4E"/>
                </a:solidFill>
              </a:rPr>
              <a:t>產業 </a:t>
            </a:r>
            <a:r>
              <a:rPr kumimoji="1" lang="en" altLang="zh-TW" sz="1100">
                <a:solidFill>
                  <a:srgbClr val="4E4E4E"/>
                </a:solidFill>
              </a:rPr>
              <a:t>Shopper Graph</a:t>
            </a:r>
            <a:r>
              <a:rPr kumimoji="1" lang="en-US" altLang="zh-TW" sz="1100">
                <a:solidFill>
                  <a:srgbClr val="4E4E4E"/>
                </a:solidFill>
              </a:rPr>
              <a:t>] </a:t>
            </a:r>
            <a:r>
              <a:rPr kumimoji="1" lang="zh-TW" altLang="en-US" sz="1100">
                <a:solidFill>
                  <a:srgbClr val="4E4E4E"/>
                </a:solidFill>
              </a:rPr>
              <a:t>合利他命</a:t>
            </a:r>
            <a:r>
              <a:rPr kumimoji="1" lang="en" altLang="zh-TW" sz="1100">
                <a:solidFill>
                  <a:srgbClr val="4E4E4E"/>
                </a:solidFill>
              </a:rPr>
              <a:t>EXPLUS 9-10</a:t>
            </a:r>
            <a:r>
              <a:rPr kumimoji="1" lang="zh-TW" altLang="en-US" sz="1100">
                <a:solidFill>
                  <a:srgbClr val="4E4E4E"/>
                </a:solidFill>
              </a:rPr>
              <a:t>月</a:t>
            </a:r>
          </a:p>
        </p:txBody>
      </p:sp>
      <p:sp>
        <p:nvSpPr>
          <p:cNvPr id="11" name="文字方塊 10">
            <a:extLst>
              <a:ext uri="{FF2B5EF4-FFF2-40B4-BE49-F238E27FC236}">
                <a16:creationId xmlns:a16="http://schemas.microsoft.com/office/drawing/2014/main" id="{B891DCE4-DE0F-4FBD-72C3-5E9E4F5030C9}"/>
              </a:ext>
            </a:extLst>
          </p:cNvPr>
          <p:cNvSpPr txBox="1"/>
          <p:nvPr/>
        </p:nvSpPr>
        <p:spPr>
          <a:xfrm>
            <a:off x="2739552" y="2940391"/>
            <a:ext cx="3432647" cy="215444"/>
          </a:xfrm>
          <a:prstGeom prst="rect">
            <a:avLst/>
          </a:prstGeom>
          <a:solidFill>
            <a:schemeClr val="bg1"/>
          </a:solidFill>
        </p:spPr>
        <p:txBody>
          <a:bodyPr wrap="square">
            <a:spAutoFit/>
          </a:bodyPr>
          <a:lstStyle/>
          <a:p>
            <a:pPr lvl="0">
              <a:defRPr/>
            </a:pPr>
            <a:r>
              <a:rPr kumimoji="1" lang="en" altLang="zh-TW" sz="800">
                <a:solidFill>
                  <a:schemeClr val="bg1">
                    <a:lumMod val="65000"/>
                  </a:schemeClr>
                </a:solidFill>
              </a:rPr>
              <a:t>Industry Shopper Graph</a:t>
            </a:r>
          </a:p>
        </p:txBody>
      </p:sp>
      <p:sp>
        <p:nvSpPr>
          <p:cNvPr id="12" name="文字方塊 11">
            <a:extLst>
              <a:ext uri="{FF2B5EF4-FFF2-40B4-BE49-F238E27FC236}">
                <a16:creationId xmlns:a16="http://schemas.microsoft.com/office/drawing/2014/main" id="{F2792AE9-1869-1731-31E6-9B4E56AB5A25}"/>
              </a:ext>
            </a:extLst>
          </p:cNvPr>
          <p:cNvSpPr txBox="1"/>
          <p:nvPr/>
        </p:nvSpPr>
        <p:spPr>
          <a:xfrm>
            <a:off x="2746718" y="3247295"/>
            <a:ext cx="3432646" cy="261610"/>
          </a:xfrm>
          <a:prstGeom prst="rect">
            <a:avLst/>
          </a:prstGeom>
          <a:solidFill>
            <a:schemeClr val="bg1"/>
          </a:solid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zh-TW" sz="1100" kern="1200">
                <a:solidFill>
                  <a:srgbClr val="1C1E20"/>
                </a:solidFill>
                <a:latin typeface="+mn-lt"/>
                <a:ea typeface="+mn-ea"/>
                <a:cs typeface="+mn-cs"/>
              </a:rPr>
              <a:t>[</a:t>
            </a:r>
            <a:r>
              <a:rPr kumimoji="1" lang="zh-TW" altLang="en-US" sz="1100" kern="1200">
                <a:solidFill>
                  <a:srgbClr val="1C1E20"/>
                </a:solidFill>
                <a:latin typeface="+mn-lt"/>
                <a:ea typeface="+mn-ea"/>
                <a:cs typeface="+mn-cs"/>
              </a:rPr>
              <a:t>關鍵字</a:t>
            </a:r>
            <a:r>
              <a:rPr kumimoji="1" lang="en-US" altLang="zh-TW" sz="1100" kern="1200">
                <a:solidFill>
                  <a:srgbClr val="1C1E20"/>
                </a:solidFill>
                <a:latin typeface="+mn-lt"/>
                <a:ea typeface="+mn-ea"/>
                <a:cs typeface="+mn-cs"/>
              </a:rPr>
              <a:t>] </a:t>
            </a:r>
            <a:r>
              <a:rPr kumimoji="1" lang="zh-TW" altLang="en-US" sz="1100" kern="1200">
                <a:solidFill>
                  <a:srgbClr val="1C1E20"/>
                </a:solidFill>
                <a:latin typeface="+mn-lt"/>
                <a:ea typeface="+mn-ea"/>
                <a:cs typeface="+mn-cs"/>
              </a:rPr>
              <a:t>合利他命</a:t>
            </a:r>
            <a:r>
              <a:rPr kumimoji="1" lang="en" altLang="zh-TW" sz="1100" kern="1200">
                <a:solidFill>
                  <a:srgbClr val="1C1E20"/>
                </a:solidFill>
                <a:latin typeface="+mn-lt"/>
                <a:ea typeface="+mn-ea"/>
                <a:cs typeface="+mn-cs"/>
              </a:rPr>
              <a:t>EXPLUS 10</a:t>
            </a:r>
            <a:r>
              <a:rPr kumimoji="1" lang="zh-TW" altLang="en-US" sz="1100" kern="1200">
                <a:solidFill>
                  <a:srgbClr val="1C1E20"/>
                </a:solidFill>
                <a:latin typeface="+mn-lt"/>
                <a:ea typeface="+mn-ea"/>
                <a:cs typeface="+mn-cs"/>
              </a:rPr>
              <a:t>月</a:t>
            </a:r>
          </a:p>
        </p:txBody>
      </p:sp>
      <p:sp>
        <p:nvSpPr>
          <p:cNvPr id="13" name="文字方塊 12">
            <a:extLst>
              <a:ext uri="{FF2B5EF4-FFF2-40B4-BE49-F238E27FC236}">
                <a16:creationId xmlns:a16="http://schemas.microsoft.com/office/drawing/2014/main" id="{5FC870FC-EB9C-0A51-3646-E18F38B18FCA}"/>
              </a:ext>
            </a:extLst>
          </p:cNvPr>
          <p:cNvSpPr txBox="1"/>
          <p:nvPr/>
        </p:nvSpPr>
        <p:spPr>
          <a:xfrm>
            <a:off x="2753883" y="3456307"/>
            <a:ext cx="3432647" cy="215444"/>
          </a:xfrm>
          <a:prstGeom prst="rect">
            <a:avLst/>
          </a:prstGeom>
          <a:solidFill>
            <a:schemeClr val="bg1"/>
          </a:solidFill>
        </p:spPr>
        <p:txBody>
          <a:bodyPr wrap="square">
            <a:spAutoFit/>
          </a:bodyPr>
          <a:lstStyle/>
          <a:p>
            <a:pPr lvl="0">
              <a:defRPr/>
            </a:pPr>
            <a:r>
              <a:rPr kumimoji="1" lang="en" altLang="zh-TW" sz="800">
                <a:solidFill>
                  <a:schemeClr val="bg1">
                    <a:lumMod val="65000"/>
                  </a:schemeClr>
                </a:solidFill>
              </a:rPr>
              <a:t>Brand Keyword AI Exploration</a:t>
            </a:r>
          </a:p>
        </p:txBody>
      </p:sp>
      <p:sp>
        <p:nvSpPr>
          <p:cNvPr id="14" name="文字方塊 13">
            <a:extLst>
              <a:ext uri="{FF2B5EF4-FFF2-40B4-BE49-F238E27FC236}">
                <a16:creationId xmlns:a16="http://schemas.microsoft.com/office/drawing/2014/main" id="{9B07F3E8-31FF-C7DD-C481-FA98D0955E2D}"/>
              </a:ext>
            </a:extLst>
          </p:cNvPr>
          <p:cNvSpPr txBox="1"/>
          <p:nvPr/>
        </p:nvSpPr>
        <p:spPr>
          <a:xfrm>
            <a:off x="2753883" y="3765643"/>
            <a:ext cx="3432646" cy="261610"/>
          </a:xfrm>
          <a:prstGeom prst="rect">
            <a:avLst/>
          </a:prstGeom>
          <a:solidFill>
            <a:schemeClr val="bg1"/>
          </a:solid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zh-TW" sz="1100" kern="1200">
                <a:solidFill>
                  <a:srgbClr val="1C1E20"/>
                </a:solidFill>
                <a:latin typeface="+mn-lt"/>
                <a:ea typeface="+mn-ea"/>
                <a:cs typeface="+mn-cs"/>
              </a:rPr>
              <a:t>[</a:t>
            </a:r>
            <a:r>
              <a:rPr kumimoji="1" lang="zh-TW" altLang="en-US" sz="1100" kern="1200">
                <a:solidFill>
                  <a:srgbClr val="1C1E20"/>
                </a:solidFill>
                <a:latin typeface="+mn-lt"/>
                <a:ea typeface="+mn-ea"/>
                <a:cs typeface="+mn-cs"/>
              </a:rPr>
              <a:t>關鍵字</a:t>
            </a:r>
            <a:r>
              <a:rPr kumimoji="1" lang="en-US" altLang="zh-TW" sz="1100" kern="1200">
                <a:solidFill>
                  <a:srgbClr val="1C1E20"/>
                </a:solidFill>
                <a:latin typeface="+mn-lt"/>
                <a:ea typeface="+mn-ea"/>
                <a:cs typeface="+mn-cs"/>
              </a:rPr>
              <a:t>] </a:t>
            </a:r>
            <a:r>
              <a:rPr kumimoji="1" lang="zh-TW" altLang="en-US" sz="1100" kern="1200">
                <a:solidFill>
                  <a:srgbClr val="1C1E20"/>
                </a:solidFill>
                <a:latin typeface="+mn-lt"/>
                <a:ea typeface="+mn-ea"/>
                <a:cs typeface="+mn-cs"/>
              </a:rPr>
              <a:t>合利他命</a:t>
            </a:r>
            <a:r>
              <a:rPr kumimoji="1" lang="en" altLang="zh-TW" sz="1100" kern="1200">
                <a:solidFill>
                  <a:srgbClr val="1C1E20"/>
                </a:solidFill>
                <a:latin typeface="+mn-lt"/>
                <a:ea typeface="+mn-ea"/>
                <a:cs typeface="+mn-cs"/>
              </a:rPr>
              <a:t>EXPLUS 10</a:t>
            </a:r>
            <a:r>
              <a:rPr kumimoji="1" lang="zh-TW" altLang="en-US" sz="1100" kern="1200">
                <a:solidFill>
                  <a:srgbClr val="1C1E20"/>
                </a:solidFill>
                <a:latin typeface="+mn-lt"/>
                <a:ea typeface="+mn-ea"/>
                <a:cs typeface="+mn-cs"/>
              </a:rPr>
              <a:t>月</a:t>
            </a:r>
          </a:p>
        </p:txBody>
      </p:sp>
      <p:sp>
        <p:nvSpPr>
          <p:cNvPr id="15" name="文字方塊 14">
            <a:extLst>
              <a:ext uri="{FF2B5EF4-FFF2-40B4-BE49-F238E27FC236}">
                <a16:creationId xmlns:a16="http://schemas.microsoft.com/office/drawing/2014/main" id="{8220C6A8-0E7A-D27D-B393-87F9E64D3231}"/>
              </a:ext>
            </a:extLst>
          </p:cNvPr>
          <p:cNvSpPr txBox="1"/>
          <p:nvPr/>
        </p:nvSpPr>
        <p:spPr>
          <a:xfrm>
            <a:off x="2761048" y="3974655"/>
            <a:ext cx="3432647" cy="215444"/>
          </a:xfrm>
          <a:prstGeom prst="rect">
            <a:avLst/>
          </a:prstGeom>
          <a:solidFill>
            <a:schemeClr val="bg1"/>
          </a:solidFill>
        </p:spPr>
        <p:txBody>
          <a:bodyPr wrap="square">
            <a:spAutoFit/>
          </a:bodyPr>
          <a:lstStyle/>
          <a:p>
            <a:pPr lvl="0">
              <a:defRPr/>
            </a:pPr>
            <a:r>
              <a:rPr kumimoji="1" lang="en" altLang="zh-TW" sz="800">
                <a:solidFill>
                  <a:schemeClr val="bg1">
                    <a:lumMod val="65000"/>
                  </a:schemeClr>
                </a:solidFill>
              </a:rPr>
              <a:t>Brand Keyword AI Exploration</a:t>
            </a:r>
          </a:p>
        </p:txBody>
      </p:sp>
      <p:sp>
        <p:nvSpPr>
          <p:cNvPr id="16" name="矩形 15">
            <a:extLst>
              <a:ext uri="{FF2B5EF4-FFF2-40B4-BE49-F238E27FC236}">
                <a16:creationId xmlns:a16="http://schemas.microsoft.com/office/drawing/2014/main" id="{F9741B8D-99DB-4013-6E92-63A6B422E04D}"/>
              </a:ext>
            </a:extLst>
          </p:cNvPr>
          <p:cNvSpPr/>
          <p:nvPr/>
        </p:nvSpPr>
        <p:spPr>
          <a:xfrm>
            <a:off x="6179364" y="1630448"/>
            <a:ext cx="68601" cy="620494"/>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pic>
        <p:nvPicPr>
          <p:cNvPr id="17" name="圖片 16" descr="一張含有 文字, 字型, 螢幕擷取畫面 的圖片&#10;&#10;AI 產生的內容可能不正確。">
            <a:extLst>
              <a:ext uri="{FF2B5EF4-FFF2-40B4-BE49-F238E27FC236}">
                <a16:creationId xmlns:a16="http://schemas.microsoft.com/office/drawing/2014/main" id="{141FD31D-C532-6FF6-CB75-28A35474CB2D}"/>
              </a:ext>
            </a:extLst>
          </p:cNvPr>
          <p:cNvPicPr>
            <a:picLocks noChangeAspect="1"/>
          </p:cNvPicPr>
          <p:nvPr/>
        </p:nvPicPr>
        <p:blipFill>
          <a:blip r:embed="rId3"/>
          <a:stretch>
            <a:fillRect/>
          </a:stretch>
        </p:blipFill>
        <p:spPr>
          <a:xfrm>
            <a:off x="6287260" y="1307677"/>
            <a:ext cx="3728570" cy="1384897"/>
          </a:xfrm>
          <a:prstGeom prst="rect">
            <a:avLst/>
          </a:prstGeom>
        </p:spPr>
      </p:pic>
      <p:sp>
        <p:nvSpPr>
          <p:cNvPr id="18" name="矩形 17">
            <a:extLst>
              <a:ext uri="{FF2B5EF4-FFF2-40B4-BE49-F238E27FC236}">
                <a16:creationId xmlns:a16="http://schemas.microsoft.com/office/drawing/2014/main" id="{310DF8B0-EF28-4033-D74E-9F6C1FB13A85}"/>
              </a:ext>
            </a:extLst>
          </p:cNvPr>
          <p:cNvSpPr/>
          <p:nvPr/>
        </p:nvSpPr>
        <p:spPr>
          <a:xfrm>
            <a:off x="6287260" y="2680389"/>
            <a:ext cx="3744000" cy="352248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9" name="文字方塊 18">
            <a:extLst>
              <a:ext uri="{FF2B5EF4-FFF2-40B4-BE49-F238E27FC236}">
                <a16:creationId xmlns:a16="http://schemas.microsoft.com/office/drawing/2014/main" id="{CA1C8270-AE3E-912C-9672-7ED49255C2FC}"/>
              </a:ext>
            </a:extLst>
          </p:cNvPr>
          <p:cNvSpPr txBox="1"/>
          <p:nvPr/>
        </p:nvSpPr>
        <p:spPr>
          <a:xfrm>
            <a:off x="6524547" y="1678631"/>
            <a:ext cx="3432646" cy="261610"/>
          </a:xfrm>
          <a:prstGeom prst="rect">
            <a:avLst/>
          </a:prstGeom>
          <a:solidFill>
            <a:schemeClr val="bg1"/>
          </a:solidFill>
        </p:spPr>
        <p:txBody>
          <a:bodyPr wrap="square">
            <a:spAutoFit/>
          </a:bodyPr>
          <a:lstStyle/>
          <a:p>
            <a:pPr lvl="0">
              <a:defRPr/>
            </a:pPr>
            <a:r>
              <a:rPr kumimoji="1" lang="en-US" altLang="zh-TW" sz="1100">
                <a:solidFill>
                  <a:srgbClr val="2993FF"/>
                </a:solidFill>
              </a:rPr>
              <a:t>[</a:t>
            </a:r>
            <a:r>
              <a:rPr kumimoji="1" lang="zh-TW" altLang="en-US" sz="1100">
                <a:solidFill>
                  <a:srgbClr val="2993FF"/>
                </a:solidFill>
              </a:rPr>
              <a:t>線下</a:t>
            </a:r>
            <a:r>
              <a:rPr kumimoji="1" lang="en" altLang="zh-TW" sz="1100">
                <a:solidFill>
                  <a:srgbClr val="2993FF"/>
                </a:solidFill>
              </a:rPr>
              <a:t>POI] </a:t>
            </a:r>
            <a:r>
              <a:rPr kumimoji="1" lang="zh-TW" altLang="en-US" sz="1100">
                <a:solidFill>
                  <a:srgbClr val="2993FF"/>
                </a:solidFill>
              </a:rPr>
              <a:t>合利他命</a:t>
            </a:r>
            <a:r>
              <a:rPr kumimoji="1" lang="en" altLang="zh-TW" sz="1100">
                <a:solidFill>
                  <a:srgbClr val="2993FF"/>
                </a:solidFill>
              </a:rPr>
              <a:t>EXPLUS 10</a:t>
            </a:r>
            <a:r>
              <a:rPr kumimoji="1" lang="zh-TW" altLang="en-US" sz="1100">
                <a:solidFill>
                  <a:srgbClr val="2993FF"/>
                </a:solidFill>
              </a:rPr>
              <a:t>月</a:t>
            </a:r>
          </a:p>
        </p:txBody>
      </p:sp>
      <p:sp>
        <p:nvSpPr>
          <p:cNvPr id="20" name="文字方塊 19">
            <a:extLst>
              <a:ext uri="{FF2B5EF4-FFF2-40B4-BE49-F238E27FC236}">
                <a16:creationId xmlns:a16="http://schemas.microsoft.com/office/drawing/2014/main" id="{545738E1-55DF-2713-B689-1B261C607FB1}"/>
              </a:ext>
            </a:extLst>
          </p:cNvPr>
          <p:cNvSpPr txBox="1"/>
          <p:nvPr/>
        </p:nvSpPr>
        <p:spPr>
          <a:xfrm>
            <a:off x="6524546" y="1881795"/>
            <a:ext cx="3432647" cy="215444"/>
          </a:xfrm>
          <a:prstGeom prst="rect">
            <a:avLst/>
          </a:prstGeom>
          <a:solidFill>
            <a:schemeClr val="bg1"/>
          </a:solidFill>
        </p:spPr>
        <p:txBody>
          <a:bodyPr wrap="square">
            <a:spAutoFit/>
          </a:bodyPr>
          <a:lstStyle/>
          <a:p>
            <a:pPr lvl="0">
              <a:defRPr/>
            </a:pPr>
            <a:r>
              <a:rPr kumimoji="1" lang="en" altLang="zh-TW" sz="800">
                <a:solidFill>
                  <a:schemeClr val="bg1">
                    <a:lumMod val="65000"/>
                  </a:schemeClr>
                </a:solidFill>
              </a:rPr>
              <a:t>Offline Point of Interest (POI)</a:t>
            </a:r>
          </a:p>
        </p:txBody>
      </p:sp>
      <p:pic>
        <p:nvPicPr>
          <p:cNvPr id="21" name="圖片 20">
            <a:extLst>
              <a:ext uri="{FF2B5EF4-FFF2-40B4-BE49-F238E27FC236}">
                <a16:creationId xmlns:a16="http://schemas.microsoft.com/office/drawing/2014/main" id="{DD060C9D-BD37-EED3-BBF1-123F421DF28E}"/>
              </a:ext>
            </a:extLst>
          </p:cNvPr>
          <p:cNvPicPr>
            <a:picLocks noChangeAspect="1"/>
          </p:cNvPicPr>
          <p:nvPr/>
        </p:nvPicPr>
        <p:blipFill>
          <a:blip r:embed="rId4"/>
          <a:stretch>
            <a:fillRect/>
          </a:stretch>
        </p:blipFill>
        <p:spPr>
          <a:xfrm>
            <a:off x="7897154" y="1900710"/>
            <a:ext cx="184348" cy="184348"/>
          </a:xfrm>
          <a:prstGeom prst="rect">
            <a:avLst/>
          </a:prstGeom>
        </p:spPr>
      </p:pic>
      <p:sp>
        <p:nvSpPr>
          <p:cNvPr id="22" name="文字方塊 21">
            <a:extLst>
              <a:ext uri="{FF2B5EF4-FFF2-40B4-BE49-F238E27FC236}">
                <a16:creationId xmlns:a16="http://schemas.microsoft.com/office/drawing/2014/main" id="{42FBA285-1AA1-A35B-4F29-854486391200}"/>
              </a:ext>
            </a:extLst>
          </p:cNvPr>
          <p:cNvSpPr txBox="1"/>
          <p:nvPr/>
        </p:nvSpPr>
        <p:spPr>
          <a:xfrm>
            <a:off x="6517381" y="2204776"/>
            <a:ext cx="3432646" cy="261610"/>
          </a:xfrm>
          <a:prstGeom prst="rect">
            <a:avLst/>
          </a:prstGeom>
          <a:solidFill>
            <a:schemeClr val="bg1"/>
          </a:solidFill>
        </p:spPr>
        <p:txBody>
          <a:bodyPr wrap="square">
            <a:spAutoFit/>
          </a:bodyPr>
          <a:lstStyle/>
          <a:p>
            <a:pPr lvl="0">
              <a:defRPr/>
            </a:pPr>
            <a:r>
              <a:rPr kumimoji="1" lang="en" altLang="zh-TW" sz="1100">
                <a:solidFill>
                  <a:srgbClr val="2993FF"/>
                </a:solidFill>
              </a:rPr>
              <a:t>[Webb</a:t>
            </a:r>
            <a:r>
              <a:rPr kumimoji="1" lang="zh-TW" altLang="en-US" sz="1100">
                <a:solidFill>
                  <a:srgbClr val="2993FF"/>
                </a:solidFill>
              </a:rPr>
              <a:t>零售數據</a:t>
            </a:r>
            <a:r>
              <a:rPr kumimoji="1" lang="en-US" altLang="zh-TW" sz="1100">
                <a:solidFill>
                  <a:srgbClr val="2993FF"/>
                </a:solidFill>
              </a:rPr>
              <a:t>-</a:t>
            </a:r>
            <a:r>
              <a:rPr kumimoji="1" lang="zh-TW" altLang="en-US" sz="1100">
                <a:solidFill>
                  <a:srgbClr val="2993FF"/>
                </a:solidFill>
              </a:rPr>
              <a:t>購買</a:t>
            </a:r>
            <a:r>
              <a:rPr kumimoji="1" lang="en-US" altLang="zh-TW" sz="1100">
                <a:solidFill>
                  <a:srgbClr val="2993FF"/>
                </a:solidFill>
              </a:rPr>
              <a:t>] </a:t>
            </a:r>
            <a:r>
              <a:rPr kumimoji="1" lang="zh-TW" altLang="en-US" sz="1100">
                <a:solidFill>
                  <a:srgbClr val="2993FF"/>
                </a:solidFill>
              </a:rPr>
              <a:t>合利他命</a:t>
            </a:r>
            <a:r>
              <a:rPr kumimoji="1" lang="en" altLang="zh-TW" sz="1100">
                <a:solidFill>
                  <a:srgbClr val="2993FF"/>
                </a:solidFill>
              </a:rPr>
              <a:t>EXPLUS 10</a:t>
            </a:r>
            <a:r>
              <a:rPr kumimoji="1" lang="zh-TW" altLang="en-US" sz="1100">
                <a:solidFill>
                  <a:srgbClr val="2993FF"/>
                </a:solidFill>
              </a:rPr>
              <a:t>月</a:t>
            </a:r>
          </a:p>
        </p:txBody>
      </p:sp>
      <p:sp>
        <p:nvSpPr>
          <p:cNvPr id="23" name="文字方塊 22">
            <a:extLst>
              <a:ext uri="{FF2B5EF4-FFF2-40B4-BE49-F238E27FC236}">
                <a16:creationId xmlns:a16="http://schemas.microsoft.com/office/drawing/2014/main" id="{BC9B5234-3393-E0F4-36E0-E942966D1C2B}"/>
              </a:ext>
            </a:extLst>
          </p:cNvPr>
          <p:cNvSpPr txBox="1"/>
          <p:nvPr/>
        </p:nvSpPr>
        <p:spPr>
          <a:xfrm>
            <a:off x="6524546" y="2413788"/>
            <a:ext cx="3432647" cy="215444"/>
          </a:xfrm>
          <a:prstGeom prst="rect">
            <a:avLst/>
          </a:prstGeom>
          <a:solidFill>
            <a:schemeClr val="bg1"/>
          </a:solidFill>
        </p:spPr>
        <p:txBody>
          <a:bodyPr wrap="square">
            <a:spAutoFit/>
          </a:bodyPr>
          <a:lstStyle/>
          <a:p>
            <a:pPr fontAlgn="base"/>
            <a:r>
              <a:rPr kumimoji="1" lang="en" altLang="zh-TW" sz="800">
                <a:solidFill>
                  <a:schemeClr val="bg1">
                    <a:lumMod val="65000"/>
                  </a:schemeClr>
                </a:solidFill>
              </a:rPr>
              <a:t>Webb Retail Data (Purchase)</a:t>
            </a:r>
          </a:p>
        </p:txBody>
      </p:sp>
      <p:sp>
        <p:nvSpPr>
          <p:cNvPr id="24" name="矩形 23">
            <a:extLst>
              <a:ext uri="{FF2B5EF4-FFF2-40B4-BE49-F238E27FC236}">
                <a16:creationId xmlns:a16="http://schemas.microsoft.com/office/drawing/2014/main" id="{5C5B1B9D-96B4-F141-04AB-9255B8422744}"/>
              </a:ext>
            </a:extLst>
          </p:cNvPr>
          <p:cNvSpPr/>
          <p:nvPr/>
        </p:nvSpPr>
        <p:spPr>
          <a:xfrm>
            <a:off x="2503965" y="2143405"/>
            <a:ext cx="3744000" cy="4078016"/>
          </a:xfrm>
          <a:prstGeom prst="rect">
            <a:avLst/>
          </a:prstGeom>
          <a:solidFill>
            <a:srgbClr val="F5F8F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pic>
        <p:nvPicPr>
          <p:cNvPr id="25" name="圖片 24">
            <a:extLst>
              <a:ext uri="{FF2B5EF4-FFF2-40B4-BE49-F238E27FC236}">
                <a16:creationId xmlns:a16="http://schemas.microsoft.com/office/drawing/2014/main" id="{D4FC9FD7-1D63-152B-82F4-E8B1C02DF85E}"/>
              </a:ext>
            </a:extLst>
          </p:cNvPr>
          <p:cNvPicPr>
            <a:picLocks noChangeAspect="1"/>
          </p:cNvPicPr>
          <p:nvPr/>
        </p:nvPicPr>
        <p:blipFill>
          <a:blip r:embed="rId5"/>
          <a:stretch>
            <a:fillRect/>
          </a:stretch>
        </p:blipFill>
        <p:spPr>
          <a:xfrm flipH="1">
            <a:off x="7881314" y="2392968"/>
            <a:ext cx="254609" cy="254609"/>
          </a:xfrm>
          <a:prstGeom prst="rect">
            <a:avLst/>
          </a:prstGeom>
        </p:spPr>
      </p:pic>
      <p:sp>
        <p:nvSpPr>
          <p:cNvPr id="26" name="矩形 25">
            <a:extLst>
              <a:ext uri="{FF2B5EF4-FFF2-40B4-BE49-F238E27FC236}">
                <a16:creationId xmlns:a16="http://schemas.microsoft.com/office/drawing/2014/main" id="{2E46A337-F37E-FDC0-2E67-43369354AC3E}"/>
              </a:ext>
            </a:extLst>
          </p:cNvPr>
          <p:cNvSpPr/>
          <p:nvPr/>
        </p:nvSpPr>
        <p:spPr>
          <a:xfrm>
            <a:off x="2342899" y="636165"/>
            <a:ext cx="7772400" cy="6146800"/>
          </a:xfrm>
          <a:prstGeom prst="rect">
            <a:avLst/>
          </a:prstGeom>
          <a:solidFill>
            <a:schemeClr val="tx1">
              <a:lumMod val="65000"/>
              <a:lumOff val="35000"/>
              <a:alpha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27" name="圓角矩形 26">
            <a:extLst>
              <a:ext uri="{FF2B5EF4-FFF2-40B4-BE49-F238E27FC236}">
                <a16:creationId xmlns:a16="http://schemas.microsoft.com/office/drawing/2014/main" id="{96F355F8-FACC-E68B-2E96-783F290CC663}"/>
              </a:ext>
            </a:extLst>
          </p:cNvPr>
          <p:cNvSpPr/>
          <p:nvPr/>
        </p:nvSpPr>
        <p:spPr>
          <a:xfrm>
            <a:off x="3822700" y="2970308"/>
            <a:ext cx="4876800" cy="1652058"/>
          </a:xfrm>
          <a:prstGeom prst="roundRect">
            <a:avLst>
              <a:gd name="adj" fmla="val 3694"/>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kumimoji="1" lang="zh-TW" altLang="en-US">
              <a:solidFill>
                <a:schemeClr val="bg1">
                  <a:lumMod val="50000"/>
                </a:schemeClr>
              </a:solidFill>
            </a:endParaRPr>
          </a:p>
        </p:txBody>
      </p:sp>
      <p:pic>
        <p:nvPicPr>
          <p:cNvPr id="28" name="圖片 27">
            <a:extLst>
              <a:ext uri="{FF2B5EF4-FFF2-40B4-BE49-F238E27FC236}">
                <a16:creationId xmlns:a16="http://schemas.microsoft.com/office/drawing/2014/main" id="{864B7258-D215-CCC9-B864-2AAE8AF65709}"/>
              </a:ext>
            </a:extLst>
          </p:cNvPr>
          <p:cNvPicPr>
            <a:picLocks noChangeAspect="1"/>
          </p:cNvPicPr>
          <p:nvPr/>
        </p:nvPicPr>
        <p:blipFill>
          <a:blip r:embed="rId6"/>
          <a:stretch>
            <a:fillRect/>
          </a:stretch>
        </p:blipFill>
        <p:spPr>
          <a:xfrm>
            <a:off x="8286750" y="3071909"/>
            <a:ext cx="317500" cy="254000"/>
          </a:xfrm>
          <a:prstGeom prst="rect">
            <a:avLst/>
          </a:prstGeom>
        </p:spPr>
      </p:pic>
      <p:sp>
        <p:nvSpPr>
          <p:cNvPr id="29" name="文字方塊 28">
            <a:extLst>
              <a:ext uri="{FF2B5EF4-FFF2-40B4-BE49-F238E27FC236}">
                <a16:creationId xmlns:a16="http://schemas.microsoft.com/office/drawing/2014/main" id="{8A030AE5-E864-E6AB-9917-0391A8051173}"/>
              </a:ext>
            </a:extLst>
          </p:cNvPr>
          <p:cNvSpPr txBox="1"/>
          <p:nvPr/>
        </p:nvSpPr>
        <p:spPr>
          <a:xfrm>
            <a:off x="3901242" y="3262409"/>
            <a:ext cx="4480758" cy="830997"/>
          </a:xfrm>
          <a:prstGeom prst="rect">
            <a:avLst/>
          </a:prstGeom>
          <a:noFill/>
        </p:spPr>
        <p:txBody>
          <a:bodyPr wrap="square">
            <a:spAutoFit/>
          </a:bodyPr>
          <a:lstStyle/>
          <a:p>
            <a:r>
              <a:rPr lang="en" altLang="zh-TW" sz="1200" dirty="0"/>
              <a:t>The selected audience pack list contains expired audience pack(s). Please click Cancel to update the audience pack settings, or click OK to save and the system will automatically remove expired audience pack(s).﻿</a:t>
            </a:r>
            <a:endParaRPr kumimoji="1" lang="zh-TW" altLang="en-US" sz="1200" dirty="0"/>
          </a:p>
        </p:txBody>
      </p:sp>
      <p:sp>
        <p:nvSpPr>
          <p:cNvPr id="36" name="圓角矩形 35">
            <a:extLst>
              <a:ext uri="{FF2B5EF4-FFF2-40B4-BE49-F238E27FC236}">
                <a16:creationId xmlns:a16="http://schemas.microsoft.com/office/drawing/2014/main" id="{1E84EEA9-F434-C57E-C7D8-32140A995487}"/>
              </a:ext>
            </a:extLst>
          </p:cNvPr>
          <p:cNvSpPr/>
          <p:nvPr/>
        </p:nvSpPr>
        <p:spPr>
          <a:xfrm>
            <a:off x="7491199" y="4167857"/>
            <a:ext cx="1115746" cy="342000"/>
          </a:xfrm>
          <a:prstGeom prst="roundRect">
            <a:avLst>
              <a:gd name="adj" fmla="val 9260"/>
            </a:avLst>
          </a:prstGeom>
          <a:solidFill>
            <a:srgbClr val="2993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TW" sz="1400" dirty="0"/>
              <a:t>OK</a:t>
            </a:r>
            <a:endParaRPr kumimoji="1" lang="zh-TW" altLang="en-US" sz="1400" dirty="0"/>
          </a:p>
        </p:txBody>
      </p:sp>
      <p:sp>
        <p:nvSpPr>
          <p:cNvPr id="37" name="圓角矩形 36">
            <a:extLst>
              <a:ext uri="{FF2B5EF4-FFF2-40B4-BE49-F238E27FC236}">
                <a16:creationId xmlns:a16="http://schemas.microsoft.com/office/drawing/2014/main" id="{15275410-2070-4849-D2B9-4D0C3B256C2D}"/>
              </a:ext>
            </a:extLst>
          </p:cNvPr>
          <p:cNvSpPr/>
          <p:nvPr/>
        </p:nvSpPr>
        <p:spPr>
          <a:xfrm>
            <a:off x="6232990" y="4168388"/>
            <a:ext cx="1116000" cy="342900"/>
          </a:xfrm>
          <a:prstGeom prst="roundRect">
            <a:avLst>
              <a:gd name="adj" fmla="val 9260"/>
            </a:avLst>
          </a:prstGeom>
          <a:solidFill>
            <a:schemeClr val="bg1"/>
          </a:solidFill>
          <a:ln w="6350">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TW" sz="1400" dirty="0">
                <a:solidFill>
                  <a:schemeClr val="bg1">
                    <a:lumMod val="50000"/>
                  </a:schemeClr>
                </a:solidFill>
              </a:rPr>
              <a:t>Cancel</a:t>
            </a:r>
            <a:endParaRPr kumimoji="1" lang="zh-TW" altLang="en-US" sz="1400" dirty="0">
              <a:solidFill>
                <a:schemeClr val="bg1">
                  <a:lumMod val="50000"/>
                </a:schemeClr>
              </a:solidFill>
            </a:endParaRPr>
          </a:p>
        </p:txBody>
      </p:sp>
      <p:sp>
        <p:nvSpPr>
          <p:cNvPr id="3" name="文字方塊 2">
            <a:extLst>
              <a:ext uri="{FF2B5EF4-FFF2-40B4-BE49-F238E27FC236}">
                <a16:creationId xmlns:a16="http://schemas.microsoft.com/office/drawing/2014/main" id="{FB78E700-9D74-F7D1-7A26-0109F8B5B512}"/>
              </a:ext>
            </a:extLst>
          </p:cNvPr>
          <p:cNvSpPr txBox="1"/>
          <p:nvPr/>
        </p:nvSpPr>
        <p:spPr>
          <a:xfrm>
            <a:off x="125551" y="3039153"/>
            <a:ext cx="3553441" cy="1477328"/>
          </a:xfrm>
          <a:prstGeom prst="rect">
            <a:avLst/>
          </a:prstGeom>
          <a:solidFill>
            <a:srgbClr val="FBE4D7"/>
          </a:solidFill>
        </p:spPr>
        <p:txBody>
          <a:bodyPr wrap="square">
            <a:spAutoFit/>
          </a:bodyPr>
          <a:lstStyle/>
          <a:p>
            <a:r>
              <a:rPr lang="zh-TW" altLang="en-US" dirty="0"/>
              <a:t>所選受眾包清單中包含已過期的受眾包。請點擊</a:t>
            </a:r>
            <a:r>
              <a:rPr lang="en-US" altLang="zh-TW" dirty="0"/>
              <a:t>【</a:t>
            </a:r>
            <a:r>
              <a:rPr lang="zh-TW" altLang="en-US" dirty="0"/>
              <a:t>取消</a:t>
            </a:r>
            <a:r>
              <a:rPr lang="en-US" altLang="zh-TW" dirty="0"/>
              <a:t>】</a:t>
            </a:r>
            <a:r>
              <a:rPr lang="zh-TW" altLang="en-US" dirty="0"/>
              <a:t>以更新受眾包設定，或點擊</a:t>
            </a:r>
            <a:r>
              <a:rPr lang="en-US" altLang="zh-TW" dirty="0"/>
              <a:t>【</a:t>
            </a:r>
            <a:r>
              <a:rPr lang="zh-TW" altLang="en-US" dirty="0"/>
              <a:t>確定</a:t>
            </a:r>
            <a:r>
              <a:rPr lang="en-US" altLang="zh-TW" dirty="0"/>
              <a:t>】</a:t>
            </a:r>
            <a:r>
              <a:rPr lang="zh-TW" altLang="en-US" dirty="0"/>
              <a:t>儲存設定，系統將自動移除已過期的受眾包。</a:t>
            </a:r>
            <a:endParaRPr kumimoji="1" lang="zh-TW" altLang="en-US" dirty="0"/>
          </a:p>
        </p:txBody>
      </p:sp>
      <p:sp>
        <p:nvSpPr>
          <p:cNvPr id="30" name="文字方塊 29">
            <a:extLst>
              <a:ext uri="{FF2B5EF4-FFF2-40B4-BE49-F238E27FC236}">
                <a16:creationId xmlns:a16="http://schemas.microsoft.com/office/drawing/2014/main" id="{37893E62-3E54-9CBC-CDFC-143D874E137A}"/>
              </a:ext>
            </a:extLst>
          </p:cNvPr>
          <p:cNvSpPr txBox="1"/>
          <p:nvPr/>
        </p:nvSpPr>
        <p:spPr>
          <a:xfrm>
            <a:off x="6165033" y="4688281"/>
            <a:ext cx="692967" cy="369332"/>
          </a:xfrm>
          <a:prstGeom prst="rect">
            <a:avLst/>
          </a:prstGeom>
          <a:solidFill>
            <a:srgbClr val="FBE4D7"/>
          </a:solidFill>
        </p:spPr>
        <p:txBody>
          <a:bodyPr wrap="square">
            <a:spAutoFit/>
          </a:bodyPr>
          <a:lstStyle/>
          <a:p>
            <a:r>
              <a:rPr lang="zh-TW" altLang="en-US" dirty="0"/>
              <a:t>取消</a:t>
            </a:r>
            <a:endParaRPr kumimoji="1" lang="zh-TW" altLang="en-US" dirty="0"/>
          </a:p>
        </p:txBody>
      </p:sp>
      <p:sp>
        <p:nvSpPr>
          <p:cNvPr id="31" name="文字方塊 30">
            <a:extLst>
              <a:ext uri="{FF2B5EF4-FFF2-40B4-BE49-F238E27FC236}">
                <a16:creationId xmlns:a16="http://schemas.microsoft.com/office/drawing/2014/main" id="{87793747-E85D-180F-8EA7-132C44238989}"/>
              </a:ext>
            </a:extLst>
          </p:cNvPr>
          <p:cNvSpPr txBox="1"/>
          <p:nvPr/>
        </p:nvSpPr>
        <p:spPr>
          <a:xfrm>
            <a:off x="7735018" y="4696817"/>
            <a:ext cx="692967" cy="369332"/>
          </a:xfrm>
          <a:prstGeom prst="rect">
            <a:avLst/>
          </a:prstGeom>
          <a:solidFill>
            <a:srgbClr val="FBE4D7"/>
          </a:solidFill>
        </p:spPr>
        <p:txBody>
          <a:bodyPr wrap="square">
            <a:spAutoFit/>
          </a:bodyPr>
          <a:lstStyle/>
          <a:p>
            <a:r>
              <a:rPr lang="zh-TW" altLang="en-US" dirty="0"/>
              <a:t>確定</a:t>
            </a:r>
            <a:endParaRPr kumimoji="1" lang="zh-TW" altLang="en-US" dirty="0"/>
          </a:p>
        </p:txBody>
      </p:sp>
      <p:sp>
        <p:nvSpPr>
          <p:cNvPr id="32" name="文字方塊 31">
            <a:extLst>
              <a:ext uri="{FF2B5EF4-FFF2-40B4-BE49-F238E27FC236}">
                <a16:creationId xmlns:a16="http://schemas.microsoft.com/office/drawing/2014/main" id="{6E3EF3C4-9C46-7469-BBC3-7AE62ED02B7F}"/>
              </a:ext>
            </a:extLst>
          </p:cNvPr>
          <p:cNvSpPr txBox="1"/>
          <p:nvPr/>
        </p:nvSpPr>
        <p:spPr>
          <a:xfrm>
            <a:off x="9144000" y="3765643"/>
            <a:ext cx="2175238" cy="646331"/>
          </a:xfrm>
          <a:prstGeom prst="rect">
            <a:avLst/>
          </a:prstGeom>
          <a:noFill/>
        </p:spPr>
        <p:txBody>
          <a:bodyPr wrap="square" rtlCol="0">
            <a:spAutoFit/>
          </a:bodyPr>
          <a:lstStyle/>
          <a:p>
            <a:r>
              <a:rPr kumimoji="1" lang="zh-TW" altLang="en-US" dirty="0">
                <a:solidFill>
                  <a:srgbClr val="FF0000"/>
                </a:solidFill>
              </a:rPr>
              <a:t>目前平台沒有</a:t>
            </a:r>
            <a:r>
              <a:rPr kumimoji="1" lang="en-US" altLang="zh-TW" dirty="0">
                <a:solidFill>
                  <a:srgbClr val="FF0000"/>
                </a:solidFill>
              </a:rPr>
              <a:t>Cancel OK</a:t>
            </a:r>
            <a:r>
              <a:rPr kumimoji="1" lang="zh-TW" altLang="en-US" dirty="0">
                <a:solidFill>
                  <a:srgbClr val="FF0000"/>
                </a:solidFill>
              </a:rPr>
              <a:t>的中文</a:t>
            </a:r>
          </a:p>
        </p:txBody>
      </p:sp>
    </p:spTree>
    <p:extLst>
      <p:ext uri="{BB962C8B-B14F-4D97-AF65-F5344CB8AC3E}">
        <p14:creationId xmlns:p14="http://schemas.microsoft.com/office/powerpoint/2010/main" val="1864857800"/>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圖片 3" descr="一張含有 文字, 螢幕擷取畫面 的圖片&#10;&#10;AI 產生的內容可能不正確。">
            <a:extLst>
              <a:ext uri="{FF2B5EF4-FFF2-40B4-BE49-F238E27FC236}">
                <a16:creationId xmlns:a16="http://schemas.microsoft.com/office/drawing/2014/main" id="{7ECA1731-26CD-3C9F-F9C0-599FE2FC2D33}"/>
              </a:ext>
            </a:extLst>
          </p:cNvPr>
          <p:cNvPicPr>
            <a:picLocks noChangeAspect="1"/>
          </p:cNvPicPr>
          <p:nvPr/>
        </p:nvPicPr>
        <p:blipFill>
          <a:blip r:embed="rId2"/>
          <a:stretch>
            <a:fillRect/>
          </a:stretch>
        </p:blipFill>
        <p:spPr>
          <a:xfrm>
            <a:off x="1577385" y="711200"/>
            <a:ext cx="9238332" cy="6146800"/>
          </a:xfrm>
          <a:prstGeom prst="rect">
            <a:avLst/>
          </a:prstGeom>
        </p:spPr>
      </p:pic>
      <p:sp>
        <p:nvSpPr>
          <p:cNvPr id="5" name="矩形 4">
            <a:extLst>
              <a:ext uri="{FF2B5EF4-FFF2-40B4-BE49-F238E27FC236}">
                <a16:creationId xmlns:a16="http://schemas.microsoft.com/office/drawing/2014/main" id="{ACAAFAC0-B7C4-099F-D1C7-0AEF03C2F9DB}"/>
              </a:ext>
            </a:extLst>
          </p:cNvPr>
          <p:cNvSpPr/>
          <p:nvPr/>
        </p:nvSpPr>
        <p:spPr>
          <a:xfrm>
            <a:off x="1577385" y="711200"/>
            <a:ext cx="9238332" cy="6146800"/>
          </a:xfrm>
          <a:prstGeom prst="rect">
            <a:avLst/>
          </a:prstGeom>
          <a:solidFill>
            <a:schemeClr val="tx1">
              <a:lumMod val="65000"/>
              <a:lumOff val="35000"/>
              <a:alpha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6" name="圓角矩形 5">
            <a:extLst>
              <a:ext uri="{FF2B5EF4-FFF2-40B4-BE49-F238E27FC236}">
                <a16:creationId xmlns:a16="http://schemas.microsoft.com/office/drawing/2014/main" id="{8B40B14A-C0F2-4145-E4AF-67DA96F2DD56}"/>
              </a:ext>
            </a:extLst>
          </p:cNvPr>
          <p:cNvSpPr/>
          <p:nvPr/>
        </p:nvSpPr>
        <p:spPr>
          <a:xfrm>
            <a:off x="3822700" y="2970308"/>
            <a:ext cx="4876800" cy="1533715"/>
          </a:xfrm>
          <a:prstGeom prst="roundRect">
            <a:avLst>
              <a:gd name="adj" fmla="val 3694"/>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kumimoji="1" lang="zh-TW" altLang="en-US">
              <a:solidFill>
                <a:schemeClr val="bg1">
                  <a:lumMod val="50000"/>
                </a:schemeClr>
              </a:solidFill>
            </a:endParaRPr>
          </a:p>
        </p:txBody>
      </p:sp>
      <p:pic>
        <p:nvPicPr>
          <p:cNvPr id="7" name="圖片 6">
            <a:extLst>
              <a:ext uri="{FF2B5EF4-FFF2-40B4-BE49-F238E27FC236}">
                <a16:creationId xmlns:a16="http://schemas.microsoft.com/office/drawing/2014/main" id="{44B68851-7D40-519A-5759-F55E24FC76D3}"/>
              </a:ext>
            </a:extLst>
          </p:cNvPr>
          <p:cNvPicPr>
            <a:picLocks noChangeAspect="1"/>
          </p:cNvPicPr>
          <p:nvPr/>
        </p:nvPicPr>
        <p:blipFill>
          <a:blip r:embed="rId3"/>
          <a:stretch>
            <a:fillRect/>
          </a:stretch>
        </p:blipFill>
        <p:spPr>
          <a:xfrm>
            <a:off x="8286750" y="3071909"/>
            <a:ext cx="317500" cy="254000"/>
          </a:xfrm>
          <a:prstGeom prst="rect">
            <a:avLst/>
          </a:prstGeom>
        </p:spPr>
      </p:pic>
      <p:sp>
        <p:nvSpPr>
          <p:cNvPr id="8" name="文字方塊 7">
            <a:extLst>
              <a:ext uri="{FF2B5EF4-FFF2-40B4-BE49-F238E27FC236}">
                <a16:creationId xmlns:a16="http://schemas.microsoft.com/office/drawing/2014/main" id="{1359F8F1-173A-F491-B563-E812AFD647F5}"/>
              </a:ext>
            </a:extLst>
          </p:cNvPr>
          <p:cNvSpPr txBox="1"/>
          <p:nvPr/>
        </p:nvSpPr>
        <p:spPr>
          <a:xfrm>
            <a:off x="3901242" y="3262409"/>
            <a:ext cx="4480758" cy="646331"/>
          </a:xfrm>
          <a:prstGeom prst="rect">
            <a:avLst/>
          </a:prstGeom>
          <a:noFill/>
        </p:spPr>
        <p:txBody>
          <a:bodyPr wrap="square">
            <a:spAutoFit/>
          </a:bodyPr>
          <a:lstStyle/>
          <a:p>
            <a:r>
              <a:rPr lang="en" altLang="zh-TW" sz="1200" dirty="0">
                <a:solidFill>
                  <a:srgbClr val="202022"/>
                </a:solidFill>
              </a:rPr>
              <a:t>This ad group contains expired audience pack(s). You may update the audience pack settings, or the system will automatically remove expired audience pack(s) from the ad group when saving.</a:t>
            </a:r>
            <a:endParaRPr kumimoji="1" lang="zh-TW" altLang="en-US" sz="1200">
              <a:solidFill>
                <a:srgbClr val="202022"/>
              </a:solidFill>
            </a:endParaRPr>
          </a:p>
        </p:txBody>
      </p:sp>
      <p:sp>
        <p:nvSpPr>
          <p:cNvPr id="9" name="圓角矩形 8">
            <a:extLst>
              <a:ext uri="{FF2B5EF4-FFF2-40B4-BE49-F238E27FC236}">
                <a16:creationId xmlns:a16="http://schemas.microsoft.com/office/drawing/2014/main" id="{26037EFF-03CF-0D04-800F-278DDF5371B9}"/>
              </a:ext>
            </a:extLst>
          </p:cNvPr>
          <p:cNvSpPr/>
          <p:nvPr/>
        </p:nvSpPr>
        <p:spPr>
          <a:xfrm>
            <a:off x="6851652" y="4034931"/>
            <a:ext cx="1644648" cy="342900"/>
          </a:xfrm>
          <a:prstGeom prst="roundRect">
            <a:avLst>
              <a:gd name="adj" fmla="val 9260"/>
            </a:avLst>
          </a:prstGeom>
          <a:solidFill>
            <a:srgbClr val="2993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TW" sz="1400" dirty="0"/>
              <a:t>Continue Anyway</a:t>
            </a:r>
            <a:endParaRPr kumimoji="1" lang="zh-TW" altLang="en-US" sz="1400"/>
          </a:p>
        </p:txBody>
      </p:sp>
      <p:sp>
        <p:nvSpPr>
          <p:cNvPr id="10" name="圓角矩形 9">
            <a:extLst>
              <a:ext uri="{FF2B5EF4-FFF2-40B4-BE49-F238E27FC236}">
                <a16:creationId xmlns:a16="http://schemas.microsoft.com/office/drawing/2014/main" id="{9B098B4D-2DCC-888F-380C-76C3520A1FFB}"/>
              </a:ext>
            </a:extLst>
          </p:cNvPr>
          <p:cNvSpPr/>
          <p:nvPr/>
        </p:nvSpPr>
        <p:spPr>
          <a:xfrm>
            <a:off x="5372100" y="4029391"/>
            <a:ext cx="1308100" cy="342900"/>
          </a:xfrm>
          <a:prstGeom prst="roundRect">
            <a:avLst>
              <a:gd name="adj" fmla="val 9260"/>
            </a:avLst>
          </a:prstGeom>
          <a:solidFill>
            <a:schemeClr val="bg1"/>
          </a:solidFill>
          <a:ln w="6350">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TW" sz="1400" dirty="0">
                <a:solidFill>
                  <a:schemeClr val="bg1">
                    <a:lumMod val="50000"/>
                  </a:schemeClr>
                </a:solidFill>
              </a:rPr>
              <a:t>Edit Audience</a:t>
            </a:r>
            <a:endParaRPr kumimoji="1" lang="zh-TW" altLang="en-US" sz="1400">
              <a:solidFill>
                <a:schemeClr val="bg1">
                  <a:lumMod val="50000"/>
                </a:schemeClr>
              </a:solidFill>
            </a:endParaRPr>
          </a:p>
        </p:txBody>
      </p:sp>
      <p:sp>
        <p:nvSpPr>
          <p:cNvPr id="13" name="文字方塊 12">
            <a:extLst>
              <a:ext uri="{FF2B5EF4-FFF2-40B4-BE49-F238E27FC236}">
                <a16:creationId xmlns:a16="http://schemas.microsoft.com/office/drawing/2014/main" id="{96BE283E-4D7D-1575-92A9-0026EBE5CDC1}"/>
              </a:ext>
            </a:extLst>
          </p:cNvPr>
          <p:cNvSpPr txBox="1"/>
          <p:nvPr/>
        </p:nvSpPr>
        <p:spPr>
          <a:xfrm>
            <a:off x="3822700" y="1913360"/>
            <a:ext cx="4876799" cy="923330"/>
          </a:xfrm>
          <a:prstGeom prst="rect">
            <a:avLst/>
          </a:prstGeom>
          <a:solidFill>
            <a:srgbClr val="FBE4D7"/>
          </a:solidFill>
        </p:spPr>
        <p:txBody>
          <a:bodyPr wrap="square">
            <a:spAutoFit/>
          </a:bodyPr>
          <a:lstStyle/>
          <a:p>
            <a:r>
              <a:rPr lang="zh-TW" altLang="en-US"/>
              <a:t>此廣告組合包含已過期的受眾包。你可以更新受眾包設定，或者在儲存廣告組合時，系統會自動將已過期的受眾包從廣告組合中刪除。</a:t>
            </a:r>
            <a:endParaRPr lang="en-US" altLang="zh-TW" dirty="0"/>
          </a:p>
        </p:txBody>
      </p:sp>
      <p:sp>
        <p:nvSpPr>
          <p:cNvPr id="15" name="文字方塊 14">
            <a:extLst>
              <a:ext uri="{FF2B5EF4-FFF2-40B4-BE49-F238E27FC236}">
                <a16:creationId xmlns:a16="http://schemas.microsoft.com/office/drawing/2014/main" id="{484DE575-249B-0729-4E4F-0BA482601BBE}"/>
              </a:ext>
            </a:extLst>
          </p:cNvPr>
          <p:cNvSpPr txBox="1"/>
          <p:nvPr/>
        </p:nvSpPr>
        <p:spPr>
          <a:xfrm>
            <a:off x="7673976" y="4445548"/>
            <a:ext cx="1566166" cy="369332"/>
          </a:xfrm>
          <a:prstGeom prst="rect">
            <a:avLst/>
          </a:prstGeom>
          <a:solidFill>
            <a:srgbClr val="FBE4D7"/>
          </a:solidFill>
        </p:spPr>
        <p:txBody>
          <a:bodyPr wrap="square">
            <a:spAutoFit/>
          </a:bodyPr>
          <a:lstStyle/>
          <a:p>
            <a:r>
              <a:rPr lang="zh-TW" altLang="en-US"/>
              <a:t>仍要繼續</a:t>
            </a:r>
          </a:p>
        </p:txBody>
      </p:sp>
      <p:sp>
        <p:nvSpPr>
          <p:cNvPr id="16" name="文字方塊 15">
            <a:extLst>
              <a:ext uri="{FF2B5EF4-FFF2-40B4-BE49-F238E27FC236}">
                <a16:creationId xmlns:a16="http://schemas.microsoft.com/office/drawing/2014/main" id="{C456EC68-BEBC-8646-792C-428D47070A53}"/>
              </a:ext>
            </a:extLst>
          </p:cNvPr>
          <p:cNvSpPr txBox="1"/>
          <p:nvPr/>
        </p:nvSpPr>
        <p:spPr>
          <a:xfrm>
            <a:off x="5372100" y="4445548"/>
            <a:ext cx="1566166" cy="369332"/>
          </a:xfrm>
          <a:prstGeom prst="rect">
            <a:avLst/>
          </a:prstGeom>
          <a:solidFill>
            <a:srgbClr val="FBE4D7"/>
          </a:solidFill>
        </p:spPr>
        <p:txBody>
          <a:bodyPr wrap="square">
            <a:spAutoFit/>
          </a:bodyPr>
          <a:lstStyle/>
          <a:p>
            <a:r>
              <a:rPr lang="zh-TW" altLang="en-US" dirty="0"/>
              <a:t>編輯受眾</a:t>
            </a:r>
          </a:p>
        </p:txBody>
      </p:sp>
    </p:spTree>
    <p:extLst>
      <p:ext uri="{BB962C8B-B14F-4D97-AF65-F5344CB8AC3E}">
        <p14:creationId xmlns:p14="http://schemas.microsoft.com/office/powerpoint/2010/main" val="3737867525"/>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圖片 3" descr="一張含有 文字, 字型, 螢幕擷取畫面 的圖片&#10;&#10;AI 產生的內容可能不正確。">
            <a:extLst>
              <a:ext uri="{FF2B5EF4-FFF2-40B4-BE49-F238E27FC236}">
                <a16:creationId xmlns:a16="http://schemas.microsoft.com/office/drawing/2014/main" id="{791029ED-42C3-757B-4AF8-DCB83B2CD47F}"/>
              </a:ext>
            </a:extLst>
          </p:cNvPr>
          <p:cNvPicPr>
            <a:picLocks noChangeAspect="1"/>
          </p:cNvPicPr>
          <p:nvPr/>
        </p:nvPicPr>
        <p:blipFill>
          <a:blip r:embed="rId2"/>
          <a:stretch>
            <a:fillRect/>
          </a:stretch>
        </p:blipFill>
        <p:spPr>
          <a:xfrm>
            <a:off x="5310247" y="5123013"/>
            <a:ext cx="4959927" cy="1030634"/>
          </a:xfrm>
          <a:prstGeom prst="rect">
            <a:avLst/>
          </a:prstGeom>
        </p:spPr>
      </p:pic>
      <p:sp>
        <p:nvSpPr>
          <p:cNvPr id="5" name="圓角矩形圖說文字 4">
            <a:extLst>
              <a:ext uri="{FF2B5EF4-FFF2-40B4-BE49-F238E27FC236}">
                <a16:creationId xmlns:a16="http://schemas.microsoft.com/office/drawing/2014/main" id="{A29143FD-1AD3-E741-6E45-6024097B1417}"/>
              </a:ext>
            </a:extLst>
          </p:cNvPr>
          <p:cNvSpPr/>
          <p:nvPr/>
        </p:nvSpPr>
        <p:spPr>
          <a:xfrm>
            <a:off x="9233065" y="4860987"/>
            <a:ext cx="2958935" cy="708654"/>
          </a:xfrm>
          <a:prstGeom prst="wedgeRoundRectCallout">
            <a:avLst>
              <a:gd name="adj1" fmla="val -29933"/>
              <a:gd name="adj2" fmla="val 94261"/>
              <a:gd name="adj3" fmla="val 16667"/>
            </a:avLst>
          </a:prstGeom>
          <a:solidFill>
            <a:srgbClr val="2F313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 altLang="zh-TW" sz="1000" dirty="0">
                <a:solidFill>
                  <a:schemeClr val="bg1"/>
                </a:solidFill>
              </a:rPr>
              <a:t>The audience packs selected for this ad group have all expired. The ad delivery has been paused. Please edit the audience targeting settings.﻿</a:t>
            </a:r>
          </a:p>
        </p:txBody>
      </p:sp>
      <p:sp>
        <p:nvSpPr>
          <p:cNvPr id="6" name="文字方塊 5">
            <a:extLst>
              <a:ext uri="{FF2B5EF4-FFF2-40B4-BE49-F238E27FC236}">
                <a16:creationId xmlns:a16="http://schemas.microsoft.com/office/drawing/2014/main" id="{E92E9C01-9EFC-CFDC-63AE-C9515624EB3F}"/>
              </a:ext>
            </a:extLst>
          </p:cNvPr>
          <p:cNvSpPr txBox="1"/>
          <p:nvPr/>
        </p:nvSpPr>
        <p:spPr>
          <a:xfrm>
            <a:off x="6390672" y="4083643"/>
            <a:ext cx="4825196" cy="646331"/>
          </a:xfrm>
          <a:prstGeom prst="rect">
            <a:avLst/>
          </a:prstGeom>
          <a:solidFill>
            <a:srgbClr val="FBE4D7"/>
          </a:solidFill>
        </p:spPr>
        <p:txBody>
          <a:bodyPr wrap="square">
            <a:spAutoFit/>
          </a:bodyPr>
          <a:lstStyle/>
          <a:p>
            <a:r>
              <a:rPr lang="zh-TW" altLang="en-US" dirty="0"/>
              <a:t>此廣告組合選取的受眾皆已過期，廣告已暫停投放，請編輯受眾鎖定設定。</a:t>
            </a:r>
            <a:endParaRPr lang="en-US" altLang="zh-TW" dirty="0"/>
          </a:p>
        </p:txBody>
      </p:sp>
    </p:spTree>
    <p:extLst>
      <p:ext uri="{BB962C8B-B14F-4D97-AF65-F5344CB8AC3E}">
        <p14:creationId xmlns:p14="http://schemas.microsoft.com/office/powerpoint/2010/main" val="2024746205"/>
      </p:ext>
    </p:extLst>
  </p:cSld>
  <p:clrMapOvr>
    <a:masterClrMapping/>
  </p:clrMapOvr>
</p:sld>
</file>

<file path=ppt/theme/theme1.xml><?xml version="1.0" encoding="utf-8"?>
<a:theme xmlns:a="http://schemas.openxmlformats.org/drawingml/2006/main" name="Office 佈景主題">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佈景主題">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14770</TotalTime>
  <Words>4738</Words>
  <Application>Microsoft Macintosh PowerPoint</Application>
  <PresentationFormat>寬螢幕</PresentationFormat>
  <Paragraphs>782</Paragraphs>
  <Slides>56</Slides>
  <Notes>10</Notes>
  <HiddenSlides>0</HiddenSlides>
  <MMClips>0</MMClips>
  <ScaleCrop>false</ScaleCrop>
  <HeadingPairs>
    <vt:vector size="6" baseType="variant">
      <vt:variant>
        <vt:lpstr>使用字型</vt:lpstr>
      </vt:variant>
      <vt:variant>
        <vt:i4>7</vt:i4>
      </vt:variant>
      <vt:variant>
        <vt:lpstr>佈景主題</vt:lpstr>
      </vt:variant>
      <vt:variant>
        <vt:i4>1</vt:i4>
      </vt:variant>
      <vt:variant>
        <vt:lpstr>投影片標題</vt:lpstr>
      </vt:variant>
      <vt:variant>
        <vt:i4>56</vt:i4>
      </vt:variant>
    </vt:vector>
  </HeadingPairs>
  <TitlesOfParts>
    <vt:vector size="64" baseType="lpstr">
      <vt:lpstr>Microsoft JhengHei</vt:lpstr>
      <vt:lpstr>fkGroteskNeue</vt:lpstr>
      <vt:lpstr>Google Sans Text</vt:lpstr>
      <vt:lpstr>Aptos</vt:lpstr>
      <vt:lpstr>Aptos Display</vt:lpstr>
      <vt:lpstr>Arial</vt:lpstr>
      <vt:lpstr>Wingdings</vt:lpstr>
      <vt:lpstr>Office 佈景主題</vt:lpstr>
      <vt:lpstr>Custom Audience</vt:lpstr>
      <vt:lpstr>PowerPoint 簡報</vt:lpstr>
      <vt:lpstr>PowerPoint 簡報</vt:lpstr>
      <vt:lpstr>Agenda</vt:lpstr>
      <vt:lpstr>SuperDSP with  Segment Targeting Tool</vt:lpstr>
      <vt:lpstr>Segment使用權限 Goal</vt:lpstr>
      <vt:lpstr>PowerPoint 簡報</vt:lpstr>
      <vt:lpstr>PowerPoint 簡報</vt:lpstr>
      <vt:lpstr>PowerPoint 簡報</vt:lpstr>
      <vt:lpstr>PowerPoint 簡報</vt:lpstr>
      <vt:lpstr>Audience Planner</vt:lpstr>
      <vt:lpstr>PowerPoint 簡報</vt:lpstr>
      <vt:lpstr>PowerPoint 簡報</vt:lpstr>
      <vt:lpstr>PowerPoint 簡報</vt:lpstr>
      <vt:lpstr>PowerPoint 簡報</vt:lpstr>
      <vt:lpstr>PowerPoint 簡報</vt:lpstr>
      <vt:lpstr>Ad Group</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Report</vt:lpstr>
      <vt:lpstr>PowerPoint 簡報</vt:lpstr>
      <vt:lpstr>Behavior Change</vt:lpstr>
      <vt:lpstr>PowerPoint 簡報</vt:lpstr>
      <vt:lpstr>User/Platform Permission</vt:lpstr>
      <vt:lpstr>PowerPoint 簡報</vt:lpstr>
      <vt:lpstr>中英對照</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Helen Hung</dc:creator>
  <cp:lastModifiedBy>Helen Hung</cp:lastModifiedBy>
  <cp:revision>943</cp:revision>
  <dcterms:created xsi:type="dcterms:W3CDTF">2025-10-13T03:27:17Z</dcterms:created>
  <dcterms:modified xsi:type="dcterms:W3CDTF">2025-11-05T02:15:20Z</dcterms:modified>
</cp:coreProperties>
</file>